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8"/>
  </p:handoutMasterIdLst>
  <p:sldIdLst>
    <p:sldId id="1251" r:id="rId3"/>
    <p:sldId id="318" r:id="rId5"/>
    <p:sldId id="259" r:id="rId6"/>
    <p:sldId id="1243" r:id="rId7"/>
    <p:sldId id="260" r:id="rId8"/>
    <p:sldId id="261" r:id="rId9"/>
    <p:sldId id="262" r:id="rId10"/>
    <p:sldId id="263" r:id="rId11"/>
    <p:sldId id="264" r:id="rId12"/>
    <p:sldId id="265" r:id="rId13"/>
    <p:sldId id="266" r:id="rId14"/>
    <p:sldId id="1393" r:id="rId15"/>
    <p:sldId id="1400" r:id="rId16"/>
    <p:sldId id="1401" r:id="rId17"/>
    <p:sldId id="1402" r:id="rId18"/>
    <p:sldId id="1403" r:id="rId19"/>
    <p:sldId id="1399" r:id="rId20"/>
    <p:sldId id="278" r:id="rId21"/>
    <p:sldId id="279" r:id="rId22"/>
    <p:sldId id="280" r:id="rId23"/>
    <p:sldId id="281" r:id="rId24"/>
    <p:sldId id="1191" r:id="rId25"/>
    <p:sldId id="283" r:id="rId26"/>
    <p:sldId id="1395" r:id="rId27"/>
    <p:sldId id="285" r:id="rId28"/>
    <p:sldId id="286" r:id="rId29"/>
    <p:sldId id="287" r:id="rId30"/>
    <p:sldId id="1248" r:id="rId31"/>
    <p:sldId id="292" r:id="rId32"/>
    <p:sldId id="1389" r:id="rId33"/>
    <p:sldId id="1250" r:id="rId34"/>
    <p:sldId id="1392" r:id="rId35"/>
    <p:sldId id="1396" r:id="rId36"/>
    <p:sldId id="1406" r:id="rId37"/>
    <p:sldId id="1407" r:id="rId38"/>
    <p:sldId id="1408" r:id="rId39"/>
    <p:sldId id="295" r:id="rId40"/>
    <p:sldId id="296" r:id="rId41"/>
    <p:sldId id="297" r:id="rId42"/>
    <p:sldId id="1390" r:id="rId43"/>
    <p:sldId id="1397" r:id="rId44"/>
    <p:sldId id="309" r:id="rId45"/>
    <p:sldId id="1391" r:id="rId46"/>
    <p:sldId id="310" r:id="rId47"/>
    <p:sldId id="1398" r:id="rId48"/>
    <p:sldId id="312" r:id="rId49"/>
    <p:sldId id="313" r:id="rId50"/>
    <p:sldId id="271" r:id="rId51"/>
    <p:sldId id="314" r:id="rId52"/>
    <p:sldId id="315" r:id="rId53"/>
    <p:sldId id="272" r:id="rId54"/>
    <p:sldId id="273" r:id="rId55"/>
    <p:sldId id="274" r:id="rId56"/>
    <p:sldId id="275" r:id="rId57"/>
    <p:sldId id="300" r:id="rId58"/>
    <p:sldId id="301" r:id="rId59"/>
    <p:sldId id="302" r:id="rId60"/>
    <p:sldId id="303" r:id="rId61"/>
    <p:sldId id="298" r:id="rId62"/>
    <p:sldId id="299" r:id="rId63"/>
    <p:sldId id="304" r:id="rId64"/>
    <p:sldId id="305" r:id="rId65"/>
    <p:sldId id="306" r:id="rId66"/>
    <p:sldId id="307" r:id="rId6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1pPr>
    <a:lvl2pPr marL="0" marR="0" indent="45720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2pPr>
    <a:lvl3pPr marL="0" marR="0" indent="91440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3pPr>
    <a:lvl4pPr marL="0" marR="0" indent="137160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4pPr>
    <a:lvl5pPr marL="0" marR="0" indent="182880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5pPr>
    <a:lvl6pPr marL="0" marR="0" indent="228600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6pPr>
    <a:lvl7pPr marL="0" marR="0" indent="274320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7pPr>
    <a:lvl8pPr marL="0" marR="0" indent="320040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8pPr>
    <a:lvl9pPr marL="0" marR="0" indent="365760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15"/>
    <p:restoredTop sz="94658"/>
  </p:normalViewPr>
  <p:slideViewPr>
    <p:cSldViewPr snapToGrid="0">
      <p:cViewPr varScale="1">
        <p:scale>
          <a:sx n="118" d="100"/>
          <a:sy n="118" d="100"/>
        </p:scale>
        <p:origin x="216" y="240"/>
      </p:cViewPr>
      <p:guideLst/>
    </p:cSldViewPr>
  </p:slideViewPr>
  <p:notesTextViewPr>
    <p:cViewPr>
      <p:scale>
        <a:sx n="1" d="1"/>
        <a:sy n="1" d="1"/>
      </p:scale>
      <p:origin x="0" y="0"/>
    </p:cViewPr>
  </p:notesTextViewPr>
  <p:sorterViewPr>
    <p:cViewPr>
      <p:scale>
        <a:sx n="100" d="100"/>
        <a:sy n="100" d="100"/>
      </p:scale>
      <p:origin x="0" y="-10992"/>
    </p:cViewPr>
  </p:sorterViewPr>
  <p:notesViewPr>
    <p:cSldViewPr snapToGrid="0">
      <p:cViewPr varScale="1">
        <p:scale>
          <a:sx n="96" d="100"/>
          <a:sy n="96" d="100"/>
        </p:scale>
        <p:origin x="3976" y="176"/>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4.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oleObject" Target=""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5572"/>
          <c:y val="0.0382348"/>
          <c:w val="0.527998"/>
          <c:h val="0.832034"/>
        </c:manualLayout>
      </c:layout>
      <c:lineChart>
        <c:grouping val="standard"/>
        <c:varyColors val="0"/>
        <c:ser>
          <c:idx val="0"/>
          <c:order val="0"/>
          <c:tx>
            <c:strRef>
              <c:f>Sheet1!$A$2</c:f>
              <c:strCache>
                <c:ptCount val="1"/>
                <c:pt idx="0">
                  <c:v>Disk seek time</c:v>
                </c:pt>
              </c:strCache>
            </c:strRef>
          </c:tx>
          <c:spPr>
            <a:ln w="12700" cap="flat" cmpd="sng" algn="ctr">
              <a:solidFill>
                <a:srgbClr val="000000"/>
              </a:solidFill>
              <a:prstDash val="solid"/>
              <a:round/>
            </a:ln>
            <a:effectLst/>
          </c:spPr>
          <c:marker>
            <c:symbol val="diamond"/>
            <c:size val="7"/>
            <c:spPr>
              <a:solidFill>
                <a:srgbClr val="000000"/>
              </a:solidFill>
              <a:ln w="12700" cap="flat" cmpd="sng" algn="ctr">
                <a:noFill/>
                <a:prstDash val="solid"/>
                <a:miter lim="400000"/>
              </a:ln>
              <a:effectLst/>
            </c:spPr>
          </c:marker>
          <c:dLbls>
            <c:delete val="1"/>
          </c:dLbls>
          <c:cat>
            <c:strRef>
              <c:f>Sheet1!$B$1:$I$1</c:f>
              <c:strCache>
                <c:ptCount val="8"/>
                <c:pt idx="0">
                  <c:v>1985</c:v>
                </c:pt>
                <c:pt idx="1">
                  <c:v>1990</c:v>
                </c:pt>
                <c:pt idx="2">
                  <c:v>1995</c:v>
                </c:pt>
                <c:pt idx="3">
                  <c:v>2000</c:v>
                </c:pt>
                <c:pt idx="4">
                  <c:v>2003</c:v>
                </c:pt>
                <c:pt idx="5">
                  <c:v>2005</c:v>
                </c:pt>
                <c:pt idx="6">
                  <c:v>2010</c:v>
                </c:pt>
                <c:pt idx="7">
                  <c:v>2015</c:v>
                </c:pt>
              </c:strCache>
            </c:strRef>
          </c:cat>
          <c:val>
            <c:numRef>
              <c:f>Sheet1!$B$2:$I$2</c:f>
              <c:numCache>
                <c:formatCode>General</c:formatCode>
                <c:ptCount val="8"/>
                <c:pt idx="0">
                  <c:v>75000000</c:v>
                </c:pt>
                <c:pt idx="1">
                  <c:v>28000000</c:v>
                </c:pt>
                <c:pt idx="2">
                  <c:v>10000000</c:v>
                </c:pt>
                <c:pt idx="3">
                  <c:v>8000000</c:v>
                </c:pt>
                <c:pt idx="4">
                  <c:v>6000000</c:v>
                </c:pt>
                <c:pt idx="5">
                  <c:v>5000000</c:v>
                </c:pt>
                <c:pt idx="6">
                  <c:v>3000000</c:v>
                </c:pt>
                <c:pt idx="7">
                  <c:v>3000000</c:v>
                </c:pt>
              </c:numCache>
            </c:numRef>
          </c:val>
          <c:smooth val="0"/>
        </c:ser>
        <c:ser>
          <c:idx val="1"/>
          <c:order val="1"/>
          <c:tx>
            <c:strRef>
              <c:f>Sheet1!$A$3</c:f>
              <c:strCache>
                <c:ptCount val="1"/>
                <c:pt idx="0">
                  <c:v>SSD access time</c:v>
                </c:pt>
              </c:strCache>
            </c:strRef>
          </c:tx>
          <c:spPr>
            <a:ln w="12700" cap="flat" cmpd="sng" algn="ctr">
              <a:solidFill>
                <a:srgbClr val="000000"/>
              </a:solidFill>
              <a:prstDash val="solid"/>
              <a:round/>
            </a:ln>
            <a:effectLst/>
          </c:spPr>
          <c:marker>
            <c:symbol val="triangle"/>
            <c:size val="7"/>
            <c:spPr>
              <a:solidFill>
                <a:srgbClr val="000000"/>
              </a:solidFill>
              <a:ln w="12700" cap="flat" cmpd="sng" algn="ctr">
                <a:noFill/>
                <a:prstDash val="solid"/>
                <a:miter lim="400000"/>
              </a:ln>
              <a:effectLst/>
            </c:spPr>
          </c:marker>
          <c:dLbls>
            <c:delete val="1"/>
          </c:dLbls>
          <c:cat>
            <c:strRef>
              <c:f>Sheet1!$B$1:$I$1</c:f>
              <c:strCache>
                <c:ptCount val="8"/>
                <c:pt idx="0">
                  <c:v>1985</c:v>
                </c:pt>
                <c:pt idx="1">
                  <c:v>1990</c:v>
                </c:pt>
                <c:pt idx="2">
                  <c:v>1995</c:v>
                </c:pt>
                <c:pt idx="3">
                  <c:v>2000</c:v>
                </c:pt>
                <c:pt idx="4">
                  <c:v>2003</c:v>
                </c:pt>
                <c:pt idx="5">
                  <c:v>2005</c:v>
                </c:pt>
                <c:pt idx="6">
                  <c:v>2010</c:v>
                </c:pt>
                <c:pt idx="7">
                  <c:v>2015</c:v>
                </c:pt>
              </c:strCache>
            </c:strRef>
          </c:cat>
          <c:val>
            <c:numRef>
              <c:f>Sheet1!$B$3:$I$3</c:f>
              <c:numCache>
                <c:formatCode>General</c:formatCode>
                <c:ptCount val="8"/>
                <c:pt idx="7">
                  <c:v>50000</c:v>
                </c:pt>
              </c:numCache>
            </c:numRef>
          </c:val>
          <c:smooth val="0"/>
        </c:ser>
        <c:ser>
          <c:idx val="2"/>
          <c:order val="2"/>
          <c:tx>
            <c:strRef>
              <c:f>Sheet1!$A$4</c:f>
              <c:strCache>
                <c:ptCount val="1"/>
                <c:pt idx="0">
                  <c:v>DRAM access time</c:v>
                </c:pt>
              </c:strCache>
            </c:strRef>
          </c:tx>
          <c:spPr>
            <a:ln w="12700" cap="flat" cmpd="sng" algn="ctr">
              <a:solidFill>
                <a:srgbClr val="000000"/>
              </a:solidFill>
              <a:prstDash val="solid"/>
              <a:round/>
            </a:ln>
            <a:effectLst/>
          </c:spPr>
          <c:marker>
            <c:symbol val="square"/>
            <c:size val="7"/>
            <c:spPr>
              <a:solidFill>
                <a:srgbClr val="000000"/>
              </a:solidFill>
              <a:ln w="12700" cap="flat" cmpd="sng" algn="ctr">
                <a:noFill/>
                <a:prstDash val="solid"/>
                <a:miter lim="400000"/>
              </a:ln>
              <a:effectLst/>
            </c:spPr>
          </c:marker>
          <c:dLbls>
            <c:delete val="1"/>
          </c:dLbls>
          <c:cat>
            <c:strRef>
              <c:f>Sheet1!$B$1:$I$1</c:f>
              <c:strCache>
                <c:ptCount val="8"/>
                <c:pt idx="0">
                  <c:v>1985</c:v>
                </c:pt>
                <c:pt idx="1">
                  <c:v>1990</c:v>
                </c:pt>
                <c:pt idx="2">
                  <c:v>1995</c:v>
                </c:pt>
                <c:pt idx="3">
                  <c:v>2000</c:v>
                </c:pt>
                <c:pt idx="4">
                  <c:v>2003</c:v>
                </c:pt>
                <c:pt idx="5">
                  <c:v>2005</c:v>
                </c:pt>
                <c:pt idx="6">
                  <c:v>2010</c:v>
                </c:pt>
                <c:pt idx="7">
                  <c:v>2015</c:v>
                </c:pt>
              </c:strCache>
            </c:strRef>
          </c:cat>
          <c:val>
            <c:numRef>
              <c:f>Sheet1!$B$4:$I$4</c:f>
              <c:numCache>
                <c:formatCode>General</c:formatCode>
                <c:ptCount val="8"/>
                <c:pt idx="0">
                  <c:v>200</c:v>
                </c:pt>
                <c:pt idx="1">
                  <c:v>100</c:v>
                </c:pt>
                <c:pt idx="2">
                  <c:v>70</c:v>
                </c:pt>
                <c:pt idx="3">
                  <c:v>60</c:v>
                </c:pt>
                <c:pt idx="4">
                  <c:v>55</c:v>
                </c:pt>
                <c:pt idx="5">
                  <c:v>50</c:v>
                </c:pt>
                <c:pt idx="6">
                  <c:v>40</c:v>
                </c:pt>
                <c:pt idx="7">
                  <c:v>20</c:v>
                </c:pt>
              </c:numCache>
            </c:numRef>
          </c:val>
          <c:smooth val="0"/>
        </c:ser>
        <c:ser>
          <c:idx val="3"/>
          <c:order val="3"/>
          <c:tx>
            <c:strRef>
              <c:f>Sheet1!$A$5</c:f>
              <c:strCache>
                <c:ptCount val="1"/>
                <c:pt idx="0">
                  <c:v>SRAM access time</c:v>
                </c:pt>
              </c:strCache>
            </c:strRef>
          </c:tx>
          <c:spPr>
            <a:ln w="12700" cap="flat" cmpd="sng" algn="ctr">
              <a:solidFill>
                <a:srgbClr val="000000"/>
              </a:solidFill>
              <a:prstDash val="solid"/>
              <a:round/>
            </a:ln>
            <a:effectLst/>
          </c:spPr>
          <c:marker>
            <c:symbol val="circle"/>
            <c:size val="7"/>
            <c:spPr>
              <a:solidFill>
                <a:srgbClr val="000000"/>
              </a:solidFill>
              <a:ln w="12700" cap="flat" cmpd="sng" algn="ctr">
                <a:noFill/>
                <a:prstDash val="solid"/>
                <a:miter lim="400000"/>
              </a:ln>
              <a:effectLst/>
            </c:spPr>
          </c:marker>
          <c:dLbls>
            <c:delete val="1"/>
          </c:dLbls>
          <c:cat>
            <c:strRef>
              <c:f>Sheet1!$B$1:$I$1</c:f>
              <c:strCache>
                <c:ptCount val="8"/>
                <c:pt idx="0">
                  <c:v>1985</c:v>
                </c:pt>
                <c:pt idx="1">
                  <c:v>1990</c:v>
                </c:pt>
                <c:pt idx="2">
                  <c:v>1995</c:v>
                </c:pt>
                <c:pt idx="3">
                  <c:v>2000</c:v>
                </c:pt>
                <c:pt idx="4">
                  <c:v>2003</c:v>
                </c:pt>
                <c:pt idx="5">
                  <c:v>2005</c:v>
                </c:pt>
                <c:pt idx="6">
                  <c:v>2010</c:v>
                </c:pt>
                <c:pt idx="7">
                  <c:v>2015</c:v>
                </c:pt>
              </c:strCache>
            </c:strRef>
          </c:cat>
          <c:val>
            <c:numRef>
              <c:f>Sheet1!$B$5:$I$5</c:f>
              <c:numCache>
                <c:formatCode>General</c:formatCode>
                <c:ptCount val="8"/>
                <c:pt idx="0">
                  <c:v>150</c:v>
                </c:pt>
                <c:pt idx="1">
                  <c:v>35</c:v>
                </c:pt>
                <c:pt idx="2">
                  <c:v>15</c:v>
                </c:pt>
                <c:pt idx="3">
                  <c:v>3</c:v>
                </c:pt>
                <c:pt idx="4">
                  <c:v>2.5</c:v>
                </c:pt>
                <c:pt idx="5">
                  <c:v>2</c:v>
                </c:pt>
                <c:pt idx="6">
                  <c:v>1.5</c:v>
                </c:pt>
                <c:pt idx="7">
                  <c:v>1.3</c:v>
                </c:pt>
              </c:numCache>
            </c:numRef>
          </c:val>
          <c:smooth val="0"/>
        </c:ser>
        <c:ser>
          <c:idx val="4"/>
          <c:order val="4"/>
          <c:tx>
            <c:strRef>
              <c:f>Sheet1!$A$6</c:f>
              <c:strCache>
                <c:ptCount val="1"/>
                <c:pt idx="0">
                  <c:v>CPU cycle time</c:v>
                </c:pt>
              </c:strCache>
            </c:strRef>
          </c:tx>
          <c:spPr>
            <a:ln w="12700" cap="flat" cmpd="sng" algn="ctr">
              <a:solidFill>
                <a:srgbClr val="000000"/>
              </a:solidFill>
              <a:prstDash val="solid"/>
              <a:round/>
            </a:ln>
            <a:effectLst/>
          </c:spPr>
          <c:marker>
            <c:symbol val="square"/>
            <c:size val="7"/>
            <c:spPr>
              <a:solidFill>
                <a:schemeClr val="accent3">
                  <a:lumOff val="44000"/>
                </a:schemeClr>
              </a:solidFill>
              <a:ln w="9525" cap="flat" cmpd="sng" algn="ctr">
                <a:solidFill>
                  <a:srgbClr val="000000"/>
                </a:solidFill>
                <a:prstDash val="solid"/>
                <a:round/>
              </a:ln>
              <a:effectLst/>
            </c:spPr>
          </c:marker>
          <c:dLbls>
            <c:delete val="1"/>
          </c:dLbls>
          <c:cat>
            <c:strRef>
              <c:f>Sheet1!$B$1:$I$1</c:f>
              <c:strCache>
                <c:ptCount val="8"/>
                <c:pt idx="0">
                  <c:v>1985</c:v>
                </c:pt>
                <c:pt idx="1">
                  <c:v>1990</c:v>
                </c:pt>
                <c:pt idx="2">
                  <c:v>1995</c:v>
                </c:pt>
                <c:pt idx="3">
                  <c:v>2000</c:v>
                </c:pt>
                <c:pt idx="4">
                  <c:v>2003</c:v>
                </c:pt>
                <c:pt idx="5">
                  <c:v>2005</c:v>
                </c:pt>
                <c:pt idx="6">
                  <c:v>2010</c:v>
                </c:pt>
                <c:pt idx="7">
                  <c:v>2015</c:v>
                </c:pt>
              </c:strCache>
            </c:strRef>
          </c:cat>
          <c:val>
            <c:numRef>
              <c:f>Sheet1!$B$6:$I$6</c:f>
              <c:numCache>
                <c:formatCode>General</c:formatCode>
                <c:ptCount val="8"/>
                <c:pt idx="0">
                  <c:v>166</c:v>
                </c:pt>
                <c:pt idx="1">
                  <c:v>50</c:v>
                </c:pt>
                <c:pt idx="2">
                  <c:v>6</c:v>
                </c:pt>
                <c:pt idx="3">
                  <c:v>1.6</c:v>
                </c:pt>
                <c:pt idx="4">
                  <c:v>0.3</c:v>
                </c:pt>
                <c:pt idx="5">
                  <c:v>0.5</c:v>
                </c:pt>
                <c:pt idx="6">
                  <c:v>0.4</c:v>
                </c:pt>
                <c:pt idx="7">
                  <c:v>0.33</c:v>
                </c:pt>
              </c:numCache>
            </c:numRef>
          </c:val>
          <c:smooth val="0"/>
        </c:ser>
        <c:ser>
          <c:idx val="5"/>
          <c:order val="5"/>
          <c:tx>
            <c:strRef>
              <c:f>Sheet1!$A$7</c:f>
              <c:strCache>
                <c:ptCount val="1"/>
                <c:pt idx="0">
                  <c:v>Effective CPU cycle time</c:v>
                </c:pt>
              </c:strCache>
            </c:strRef>
          </c:tx>
          <c:spPr>
            <a:ln w="12700" cap="flat" cmpd="sng" algn="ctr">
              <a:solidFill>
                <a:srgbClr val="000000"/>
              </a:solidFill>
              <a:prstDash val="solid"/>
              <a:round/>
            </a:ln>
            <a:effectLst/>
          </c:spPr>
          <c:marker>
            <c:symbol val="circle"/>
            <c:size val="7"/>
            <c:spPr>
              <a:solidFill>
                <a:schemeClr val="accent3">
                  <a:lumOff val="44000"/>
                </a:schemeClr>
              </a:solidFill>
              <a:ln w="9525" cap="flat" cmpd="sng" algn="ctr">
                <a:solidFill>
                  <a:srgbClr val="000000"/>
                </a:solidFill>
                <a:prstDash val="solid"/>
                <a:round/>
              </a:ln>
              <a:effectLst/>
            </c:spPr>
          </c:marker>
          <c:dLbls>
            <c:delete val="1"/>
          </c:dLbls>
          <c:cat>
            <c:strRef>
              <c:f>Sheet1!$B$1:$I$1</c:f>
              <c:strCache>
                <c:ptCount val="8"/>
                <c:pt idx="0">
                  <c:v>1985</c:v>
                </c:pt>
                <c:pt idx="1">
                  <c:v>1990</c:v>
                </c:pt>
                <c:pt idx="2">
                  <c:v>1995</c:v>
                </c:pt>
                <c:pt idx="3">
                  <c:v>2000</c:v>
                </c:pt>
                <c:pt idx="4">
                  <c:v>2003</c:v>
                </c:pt>
                <c:pt idx="5">
                  <c:v>2005</c:v>
                </c:pt>
                <c:pt idx="6">
                  <c:v>2010</c:v>
                </c:pt>
                <c:pt idx="7">
                  <c:v>2015</c:v>
                </c:pt>
              </c:strCache>
            </c:strRef>
          </c:cat>
          <c:val>
            <c:numRef>
              <c:f>Sheet1!$B$7:$I$7</c:f>
              <c:numCache>
                <c:formatCode>General</c:formatCode>
                <c:ptCount val="8"/>
                <c:pt idx="4">
                  <c:v>0.3</c:v>
                </c:pt>
                <c:pt idx="5">
                  <c:v>0.25</c:v>
                </c:pt>
                <c:pt idx="6">
                  <c:v>0.1</c:v>
                </c:pt>
                <c:pt idx="7">
                  <c:v>0.08</c:v>
                </c:pt>
              </c:numCache>
            </c:numRef>
          </c:val>
          <c:smooth val="0"/>
        </c:ser>
        <c:dLbls>
          <c:showLegendKey val="0"/>
          <c:showVal val="0"/>
          <c:showCatName val="0"/>
          <c:showSerName val="0"/>
          <c:showPercent val="0"/>
          <c:showBubbleSize val="0"/>
        </c:dLbls>
        <c:marker val="1"/>
        <c:smooth val="0"/>
        <c:axId val="2094734552"/>
        <c:axId val="2094734553"/>
      </c:lineChart>
      <c:catAx>
        <c:axId val="2094734552"/>
        <c:scaling>
          <c:orientation val="minMax"/>
        </c:scaling>
        <c:delete val="0"/>
        <c:axPos val="b"/>
        <c:title>
          <c:tx>
            <c:rich>
              <a:bodyPr rot="0" spcFirstLastPara="0" vertOverflow="ellipsis" vert="horz" wrap="square" anchor="ctr" anchorCtr="1"/>
              <a:lstStyle/>
              <a:p>
                <a:pPr>
                  <a:defRPr lang="en-US" sz="1200" b="1" i="0" u="none" strike="noStrike" kern="1200" baseline="0">
                    <a:solidFill>
                      <a:srgbClr val="000000"/>
                    </a:solidFill>
                    <a:latin typeface="Arial" panose="020B0704020202020204"/>
                    <a:ea typeface="+mn-ea"/>
                    <a:cs typeface="+mn-cs"/>
                  </a:defRPr>
                </a:pPr>
                <a:r>
                  <a:rPr lang="en-US" sz="1200" b="1" i="0" u="none" strike="noStrike">
                    <a:solidFill>
                      <a:srgbClr val="000000"/>
                    </a:solidFill>
                    <a:latin typeface="Arial" panose="020B0704020202020204"/>
                  </a:rPr>
                  <a:t>Year</a:t>
                </a:r>
                <a:endParaRPr lang="en-US" sz="1200" b="1" i="0" u="none" strike="noStrike">
                  <a:solidFill>
                    <a:srgbClr val="000000"/>
                  </a:solidFill>
                  <a:latin typeface="Arial" panose="020B0704020202020204"/>
                </a:endParaRPr>
              </a:p>
            </c:rich>
          </c:tx>
          <c:layout/>
          <c:overlay val="1"/>
        </c:title>
        <c:numFmt formatCode="General" sourceLinked="0"/>
        <c:majorTickMark val="out"/>
        <c:minorTickMark val="none"/>
        <c:tickLblPos val="low"/>
        <c:spPr>
          <a:ln w="12700" cap="flat" cmpd="sng" algn="ctr">
            <a:solidFill>
              <a:srgbClr val="888888"/>
            </a:solidFill>
            <a:prstDash val="solid"/>
            <a:round/>
          </a:ln>
        </c:spPr>
        <c:txPr>
          <a:bodyPr rot="0" spcFirstLastPara="0" vertOverflow="ellipsis" vert="horz" wrap="square" anchor="ctr" anchorCtr="1"/>
          <a:lstStyle/>
          <a:p>
            <a:pPr>
              <a:defRPr lang="en-US" sz="1200" b="0" i="0" u="none" strike="noStrike" kern="1200" baseline="0">
                <a:solidFill>
                  <a:srgbClr val="000000"/>
                </a:solidFill>
                <a:latin typeface="Arial" panose="020B0704020202020204"/>
                <a:ea typeface="+mn-ea"/>
                <a:cs typeface="+mn-cs"/>
              </a:defRPr>
            </a:pPr>
          </a:p>
        </c:txPr>
        <c:crossAx val="2094734553"/>
        <c:crosses val="autoZero"/>
        <c:auto val="1"/>
        <c:lblAlgn val="ctr"/>
        <c:lblOffset val="100"/>
        <c:noMultiLvlLbl val="1"/>
      </c:catAx>
      <c:valAx>
        <c:axId val="2094734553"/>
        <c:scaling>
          <c:logBase val="10"/>
          <c:orientation val="minMax"/>
          <c:min val="0.01"/>
        </c:scaling>
        <c:delete val="0"/>
        <c:axPos val="l"/>
        <c:majorGridlines>
          <c:spPr>
            <a:ln w="12700" cap="flat" cmpd="sng" algn="ctr">
              <a:solidFill>
                <a:srgbClr val="888888"/>
              </a:solidFill>
              <a:prstDash val="solid"/>
              <a:round/>
            </a:ln>
          </c:spPr>
        </c:majorGridlines>
        <c:title>
          <c:tx>
            <c:rich>
              <a:bodyPr rot="-5400000" spcFirstLastPara="0" vertOverflow="ellipsis" vert="horz" wrap="square" anchor="ctr" anchorCtr="1"/>
              <a:lstStyle/>
              <a:p>
                <a:pPr>
                  <a:defRPr lang="en-US" sz="1200" b="1" i="0" u="none" strike="noStrike" kern="1200" baseline="0">
                    <a:solidFill>
                      <a:srgbClr val="000000"/>
                    </a:solidFill>
                    <a:latin typeface="Arial" panose="020B0704020202020204"/>
                    <a:ea typeface="+mn-ea"/>
                    <a:cs typeface="+mn-cs"/>
                  </a:defRPr>
                </a:pPr>
                <a:r>
                  <a:rPr lang="en-US" sz="1200" b="1" i="0" u="none" strike="noStrike">
                    <a:solidFill>
                      <a:srgbClr val="000000"/>
                    </a:solidFill>
                    <a:latin typeface="Arial" panose="020B0704020202020204"/>
                  </a:rPr>
                  <a:t>Time (ns)</a:t>
                </a:r>
                <a:endParaRPr lang="en-US" sz="1200" b="1" i="0" u="none" strike="noStrike">
                  <a:solidFill>
                    <a:srgbClr val="000000"/>
                  </a:solidFill>
                  <a:latin typeface="Arial" panose="020B0704020202020204"/>
                </a:endParaRPr>
              </a:p>
            </c:rich>
          </c:tx>
          <c:layout/>
          <c:overlay val="1"/>
        </c:title>
        <c:numFmt formatCode="#,##0.0" sourceLinked="0"/>
        <c:majorTickMark val="out"/>
        <c:minorTickMark val="none"/>
        <c:tickLblPos val="nextTo"/>
        <c:spPr>
          <a:ln w="12700" cap="flat" cmpd="sng" algn="ctr">
            <a:solidFill>
              <a:srgbClr val="888888"/>
            </a:solidFill>
            <a:prstDash val="solid"/>
            <a:round/>
          </a:ln>
        </c:spPr>
        <c:txPr>
          <a:bodyPr rot="0" spcFirstLastPara="0" vertOverflow="ellipsis" vert="horz" wrap="square" anchor="ctr" anchorCtr="1"/>
          <a:lstStyle/>
          <a:p>
            <a:pPr>
              <a:defRPr lang="en-US" sz="1200" b="0" i="0" u="none" strike="noStrike" kern="1200" baseline="0">
                <a:solidFill>
                  <a:srgbClr val="000000"/>
                </a:solidFill>
                <a:latin typeface="Arial" panose="020B0704020202020204"/>
                <a:ea typeface="+mn-ea"/>
                <a:cs typeface="+mn-cs"/>
              </a:defRPr>
            </a:pPr>
          </a:p>
        </c:txPr>
        <c:crossAx val="2094734552"/>
        <c:crosses val="autoZero"/>
        <c:crossBetween val="between"/>
      </c:valAx>
      <c:spPr>
        <a:noFill/>
        <a:ln w="12700" cap="flat">
          <a:noFill/>
          <a:miter lim="400000"/>
        </a:ln>
        <a:effectLst/>
      </c:spPr>
    </c:plotArea>
    <c:legend>
      <c:legendPos val="r"/>
      <c:layout>
        <c:manualLayout>
          <c:xMode val="edge"/>
          <c:yMode val="edge"/>
          <c:x val="0.741202"/>
          <c:y val="0.351262"/>
          <c:w val="0.258798"/>
          <c:h val="0.256516"/>
        </c:manualLayout>
      </c:layout>
      <c:overlay val="1"/>
      <c:spPr>
        <a:noFill/>
        <a:ln w="9525" cap="flat">
          <a:solidFill>
            <a:srgbClr val="000000"/>
          </a:solidFill>
          <a:prstDash val="solid"/>
          <a:round/>
        </a:ln>
        <a:effectLst/>
      </c:spPr>
      <c:txPr>
        <a:bodyPr rot="0" spcFirstLastPara="0" vertOverflow="ellipsis" vert="horz" wrap="square" anchor="ctr" anchorCtr="1"/>
        <a:lstStyle/>
        <a:p>
          <a:pPr>
            <a:defRPr lang="en-US" sz="1200" b="0" i="0" u="none" strike="noStrike" kern="1200" baseline="0">
              <a:solidFill>
                <a:srgbClr val="000000"/>
              </a:solidFill>
              <a:latin typeface="Arial" panose="020B0704020202020204"/>
              <a:ea typeface="+mn-ea"/>
              <a:cs typeface="+mn-cs"/>
            </a:defRPr>
          </a:pPr>
        </a:p>
      </c:txPr>
    </c:legend>
    <c:plotVisOnly val="1"/>
    <c:dispBlanksAs val="gap"/>
    <c:showDLblsOverMax val="1"/>
    <c:extLst>
      <c:ext uri="{0b15fc19-7d7d-44ad-8c2d-2c3a37ce22c3}">
        <chartProps xmlns="https://web.wps.cn/et/2018/main" chartId="{6d55601f-8f5e-4166-879b-c7e7c6c452f3}"/>
      </c:ext>
    </c:extLst>
  </c:chart>
  <c:spPr>
    <a:noFill/>
    <a:ln>
      <a:noFill/>
    </a:ln>
    <a:effectLst/>
  </c:spPr>
  <c:txPr>
    <a:bodyPr/>
    <a:lstStyle/>
    <a:p>
      <a:pPr>
        <a:defRPr lang="en-US"/>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2" name="Shape 112"/>
          <p:cNvSpPr>
            <a:spLocks noGrp="1" noRot="1" noChangeAspect="1"/>
          </p:cNvSpPr>
          <p:nvPr>
            <p:ph type="sldImg"/>
          </p:nvPr>
        </p:nvSpPr>
        <p:spPr>
          <a:xfrm>
            <a:off x="381000" y="685800"/>
            <a:ext cx="6096000" cy="3429000"/>
          </a:xfrm>
          <a:prstGeom prst="rect">
            <a:avLst/>
          </a:prstGeom>
        </p:spPr>
        <p:txBody>
          <a:bodyPr/>
          <a:lstStyle/>
          <a:p/>
        </p:txBody>
      </p:sp>
      <p:sp>
        <p:nvSpPr>
          <p:cNvPr id="113" name="Shape 113"/>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Times New Roman" panose="02020603050405020304"/>
      </a:defRPr>
    </a:lvl1pPr>
    <a:lvl2pPr indent="228600" latinLnBrk="0">
      <a:spcBef>
        <a:spcPts val="400"/>
      </a:spcBef>
      <a:defRPr sz="1200">
        <a:latin typeface="+mn-lt"/>
        <a:ea typeface="+mn-ea"/>
        <a:cs typeface="+mn-cs"/>
        <a:sym typeface="Times New Roman" panose="02020603050405020304"/>
      </a:defRPr>
    </a:lvl2pPr>
    <a:lvl3pPr indent="457200" latinLnBrk="0">
      <a:spcBef>
        <a:spcPts val="400"/>
      </a:spcBef>
      <a:defRPr sz="1200">
        <a:latin typeface="+mn-lt"/>
        <a:ea typeface="+mn-ea"/>
        <a:cs typeface="+mn-cs"/>
        <a:sym typeface="Times New Roman" panose="02020603050405020304"/>
      </a:defRPr>
    </a:lvl3pPr>
    <a:lvl4pPr indent="685800" latinLnBrk="0">
      <a:spcBef>
        <a:spcPts val="400"/>
      </a:spcBef>
      <a:defRPr sz="1200">
        <a:latin typeface="+mn-lt"/>
        <a:ea typeface="+mn-ea"/>
        <a:cs typeface="+mn-cs"/>
        <a:sym typeface="Times New Roman" panose="02020603050405020304"/>
      </a:defRPr>
    </a:lvl4pPr>
    <a:lvl5pPr indent="914400" latinLnBrk="0">
      <a:spcBef>
        <a:spcPts val="400"/>
      </a:spcBef>
      <a:defRPr sz="1200">
        <a:latin typeface="+mn-lt"/>
        <a:ea typeface="+mn-ea"/>
        <a:cs typeface="+mn-cs"/>
        <a:sym typeface="Times New Roman" panose="02020603050405020304"/>
      </a:defRPr>
    </a:lvl5pPr>
    <a:lvl6pPr indent="1143000" latinLnBrk="0">
      <a:spcBef>
        <a:spcPts val="400"/>
      </a:spcBef>
      <a:defRPr sz="1200">
        <a:latin typeface="+mn-lt"/>
        <a:ea typeface="+mn-ea"/>
        <a:cs typeface="+mn-cs"/>
        <a:sym typeface="Times New Roman" panose="02020603050405020304"/>
      </a:defRPr>
    </a:lvl6pPr>
    <a:lvl7pPr indent="1371600" latinLnBrk="0">
      <a:spcBef>
        <a:spcPts val="400"/>
      </a:spcBef>
      <a:defRPr sz="1200">
        <a:latin typeface="+mn-lt"/>
        <a:ea typeface="+mn-ea"/>
        <a:cs typeface="+mn-cs"/>
        <a:sym typeface="Times New Roman" panose="02020603050405020304"/>
      </a:defRPr>
    </a:lvl7pPr>
    <a:lvl8pPr indent="1600200" latinLnBrk="0">
      <a:spcBef>
        <a:spcPts val="400"/>
      </a:spcBef>
      <a:defRPr sz="1200">
        <a:latin typeface="+mn-lt"/>
        <a:ea typeface="+mn-ea"/>
        <a:cs typeface="+mn-cs"/>
        <a:sym typeface="Times New Roman" panose="02020603050405020304"/>
      </a:defRPr>
    </a:lvl8pPr>
    <a:lvl9pPr indent="1828800" latinLnBrk="0">
      <a:spcBef>
        <a:spcPts val="400"/>
      </a:spcBef>
      <a:defRPr sz="1200">
        <a:latin typeface="+mn-lt"/>
        <a:ea typeface="+mn-ea"/>
        <a:cs typeface="+mn-cs"/>
        <a:sym typeface="Times New Roman" panose="020206030504050203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1"/>
        <p:cNvGrpSpPr/>
        <p:nvPr/>
      </p:nvGrpSpPr>
      <p:grpSpPr>
        <a:xfrm>
          <a:off x="0" y="0"/>
          <a:ext cx="0" cy="0"/>
          <a:chOff x="0" y="0"/>
          <a:chExt cx="0" cy="0"/>
        </a:xfrm>
      </p:grpSpPr>
      <p:sp>
        <p:nvSpPr>
          <p:cNvPr id="222" name="Shape 222"/>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spcBef>
                <a:spcPts val="0"/>
              </a:spcBef>
              <a:spcAft>
                <a:spcPts val="0"/>
              </a:spcAft>
              <a:buNone/>
            </a:pPr>
          </a:p>
        </p:txBody>
      </p:sp>
      <p:sp>
        <p:nvSpPr>
          <p:cNvPr id="223" name="Shape 2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40F64717-A5A5-4C4E-9291-2F18B7410B06}"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fld>
            <a:endParaRPr kumimoji="0" 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40F64717-A5A5-4C4E-9291-2F18B7410B06}"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fld>
            <a:endParaRPr kumimoji="0" 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xfrm>
            <a:off x="381000" y="685800"/>
            <a:ext cx="6096000" cy="3429000"/>
          </a:xfrm>
        </p:spPr>
      </p:sp>
      <p:sp>
        <p:nvSpPr>
          <p:cNvPr id="185347" name="Rectangle 3"/>
          <p:cNvSpPr>
            <a:spLocks noGrp="1" noChangeArrowheads="1"/>
          </p:cNvSpPr>
          <p:nvPr>
            <p:ph type="body" idx="1"/>
          </p:nvPr>
        </p:nvSpPr>
        <p:spPr/>
        <p:txBody>
          <a:bodyPr/>
          <a:lstStyle/>
          <a:p>
            <a:r>
              <a:rPr lang="en-US" dirty="0"/>
              <a:t>Access to a[0][0] fetches cache line with a[0][1], a[0][2], etc. With small M, this cache line will still be in cache when later access these items.</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40F64717-A5A5-4C4E-9291-2F18B7410B06}"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fld>
            <a:endParaRPr kumimoji="0" 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40F64717-A5A5-4C4E-9291-2F18B7410B06}"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40F64717-A5A5-4C4E-9291-2F18B7410B06}"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fld>
            <a:endParaRPr kumimoji="0" lang="en-US" sz="1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zh-CN" altLang="en-US" sz="1200" b="1" i="0" dirty="0">
                <a:effectLst/>
                <a:latin typeface="+mn-lt"/>
                <a:ea typeface="+mn-ea"/>
                <a:cs typeface="+mn-cs"/>
                <a:sym typeface="Times New Roman" panose="02020603050405020304"/>
              </a:rPr>
              <a:t>传统水平电容</a:t>
            </a:r>
            <a:r>
              <a:rPr lang="zh-CN" altLang="en-US" sz="1200" b="0" i="0" dirty="0">
                <a:effectLst/>
                <a:latin typeface="+mn-lt"/>
                <a:ea typeface="+mn-ea"/>
                <a:cs typeface="+mn-cs"/>
                <a:sym typeface="Times New Roman" panose="02020603050405020304"/>
              </a:rPr>
              <a:t>（已淘汰）：</a:t>
            </a:r>
            <a:br>
              <a:rPr lang="zh-CN" altLang="en-US" sz="1200" b="0" i="0" dirty="0">
                <a:effectLst/>
                <a:latin typeface="+mn-lt"/>
                <a:ea typeface="+mn-ea"/>
                <a:cs typeface="+mn-cs"/>
                <a:sym typeface="Times New Roman" panose="02020603050405020304"/>
              </a:rPr>
            </a:br>
            <a:r>
              <a:rPr lang="zh-CN" altLang="en-US" sz="1200" b="0" i="0" dirty="0">
                <a:effectLst/>
                <a:latin typeface="+mn-lt"/>
                <a:ea typeface="+mn-ea"/>
                <a:cs typeface="+mn-cs"/>
                <a:sym typeface="Times New Roman" panose="02020603050405020304"/>
              </a:rPr>
              <a:t>电容像一个平铺的“三明治”（下电极</a:t>
            </a:r>
            <a:r>
              <a:rPr lang="en-US" altLang="zh-CN" sz="1200" b="0" i="0" dirty="0">
                <a:effectLst/>
                <a:latin typeface="+mn-lt"/>
                <a:ea typeface="+mn-ea"/>
                <a:cs typeface="+mn-cs"/>
                <a:sym typeface="Times New Roman" panose="02020603050405020304"/>
              </a:rPr>
              <a:t>–</a:t>
            </a:r>
            <a:r>
              <a:rPr lang="zh-CN" altLang="en-US" sz="1200" b="0" i="0" dirty="0">
                <a:effectLst/>
                <a:latin typeface="+mn-lt"/>
                <a:ea typeface="+mn-ea"/>
                <a:cs typeface="+mn-cs"/>
                <a:sym typeface="Times New Roman" panose="02020603050405020304"/>
              </a:rPr>
              <a:t>介质</a:t>
            </a:r>
            <a:r>
              <a:rPr lang="en-US" altLang="zh-CN" sz="1200" b="0" i="0" dirty="0">
                <a:effectLst/>
                <a:latin typeface="+mn-lt"/>
                <a:ea typeface="+mn-ea"/>
                <a:cs typeface="+mn-cs"/>
                <a:sym typeface="Times New Roman" panose="02020603050405020304"/>
              </a:rPr>
              <a:t>–</a:t>
            </a:r>
            <a:r>
              <a:rPr lang="zh-CN" altLang="en-US" sz="1200" b="0" i="0" dirty="0">
                <a:effectLst/>
                <a:latin typeface="+mn-lt"/>
                <a:ea typeface="+mn-ea"/>
                <a:cs typeface="+mn-cs"/>
                <a:sym typeface="Times New Roman" panose="02020603050405020304"/>
              </a:rPr>
              <a:t>上电极）躺在晶体管旁边 → 占地大。</a:t>
            </a:r>
            <a:endParaRPr lang="zh-CN" altLang="en-US" sz="1200" b="0" i="0" dirty="0">
              <a:effectLst/>
              <a:latin typeface="+mn-lt"/>
              <a:ea typeface="+mn-ea"/>
              <a:cs typeface="+mn-cs"/>
              <a:sym typeface="Times New Roman" panose="02020603050405020304"/>
            </a:endParaRPr>
          </a:p>
          <a:p>
            <a:pPr fontAlgn="t"/>
            <a:r>
              <a:rPr lang="zh-CN" altLang="en-US" sz="1200" b="1" i="0" dirty="0">
                <a:effectLst/>
                <a:latin typeface="+mn-lt"/>
                <a:ea typeface="+mn-ea"/>
                <a:cs typeface="+mn-cs"/>
                <a:sym typeface="Times New Roman" panose="02020603050405020304"/>
              </a:rPr>
              <a:t>竖直取向电容</a:t>
            </a:r>
            <a:r>
              <a:rPr lang="zh-CN" altLang="en-US" sz="1200" b="0" i="0" dirty="0">
                <a:effectLst/>
                <a:latin typeface="+mn-lt"/>
                <a:ea typeface="+mn-ea"/>
                <a:cs typeface="+mn-cs"/>
                <a:sym typeface="Times New Roman" panose="02020603050405020304"/>
              </a:rPr>
              <a:t>（现代 </a:t>
            </a:r>
            <a:r>
              <a:rPr lang="en-US" sz="1200" b="0" i="0" dirty="0">
                <a:effectLst/>
                <a:latin typeface="+mn-lt"/>
                <a:ea typeface="+mn-ea"/>
                <a:cs typeface="+mn-cs"/>
                <a:sym typeface="Times New Roman" panose="02020603050405020304"/>
              </a:rPr>
              <a:t>DRAM）：</a:t>
            </a:r>
            <a:endParaRPr lang="en-US" sz="1200" b="0" i="0" dirty="0">
              <a:effectLst/>
              <a:latin typeface="+mn-lt"/>
              <a:ea typeface="+mn-ea"/>
              <a:cs typeface="+mn-cs"/>
              <a:sym typeface="Times New Roman" panose="02020603050405020304"/>
            </a:endParaRPr>
          </a:p>
          <a:p>
            <a:pPr lvl="1"/>
            <a:r>
              <a:rPr lang="zh-CN" altLang="en-US" sz="1200" b="1" i="0" dirty="0">
                <a:effectLst/>
                <a:latin typeface="+mn-lt"/>
                <a:ea typeface="+mn-ea"/>
                <a:cs typeface="+mn-cs"/>
                <a:sym typeface="Times New Roman" panose="02020603050405020304"/>
              </a:rPr>
              <a:t>堆叠式</a:t>
            </a:r>
            <a:r>
              <a:rPr lang="zh-CN" altLang="en-US" sz="1200" b="0" i="0" dirty="0">
                <a:effectLst/>
                <a:latin typeface="+mn-lt"/>
                <a:ea typeface="+mn-ea"/>
                <a:cs typeface="+mn-cs"/>
                <a:sym typeface="Times New Roman" panose="02020603050405020304"/>
              </a:rPr>
              <a:t>：像一根“柱子”立在晶体管上方，上下电极包裹介质层，整体向上生长。</a:t>
            </a:r>
            <a:endParaRPr lang="zh-CN" altLang="en-US" sz="1200" b="0" i="0" dirty="0">
              <a:effectLst/>
              <a:latin typeface="+mn-lt"/>
              <a:ea typeface="+mn-ea"/>
              <a:cs typeface="+mn-cs"/>
              <a:sym typeface="Times New Roman" panose="02020603050405020304"/>
            </a:endParaRPr>
          </a:p>
          <a:p>
            <a:pPr lvl="1"/>
            <a:r>
              <a:rPr lang="zh-CN" altLang="en-US" sz="1200" b="1" i="0" dirty="0">
                <a:effectLst/>
                <a:latin typeface="+mn-lt"/>
                <a:ea typeface="+mn-ea"/>
                <a:cs typeface="+mn-cs"/>
                <a:sym typeface="Times New Roman" panose="02020603050405020304"/>
              </a:rPr>
              <a:t>沟槽式</a:t>
            </a:r>
            <a:r>
              <a:rPr lang="zh-CN" altLang="en-US" sz="1200" b="0" i="0" dirty="0">
                <a:effectLst/>
                <a:latin typeface="+mn-lt"/>
                <a:ea typeface="+mn-ea"/>
                <a:cs typeface="+mn-cs"/>
                <a:sym typeface="Times New Roman" panose="02020603050405020304"/>
              </a:rPr>
              <a:t>：像一口“深井”挖进硅片，电容壁就是井的内壁。</a:t>
            </a:r>
            <a:endParaRPr lang="zh-CN" altLang="en-US" sz="1200" b="0" i="0" dirty="0">
              <a:effectLst/>
              <a:latin typeface="+mn-lt"/>
              <a:ea typeface="+mn-ea"/>
              <a:cs typeface="+mn-cs"/>
              <a:sym typeface="Times New Roman" panose="02020603050405020304"/>
            </a:endParaRPr>
          </a:p>
          <a:p>
            <a:r>
              <a:rPr lang="en-US" sz="1200" b="0" i="0" dirty="0">
                <a:effectLst/>
                <a:latin typeface="+mn-lt"/>
                <a:ea typeface="+mn-ea"/>
                <a:cs typeface="+mn-cs"/>
                <a:sym typeface="Times New Roman" panose="02020603050405020304"/>
              </a:rPr>
              <a:t>✅ </a:t>
            </a:r>
            <a:r>
              <a:rPr lang="zh-CN" altLang="en-US" sz="1200" b="0" i="0" dirty="0">
                <a:effectLst/>
                <a:latin typeface="+mn-lt"/>
                <a:ea typeface="+mn-ea"/>
                <a:cs typeface="+mn-cs"/>
                <a:sym typeface="Times New Roman" panose="02020603050405020304"/>
              </a:rPr>
              <a:t>因此，“电容竖直取向”本质上是 </a:t>
            </a:r>
            <a:r>
              <a:rPr lang="zh-CN" altLang="en-US" sz="1200" b="1" i="0" dirty="0">
                <a:effectLst/>
                <a:latin typeface="+mn-lt"/>
                <a:ea typeface="+mn-ea"/>
                <a:cs typeface="+mn-cs"/>
                <a:sym typeface="Times New Roman" panose="02020603050405020304"/>
              </a:rPr>
              <a:t>通过三维结构设计，在有限芯片面积内实现足够大的存储电容</a:t>
            </a:r>
            <a:r>
              <a:rPr lang="zh-CN" altLang="en-US" sz="1200" b="0" i="0" dirty="0">
                <a:effectLst/>
                <a:latin typeface="+mn-lt"/>
                <a:ea typeface="+mn-ea"/>
                <a:cs typeface="+mn-cs"/>
                <a:sym typeface="Times New Roman" panose="02020603050405020304"/>
              </a:rPr>
              <a:t> 的关键技术。</a:t>
            </a:r>
            <a:r>
              <a:rPr lang="zh-CN" altLang="en-US" sz="1200" b="1" i="0" dirty="0">
                <a:effectLst/>
                <a:latin typeface="+mn-lt"/>
                <a:ea typeface="+mn-ea"/>
                <a:cs typeface="+mn-cs"/>
                <a:sym typeface="Times New Roman" panose="02020603050405020304"/>
              </a:rPr>
              <a:t>“电容竖直取向”是指 </a:t>
            </a:r>
            <a:r>
              <a:rPr lang="en-US" sz="1200" b="1" i="0" dirty="0">
                <a:effectLst/>
                <a:latin typeface="+mn-lt"/>
                <a:ea typeface="+mn-ea"/>
                <a:cs typeface="+mn-cs"/>
                <a:sym typeface="Times New Roman" panose="02020603050405020304"/>
              </a:rPr>
              <a:t>DRAM </a:t>
            </a:r>
            <a:r>
              <a:rPr lang="zh-CN" altLang="en-US" sz="1200" b="1" i="0" dirty="0">
                <a:effectLst/>
                <a:latin typeface="+mn-lt"/>
                <a:ea typeface="+mn-ea"/>
                <a:cs typeface="+mn-cs"/>
                <a:sym typeface="Times New Roman" panose="02020603050405020304"/>
              </a:rPr>
              <a:t>存储单元中的电容不再平铺在芯片表面，而是沿垂直方向（向上堆叠或向下挖沟）构建，以在微小面积内获得足够电容值，支撑高密度、高性能内存制造。</a:t>
            </a:r>
            <a:endParaRPr lang="zh-CN" altLang="en-US" sz="1200" b="0" i="0" dirty="0">
              <a:effectLst/>
              <a:latin typeface="+mn-lt"/>
              <a:ea typeface="+mn-ea"/>
              <a:cs typeface="+mn-cs"/>
              <a:sym typeface="Times New Roman" panose="02020603050405020304"/>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1" i="0" dirty="0">
                <a:effectLst/>
                <a:latin typeface="+mn-lt"/>
                <a:ea typeface="+mn-ea"/>
                <a:cs typeface="+mn-cs"/>
                <a:sym typeface="Times New Roman" panose="02020603050405020304"/>
              </a:rPr>
              <a:t>深宽比</a:t>
            </a:r>
            <a:r>
              <a:rPr lang="zh-CN" altLang="en-US" sz="1200" b="0" i="0" dirty="0">
                <a:effectLst/>
                <a:latin typeface="+mn-lt"/>
                <a:ea typeface="+mn-ea"/>
                <a:cs typeface="+mn-cs"/>
                <a:sym typeface="Times New Roman" panose="02020603050405020304"/>
              </a:rPr>
              <a:t>（</a:t>
            </a:r>
            <a:r>
              <a:rPr lang="en-US" sz="1200" b="0" i="0" dirty="0">
                <a:effectLst/>
                <a:latin typeface="+mn-lt"/>
                <a:ea typeface="+mn-ea"/>
                <a:cs typeface="+mn-cs"/>
                <a:sym typeface="Times New Roman" panose="02020603050405020304"/>
              </a:rPr>
              <a:t>Aspect Ratio）</a:t>
            </a:r>
            <a:r>
              <a:rPr lang="zh-CN" altLang="en-US" sz="1200" b="0" i="0" dirty="0">
                <a:effectLst/>
                <a:latin typeface="+mn-lt"/>
                <a:ea typeface="+mn-ea"/>
                <a:cs typeface="+mn-cs"/>
                <a:sym typeface="Times New Roman" panose="02020603050405020304"/>
              </a:rPr>
              <a:t>指的是一个三维结构的 </a:t>
            </a:r>
            <a:r>
              <a:rPr lang="zh-CN" altLang="en-US" sz="1200" b="1" i="0" dirty="0">
                <a:effectLst/>
                <a:latin typeface="+mn-lt"/>
                <a:ea typeface="+mn-ea"/>
                <a:cs typeface="+mn-cs"/>
                <a:sym typeface="Times New Roman" panose="02020603050405020304"/>
              </a:rPr>
              <a:t>深度</a:t>
            </a:r>
            <a:r>
              <a:rPr lang="zh-CN" altLang="en-US" sz="1200" b="0" i="0" dirty="0">
                <a:effectLst/>
                <a:latin typeface="+mn-lt"/>
                <a:ea typeface="+mn-ea"/>
                <a:cs typeface="+mn-cs"/>
                <a:sym typeface="Times New Roman" panose="02020603050405020304"/>
              </a:rPr>
              <a:t>（</a:t>
            </a:r>
            <a:r>
              <a:rPr lang="en-US" sz="1200" b="0" i="0" dirty="0">
                <a:effectLst/>
                <a:latin typeface="+mn-lt"/>
                <a:ea typeface="+mn-ea"/>
                <a:cs typeface="+mn-cs"/>
                <a:sym typeface="Times New Roman" panose="02020603050405020304"/>
              </a:rPr>
              <a:t>Depth） </a:t>
            </a:r>
            <a:r>
              <a:rPr lang="zh-CN" altLang="en-US" sz="1200" b="0" i="0" dirty="0">
                <a:effectLst/>
                <a:latin typeface="+mn-lt"/>
                <a:ea typeface="+mn-ea"/>
                <a:cs typeface="+mn-cs"/>
                <a:sym typeface="Times New Roman" panose="02020603050405020304"/>
              </a:rPr>
              <a:t>与 </a:t>
            </a:r>
            <a:r>
              <a:rPr lang="zh-CN" altLang="en-US" sz="1200" b="1" i="0" dirty="0">
                <a:effectLst/>
                <a:latin typeface="+mn-lt"/>
                <a:ea typeface="+mn-ea"/>
                <a:cs typeface="+mn-cs"/>
                <a:sym typeface="Times New Roman" panose="02020603050405020304"/>
              </a:rPr>
              <a:t>宽度</a:t>
            </a:r>
            <a:r>
              <a:rPr lang="zh-CN" altLang="en-US" sz="1200" b="0" i="0" dirty="0">
                <a:effectLst/>
                <a:latin typeface="+mn-lt"/>
                <a:ea typeface="+mn-ea"/>
                <a:cs typeface="+mn-cs"/>
                <a:sym typeface="Times New Roman" panose="02020603050405020304"/>
              </a:rPr>
              <a:t>（</a:t>
            </a:r>
            <a:r>
              <a:rPr lang="en-US" sz="1200" b="0" i="0" dirty="0">
                <a:effectLst/>
                <a:latin typeface="+mn-lt"/>
                <a:ea typeface="+mn-ea"/>
                <a:cs typeface="+mn-cs"/>
                <a:sym typeface="Times New Roman" panose="02020603050405020304"/>
              </a:rPr>
              <a:t>Width） </a:t>
            </a:r>
            <a:r>
              <a:rPr lang="zh-CN" altLang="en-US" sz="1200" b="0" i="0" dirty="0">
                <a:effectLst/>
                <a:latin typeface="+mn-lt"/>
                <a:ea typeface="+mn-ea"/>
                <a:cs typeface="+mn-cs"/>
                <a:sym typeface="Times New Roman" panose="02020603050405020304"/>
              </a:rPr>
              <a:t>的比值</a:t>
            </a:r>
            <a:endParaRPr lang="en-US" altLang="zh-CN" sz="1200" b="0"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为了在微小面积内获得足够电容，必须把电容做“深”（或高）；但制造工艺对“深宽比”有物理极限，因此不能无限加深。</a:t>
            </a:r>
            <a:endParaRPr lang="en-US" altLang="zh-CN" sz="1200" b="1" i="0" dirty="0">
              <a:effectLst/>
              <a:latin typeface="+mn-lt"/>
              <a:ea typeface="+mn-ea"/>
              <a:cs typeface="+mn-cs"/>
              <a:sym typeface="Times New Roman" panose="02020603050405020304"/>
            </a:endParaRPr>
          </a:p>
          <a:p>
            <a:r>
              <a:rPr lang="en-US" altLang="zh-CN" sz="1200" b="1" i="0" dirty="0">
                <a:effectLst/>
                <a:latin typeface="+mn-lt"/>
                <a:ea typeface="+mn-ea"/>
                <a:cs typeface="+mn-cs"/>
                <a:sym typeface="Times New Roman" panose="02020603050405020304"/>
              </a:rPr>
              <a:t>1. </a:t>
            </a:r>
            <a:r>
              <a:rPr lang="zh-CN" altLang="en-US" sz="1200" b="1" i="0" dirty="0">
                <a:effectLst/>
                <a:latin typeface="+mn-lt"/>
                <a:ea typeface="+mn-ea"/>
                <a:cs typeface="+mn-cs"/>
                <a:sym typeface="Times New Roman" panose="02020603050405020304"/>
              </a:rPr>
              <a:t>沟槽式电容（</a:t>
            </a:r>
            <a:r>
              <a:rPr lang="en-US" sz="1200" b="1" i="0" dirty="0">
                <a:effectLst/>
                <a:latin typeface="+mn-lt"/>
                <a:ea typeface="+mn-ea"/>
                <a:cs typeface="+mn-cs"/>
                <a:sym typeface="Times New Roman" panose="02020603050405020304"/>
              </a:rPr>
              <a:t>Trench Capacitor）</a:t>
            </a:r>
            <a:endParaRPr lang="en-US" sz="1200" b="1"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做法</a:t>
            </a:r>
            <a:r>
              <a:rPr lang="zh-CN" altLang="en-US" sz="1200" b="0" i="0" dirty="0">
                <a:effectLst/>
                <a:latin typeface="+mn-lt"/>
                <a:ea typeface="+mn-ea"/>
                <a:cs typeface="+mn-cs"/>
                <a:sym typeface="Times New Roman" panose="02020603050405020304"/>
              </a:rPr>
              <a:t>：在硅衬底上</a:t>
            </a:r>
            <a:r>
              <a:rPr lang="zh-CN" altLang="en-US" sz="1200" b="1" i="0" dirty="0">
                <a:effectLst/>
                <a:latin typeface="+mn-lt"/>
                <a:ea typeface="+mn-ea"/>
                <a:cs typeface="+mn-cs"/>
                <a:sym typeface="Times New Roman" panose="02020603050405020304"/>
              </a:rPr>
              <a:t>向下刻蚀一个深沟槽</a:t>
            </a:r>
            <a:r>
              <a:rPr lang="zh-CN" altLang="en-US" sz="1200" b="0" i="0" dirty="0">
                <a:effectLst/>
                <a:latin typeface="+mn-lt"/>
                <a:ea typeface="+mn-ea"/>
                <a:cs typeface="+mn-cs"/>
                <a:sym typeface="Times New Roman" panose="02020603050405020304"/>
              </a:rPr>
              <a:t>（像一口深井）</a:t>
            </a:r>
            <a:endParaRPr lang="zh-CN" altLang="en-US" sz="1200" b="0"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“深”体现在</a:t>
            </a:r>
            <a:r>
              <a:rPr lang="zh-CN" altLang="en-US" sz="1200" b="0" i="0" dirty="0">
                <a:effectLst/>
                <a:latin typeface="+mn-lt"/>
                <a:ea typeface="+mn-ea"/>
                <a:cs typeface="+mn-cs"/>
                <a:sym typeface="Times New Roman" panose="02020603050405020304"/>
              </a:rPr>
              <a:t>：沟槽深度可达 </a:t>
            </a:r>
            <a:r>
              <a:rPr lang="zh-CN" altLang="en-US" sz="1200" b="1" i="0" dirty="0">
                <a:effectLst/>
                <a:latin typeface="+mn-lt"/>
                <a:ea typeface="+mn-ea"/>
                <a:cs typeface="+mn-cs"/>
                <a:sym typeface="Times New Roman" panose="02020603050405020304"/>
              </a:rPr>
              <a:t>几微米到十几微米</a:t>
            </a:r>
            <a:endParaRPr lang="zh-CN" altLang="en-US" sz="1200" b="0"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增大面积 </a:t>
            </a:r>
            <a:r>
              <a:rPr lang="en-US" sz="1200" b="1" i="0" dirty="0">
                <a:effectLst/>
                <a:latin typeface="+mn-lt"/>
                <a:ea typeface="+mn-ea"/>
                <a:cs typeface="+mn-cs"/>
                <a:sym typeface="Times New Roman" panose="02020603050405020304"/>
              </a:rPr>
              <a:t>A</a:t>
            </a:r>
            <a:r>
              <a:rPr lang="en-US" sz="1200" b="0" i="0" dirty="0">
                <a:effectLst/>
                <a:latin typeface="+mn-lt"/>
                <a:ea typeface="+mn-ea"/>
                <a:cs typeface="+mn-cs"/>
                <a:sym typeface="Times New Roman" panose="02020603050405020304"/>
              </a:rPr>
              <a:t>：</a:t>
            </a:r>
            <a:r>
              <a:rPr lang="zh-CN" altLang="en-US" sz="1200" b="0" i="0" dirty="0">
                <a:effectLst/>
                <a:latin typeface="+mn-lt"/>
                <a:ea typeface="+mn-ea"/>
                <a:cs typeface="+mn-cs"/>
                <a:sym typeface="Times New Roman" panose="02020603050405020304"/>
              </a:rPr>
              <a:t>利用沟槽的</a:t>
            </a:r>
            <a:r>
              <a:rPr lang="zh-CN" altLang="en-US" sz="1200" b="1" i="0" dirty="0">
                <a:effectLst/>
                <a:latin typeface="+mn-lt"/>
                <a:ea typeface="+mn-ea"/>
                <a:cs typeface="+mn-cs"/>
                <a:sym typeface="Times New Roman" panose="02020603050405020304"/>
              </a:rPr>
              <a:t>侧壁和底部</a:t>
            </a:r>
            <a:r>
              <a:rPr lang="zh-CN" altLang="en-US" sz="1200" b="0" i="0" dirty="0">
                <a:effectLst/>
                <a:latin typeface="+mn-lt"/>
                <a:ea typeface="+mn-ea"/>
                <a:cs typeface="+mn-cs"/>
                <a:sym typeface="Times New Roman" panose="02020603050405020304"/>
              </a:rPr>
              <a:t>作为电极表面</a:t>
            </a:r>
            <a:endParaRPr lang="zh-CN" altLang="en-US" sz="1200" b="0"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应用</a:t>
            </a:r>
            <a:r>
              <a:rPr lang="zh-CN" altLang="en-US" sz="1200" b="0" i="0" dirty="0">
                <a:effectLst/>
                <a:latin typeface="+mn-lt"/>
                <a:ea typeface="+mn-ea"/>
                <a:cs typeface="+mn-cs"/>
                <a:sym typeface="Times New Roman" panose="02020603050405020304"/>
              </a:rPr>
              <a:t>：</a:t>
            </a:r>
            <a:r>
              <a:rPr lang="en-US" sz="1200" b="0" i="0" dirty="0">
                <a:effectLst/>
                <a:latin typeface="+mn-lt"/>
                <a:ea typeface="+mn-ea"/>
                <a:cs typeface="+mn-cs"/>
                <a:sym typeface="Times New Roman" panose="02020603050405020304"/>
              </a:rPr>
              <a:t>IBM、</a:t>
            </a:r>
            <a:r>
              <a:rPr lang="zh-CN" altLang="en-US" sz="1200" b="0" i="0" dirty="0">
                <a:effectLst/>
                <a:latin typeface="+mn-lt"/>
                <a:ea typeface="+mn-ea"/>
                <a:cs typeface="+mn-cs"/>
                <a:sym typeface="Times New Roman" panose="02020603050405020304"/>
              </a:rPr>
              <a:t>早期 </a:t>
            </a:r>
            <a:r>
              <a:rPr lang="en-US" sz="1200" b="0" i="0" dirty="0">
                <a:effectLst/>
                <a:latin typeface="+mn-lt"/>
                <a:ea typeface="+mn-ea"/>
                <a:cs typeface="+mn-cs"/>
                <a:sym typeface="Times New Roman" panose="02020603050405020304"/>
              </a:rPr>
              <a:t>DRAM </a:t>
            </a:r>
            <a:r>
              <a:rPr lang="zh-CN" altLang="en-US" sz="1200" b="0" i="0" dirty="0">
                <a:effectLst/>
                <a:latin typeface="+mn-lt"/>
                <a:ea typeface="+mn-ea"/>
                <a:cs typeface="+mn-cs"/>
                <a:sym typeface="Times New Roman" panose="02020603050405020304"/>
              </a:rPr>
              <a:t>常用</a:t>
            </a:r>
            <a:endParaRPr lang="zh-CN" altLang="en-US" sz="1200" b="0" i="0" dirty="0">
              <a:effectLst/>
              <a:latin typeface="+mn-lt"/>
              <a:ea typeface="+mn-ea"/>
              <a:cs typeface="+mn-cs"/>
              <a:sym typeface="Times New Roman" panose="02020603050405020304"/>
            </a:endParaRPr>
          </a:p>
          <a:p>
            <a:r>
              <a:rPr lang="en-US" altLang="zh-CN" sz="1200" b="1" i="0" dirty="0">
                <a:effectLst/>
                <a:latin typeface="+mn-lt"/>
                <a:ea typeface="+mn-ea"/>
                <a:cs typeface="+mn-cs"/>
                <a:sym typeface="Times New Roman" panose="02020603050405020304"/>
              </a:rPr>
              <a:t>2. </a:t>
            </a:r>
            <a:r>
              <a:rPr lang="zh-CN" altLang="en-US" sz="1200" b="1" i="0" dirty="0">
                <a:effectLst/>
                <a:latin typeface="+mn-lt"/>
                <a:ea typeface="+mn-ea"/>
                <a:cs typeface="+mn-cs"/>
                <a:sym typeface="Times New Roman" panose="02020603050405020304"/>
              </a:rPr>
              <a:t>堆叠式电容（</a:t>
            </a:r>
            <a:r>
              <a:rPr lang="en-US" sz="1200" b="1" i="0" dirty="0">
                <a:effectLst/>
                <a:latin typeface="+mn-lt"/>
                <a:ea typeface="+mn-ea"/>
                <a:cs typeface="+mn-cs"/>
                <a:sym typeface="Times New Roman" panose="02020603050405020304"/>
              </a:rPr>
              <a:t>Stacked Capacitor）</a:t>
            </a:r>
            <a:endParaRPr lang="en-US" sz="1200" b="1"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做法</a:t>
            </a:r>
            <a:r>
              <a:rPr lang="zh-CN" altLang="en-US" sz="1200" b="0" i="0" dirty="0">
                <a:effectLst/>
                <a:latin typeface="+mn-lt"/>
                <a:ea typeface="+mn-ea"/>
                <a:cs typeface="+mn-cs"/>
                <a:sym typeface="Times New Roman" panose="02020603050405020304"/>
              </a:rPr>
              <a:t>：在晶体管上方</a:t>
            </a:r>
            <a:r>
              <a:rPr lang="zh-CN" altLang="en-US" sz="1200" b="1" i="0" dirty="0">
                <a:effectLst/>
                <a:latin typeface="+mn-lt"/>
                <a:ea typeface="+mn-ea"/>
                <a:cs typeface="+mn-cs"/>
                <a:sym typeface="Times New Roman" panose="02020603050405020304"/>
              </a:rPr>
              <a:t>向上堆叠多层电极和介质</a:t>
            </a:r>
            <a:r>
              <a:rPr lang="zh-CN" altLang="en-US" sz="1200" b="0" i="0" dirty="0">
                <a:effectLst/>
                <a:latin typeface="+mn-lt"/>
                <a:ea typeface="+mn-ea"/>
                <a:cs typeface="+mn-cs"/>
                <a:sym typeface="Times New Roman" panose="02020603050405020304"/>
              </a:rPr>
              <a:t>，形成柱状或蜂窝状结构</a:t>
            </a:r>
            <a:endParaRPr lang="zh-CN" altLang="en-US" sz="1200" b="0"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“深</a:t>
            </a:r>
            <a:r>
              <a:rPr lang="en-US" altLang="zh-CN" sz="1200" b="1" i="0" dirty="0">
                <a:effectLst/>
                <a:latin typeface="+mn-lt"/>
                <a:ea typeface="+mn-ea"/>
                <a:cs typeface="+mn-cs"/>
                <a:sym typeface="Times New Roman" panose="02020603050405020304"/>
              </a:rPr>
              <a:t>/</a:t>
            </a:r>
            <a:r>
              <a:rPr lang="zh-CN" altLang="en-US" sz="1200" b="1" i="0" dirty="0">
                <a:effectLst/>
                <a:latin typeface="+mn-lt"/>
                <a:ea typeface="+mn-ea"/>
                <a:cs typeface="+mn-cs"/>
                <a:sym typeface="Times New Roman" panose="02020603050405020304"/>
              </a:rPr>
              <a:t>高”体现在</a:t>
            </a:r>
            <a:r>
              <a:rPr lang="zh-CN" altLang="en-US" sz="1200" b="0" i="0" dirty="0">
                <a:effectLst/>
                <a:latin typeface="+mn-lt"/>
                <a:ea typeface="+mn-ea"/>
                <a:cs typeface="+mn-cs"/>
                <a:sym typeface="Times New Roman" panose="02020603050405020304"/>
              </a:rPr>
              <a:t>：电容结构</a:t>
            </a:r>
            <a:r>
              <a:rPr lang="zh-CN" altLang="en-US" sz="1200" b="1" i="0" dirty="0">
                <a:effectLst/>
                <a:latin typeface="+mn-lt"/>
                <a:ea typeface="+mn-ea"/>
                <a:cs typeface="+mn-cs"/>
                <a:sym typeface="Times New Roman" panose="02020603050405020304"/>
              </a:rPr>
              <a:t>高出硅表面数微米</a:t>
            </a:r>
            <a:endParaRPr lang="zh-CN" altLang="en-US" sz="1200" b="0"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增大面积 </a:t>
            </a:r>
            <a:r>
              <a:rPr lang="en-US" sz="1200" b="1" i="0" dirty="0">
                <a:effectLst/>
                <a:latin typeface="+mn-lt"/>
                <a:ea typeface="+mn-ea"/>
                <a:cs typeface="+mn-cs"/>
                <a:sym typeface="Times New Roman" panose="02020603050405020304"/>
              </a:rPr>
              <a:t>A</a:t>
            </a:r>
            <a:r>
              <a:rPr lang="en-US" sz="1200" b="0" i="0" dirty="0">
                <a:effectLst/>
                <a:latin typeface="+mn-lt"/>
                <a:ea typeface="+mn-ea"/>
                <a:cs typeface="+mn-cs"/>
                <a:sym typeface="Times New Roman" panose="02020603050405020304"/>
              </a:rPr>
              <a:t>：</a:t>
            </a:r>
            <a:r>
              <a:rPr lang="zh-CN" altLang="en-US" sz="1200" b="0" i="0" dirty="0">
                <a:effectLst/>
                <a:latin typeface="+mn-lt"/>
                <a:ea typeface="+mn-ea"/>
                <a:cs typeface="+mn-cs"/>
                <a:sym typeface="Times New Roman" panose="02020603050405020304"/>
              </a:rPr>
              <a:t>通过折叠、圆柱、鳍片等 </a:t>
            </a:r>
            <a:r>
              <a:rPr lang="en-US" altLang="zh-CN" sz="1200" b="0" i="0" dirty="0">
                <a:effectLst/>
                <a:latin typeface="+mn-lt"/>
                <a:ea typeface="+mn-ea"/>
                <a:cs typeface="+mn-cs"/>
                <a:sym typeface="Times New Roman" panose="02020603050405020304"/>
              </a:rPr>
              <a:t>3</a:t>
            </a:r>
            <a:r>
              <a:rPr lang="en-US" sz="1200" b="0" i="0" dirty="0">
                <a:effectLst/>
                <a:latin typeface="+mn-lt"/>
                <a:ea typeface="+mn-ea"/>
                <a:cs typeface="+mn-cs"/>
                <a:sym typeface="Times New Roman" panose="02020603050405020304"/>
              </a:rPr>
              <a:t>D </a:t>
            </a:r>
            <a:r>
              <a:rPr lang="zh-CN" altLang="en-US" sz="1200" b="0" i="0" dirty="0">
                <a:effectLst/>
                <a:latin typeface="+mn-lt"/>
                <a:ea typeface="+mn-ea"/>
                <a:cs typeface="+mn-cs"/>
                <a:sym typeface="Times New Roman" panose="02020603050405020304"/>
              </a:rPr>
              <a:t>形状增加表面积</a:t>
            </a:r>
            <a:endParaRPr lang="zh-CN" altLang="en-US" sz="1200" b="0" i="0" dirty="0">
              <a:effectLst/>
              <a:latin typeface="+mn-lt"/>
              <a:ea typeface="+mn-ea"/>
              <a:cs typeface="+mn-cs"/>
              <a:sym typeface="Times New Roman" panose="02020603050405020304"/>
            </a:endParaRPr>
          </a:p>
          <a:p>
            <a:r>
              <a:rPr lang="zh-CN" altLang="en-US" sz="1200" b="1" i="0" dirty="0">
                <a:effectLst/>
                <a:latin typeface="+mn-lt"/>
                <a:ea typeface="+mn-ea"/>
                <a:cs typeface="+mn-cs"/>
                <a:sym typeface="Times New Roman" panose="02020603050405020304"/>
              </a:rPr>
              <a:t>应用</a:t>
            </a:r>
            <a:r>
              <a:rPr lang="zh-CN" altLang="en-US" sz="1200" b="0" i="0" dirty="0">
                <a:effectLst/>
                <a:latin typeface="+mn-lt"/>
                <a:ea typeface="+mn-ea"/>
                <a:cs typeface="+mn-cs"/>
                <a:sym typeface="Times New Roman" panose="02020603050405020304"/>
              </a:rPr>
              <a:t>：三星、</a:t>
            </a:r>
            <a:r>
              <a:rPr lang="en-US" sz="1200" b="0" i="0" dirty="0">
                <a:effectLst/>
                <a:latin typeface="+mn-lt"/>
                <a:ea typeface="+mn-ea"/>
                <a:cs typeface="+mn-cs"/>
                <a:sym typeface="Times New Roman" panose="02020603050405020304"/>
              </a:rPr>
              <a:t>SK </a:t>
            </a:r>
            <a:r>
              <a:rPr lang="zh-CN" altLang="en-US" sz="1200" b="0" i="0" dirty="0">
                <a:effectLst/>
                <a:latin typeface="+mn-lt"/>
                <a:ea typeface="+mn-ea"/>
                <a:cs typeface="+mn-cs"/>
                <a:sym typeface="Times New Roman" panose="02020603050405020304"/>
              </a:rPr>
              <a:t>海力士、美光主流技术</a:t>
            </a:r>
            <a:endParaRPr lang="zh-CN" altLang="en-US" sz="1200" b="0" i="0" dirty="0">
              <a:effectLst/>
              <a:latin typeface="+mn-lt"/>
              <a:ea typeface="+mn-ea"/>
              <a:cs typeface="+mn-cs"/>
              <a:sym typeface="Times New Roman" panose="020206030504050203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2" name="Shape 1562"/>
          <p:cNvSpPr>
            <a:spLocks noGrp="1" noRot="1" noChangeAspect="1"/>
          </p:cNvSpPr>
          <p:nvPr>
            <p:ph type="sldImg"/>
          </p:nvPr>
        </p:nvSpPr>
        <p:spPr>
          <a:xfrm>
            <a:off x="381000" y="685800"/>
            <a:ext cx="6096000" cy="3429000"/>
          </a:xfrm>
          <a:prstGeom prst="rect">
            <a:avLst/>
          </a:prstGeom>
        </p:spPr>
        <p:txBody>
          <a:bodyPr/>
          <a:lstStyle/>
          <a:p/>
        </p:txBody>
      </p:sp>
      <p:sp>
        <p:nvSpPr>
          <p:cNvPr id="1563" name="Shape 1563"/>
          <p:cNvSpPr>
            <a:spLocks noGrp="1"/>
          </p:cNvSpPr>
          <p:nvPr>
            <p:ph type="body" sz="quarter" idx="1"/>
          </p:nvPr>
        </p:nvSpPr>
        <p:spPr>
          <a:prstGeom prst="rect">
            <a:avLst/>
          </a:prstGeom>
        </p:spPr>
        <p:txBody>
          <a:bodyPr/>
          <a:lstStyle/>
          <a:p>
            <a:r>
              <a:rPr dirty="0"/>
              <a:t>Goal:</a:t>
            </a:r>
            <a:endParaRPr dirty="0"/>
          </a:p>
          <a:p>
            <a:r>
              <a:rPr dirty="0"/>
              <a:t>	Show the </a:t>
            </a:r>
            <a:r>
              <a:rPr dirty="0" err="1"/>
              <a:t>inefficeincy</a:t>
            </a:r>
            <a:r>
              <a:rPr dirty="0"/>
              <a:t> of current disk requests.</a:t>
            </a:r>
            <a:endParaRPr dirty="0"/>
          </a:p>
          <a:p>
            <a:r>
              <a:rPr dirty="0"/>
              <a:t>Conveyed Ideas:</a:t>
            </a:r>
            <a:endParaRPr dirty="0"/>
          </a:p>
          <a:p>
            <a:r>
              <a:rPr dirty="0"/>
              <a:t>	Rotational latency is wasted time that can be used to service tasks</a:t>
            </a:r>
            <a:endParaRPr dirty="0"/>
          </a:p>
          <a:p>
            <a:r>
              <a:rPr dirty="0"/>
              <a:t>Background Information:</a:t>
            </a:r>
            <a:endParaRPr dirty="0"/>
          </a:p>
          <a:p>
            <a:r>
              <a:rPr dirty="0"/>
              <a:t>	None.</a:t>
            </a:r>
            <a:endParaRPr dirty="0"/>
          </a:p>
          <a:p>
            <a:r>
              <a:rPr dirty="0"/>
              <a:t>Slide Background:</a:t>
            </a:r>
            <a:endParaRPr dirty="0"/>
          </a:p>
          <a:p>
            <a:r>
              <a:rPr dirty="0"/>
              <a:t>	None.</a:t>
            </a:r>
            <a:endParaRPr dirty="0"/>
          </a:p>
          <a:p>
            <a:endParaRPr dirty="0"/>
          </a:p>
          <a:p>
            <a:r>
              <a:rPr dirty="0"/>
              <a:t>Kill text and arrows</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Text Placeholder 2"/>
          <p:cNvSpPr>
            <a:spLocks noGrp="1"/>
          </p:cNvSpPr>
          <p:nvPr>
            <p:ph type="body" idx="1"/>
          </p:nvPr>
        </p:nvSpPr>
        <p:spPr/>
        <p:txBody>
          <a:bodyPr/>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2" name="Shape 1562"/>
          <p:cNvSpPr>
            <a:spLocks noGrp="1" noRot="1" noChangeAspect="1"/>
          </p:cNvSpPr>
          <p:nvPr>
            <p:ph type="sldImg"/>
          </p:nvPr>
        </p:nvSpPr>
        <p:spPr>
          <a:xfrm>
            <a:off x="381000" y="685800"/>
            <a:ext cx="6096000" cy="3429000"/>
          </a:xfrm>
          <a:prstGeom prst="rect">
            <a:avLst/>
          </a:prstGeom>
        </p:spPr>
        <p:txBody>
          <a:bodyPr/>
          <a:lstStyle/>
          <a:p/>
        </p:txBody>
      </p:sp>
      <p:sp>
        <p:nvSpPr>
          <p:cNvPr id="1563" name="Shape 1563"/>
          <p:cNvSpPr>
            <a:spLocks noGrp="1"/>
          </p:cNvSpPr>
          <p:nvPr>
            <p:ph type="body" sz="quarter" idx="1"/>
          </p:nvPr>
        </p:nvSpPr>
        <p:spPr>
          <a:prstGeom prst="rect">
            <a:avLst/>
          </a:prstGeom>
        </p:spPr>
        <p:txBody>
          <a:bodyPr/>
          <a:lstStyle/>
          <a:p>
            <a:r>
              <a:t>Goal:</a:t>
            </a:r>
          </a:p>
          <a:p>
            <a:r>
              <a:t>	Show the inefficeincy of current disk requests.</a:t>
            </a:r>
          </a:p>
          <a:p>
            <a:r>
              <a:t>Conveyed Ideas:</a:t>
            </a:r>
          </a:p>
          <a:p>
            <a:r>
              <a:t>	Rotational latency is wasted time that can be used to service tasks</a:t>
            </a:r>
          </a:p>
          <a:p>
            <a:r>
              <a:t>Background Information:</a:t>
            </a:r>
          </a:p>
          <a:p>
            <a:r>
              <a:t>	None.</a:t>
            </a:r>
          </a:p>
          <a:p>
            <a:r>
              <a:t>Slide Background:</a:t>
            </a:r>
          </a:p>
          <a:p>
            <a:r>
              <a:t>	None.</a:t>
            </a:r>
          </a:p>
          <a:p/>
          <a:p>
            <a:r>
              <a:t>Kill text and arrows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3" name="Slide Number"/>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24" name="Title Text"/>
          <p:cNvSpPr txBox="1">
            <a:spLocks noGrp="1"/>
          </p:cNvSpPr>
          <p:nvPr>
            <p:ph type="title" hasCustomPrompt="1"/>
          </p:nvPr>
        </p:nvSpPr>
        <p:spPr>
          <a:prstGeom prst="rect">
            <a:avLst/>
          </a:prstGeom>
        </p:spPr>
        <p:txBody>
          <a:bodyPr/>
          <a:lstStyle/>
          <a:p>
            <a:r>
              <a:t>Title Text</a:t>
            </a:r>
          </a:p>
        </p:txBody>
      </p:sp>
      <p:sp>
        <p:nvSpPr>
          <p:cNvPr id="25" name="Body Level One…"/>
          <p:cNvSpPr txBox="1">
            <a:spLocks noGrp="1"/>
          </p:cNvSpPr>
          <p:nvPr>
            <p:ph type="body" idx="1" hasCustomPrompt="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1" name="Slide Number"/>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42" name="Title Text"/>
          <p:cNvSpPr txBox="1">
            <a:spLocks noGrp="1"/>
          </p:cNvSpPr>
          <p:nvPr>
            <p:ph type="title" hasCustomPrompt="1"/>
          </p:nvPr>
        </p:nvSpPr>
        <p:spPr>
          <a:xfrm>
            <a:off x="498787" y="371182"/>
            <a:ext cx="10121901" cy="762001"/>
          </a:xfrm>
          <a:prstGeom prst="rect">
            <a:avLst/>
          </a:prstGeom>
        </p:spPr>
        <p:txBody>
          <a:bodyPr/>
          <a:lstStyle/>
          <a:p>
            <a:r>
              <a:t>Title Text</a:t>
            </a:r>
          </a:p>
        </p:txBody>
      </p:sp>
      <p:sp>
        <p:nvSpPr>
          <p:cNvPr id="43" name="Body Level One…"/>
          <p:cNvSpPr txBox="1">
            <a:spLocks noGrp="1"/>
          </p:cNvSpPr>
          <p:nvPr>
            <p:ph type="body" sz="half" idx="1" hasCustomPrompt="1"/>
          </p:nvPr>
        </p:nvSpPr>
        <p:spPr>
          <a:xfrm>
            <a:off x="850900" y="1362075"/>
            <a:ext cx="5162551" cy="4972050"/>
          </a:xfrm>
          <a:prstGeom prst="rect">
            <a:avLst/>
          </a:prstGeom>
        </p:spPr>
        <p:txBody>
          <a:bodyPr/>
          <a:lstStyle>
            <a:lvl1pPr>
              <a:spcBef>
                <a:spcPts val="600"/>
              </a:spcBef>
              <a:defRPr sz="2800"/>
            </a:lvl1pPr>
            <a:lvl2pPr marL="790575" indent="-333375">
              <a:spcBef>
                <a:spcPts val="600"/>
              </a:spcBef>
              <a:defRPr sz="2800"/>
            </a:lvl2pPr>
            <a:lvl3pPr marL="1234440" indent="-320040">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0" name="Slide Number"/>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51" name="Title Text"/>
          <p:cNvSpPr txBox="1">
            <a:spLocks noGrp="1"/>
          </p:cNvSpPr>
          <p:nvPr>
            <p:ph type="title" hasCustomPrompt="1"/>
          </p:nvPr>
        </p:nvSpPr>
        <p:spPr>
          <a:xfrm>
            <a:off x="609600" y="274639"/>
            <a:ext cx="10972800" cy="1143001"/>
          </a:xfrm>
          <a:prstGeom prst="rect">
            <a:avLst/>
          </a:prstGeom>
        </p:spPr>
        <p:txBody>
          <a:bodyPr/>
          <a:lstStyle/>
          <a:p>
            <a:r>
              <a:t>Title Text</a:t>
            </a:r>
          </a:p>
        </p:txBody>
      </p:sp>
      <p:sp>
        <p:nvSpPr>
          <p:cNvPr id="52" name="Body Level One…"/>
          <p:cNvSpPr txBox="1">
            <a:spLocks noGrp="1"/>
          </p:cNvSpPr>
          <p:nvPr>
            <p:ph type="body" sz="quarter" idx="1" hasCustomPrompt="1"/>
          </p:nvPr>
        </p:nvSpPr>
        <p:spPr>
          <a:xfrm>
            <a:off x="609600" y="1535112"/>
            <a:ext cx="5386917" cy="639763"/>
          </a:xfrm>
          <a:prstGeom prst="rect">
            <a:avLst/>
          </a:prstGeom>
        </p:spPr>
        <p:txBody>
          <a:bodyPr anchor="b"/>
          <a:lstStyle>
            <a:lvl1pPr marL="0" indent="0">
              <a:buClrTx/>
              <a:buSzTx/>
              <a:buNone/>
            </a:lvl1pPr>
            <a:lvl2pPr marL="0" indent="457200">
              <a:buClrTx/>
              <a:buSzTx/>
              <a:buNone/>
            </a:lvl2pPr>
            <a:lvl3pPr marL="0" indent="914400">
              <a:buClrTx/>
              <a:buSzTx/>
              <a:buNone/>
            </a:lvl3pPr>
            <a:lvl4pPr marL="0" indent="1371600">
              <a:buClrTx/>
              <a:buSzTx/>
              <a:buNone/>
            </a:lvl4pPr>
            <a:lvl5pPr marL="0" indent="1828800">
              <a:buClrTx/>
              <a:buSzTx/>
              <a:buNone/>
            </a:lvl5pPr>
          </a:lstStyle>
          <a:p>
            <a:r>
              <a:t>Body Level One</a:t>
            </a:r>
          </a:p>
          <a:p>
            <a:pPr lvl="1"/>
            <a:r>
              <a:t>Body Level Two</a:t>
            </a:r>
          </a:p>
          <a:p>
            <a:pPr lvl="2"/>
            <a:r>
              <a:t>Body Level Three</a:t>
            </a:r>
          </a:p>
          <a:p>
            <a:pPr lvl="3"/>
            <a:r>
              <a:t>Body Level Four</a:t>
            </a:r>
          </a:p>
          <a:p>
            <a:pPr lvl="4"/>
            <a:r>
              <a:t>Body Level Five</a:t>
            </a:r>
          </a:p>
        </p:txBody>
      </p:sp>
      <p:sp>
        <p:nvSpPr>
          <p:cNvPr id="53" name="Text Placeholder 4"/>
          <p:cNvSpPr>
            <a:spLocks noGrp="1"/>
          </p:cNvSpPr>
          <p:nvPr>
            <p:ph type="body" sz="quarter" idx="21"/>
          </p:nvPr>
        </p:nvSpPr>
        <p:spPr>
          <a:xfrm>
            <a:off x="6193368" y="1535112"/>
            <a:ext cx="5389033" cy="639763"/>
          </a:xfrm>
          <a:prstGeom prst="rect">
            <a:avLst/>
          </a:prstGeom>
        </p:spPr>
        <p:txBody>
          <a:bodyPr anchor="b"/>
          <a:lstStyle>
            <a:lvl1pPr marL="0" indent="0">
              <a:buClrTx/>
              <a:buSzTx/>
              <a:buNone/>
              <a:defRPr/>
            </a:lvl1pPr>
          </a:lstStyle>
          <a:p>
            <a:pPr marL="0" indent="0">
              <a:buClrTx/>
              <a:buSzTx/>
              <a:buNone/>
            </a:pPr>
          </a:p>
        </p:txBody>
      </p:sp>
    </p:spTree>
  </p:cSld>
  <p:clrMapOvr>
    <a:masterClrMapping/>
  </p:clrMapOvr>
  <p:transition spd="med"/>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0" name="Slide Number"/>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61" name="Title Text"/>
          <p:cNvSpPr txBox="1">
            <a:spLocks noGrp="1"/>
          </p:cNvSpPr>
          <p:nvPr>
            <p:ph type="title" hasCustomPrompt="1"/>
          </p:nvPr>
        </p:nvSpPr>
        <p:spPr>
          <a:xfrm>
            <a:off x="477016" y="445071"/>
            <a:ext cx="10121901" cy="762001"/>
          </a:xfrm>
          <a:prstGeom prst="rect">
            <a:avLst/>
          </a:prstGeom>
        </p:spPr>
        <p:txBody>
          <a:bodyPr/>
          <a:lstStyle/>
          <a:p>
            <a:r>
              <a:t>Title Text</a:t>
            </a:r>
          </a:p>
        </p:txBody>
      </p:sp>
    </p:spTree>
  </p:cSld>
  <p:clrMapOvr>
    <a:masterClrMapping/>
  </p:clrMapOvr>
  <p:transition spd="med"/>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8" name="Slide Number"/>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5" name="Slide Number"/>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76" name="Title Text"/>
          <p:cNvSpPr txBox="1">
            <a:spLocks noGrp="1"/>
          </p:cNvSpPr>
          <p:nvPr>
            <p:ph type="title" hasCustomPrompt="1"/>
          </p:nvPr>
        </p:nvSpPr>
        <p:spPr>
          <a:xfrm>
            <a:off x="609600" y="273050"/>
            <a:ext cx="4011085" cy="1162050"/>
          </a:xfrm>
          <a:prstGeom prst="rect">
            <a:avLst/>
          </a:prstGeom>
        </p:spPr>
        <p:txBody>
          <a:bodyPr anchor="b"/>
          <a:lstStyle>
            <a:lvl1pPr>
              <a:defRPr sz="2000"/>
            </a:lvl1pPr>
          </a:lstStyle>
          <a:p>
            <a:r>
              <a:t>Title Text</a:t>
            </a:r>
          </a:p>
        </p:txBody>
      </p:sp>
      <p:sp>
        <p:nvSpPr>
          <p:cNvPr id="77" name="Body Level One…"/>
          <p:cNvSpPr txBox="1">
            <a:spLocks noGrp="1"/>
          </p:cNvSpPr>
          <p:nvPr>
            <p:ph type="body" idx="1" hasCustomPrompt="1"/>
          </p:nvPr>
        </p:nvSpPr>
        <p:spPr>
          <a:xfrm>
            <a:off x="4766733" y="273051"/>
            <a:ext cx="6815667" cy="5853113"/>
          </a:xfrm>
          <a:prstGeom prst="rect">
            <a:avLst/>
          </a:prstGeom>
        </p:spPr>
        <p:txBody>
          <a:bodyPr/>
          <a:lstStyle>
            <a:lvl1pPr>
              <a:spcBef>
                <a:spcPts val="700"/>
              </a:spcBef>
              <a:defRPr sz="3200"/>
            </a:lvl1pPr>
            <a:lvl2pPr marL="783590" indent="-326390">
              <a:spcBef>
                <a:spcPts val="700"/>
              </a:spcBef>
              <a:defRPr sz="3200"/>
            </a:lvl2pPr>
            <a:lvl3pPr marL="1219200" indent="-304800">
              <a:spcBef>
                <a:spcPts val="700"/>
              </a:spcBef>
              <a:defRPr sz="3200"/>
            </a:lvl3pPr>
            <a:lvl4pPr marL="1737360" indent="-365760">
              <a:spcBef>
                <a:spcPts val="700"/>
              </a:spcBef>
              <a:defRPr sz="3200"/>
            </a:lvl4pPr>
            <a:lvl5pPr marL="2194560" indent="-365760">
              <a:spcBef>
                <a:spcPts val="700"/>
              </a:spcBef>
              <a:defRPr sz="3200"/>
            </a:lvl5pPr>
          </a:lstStyle>
          <a:p>
            <a:r>
              <a:t>Body Level One</a:t>
            </a:r>
          </a:p>
          <a:p>
            <a:pPr lvl="1"/>
            <a:r>
              <a:t>Body Level Two</a:t>
            </a:r>
          </a:p>
          <a:p>
            <a:pPr lvl="2"/>
            <a:r>
              <a:t>Body Level Three</a:t>
            </a:r>
          </a:p>
          <a:p>
            <a:pPr lvl="3"/>
            <a:r>
              <a:t>Body Level Four</a:t>
            </a:r>
          </a:p>
          <a:p>
            <a:pPr lvl="4"/>
            <a:r>
              <a:t>Body Level Five</a:t>
            </a:r>
          </a:p>
        </p:txBody>
      </p:sp>
      <p:sp>
        <p:nvSpPr>
          <p:cNvPr id="78" name="Text Placeholder 3"/>
          <p:cNvSpPr>
            <a:spLocks noGrp="1"/>
          </p:cNvSpPr>
          <p:nvPr>
            <p:ph type="body" sz="half" idx="21"/>
          </p:nvPr>
        </p:nvSpPr>
        <p:spPr>
          <a:xfrm>
            <a:off x="609599" y="1435101"/>
            <a:ext cx="4011087" cy="4691063"/>
          </a:xfrm>
          <a:prstGeom prst="rect">
            <a:avLst/>
          </a:prstGeom>
        </p:spPr>
        <p:txBody>
          <a:bodyPr/>
          <a:lstStyle>
            <a:lvl1pPr marL="0" indent="0">
              <a:spcBef>
                <a:spcPts val="300"/>
              </a:spcBef>
              <a:buClrTx/>
              <a:buSzTx/>
              <a:buNone/>
              <a:defRPr sz="1400"/>
            </a:lvl1pPr>
          </a:lstStyle>
          <a:p>
            <a:pPr marL="0" indent="0">
              <a:spcBef>
                <a:spcPts val="300"/>
              </a:spcBef>
              <a:buClrTx/>
              <a:buSzTx/>
              <a:buNone/>
              <a:defRPr sz="1400"/>
            </a:pPr>
          </a:p>
        </p:txBody>
      </p:sp>
    </p:spTree>
  </p:cSld>
  <p:clrMapOvr>
    <a:masterClrMapping/>
  </p:clrMapOvr>
  <p:transition spd="med"/>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5" name="Slide Number"/>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86" name="Title Text"/>
          <p:cNvSpPr txBox="1">
            <a:spLocks noGrp="1"/>
          </p:cNvSpPr>
          <p:nvPr>
            <p:ph type="title" hasCustomPrompt="1"/>
          </p:nvPr>
        </p:nvSpPr>
        <p:spPr>
          <a:xfrm>
            <a:off x="2389718" y="4800600"/>
            <a:ext cx="7315201" cy="566738"/>
          </a:xfrm>
          <a:prstGeom prst="rect">
            <a:avLst/>
          </a:prstGeom>
        </p:spPr>
        <p:txBody>
          <a:bodyPr anchor="b"/>
          <a:lstStyle>
            <a:lvl1pPr>
              <a:defRPr sz="2000"/>
            </a:lvl1pPr>
          </a:lstStyle>
          <a:p>
            <a:r>
              <a:t>Title Text</a:t>
            </a:r>
          </a:p>
        </p:txBody>
      </p:sp>
      <p:sp>
        <p:nvSpPr>
          <p:cNvPr id="87" name="Picture Placeholder 2"/>
          <p:cNvSpPr>
            <a:spLocks noGrp="1"/>
          </p:cNvSpPr>
          <p:nvPr>
            <p:ph type="pic" sz="half" idx="21"/>
          </p:nvPr>
        </p:nvSpPr>
        <p:spPr>
          <a:xfrm>
            <a:off x="2389718" y="612775"/>
            <a:ext cx="7315201" cy="4114800"/>
          </a:xfrm>
          <a:prstGeom prst="rect">
            <a:avLst/>
          </a:prstGeom>
        </p:spPr>
        <p:txBody>
          <a:bodyPr lIns="91439" rIns="91439">
            <a:noAutofit/>
          </a:bodyPr>
          <a:lstStyle/>
          <a:p/>
        </p:txBody>
      </p:sp>
      <p:sp>
        <p:nvSpPr>
          <p:cNvPr id="88" name="Body Level One…"/>
          <p:cNvSpPr txBox="1">
            <a:spLocks noGrp="1"/>
          </p:cNvSpPr>
          <p:nvPr>
            <p:ph type="body" sz="quarter" idx="1" hasCustomPrompt="1"/>
          </p:nvPr>
        </p:nvSpPr>
        <p:spPr>
          <a:xfrm>
            <a:off x="2389718" y="5367338"/>
            <a:ext cx="7315201" cy="804863"/>
          </a:xfrm>
          <a:prstGeom prst="rect">
            <a:avLst/>
          </a:prstGeom>
        </p:spPr>
        <p:txBody>
          <a:bodyPr/>
          <a:lstStyle>
            <a:lvl1pPr marL="0" indent="0">
              <a:spcBef>
                <a:spcPts val="300"/>
              </a:spcBef>
              <a:buClrTx/>
              <a:buSzTx/>
              <a:buNone/>
              <a:defRPr sz="1400"/>
            </a:lvl1pPr>
            <a:lvl2pPr marL="0" indent="457200">
              <a:spcBef>
                <a:spcPts val="300"/>
              </a:spcBef>
              <a:buClrTx/>
              <a:buSzTx/>
              <a:buNone/>
              <a:defRPr sz="1400"/>
            </a:lvl2pPr>
            <a:lvl3pPr marL="0" indent="914400">
              <a:spcBef>
                <a:spcPts val="300"/>
              </a:spcBef>
              <a:buClrTx/>
              <a:buSzTx/>
              <a:buNone/>
              <a:defRPr sz="1400"/>
            </a:lvl3pPr>
            <a:lvl4pPr marL="0" indent="1371600">
              <a:spcBef>
                <a:spcPts val="300"/>
              </a:spcBef>
              <a:buClrTx/>
              <a:buSzTx/>
              <a:buNone/>
              <a:defRPr sz="1400"/>
            </a:lvl4pPr>
            <a:lvl5pPr marL="0" indent="1828800">
              <a:spcBef>
                <a:spcPts val="300"/>
              </a:spcBef>
              <a:buClrTx/>
              <a:buSzTx/>
              <a:buNone/>
              <a:defRPr sz="1400"/>
            </a:lvl5p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Content, and 2 Content">
    <p:spTree>
      <p:nvGrpSpPr>
        <p:cNvPr id="1" name=""/>
        <p:cNvGrpSpPr/>
        <p:nvPr/>
      </p:nvGrpSpPr>
      <p:grpSpPr>
        <a:xfrm>
          <a:off x="0" y="0"/>
          <a:ext cx="0" cy="0"/>
          <a:chOff x="0" y="0"/>
          <a:chExt cx="0" cy="0"/>
        </a:xfrm>
      </p:grpSpPr>
      <p:sp>
        <p:nvSpPr>
          <p:cNvPr id="95" name="Slide Number"/>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96" name="Title Text"/>
          <p:cNvSpPr txBox="1">
            <a:spLocks noGrp="1"/>
          </p:cNvSpPr>
          <p:nvPr>
            <p:ph type="title" hasCustomPrompt="1"/>
          </p:nvPr>
        </p:nvSpPr>
        <p:spPr>
          <a:xfrm>
            <a:off x="529168" y="228600"/>
            <a:ext cx="11662833" cy="762000"/>
          </a:xfrm>
          <a:prstGeom prst="rect">
            <a:avLst/>
          </a:prstGeom>
        </p:spPr>
        <p:txBody>
          <a:bodyPr/>
          <a:lstStyle/>
          <a:p>
            <a:r>
              <a:t>Title Text</a:t>
            </a:r>
          </a:p>
        </p:txBody>
      </p:sp>
      <p:sp>
        <p:nvSpPr>
          <p:cNvPr id="97" name="Body Level One…"/>
          <p:cNvSpPr txBox="1">
            <a:spLocks noGrp="1"/>
          </p:cNvSpPr>
          <p:nvPr>
            <p:ph type="body" sz="half" idx="1" hasCustomPrompt="1"/>
          </p:nvPr>
        </p:nvSpPr>
        <p:spPr>
          <a:xfrm>
            <a:off x="850900" y="1362075"/>
            <a:ext cx="5162551" cy="49720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Text, and Content">
    <p:spTree>
      <p:nvGrpSpPr>
        <p:cNvPr id="1" name=""/>
        <p:cNvGrpSpPr/>
        <p:nvPr/>
      </p:nvGrpSpPr>
      <p:grpSpPr>
        <a:xfrm>
          <a:off x="0" y="0"/>
          <a:ext cx="0" cy="0"/>
          <a:chOff x="0" y="0"/>
          <a:chExt cx="0" cy="0"/>
        </a:xfrm>
      </p:grpSpPr>
      <p:sp>
        <p:nvSpPr>
          <p:cNvPr id="104" name="Slide Number"/>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105" name="Title Text"/>
          <p:cNvSpPr txBox="1">
            <a:spLocks noGrp="1"/>
          </p:cNvSpPr>
          <p:nvPr>
            <p:ph type="title" hasCustomPrompt="1"/>
          </p:nvPr>
        </p:nvSpPr>
        <p:spPr>
          <a:xfrm>
            <a:off x="529168" y="228600"/>
            <a:ext cx="11662833" cy="762000"/>
          </a:xfrm>
          <a:prstGeom prst="rect">
            <a:avLst/>
          </a:prstGeom>
        </p:spPr>
        <p:txBody>
          <a:bodyPr/>
          <a:lstStyle/>
          <a:p>
            <a:r>
              <a:t>Title Text</a:t>
            </a:r>
          </a:p>
        </p:txBody>
      </p:sp>
      <p:sp>
        <p:nvSpPr>
          <p:cNvPr id="106" name="Body Level One…"/>
          <p:cNvSpPr txBox="1">
            <a:spLocks noGrp="1"/>
          </p:cNvSpPr>
          <p:nvPr>
            <p:ph type="body" sz="half" idx="1" hasCustomPrompt="1"/>
          </p:nvPr>
        </p:nvSpPr>
        <p:spPr>
          <a:xfrm>
            <a:off x="850900" y="1362075"/>
            <a:ext cx="5162551" cy="49720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Off val="44000"/>
          </a:schemeClr>
        </a:solidFill>
        <a:effectLst/>
      </p:bgPr>
    </p:bg>
    <p:spTree>
      <p:nvGrpSpPr>
        <p:cNvPr id="1" name=""/>
        <p:cNvGrpSpPr/>
        <p:nvPr/>
      </p:nvGrpSpPr>
      <p:grpSpPr>
        <a:xfrm>
          <a:off x="0" y="0"/>
          <a:ext cx="0" cy="0"/>
          <a:chOff x="0" y="0"/>
          <a:chExt cx="0" cy="0"/>
        </a:xfrm>
      </p:grpSpPr>
      <p:sp>
        <p:nvSpPr>
          <p:cNvPr id="2" name="Rectangle 8"/>
          <p:cNvSpPr/>
          <p:nvPr/>
        </p:nvSpPr>
        <p:spPr>
          <a:xfrm>
            <a:off x="0" y="0"/>
            <a:ext cx="12192000" cy="228600"/>
          </a:xfrm>
          <a:prstGeom prst="rect">
            <a:avLst/>
          </a:prstGeom>
          <a:solidFill>
            <a:srgbClr val="990000"/>
          </a:solidFill>
          <a:ln w="12700">
            <a:miter lim="400000"/>
          </a:ln>
        </p:spPr>
        <p:txBody>
          <a:bodyPr lIns="45719" rIns="45719" anchor="ctr"/>
          <a:lstStyle/>
          <a:p>
            <a:pPr algn="ctr">
              <a:defRPr b="0">
                <a:latin typeface="+mn-lt"/>
                <a:ea typeface="+mn-ea"/>
                <a:cs typeface="+mn-cs"/>
                <a:sym typeface="Times New Roman" panose="02020603050405020304"/>
              </a:defRPr>
            </a:pPr>
            <a:endParaRPr sz="2400" b="1"/>
          </a:p>
        </p:txBody>
      </p:sp>
      <p:sp>
        <p:nvSpPr>
          <p:cNvPr id="4" name="Slide Number"/>
          <p:cNvSpPr txBox="1">
            <a:spLocks noGrp="1"/>
          </p:cNvSpPr>
          <p:nvPr>
            <p:ph type="sldNum" sz="quarter" idx="2"/>
          </p:nvPr>
        </p:nvSpPr>
        <p:spPr>
          <a:xfrm>
            <a:off x="11573163" y="6458109"/>
            <a:ext cx="402590" cy="306705"/>
          </a:xfrm>
          <a:prstGeom prst="rect">
            <a:avLst/>
          </a:prstGeom>
          <a:ln w="12700">
            <a:miter lim="400000"/>
          </a:ln>
        </p:spPr>
        <p:txBody>
          <a:bodyPr wrap="none" lIns="45719" rIns="45719">
            <a:spAutoFit/>
          </a:bodyPr>
          <a:lstStyle>
            <a:lvl1pPr>
              <a:defRPr sz="1400" b="1">
                <a:latin typeface="Calibri"/>
                <a:ea typeface="Calibri"/>
                <a:cs typeface="Calibri"/>
                <a:sym typeface="Calibri"/>
              </a:defRPr>
            </a:lvl1pPr>
          </a:lstStyle>
          <a:p>
            <a:fld id="{86CB4B4D-7CA3-9044-876B-883B54F8677D}" type="slidenum">
              <a:rPr/>
            </a:fld>
            <a:endParaRPr/>
          </a:p>
        </p:txBody>
      </p:sp>
      <p:sp>
        <p:nvSpPr>
          <p:cNvPr id="5" name="TextBox 8"/>
          <p:cNvSpPr txBox="1"/>
          <p:nvPr/>
        </p:nvSpPr>
        <p:spPr>
          <a:xfrm>
            <a:off x="39585" y="6629401"/>
            <a:ext cx="5313680" cy="245110"/>
          </a:xfrm>
          <a:prstGeom prst="rect">
            <a:avLst/>
          </a:prstGeom>
          <a:ln w="12700">
            <a:miter lim="400000"/>
          </a:ln>
        </p:spPr>
        <p:txBody>
          <a:bodyPr wrap="none" lIns="45719" rIns="45719">
            <a:spAutoFit/>
          </a:bodyPr>
          <a:lstStyle>
            <a:lvl1pPr>
              <a:defRPr sz="1000" b="0">
                <a:latin typeface="Calibri"/>
                <a:ea typeface="Calibri"/>
                <a:cs typeface="Calibri"/>
                <a:sym typeface="Calibri"/>
              </a:defRPr>
            </a:lvl1pPr>
          </a:lstStyle>
          <a:p>
            <a:r>
              <a:rPr sz="1000" b="1"/>
              <a:t>Bryant and O’Hallaron, Computer Systems: A Programmer’s Perspective, Third Edition</a:t>
            </a:r>
            <a:endParaRPr sz="1000" b="1"/>
          </a:p>
        </p:txBody>
      </p:sp>
      <p:sp>
        <p:nvSpPr>
          <p:cNvPr id="6" name="Title Text"/>
          <p:cNvSpPr txBox="1">
            <a:spLocks noGrp="1"/>
          </p:cNvSpPr>
          <p:nvPr>
            <p:ph type="title"/>
          </p:nvPr>
        </p:nvSpPr>
        <p:spPr>
          <a:xfrm>
            <a:off x="476024" y="435679"/>
            <a:ext cx="10122792" cy="762001"/>
          </a:xfrm>
          <a:prstGeom prst="rect">
            <a:avLst/>
          </a:prstGeom>
          <a:ln w="12700">
            <a:miter lim="400000"/>
          </a:ln>
        </p:spPr>
        <p:txBody>
          <a:bodyPr lIns="45719" rIns="45719" anchor="ctr">
            <a:normAutofit/>
          </a:bodyPr>
          <a:lstStyle/>
          <a:p>
            <a:r>
              <a:t>Title Text</a:t>
            </a:r>
          </a:p>
        </p:txBody>
      </p:sp>
      <p:sp>
        <p:nvSpPr>
          <p:cNvPr id="7" name="Body Level One…"/>
          <p:cNvSpPr txBox="1">
            <a:spLocks noGrp="1"/>
          </p:cNvSpPr>
          <p:nvPr>
            <p:ph type="body" idx="1"/>
          </p:nvPr>
        </p:nvSpPr>
        <p:spPr>
          <a:xfrm>
            <a:off x="529167" y="1362075"/>
            <a:ext cx="10528300" cy="4972050"/>
          </a:xfrm>
          <a:prstGeom prst="rect">
            <a:avLst/>
          </a:prstGeom>
          <a:ln w="12700">
            <a:miter lim="400000"/>
          </a:ln>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hf hdr="0" ftr="0" dt="0"/>
  <p:txStyles>
    <p:titleStyle>
      <a:lvl1pPr marL="118745" marR="0" indent="-118745" algn="l" defTabSz="914400" rtl="0" latinLnBrk="0">
        <a:lnSpc>
          <a:spcPct val="100000"/>
        </a:lnSpc>
        <a:spcBef>
          <a:spcPts val="0"/>
        </a:spcBef>
        <a:spcAft>
          <a:spcPts val="0"/>
        </a:spcAft>
        <a:buClrTx/>
        <a:buSzTx/>
        <a:buFontTx/>
        <a:buNone/>
        <a:defRPr sz="3600" b="0"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p:titleStyle>
    <p:bodyStyle>
      <a:lvl1pPr marL="342900" marR="0" indent="-342900" algn="l" defTabSz="914400" rtl="0" latinLnBrk="0">
        <a:lnSpc>
          <a:spcPct val="100000"/>
        </a:lnSpc>
        <a:spcBef>
          <a:spcPts val="500"/>
        </a:spcBef>
        <a:spcAft>
          <a:spcPts val="0"/>
        </a:spcAft>
        <a:buClr>
          <a:srgbClr val="990000"/>
        </a:buClr>
        <a:buSzPct val="60000"/>
        <a:buFontTx/>
        <a:buChar char="⬛"/>
        <a:defRPr sz="2400" b="0" i="0" u="none" strike="noStrike" cap="none" spc="0" baseline="0">
          <a:solidFill>
            <a:srgbClr val="000000"/>
          </a:solidFill>
          <a:uFillTx/>
          <a:latin typeface="Calibri"/>
          <a:ea typeface="Calibri"/>
          <a:cs typeface="Calibri"/>
          <a:sym typeface="Calibri"/>
        </a:defRPr>
      </a:lvl1pPr>
      <a:lvl2pPr marL="800100" marR="0" indent="-342900" algn="l" defTabSz="914400" rtl="0" latinLnBrk="0">
        <a:lnSpc>
          <a:spcPct val="100000"/>
        </a:lnSpc>
        <a:spcBef>
          <a:spcPts val="500"/>
        </a:spcBef>
        <a:spcAft>
          <a:spcPts val="0"/>
        </a:spcAft>
        <a:buClr>
          <a:srgbClr val="990000"/>
        </a:buClr>
        <a:buSzPct val="110000"/>
        <a:buFontTx/>
        <a:buChar char="▪"/>
        <a:defRPr sz="2400" b="0" i="0" u="none" strike="noStrike" cap="none" spc="0" baseline="0">
          <a:solidFill>
            <a:srgbClr val="000000"/>
          </a:solidFill>
          <a:uFillTx/>
          <a:latin typeface="Calibri"/>
          <a:ea typeface="Calibri"/>
          <a:cs typeface="Calibri"/>
          <a:sym typeface="Calibri"/>
        </a:defRPr>
      </a:lvl2pPr>
      <a:lvl3pPr marL="1188720" marR="0" indent="-274320" algn="l" defTabSz="914400" rtl="0" latinLnBrk="0">
        <a:lnSpc>
          <a:spcPct val="100000"/>
        </a:lnSpc>
        <a:spcBef>
          <a:spcPts val="500"/>
        </a:spcBef>
        <a:spcAft>
          <a:spcPts val="0"/>
        </a:spcAft>
        <a:buClr>
          <a:srgbClr val="990000"/>
        </a:buClr>
        <a:buSzPct val="80000"/>
        <a:buFontTx/>
        <a:buChar char="▪"/>
        <a:defRPr sz="2400" b="0" i="0" u="none" strike="noStrike" cap="none" spc="0" baseline="0">
          <a:solidFill>
            <a:srgbClr val="000000"/>
          </a:solidFill>
          <a:uFillTx/>
          <a:latin typeface="Calibri"/>
          <a:ea typeface="Calibri"/>
          <a:cs typeface="Calibri"/>
          <a:sym typeface="Calibri"/>
        </a:defRPr>
      </a:lvl3pPr>
      <a:lvl4pPr marL="1645920" marR="0" indent="-274320" algn="l" defTabSz="914400" rtl="0" latinLnBrk="0">
        <a:lnSpc>
          <a:spcPct val="100000"/>
        </a:lnSpc>
        <a:spcBef>
          <a:spcPts val="500"/>
        </a:spcBef>
        <a:spcAft>
          <a:spcPts val="0"/>
        </a:spcAft>
        <a:buClr>
          <a:srgbClr val="990000"/>
        </a:buClr>
        <a:buSzPct val="100000"/>
        <a:buFontTx/>
        <a:buChar char="–"/>
        <a:defRPr sz="2400" b="0" i="0" u="none" strike="noStrike" cap="none" spc="0" baseline="0">
          <a:solidFill>
            <a:srgbClr val="000000"/>
          </a:solidFill>
          <a:uFillTx/>
          <a:latin typeface="Calibri"/>
          <a:ea typeface="Calibri"/>
          <a:cs typeface="Calibri"/>
          <a:sym typeface="Calibri"/>
        </a:defRPr>
      </a:lvl4pPr>
      <a:lvl5pPr marL="2103120" marR="0" indent="-274320" algn="l" defTabSz="914400" rtl="0" latinLnBrk="0">
        <a:lnSpc>
          <a:spcPct val="100000"/>
        </a:lnSpc>
        <a:spcBef>
          <a:spcPts val="500"/>
        </a:spcBef>
        <a:spcAft>
          <a:spcPts val="0"/>
        </a:spcAft>
        <a:buClr>
          <a:srgbClr val="990000"/>
        </a:buClr>
        <a:buSzPct val="100000"/>
        <a:buFontTx/>
        <a:buChar char="»"/>
        <a:defRPr sz="2400" b="0" i="0" u="none" strike="noStrike" cap="none" spc="0" baseline="0">
          <a:solidFill>
            <a:srgbClr val="000000"/>
          </a:solidFill>
          <a:uFillTx/>
          <a:latin typeface="Calibri"/>
          <a:ea typeface="Calibri"/>
          <a:cs typeface="Calibri"/>
          <a:sym typeface="Calibri"/>
        </a:defRPr>
      </a:lvl5pPr>
      <a:lvl6pPr marL="2560320" marR="0" indent="-274320" algn="l" defTabSz="914400" rtl="0" latinLnBrk="0">
        <a:lnSpc>
          <a:spcPct val="100000"/>
        </a:lnSpc>
        <a:spcBef>
          <a:spcPts val="500"/>
        </a:spcBef>
        <a:spcAft>
          <a:spcPts val="0"/>
        </a:spcAft>
        <a:buClr>
          <a:srgbClr val="990000"/>
        </a:buClr>
        <a:buSzPct val="100000"/>
        <a:buFontTx/>
        <a:buChar char="»"/>
        <a:defRPr sz="2400" b="1" i="0" u="none" strike="noStrike" cap="none" spc="0" baseline="0">
          <a:solidFill>
            <a:srgbClr val="000000"/>
          </a:solidFill>
          <a:uFillTx/>
          <a:latin typeface="Calibri"/>
          <a:ea typeface="Calibri"/>
          <a:cs typeface="Calibri"/>
          <a:sym typeface="Calibri"/>
        </a:defRPr>
      </a:lvl6pPr>
      <a:lvl7pPr marL="3017520" marR="0" indent="-274320" algn="l" defTabSz="914400" rtl="0" latinLnBrk="0">
        <a:lnSpc>
          <a:spcPct val="100000"/>
        </a:lnSpc>
        <a:spcBef>
          <a:spcPts val="500"/>
        </a:spcBef>
        <a:spcAft>
          <a:spcPts val="0"/>
        </a:spcAft>
        <a:buClr>
          <a:srgbClr val="990000"/>
        </a:buClr>
        <a:buSzPct val="100000"/>
        <a:buFontTx/>
        <a:buChar char="»"/>
        <a:defRPr sz="2400" b="1" i="0" u="none" strike="noStrike" cap="none" spc="0" baseline="0">
          <a:solidFill>
            <a:srgbClr val="000000"/>
          </a:solidFill>
          <a:uFillTx/>
          <a:latin typeface="Calibri"/>
          <a:ea typeface="Calibri"/>
          <a:cs typeface="Calibri"/>
          <a:sym typeface="Calibri"/>
        </a:defRPr>
      </a:lvl7pPr>
      <a:lvl8pPr marL="3474720" marR="0" indent="-274320" algn="l" defTabSz="914400" rtl="0" latinLnBrk="0">
        <a:lnSpc>
          <a:spcPct val="100000"/>
        </a:lnSpc>
        <a:spcBef>
          <a:spcPts val="500"/>
        </a:spcBef>
        <a:spcAft>
          <a:spcPts val="0"/>
        </a:spcAft>
        <a:buClr>
          <a:srgbClr val="990000"/>
        </a:buClr>
        <a:buSzPct val="100000"/>
        <a:buFontTx/>
        <a:buChar char="»"/>
        <a:defRPr sz="2400" b="1" i="0" u="none" strike="noStrike" cap="none" spc="0" baseline="0">
          <a:solidFill>
            <a:srgbClr val="000000"/>
          </a:solidFill>
          <a:uFillTx/>
          <a:latin typeface="Calibri"/>
          <a:ea typeface="Calibri"/>
          <a:cs typeface="Calibri"/>
          <a:sym typeface="Calibri"/>
        </a:defRPr>
      </a:lvl8pPr>
      <a:lvl9pPr marL="3931920" marR="0" indent="-274320" algn="l" defTabSz="914400" rtl="0" latinLnBrk="0">
        <a:lnSpc>
          <a:spcPct val="100000"/>
        </a:lnSpc>
        <a:spcBef>
          <a:spcPts val="500"/>
        </a:spcBef>
        <a:spcAft>
          <a:spcPts val="0"/>
        </a:spcAft>
        <a:buClr>
          <a:srgbClr val="990000"/>
        </a:buClr>
        <a:buSzPct val="100000"/>
        <a:buFontTx/>
        <a:buChar char="»"/>
        <a:defRPr sz="2400" b="1" i="0" u="none" strike="noStrike" cap="none" spc="0" baseline="0">
          <a:solidFill>
            <a:srgbClr val="000000"/>
          </a:solidFill>
          <a:uFillTx/>
          <a:latin typeface="Calibri"/>
          <a:ea typeface="Calibri"/>
          <a:cs typeface="Calibri"/>
          <a:sym typeface="Calibri"/>
        </a:defRPr>
      </a:lvl9pPr>
    </p:bodyStyle>
    <p:otherStyle>
      <a:lvl1pPr marL="0" marR="0" indent="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1pPr>
      <a:lvl2pPr marL="0" marR="0" indent="45720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2pPr>
      <a:lvl3pPr marL="0" marR="0" indent="91440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3pPr>
      <a:lvl4pPr marL="0" marR="0" indent="137160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4pPr>
      <a:lvl5pPr marL="0" marR="0" indent="182880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5pPr>
      <a:lvl6pPr marL="0" marR="0" indent="228600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6pPr>
      <a:lvl7pPr marL="0" marR="0" indent="274320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7pPr>
      <a:lvl8pPr marL="0" marR="0" indent="320040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8pPr>
      <a:lvl9pPr marL="0" marR="0" indent="3657600" algn="l" defTabSz="914400" rtl="0" latinLnBrk="0">
        <a:lnSpc>
          <a:spcPct val="100000"/>
        </a:lnSpc>
        <a:spcBef>
          <a:spcPts val="0"/>
        </a:spcBef>
        <a:spcAft>
          <a:spcPts val="0"/>
        </a:spcAft>
        <a:buClrTx/>
        <a:buSzTx/>
        <a:buFontTx/>
        <a:buNone/>
        <a:defRPr sz="1000" b="1"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Shape 226"/>
          <p:cNvSpPr txBox="1">
            <a:spLocks noGrp="1"/>
          </p:cNvSpPr>
          <p:nvPr>
            <p:ph type="title"/>
          </p:nvPr>
        </p:nvSpPr>
        <p:spPr>
          <a:xfrm>
            <a:off x="1715640" y="2056105"/>
            <a:ext cx="8760719" cy="2590800"/>
          </a:xfrm>
          <a:prstGeom prst="rect">
            <a:avLst/>
          </a:prstGeom>
          <a:noFill/>
          <a:ln>
            <a:noFill/>
          </a:ln>
        </p:spPr>
        <p:txBody>
          <a:bodyPr spcFirstLastPara="1" wrap="square" lIns="38100" tIns="38100" rIns="38100" bIns="38100" anchor="t" anchorCtr="0">
            <a:noAutofit/>
          </a:bodyPr>
          <a:lstStyle/>
          <a:p>
            <a:pPr marL="119380" indent="-119380" algn="ctr"/>
            <a:r>
              <a:rPr lang="en-US" dirty="0" err="1">
                <a:solidFill>
                  <a:schemeClr val="dk1"/>
                </a:solidFill>
              </a:rPr>
              <a:t>存储器层次结构</a:t>
            </a:r>
            <a:br>
              <a:rPr lang="en-US" dirty="0">
                <a:solidFill>
                  <a:schemeClr val="dk1"/>
                </a:solidFill>
              </a:rPr>
            </a:br>
            <a:r>
              <a:rPr lang="en-US" dirty="0">
                <a:solidFill>
                  <a:schemeClr val="dk1"/>
                </a:solidFill>
              </a:rPr>
              <a:t>Memory</a:t>
            </a:r>
            <a:r>
              <a:rPr lang="zh-CN" altLang="en-US" dirty="0">
                <a:solidFill>
                  <a:schemeClr val="dk1"/>
                </a:solidFill>
              </a:rPr>
              <a:t> </a:t>
            </a:r>
            <a:r>
              <a:rPr lang="en-US" altLang="zh-CN" dirty="0">
                <a:solidFill>
                  <a:schemeClr val="dk1"/>
                </a:solidFill>
              </a:rPr>
              <a:t>Hierarchy</a:t>
            </a:r>
            <a:endParaRPr sz="2000" b="0" dirty="0">
              <a:solidFill>
                <a:schemeClr val="dk1"/>
              </a:solidFill>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大多数计算都需要复杂的输入</a:t>
            </a:r>
            <a:r>
              <a:rPr lang="zh-CN" altLang="en-US" dirty="0">
                <a:latin typeface="Consolas" panose="020B0609020204030204" pitchFamily="49" charset="0"/>
                <a:ea typeface="FangSong" panose="02010609060101010101" pitchFamily="49" charset="-122"/>
                <a:cs typeface="Consolas" panose="020B0609020204030204" pitchFamily="49" charset="0"/>
              </a:rPr>
              <a:t>，具有副作用，等等</a:t>
            </a:r>
            <a:endParaRPr lang="en-US" dirty="0">
              <a:latin typeface="Consolas" panose="020B0609020204030204" pitchFamily="49" charset="0"/>
              <a:ea typeface="FangSong" panose="02010609060101010101" pitchFamily="49" charset="-122"/>
              <a:cs typeface="Consolas" panose="020B0609020204030204" pitchFamily="49" charset="0"/>
            </a:endParaRPr>
          </a:p>
          <a:p>
            <a:pPr lvl="1"/>
            <a:r>
              <a:rPr lang="en-US" dirty="0" err="1">
                <a:latin typeface="Consolas" panose="020B0609020204030204" pitchFamily="49" charset="0"/>
                <a:ea typeface="FangSong" panose="02010609060101010101" pitchFamily="49" charset="-122"/>
                <a:cs typeface="Consolas" panose="020B0609020204030204" pitchFamily="49" charset="0"/>
              </a:rPr>
              <a:t>这些数据是存放在</a:t>
            </a:r>
            <a:r>
              <a:rPr lang="zh-CN" altLang="en-US" dirty="0">
                <a:latin typeface="Consolas" panose="020B0609020204030204" pitchFamily="49" charset="0"/>
                <a:ea typeface="FangSong" panose="02010609060101010101" pitchFamily="49" charset="-122"/>
                <a:cs typeface="Consolas" panose="020B0609020204030204" pitchFamily="49" charset="0"/>
              </a:rPr>
              <a:t>“内存”中的</a:t>
            </a:r>
            <a:endParaRPr lang="en-US" dirty="0">
              <a:latin typeface="Consolas" panose="020B0609020204030204" pitchFamily="49" charset="0"/>
              <a:ea typeface="FangSong" panose="02010609060101010101" pitchFamily="49" charset="-122"/>
              <a:cs typeface="Consolas" panose="020B0609020204030204" pitchFamily="49" charset="0"/>
            </a:endParaRPr>
          </a:p>
          <a:p>
            <a:pPr lvl="1"/>
            <a:endParaRPr lang="en-US" dirty="0">
              <a:latin typeface="Consolas" panose="020B0609020204030204" pitchFamily="49" charset="0"/>
              <a:ea typeface="FangSong" panose="02010609060101010101" pitchFamily="49" charset="-122"/>
              <a:cs typeface="Consolas" panose="020B0609020204030204" pitchFamily="49" charset="0"/>
            </a:endParaRPr>
          </a:p>
          <a:p>
            <a:r>
              <a:rPr lang="en-US" dirty="0" err="1">
                <a:latin typeface="Consolas" panose="020B0609020204030204" pitchFamily="49" charset="0"/>
                <a:ea typeface="FangSong" panose="02010609060101010101" pitchFamily="49" charset="-122"/>
                <a:cs typeface="Consolas" panose="020B0609020204030204" pitchFamily="49" charset="0"/>
              </a:rPr>
              <a:t>但是</a:t>
            </a:r>
            <a:r>
              <a:rPr lang="zh-CN" altLang="en-US" dirty="0">
                <a:latin typeface="Consolas" panose="020B0609020204030204" pitchFamily="49" charset="0"/>
                <a:ea typeface="FangSong" panose="02010609060101010101" pitchFamily="49" charset="-122"/>
                <a:cs typeface="Consolas" panose="020B0609020204030204" pitchFamily="49" charset="0"/>
              </a:rPr>
              <a:t>，什么是“内存”呢？</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4" name="Rectangle 2"/>
          <p:cNvSpPr txBox="1"/>
          <p:nvPr/>
        </p:nvSpPr>
        <p:spPr>
          <a:xfrm>
            <a:off x="1905000" y="569913"/>
            <a:ext cx="7035800" cy="573089"/>
          </a:xfrm>
          <a:prstGeom prst="rect">
            <a:avLst/>
          </a:prstGeom>
          <a:ln w="12700">
            <a:miter lim="400000"/>
          </a:ln>
        </p:spPr>
        <p:txBody>
          <a:bodyPr lIns="45719" rIns="45719" anchor="ctr">
            <a:normAutofit fontScale="90000" lnSpcReduction="10000"/>
          </a:bodyPr>
          <a:lstStyle>
            <a:lvl1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a:lstStyle>
          <a:p>
            <a:pPr hangingPunct="1"/>
            <a:r>
              <a:rPr lang="en-US" dirty="0" err="1">
                <a:latin typeface="Consolas" panose="020B0609020204030204" pitchFamily="49" charset="0"/>
                <a:ea typeface="FangSong" panose="02010609060101010101" pitchFamily="49" charset="-122"/>
                <a:cs typeface="Consolas" panose="020B0609020204030204" pitchFamily="49" charset="0"/>
              </a:rPr>
              <a:t>处理器需要数据</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Rectangle 2"/>
          <p:cNvSpPr txBox="1">
            <a:spLocks noGrp="1"/>
          </p:cNvSpPr>
          <p:nvPr>
            <p:ph type="title"/>
          </p:nvPr>
        </p:nvSpPr>
        <p:spPr>
          <a:xfrm>
            <a:off x="1905000" y="569913"/>
            <a:ext cx="7035800" cy="573089"/>
          </a:xfrm>
          <a:prstGeom prst="rect">
            <a:avLst/>
          </a:prstGeom>
        </p:spPr>
        <p:txBody>
          <a:bodyPr>
            <a:normAutofit fontScale="90000"/>
          </a:bodyPr>
          <a:lstStyle/>
          <a:p>
            <a:r>
              <a:rPr lang="en-US" dirty="0" err="1">
                <a:latin typeface="Consolas" panose="020B0609020204030204" pitchFamily="49" charset="0"/>
                <a:ea typeface="FangSong" panose="02010609060101010101" pitchFamily="49" charset="-122"/>
                <a:cs typeface="Consolas" panose="020B0609020204030204" pitchFamily="49" charset="0"/>
              </a:rPr>
              <a:t>读写内存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29" name="Rectangle 3"/>
          <p:cNvSpPr txBox="1">
            <a:spLocks noGrp="1"/>
          </p:cNvSpPr>
          <p:nvPr>
            <p:ph type="body" idx="1"/>
          </p:nvPr>
        </p:nvSpPr>
        <p:spPr>
          <a:prstGeom prst="rect">
            <a:avLst/>
          </a:prstGeom>
        </p:spPr>
        <p:txBody>
          <a:bodyPr/>
          <a:lstStyle/>
          <a:p>
            <a:pPr marL="224155" indent="-224155" defTabSz="895350">
              <a:tabLst>
                <a:tab pos="2349500" algn="l"/>
                <a:tab pos="4114800" algn="l"/>
              </a:tabLst>
            </a:pPr>
            <a:r>
              <a:rPr lang="en-US" dirty="0" err="1">
                <a:latin typeface="Consolas" panose="020B0609020204030204" pitchFamily="49" charset="0"/>
                <a:ea typeface="FangSong" panose="02010609060101010101" pitchFamily="49" charset="-122"/>
                <a:cs typeface="Consolas" panose="020B0609020204030204" pitchFamily="49" charset="0"/>
              </a:rPr>
              <a:t>写</a:t>
            </a:r>
            <a:endParaRPr lang="en-US" dirty="0">
              <a:latin typeface="Consolas" panose="020B0609020204030204" pitchFamily="49" charset="0"/>
              <a:ea typeface="FangSong" panose="02010609060101010101" pitchFamily="49" charset="-122"/>
              <a:cs typeface="Consolas" panose="020B0609020204030204" pitchFamily="49" charset="0"/>
            </a:endParaRPr>
          </a:p>
          <a:p>
            <a:pPr marL="623570" lvl="1" indent="-224155" defTabSz="895350">
              <a:spcBef>
                <a:spcPts val="400"/>
              </a:spcBef>
              <a:tabLst>
                <a:tab pos="2349500" algn="l"/>
                <a:tab pos="4114800" algn="l"/>
              </a:tabLst>
              <a:defRPr sz="2000" b="0"/>
            </a:pPr>
            <a:r>
              <a:rPr lang="en-US" dirty="0" err="1">
                <a:latin typeface="Consolas" panose="020B0609020204030204" pitchFamily="49" charset="0"/>
                <a:ea typeface="FangSong" panose="02010609060101010101" pitchFamily="49" charset="-122"/>
                <a:cs typeface="Consolas" panose="020B0609020204030204" pitchFamily="49" charset="0"/>
              </a:rPr>
              <a:t>把数据从</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CPU</a:t>
            </a:r>
            <a:r>
              <a:rPr lang="zh-CN" altLang="en-US" dirty="0">
                <a:latin typeface="Consolas" panose="020B0609020204030204" pitchFamily="49" charset="0"/>
                <a:ea typeface="FangSong" panose="02010609060101010101" pitchFamily="49" charset="-122"/>
                <a:cs typeface="Consolas" panose="020B0609020204030204" pitchFamily="49" charset="0"/>
              </a:rPr>
              <a:t> 传送到</a:t>
            </a:r>
            <a:r>
              <a:rPr lang="en-US" dirty="0" err="1">
                <a:latin typeface="Consolas" panose="020B0609020204030204" pitchFamily="49" charset="0"/>
                <a:ea typeface="FangSong" panose="02010609060101010101" pitchFamily="49" charset="-122"/>
                <a:cs typeface="Consolas" panose="020B0609020204030204" pitchFamily="49" charset="0"/>
              </a:rPr>
              <a:t>内存</a:t>
            </a:r>
            <a:br>
              <a:rPr lang="en-US" dirty="0">
                <a:latin typeface="Consolas" panose="020B0609020204030204" pitchFamily="49" charset="0"/>
                <a:ea typeface="FangSong" panose="02010609060101010101" pitchFamily="49" charset="-122"/>
                <a:cs typeface="Consolas" panose="020B0609020204030204" pitchFamily="49" charset="0"/>
              </a:rPr>
            </a:br>
            <a:r>
              <a:rPr lang="en-US" b="1"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movq</a:t>
            </a:r>
            <a:r>
              <a:rPr lang="en-US" b="1"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t>
            </a:r>
            <a:r>
              <a:rPr lang="en-US" b="1"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r>
              <a:rPr lang="en-US" b="1"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8(%</a:t>
            </a:r>
            <a:r>
              <a:rPr lang="en-US" b="1"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rsp</a:t>
            </a:r>
            <a:r>
              <a:rPr lang="en-US" b="1"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a:t>
            </a:r>
            <a:endParaRPr lang="en-US" b="1" dirty="0">
              <a:latin typeface="Consolas" panose="020B0609020204030204" pitchFamily="49" charset="0"/>
              <a:ea typeface="FangSong" panose="02010609060101010101" pitchFamily="49" charset="-122"/>
              <a:cs typeface="Consolas" panose="020B0609020204030204" pitchFamily="49" charset="0"/>
              <a:sym typeface="Courier New" panose="02070609020205020404"/>
            </a:endParaRPr>
          </a:p>
          <a:p>
            <a:pPr marL="623570" lvl="1" indent="-224155" defTabSz="895350">
              <a:spcBef>
                <a:spcPts val="400"/>
              </a:spcBef>
              <a:tabLst>
                <a:tab pos="2349500" algn="l"/>
                <a:tab pos="4114800" algn="l"/>
              </a:tabLst>
              <a:defRPr sz="2000" b="0"/>
            </a:pPr>
            <a:r>
              <a:rPr lang="zh-CN" altLang="en-US" dirty="0">
                <a:latin typeface="Consolas" panose="020B0609020204030204" pitchFamily="49" charset="0"/>
                <a:ea typeface="FangSong" panose="02010609060101010101" pitchFamily="49" charset="-122"/>
                <a:cs typeface="Consolas" panose="020B0609020204030204" pitchFamily="49" charset="0"/>
              </a:rPr>
              <a:t>“存数”操作</a:t>
            </a:r>
            <a:endParaRPr lang="en-US" dirty="0">
              <a:latin typeface="Consolas" panose="020B0609020204030204" pitchFamily="49" charset="0"/>
              <a:ea typeface="FangSong" panose="02010609060101010101" pitchFamily="49" charset="-122"/>
              <a:cs typeface="Consolas" panose="020B0609020204030204" pitchFamily="49" charset="0"/>
            </a:endParaRPr>
          </a:p>
          <a:p>
            <a:pPr marL="560070" lvl="1" indent="-222250" defTabSz="895350">
              <a:spcBef>
                <a:spcPts val="400"/>
              </a:spcBef>
              <a:tabLst>
                <a:tab pos="2349500" algn="l"/>
                <a:tab pos="4114800" algn="l"/>
              </a:tabLst>
              <a:defRPr b="0"/>
            </a:pPr>
            <a:endParaRPr lang="en-US" dirty="0">
              <a:latin typeface="Consolas" panose="020B0609020204030204" pitchFamily="49" charset="0"/>
              <a:ea typeface="FangSong" panose="02010609060101010101" pitchFamily="49" charset="-122"/>
              <a:cs typeface="Consolas" panose="020B0609020204030204" pitchFamily="49" charset="0"/>
            </a:endParaRPr>
          </a:p>
          <a:p>
            <a:pPr marL="224155" indent="-224155" defTabSz="895350">
              <a:tabLst>
                <a:tab pos="2349500" algn="l"/>
                <a:tab pos="4114800" algn="l"/>
              </a:tabLst>
            </a:pPr>
            <a:r>
              <a:rPr lang="en-US" dirty="0" err="1">
                <a:latin typeface="Consolas" panose="020B0609020204030204" pitchFamily="49" charset="0"/>
                <a:ea typeface="FangSong" panose="02010609060101010101" pitchFamily="49" charset="-122"/>
                <a:cs typeface="Consolas" panose="020B0609020204030204" pitchFamily="49" charset="0"/>
              </a:rPr>
              <a:t>读</a:t>
            </a:r>
            <a:endParaRPr lang="en-US" dirty="0">
              <a:latin typeface="Consolas" panose="020B0609020204030204" pitchFamily="49" charset="0"/>
              <a:ea typeface="FangSong" panose="02010609060101010101" pitchFamily="49" charset="-122"/>
              <a:cs typeface="Consolas" panose="020B0609020204030204" pitchFamily="49" charset="0"/>
            </a:endParaRPr>
          </a:p>
          <a:p>
            <a:pPr marL="623570" lvl="1" indent="-224155" defTabSz="895350">
              <a:spcBef>
                <a:spcPts val="400"/>
              </a:spcBef>
              <a:tabLst>
                <a:tab pos="2349500" algn="l"/>
                <a:tab pos="4114800" algn="l"/>
              </a:tabLst>
              <a:defRPr sz="2000" b="0"/>
            </a:pPr>
            <a:r>
              <a:rPr lang="en-US" dirty="0" err="1">
                <a:latin typeface="Consolas" panose="020B0609020204030204" pitchFamily="49" charset="0"/>
                <a:ea typeface="FangSong" panose="02010609060101010101" pitchFamily="49" charset="-122"/>
                <a:cs typeface="Consolas" panose="020B0609020204030204" pitchFamily="49" charset="0"/>
              </a:rPr>
              <a:t>把数据从内存传送到</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CPU</a:t>
            </a:r>
            <a:br>
              <a:rPr lang="en-US" dirty="0">
                <a:latin typeface="Consolas" panose="020B0609020204030204" pitchFamily="49" charset="0"/>
                <a:ea typeface="FangSong" panose="02010609060101010101" pitchFamily="49" charset="-122"/>
                <a:cs typeface="Consolas" panose="020B0609020204030204" pitchFamily="49" charset="0"/>
              </a:rPr>
            </a:br>
            <a:r>
              <a:rPr lang="en-US" b="1"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movq</a:t>
            </a:r>
            <a:r>
              <a:rPr lang="en-US" b="1"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8(%</a:t>
            </a:r>
            <a:r>
              <a:rPr lang="en-US" b="1"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rsp</a:t>
            </a:r>
            <a:r>
              <a:rPr lang="en-US" b="1"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t>
            </a:r>
            <a:r>
              <a:rPr lang="en-US" b="1"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endParaRPr lang="en-US" dirty="0">
              <a:latin typeface="Consolas" panose="020B0609020204030204" pitchFamily="49" charset="0"/>
              <a:ea typeface="FangSong" panose="02010609060101010101" pitchFamily="49" charset="-122"/>
              <a:cs typeface="Consolas" panose="020B0609020204030204" pitchFamily="49" charset="0"/>
              <a:sym typeface="Courier New" panose="02070609020205020404"/>
            </a:endParaRPr>
          </a:p>
          <a:p>
            <a:pPr marL="623570" lvl="1" indent="-224155" defTabSz="895350">
              <a:spcBef>
                <a:spcPts val="400"/>
              </a:spcBef>
              <a:tabLst>
                <a:tab pos="2349500" algn="l"/>
                <a:tab pos="4114800" algn="l"/>
              </a:tabLst>
              <a:defRPr sz="2000" b="0"/>
            </a:pPr>
            <a:r>
              <a:rPr lang="en-US" dirty="0">
                <a:latin typeface="Consolas" panose="020B0609020204030204" pitchFamily="49" charset="0"/>
                <a:ea typeface="FangSong" panose="02010609060101010101" pitchFamily="49" charset="-122"/>
                <a:cs typeface="Consolas" panose="020B0609020204030204" pitchFamily="49" charset="0"/>
              </a:rPr>
              <a:t>“</a:t>
            </a:r>
            <a:r>
              <a:rPr lang="en-US" dirty="0" err="1">
                <a:latin typeface="Consolas" panose="020B0609020204030204" pitchFamily="49" charset="0"/>
                <a:ea typeface="FangSong" panose="02010609060101010101" pitchFamily="49" charset="-122"/>
                <a:cs typeface="Consolas" panose="020B0609020204030204" pitchFamily="49" charset="0"/>
              </a:rPr>
              <a:t>加载</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err="1">
                <a:latin typeface="Consolas" panose="020B0609020204030204" pitchFamily="49" charset="0"/>
                <a:ea typeface="FangSong" panose="02010609060101010101" pitchFamily="49" charset="-122"/>
                <a:cs typeface="Consolas" panose="020B0609020204030204" pitchFamily="49" charset="0"/>
              </a:rPr>
              <a:t>操作</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20875" y="1362075"/>
            <a:ext cx="8335342" cy="4972050"/>
          </a:xfrm>
        </p:spPr>
        <p:txBody>
          <a:bodyPr/>
          <a:lstStyle/>
          <a:p>
            <a:pPr>
              <a:lnSpc>
                <a:spcPct val="80000"/>
              </a:lnSpc>
            </a:pPr>
            <a:r>
              <a:rPr lang="en-US" dirty="0" err="1">
                <a:latin typeface="Consolas" panose="020B0609020204030204" pitchFamily="49" charset="0"/>
                <a:ea typeface="FangSong" panose="02010609060101010101" pitchFamily="49" charset="-122"/>
                <a:cs typeface="Consolas" panose="020B0609020204030204" pitchFamily="49" charset="0"/>
              </a:rPr>
              <a:t>存储器抽象</a:t>
            </a:r>
            <a:r>
              <a:rPr lang="en-US" b="0"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6.1.1</a:t>
            </a:r>
            <a:endParaRPr lang="en-US" dirty="0">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RAM : </a:t>
            </a: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主存构造模块</a:t>
            </a: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	</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6.1.1</a:t>
            </a: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访问的局部性</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6.2</a:t>
            </a: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存储器层次结构</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6.3</a:t>
            </a:r>
            <a:endPar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存储技术与趋势</a:t>
            </a: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	</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6.1.2-6.1.4</a:t>
            </a:r>
            <a:endParaRPr lang="en-US" dirty="0">
              <a:latin typeface="Consolas" panose="020B0609020204030204" pitchFamily="49" charset="0"/>
              <a:ea typeface="FangSong" panose="02010609060101010101" pitchFamily="49" charset="-122"/>
              <a:cs typeface="Consolas" panose="020B0609020204030204" pitchFamily="49" charset="0"/>
            </a:endParaRPr>
          </a:p>
          <a:p>
            <a:pPr>
              <a:lnSpc>
                <a:spcPct val="80000"/>
              </a:lnSpc>
            </a:pP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p:txBody>
      </p:sp>
      <p:sp>
        <p:nvSpPr>
          <p:cNvPr id="4" name="Rectangle 26"/>
          <p:cNvSpPr txBox="1"/>
          <p:nvPr/>
        </p:nvSpPr>
        <p:spPr>
          <a:xfrm>
            <a:off x="1881017" y="435679"/>
            <a:ext cx="8786984" cy="762001"/>
          </a:xfrm>
          <a:prstGeom prst="rect">
            <a:avLst/>
          </a:prstGeom>
          <a:ln w="12700">
            <a:miter lim="400000"/>
          </a:ln>
        </p:spPr>
        <p:txBody>
          <a:bodyPr lIns="45719" rIns="45719" anchor="ctr">
            <a:normAutofit/>
          </a:bodyPr>
          <a:lstStyle>
            <a:lvl1pPr marL="0" marR="0" indent="0" algn="l" defTabSz="914400" rtl="0" latinLnBrk="0">
              <a:lnSpc>
                <a:spcPct val="100000"/>
              </a:lnSpc>
              <a:spcBef>
                <a:spcPts val="0"/>
              </a:spcBef>
              <a:spcAft>
                <a:spcPts val="0"/>
              </a:spcAft>
              <a:buClrTx/>
              <a:buSzTx/>
              <a:buFontTx/>
              <a:buNone/>
              <a:defRPr sz="3200" b="1"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a:lstStyle>
          <a:p>
            <a:pPr hangingPunct="1"/>
            <a:r>
              <a:rPr lang="en-US" dirty="0">
                <a:latin typeface="Consolas" panose="020B0609020204030204" pitchFamily="49" charset="0"/>
                <a:ea typeface="FangSong" panose="02010609060101010101" pitchFamily="49" charset="-122"/>
                <a:cs typeface="Consolas" panose="020B0609020204030204" pitchFamily="49" charset="0"/>
              </a:rPr>
              <a:t>Today</a:t>
            </a:r>
            <a:endParaRPr lang="zh-CN" alt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Rectangle 26"/>
          <p:cNvSpPr txBox="1">
            <a:spLocks noGrp="1"/>
          </p:cNvSpPr>
          <p:nvPr>
            <p:ph type="title"/>
          </p:nvPr>
        </p:nvSpPr>
        <p:spPr>
          <a:xfrm>
            <a:off x="1881017" y="435679"/>
            <a:ext cx="8786984" cy="762001"/>
          </a:xfrm>
          <a:prstGeom prst="rect">
            <a:avLst/>
          </a:prstGeom>
        </p:spPr>
        <p:txBody>
          <a:bodyPr>
            <a:normAutofit/>
          </a:bodyPr>
          <a:lstStyle>
            <a:lvl1pPr marL="0" indent="0">
              <a:defRPr sz="3200"/>
            </a:lvl1pPr>
          </a:lstStyle>
          <a:p>
            <a:r>
              <a:rPr lang="en-US" dirty="0" err="1">
                <a:latin typeface="Consolas" panose="020B0609020204030204" pitchFamily="49" charset="0"/>
                <a:ea typeface="FangSong" panose="02010609060101010101" pitchFamily="49" charset="-122"/>
                <a:cs typeface="Consolas" panose="020B0609020204030204" pitchFamily="49" charset="0"/>
              </a:rPr>
              <a:t>现代</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CPU</a:t>
            </a:r>
            <a:r>
              <a:rPr lang="zh-CN" altLang="en-US" dirty="0">
                <a:latin typeface="Consolas" panose="020B0609020204030204" pitchFamily="49" charset="0"/>
                <a:ea typeface="FangSong" panose="02010609060101010101" pitchFamily="49" charset="-122"/>
                <a:cs typeface="Consolas" panose="020B0609020204030204" pitchFamily="49" charset="0"/>
              </a:rPr>
              <a:t> 与内存之间的连接</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34" name="Rectangle 27"/>
          <p:cNvSpPr txBox="1">
            <a:spLocks noGrp="1"/>
          </p:cNvSpPr>
          <p:nvPr>
            <p:ph type="body" idx="1"/>
          </p:nvPr>
        </p:nvSpPr>
        <p:spPr>
          <a:xfrm>
            <a:off x="1920876" y="1504950"/>
            <a:ext cx="7896225" cy="4972050"/>
          </a:xfrm>
          <a:prstGeom prst="rect">
            <a:avLst/>
          </a:prstGeom>
        </p:spPr>
        <p:txBody>
          <a:bodyPr/>
          <a:lstStyle/>
          <a:p>
            <a:r>
              <a:rPr lang="en-US" dirty="0" err="1">
                <a:solidFill>
                  <a:srgbClr val="FF0000"/>
                </a:solidFill>
                <a:latin typeface="Consolas" panose="020B0609020204030204" pitchFamily="49" charset="0"/>
                <a:ea typeface="FangSong" panose="02010609060101010101" pitchFamily="49" charset="-122"/>
                <a:cs typeface="Consolas" panose="020B0609020204030204" pitchFamily="49" charset="0"/>
              </a:rPr>
              <a:t>总线</a:t>
            </a:r>
            <a:r>
              <a:rPr lang="en-US" dirty="0" err="1">
                <a:latin typeface="Consolas" panose="020B0609020204030204" pitchFamily="49" charset="0"/>
                <a:ea typeface="FangSong" panose="02010609060101010101" pitchFamily="49" charset="-122"/>
                <a:cs typeface="Consolas" panose="020B0609020204030204" pitchFamily="49" charset="0"/>
              </a:rPr>
              <a:t>是一组传递地址</a:t>
            </a:r>
            <a:r>
              <a:rPr lang="zh-CN" altLang="en-US" dirty="0">
                <a:latin typeface="Consolas" panose="020B0609020204030204" pitchFamily="49" charset="0"/>
                <a:ea typeface="FangSong" panose="02010609060101010101" pitchFamily="49" charset="-122"/>
                <a:cs typeface="Consolas" panose="020B0609020204030204" pitchFamily="49" charset="0"/>
              </a:rPr>
              <a:t>、数据和控制信号的</a:t>
            </a:r>
            <a:r>
              <a:rPr lang="en-US" dirty="0" err="1">
                <a:latin typeface="Consolas" panose="020B0609020204030204" pitchFamily="49" charset="0"/>
                <a:ea typeface="FangSong" panose="02010609060101010101" pitchFamily="49" charset="-122"/>
                <a:cs typeface="Consolas" panose="020B0609020204030204" pitchFamily="49" charset="0"/>
              </a:rPr>
              <a:t>并行线</a:t>
            </a:r>
            <a:endParaRPr dirty="0">
              <a:latin typeface="Consolas" panose="020B0609020204030204" pitchFamily="49" charset="0"/>
              <a:ea typeface="FangSong" panose="02010609060101010101" pitchFamily="49" charset="-122"/>
              <a:cs typeface="Consolas" panose="020B0609020204030204" pitchFamily="49" charset="0"/>
            </a:endParaRPr>
          </a:p>
          <a:p>
            <a:r>
              <a:rPr lang="en-US" dirty="0" err="1">
                <a:latin typeface="Consolas" panose="020B0609020204030204" pitchFamily="49" charset="0"/>
                <a:ea typeface="FangSong" panose="02010609060101010101" pitchFamily="49" charset="-122"/>
                <a:cs typeface="Consolas" panose="020B0609020204030204" pitchFamily="49" charset="0"/>
              </a:rPr>
              <a:t>通常由多个设备共享总线</a:t>
            </a:r>
            <a:endParaRPr dirty="0">
              <a:latin typeface="Consolas" panose="020B0609020204030204" pitchFamily="49" charset="0"/>
              <a:ea typeface="FangSong" panose="02010609060101010101" pitchFamily="49" charset="-122"/>
              <a:cs typeface="Consolas" panose="020B0609020204030204" pitchFamily="49" charset="0"/>
            </a:endParaRPr>
          </a:p>
        </p:txBody>
      </p:sp>
      <p:grpSp>
        <p:nvGrpSpPr>
          <p:cNvPr id="137" name="Rectangle 5"/>
          <p:cNvGrpSpPr/>
          <p:nvPr/>
        </p:nvGrpSpPr>
        <p:grpSpPr>
          <a:xfrm>
            <a:off x="8574085" y="4752800"/>
            <a:ext cx="1049340" cy="1054101"/>
            <a:chOff x="-1" y="0"/>
            <a:chExt cx="1049339" cy="1054100"/>
          </a:xfrm>
        </p:grpSpPr>
        <p:sp>
          <p:nvSpPr>
            <p:cNvPr id="135" name="Square"/>
            <p:cNvSpPr/>
            <p:nvPr/>
          </p:nvSpPr>
          <p:spPr>
            <a:xfrm>
              <a:off x="-1" y="0"/>
              <a:ext cx="1049339" cy="10541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6" name="Main…"/>
            <p:cNvSpPr txBox="1"/>
            <p:nvPr/>
          </p:nvSpPr>
          <p:spPr>
            <a:xfrm>
              <a:off x="273319" y="357774"/>
              <a:ext cx="502700" cy="33855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主存</a:t>
              </a:r>
              <a:endParaRPr sz="1600"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138" name="AutoShape 6"/>
          <p:cNvSpPr/>
          <p:nvPr/>
        </p:nvSpPr>
        <p:spPr>
          <a:xfrm>
            <a:off x="5246687" y="4999552"/>
            <a:ext cx="3327398" cy="615951"/>
          </a:xfrm>
          <a:prstGeom prst="leftRightArrow">
            <a:avLst>
              <a:gd name="adj1" fmla="val 50000"/>
              <a:gd name="adj2" fmla="val 55876"/>
            </a:avLst>
          </a:pr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141" name="Rectangle 9"/>
          <p:cNvGrpSpPr/>
          <p:nvPr/>
        </p:nvGrpSpPr>
        <p:grpSpPr>
          <a:xfrm>
            <a:off x="2474912" y="4974152"/>
            <a:ext cx="2162176" cy="666751"/>
            <a:chOff x="0" y="0"/>
            <a:chExt cx="2162175" cy="666750"/>
          </a:xfrm>
        </p:grpSpPr>
        <p:sp>
          <p:nvSpPr>
            <p:cNvPr id="139" name="Rectangle"/>
            <p:cNvSpPr/>
            <p:nvPr/>
          </p:nvSpPr>
          <p:spPr>
            <a:xfrm>
              <a:off x="0" y="0"/>
              <a:ext cx="2162175" cy="66675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0" name="Memory Controller"/>
            <p:cNvSpPr txBox="1"/>
            <p:nvPr/>
          </p:nvSpPr>
          <p:spPr>
            <a:xfrm>
              <a:off x="521966" y="164099"/>
              <a:ext cx="1118252" cy="338551"/>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内存控制器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142" name="Rectangle 10"/>
          <p:cNvSpPr/>
          <p:nvPr/>
        </p:nvSpPr>
        <p:spPr>
          <a:xfrm>
            <a:off x="3532188" y="3443802"/>
            <a:ext cx="788988" cy="176213"/>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3" name="Rectangle 11"/>
          <p:cNvSpPr/>
          <p:nvPr/>
        </p:nvSpPr>
        <p:spPr>
          <a:xfrm>
            <a:off x="3532188" y="3620015"/>
            <a:ext cx="788988" cy="176213"/>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4" name="Rectangle 12"/>
          <p:cNvSpPr/>
          <p:nvPr/>
        </p:nvSpPr>
        <p:spPr>
          <a:xfrm>
            <a:off x="3532188" y="3796226"/>
            <a:ext cx="788988" cy="174626"/>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5" name="Rectangle 13"/>
          <p:cNvSpPr/>
          <p:nvPr/>
        </p:nvSpPr>
        <p:spPr>
          <a:xfrm>
            <a:off x="3532188" y="3970852"/>
            <a:ext cx="788988" cy="176213"/>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6" name="Rectangle 14"/>
          <p:cNvSpPr/>
          <p:nvPr/>
        </p:nvSpPr>
        <p:spPr>
          <a:xfrm>
            <a:off x="3532188" y="4147065"/>
            <a:ext cx="788988" cy="176213"/>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7" name="AutoShape 15"/>
          <p:cNvSpPr/>
          <p:nvPr/>
        </p:nvSpPr>
        <p:spPr>
          <a:xfrm>
            <a:off x="4424364" y="3443801"/>
            <a:ext cx="512763" cy="439738"/>
          </a:xfrm>
          <a:prstGeom prst="rightArrow">
            <a:avLst>
              <a:gd name="adj1" fmla="val 50000"/>
              <a:gd name="adj2" fmla="val 29152"/>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 name="AutoShape 16"/>
          <p:cNvSpPr/>
          <p:nvPr/>
        </p:nvSpPr>
        <p:spPr>
          <a:xfrm flipH="1">
            <a:off x="4321176" y="3883539"/>
            <a:ext cx="512763" cy="439738"/>
          </a:xfrm>
          <a:prstGeom prst="rightArrow">
            <a:avLst>
              <a:gd name="adj1" fmla="val 50000"/>
              <a:gd name="adj2" fmla="val 29152"/>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151" name="Rectangle 17"/>
          <p:cNvGrpSpPr/>
          <p:nvPr/>
        </p:nvGrpSpPr>
        <p:grpSpPr>
          <a:xfrm>
            <a:off x="4937124" y="3269176"/>
            <a:ext cx="614367" cy="1230315"/>
            <a:chOff x="-1" y="-1"/>
            <a:chExt cx="614365" cy="1230314"/>
          </a:xfrm>
        </p:grpSpPr>
        <p:sp>
          <p:nvSpPr>
            <p:cNvPr id="149" name="Rectangle"/>
            <p:cNvSpPr/>
            <p:nvPr/>
          </p:nvSpPr>
          <p:spPr>
            <a:xfrm>
              <a:off x="-1" y="-1"/>
              <a:ext cx="614365" cy="1230314"/>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 name="ALU"/>
            <p:cNvSpPr txBox="1"/>
            <p:nvPr/>
          </p:nvSpPr>
          <p:spPr>
            <a:xfrm>
              <a:off x="92701" y="445880"/>
              <a:ext cx="428961"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ALU</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52" name="Text Box 18"/>
          <p:cNvSpPr txBox="1"/>
          <p:nvPr/>
        </p:nvSpPr>
        <p:spPr>
          <a:xfrm>
            <a:off x="3411220" y="3097519"/>
            <a:ext cx="1118253"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寄存器文件</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53" name="AutoShape 19"/>
          <p:cNvSpPr/>
          <p:nvPr/>
        </p:nvSpPr>
        <p:spPr>
          <a:xfrm>
            <a:off x="3617914" y="4410590"/>
            <a:ext cx="703263" cy="52705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4" name="Rectangle 20"/>
          <p:cNvSpPr/>
          <p:nvPr/>
        </p:nvSpPr>
        <p:spPr>
          <a:xfrm>
            <a:off x="2300287" y="3004064"/>
            <a:ext cx="3427414" cy="2813050"/>
          </a:xfrm>
          <a:prstGeom prst="rect">
            <a:avLst/>
          </a:prstGeom>
          <a:ln w="12700">
            <a:solidFill>
              <a:srgbClr val="000000"/>
            </a:solidFill>
            <a:prstDash val="sysDot"/>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5" name="Text Box 21"/>
          <p:cNvSpPr txBox="1"/>
          <p:nvPr/>
        </p:nvSpPr>
        <p:spPr>
          <a:xfrm>
            <a:off x="2314257" y="2676037"/>
            <a:ext cx="990013"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CPU chip</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56" name="Text Box 24"/>
          <p:cNvSpPr txBox="1"/>
          <p:nvPr/>
        </p:nvSpPr>
        <p:spPr>
          <a:xfrm>
            <a:off x="6501479" y="4142006"/>
            <a:ext cx="913068"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内存总线</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57" name="Line 25"/>
          <p:cNvSpPr/>
          <p:nvPr/>
        </p:nvSpPr>
        <p:spPr>
          <a:xfrm>
            <a:off x="6936105" y="4489274"/>
            <a:ext cx="1" cy="527051"/>
          </a:xfrm>
          <a:prstGeom prst="line">
            <a:avLst/>
          </a:prstGeom>
          <a:ln w="127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ectangle 32"/>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内存读事务</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dirty="0">
                <a:latin typeface="Consolas" panose="020B0609020204030204" pitchFamily="49" charset="0"/>
                <a:ea typeface="FangSong" panose="02010609060101010101" pitchFamily="49" charset="-122"/>
                <a:cs typeface="Consolas" panose="020B0609020204030204" pitchFamily="49" charset="0"/>
              </a:rPr>
              <a:t>(1)</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61" name="Rectangle 33"/>
          <p:cNvSpPr txBox="1">
            <a:spLocks noGrp="1"/>
          </p:cNvSpPr>
          <p:nvPr>
            <p:ph type="body" idx="1"/>
          </p:nvPr>
        </p:nvSpPr>
        <p:spPr>
          <a:prstGeom prst="rect">
            <a:avLst/>
          </a:prstGeom>
        </p:spPr>
        <p:txBody>
          <a:bodyPr/>
          <a:lstStyle/>
          <a:p>
            <a:r>
              <a:rPr dirty="0">
                <a:latin typeface="Consolas" panose="020B0609020204030204" pitchFamily="49" charset="0"/>
                <a:ea typeface="FangSong" panose="02010609060101010101" pitchFamily="49" charset="-122"/>
                <a:cs typeface="Consolas" panose="020B0609020204030204" pitchFamily="49" charset="0"/>
              </a:rPr>
              <a:t>CPU </a:t>
            </a:r>
            <a:r>
              <a:rPr lang="en-US" dirty="0" err="1">
                <a:latin typeface="Consolas" panose="020B0609020204030204" pitchFamily="49" charset="0"/>
                <a:ea typeface="FangSong" panose="02010609060101010101" pitchFamily="49" charset="-122"/>
                <a:cs typeface="Consolas" panose="020B0609020204030204" pitchFamily="49" charset="0"/>
              </a:rPr>
              <a:t>将地址</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A</a:t>
            </a:r>
            <a:r>
              <a:rPr lang="zh-CN" altLang="en-US" dirty="0">
                <a:latin typeface="Consolas" panose="020B0609020204030204" pitchFamily="49" charset="0"/>
                <a:ea typeface="FangSong" panose="02010609060101010101" pitchFamily="49" charset="-122"/>
                <a:cs typeface="Consolas" panose="020B0609020204030204" pitchFamily="49" charset="0"/>
              </a:rPr>
              <a:t> 放到内存总线上</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62" name="Rectangle 4"/>
          <p:cNvSpPr/>
          <p:nvPr/>
        </p:nvSpPr>
        <p:spPr>
          <a:xfrm>
            <a:off x="8291513" y="3810000"/>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163" name="AutoShape 5"/>
          <p:cNvSpPr/>
          <p:nvPr/>
        </p:nvSpPr>
        <p:spPr>
          <a:xfrm>
            <a:off x="4476320" y="3945524"/>
            <a:ext cx="3805669" cy="533401"/>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164" name="Rectangle 8"/>
          <p:cNvSpPr/>
          <p:nvPr/>
        </p:nvSpPr>
        <p:spPr>
          <a:xfrm>
            <a:off x="3411539" y="26670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65" name="Rectangle 9"/>
          <p:cNvSpPr/>
          <p:nvPr/>
        </p:nvSpPr>
        <p:spPr>
          <a:xfrm>
            <a:off x="3411539" y="28194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66" name="Rectangle 10"/>
          <p:cNvSpPr/>
          <p:nvPr/>
        </p:nvSpPr>
        <p:spPr>
          <a:xfrm>
            <a:off x="3411539" y="29718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67" name="Rectangle 11"/>
          <p:cNvSpPr/>
          <p:nvPr/>
        </p:nvSpPr>
        <p:spPr>
          <a:xfrm>
            <a:off x="3411539" y="31242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68" name="Rectangle 12"/>
          <p:cNvSpPr/>
          <p:nvPr/>
        </p:nvSpPr>
        <p:spPr>
          <a:xfrm>
            <a:off x="3411539" y="32766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69" name="AutoShape 13"/>
          <p:cNvSpPr/>
          <p:nvPr/>
        </p:nvSpPr>
        <p:spPr>
          <a:xfrm>
            <a:off x="4184650" y="26670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70" name="AutoShape 14"/>
          <p:cNvSpPr/>
          <p:nvPr/>
        </p:nvSpPr>
        <p:spPr>
          <a:xfrm flipH="1">
            <a:off x="4095750" y="30480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173" name="Rectangle 15"/>
          <p:cNvGrpSpPr/>
          <p:nvPr/>
        </p:nvGrpSpPr>
        <p:grpSpPr>
          <a:xfrm>
            <a:off x="4629150" y="2514600"/>
            <a:ext cx="533400" cy="1066800"/>
            <a:chOff x="0" y="0"/>
            <a:chExt cx="533400" cy="1066800"/>
          </a:xfrm>
        </p:grpSpPr>
        <p:sp>
          <p:nvSpPr>
            <p:cNvPr id="171"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72" name="ALU"/>
            <p:cNvSpPr txBox="1"/>
            <p:nvPr/>
          </p:nvSpPr>
          <p:spPr>
            <a:xfrm>
              <a:off x="52219" y="364124"/>
              <a:ext cx="428962"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ALU</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74" name="Text Box 16"/>
          <p:cNvSpPr txBox="1"/>
          <p:nvPr/>
        </p:nvSpPr>
        <p:spPr>
          <a:xfrm>
            <a:off x="3215162" y="2345323"/>
            <a:ext cx="1118253"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寄存器文件</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75" name="AutoShape 17"/>
          <p:cNvSpPr/>
          <p:nvPr/>
        </p:nvSpPr>
        <p:spPr>
          <a:xfrm>
            <a:off x="3486151" y="3505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178" name="Rectangle 19"/>
          <p:cNvGrpSpPr/>
          <p:nvPr/>
        </p:nvGrpSpPr>
        <p:grpSpPr>
          <a:xfrm>
            <a:off x="2495550" y="3994150"/>
            <a:ext cx="1873250" cy="577850"/>
            <a:chOff x="0" y="0"/>
            <a:chExt cx="1873250" cy="577850"/>
          </a:xfrm>
        </p:grpSpPr>
        <p:sp>
          <p:nvSpPr>
            <p:cNvPr id="176"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77" name="Memory Controller"/>
            <p:cNvSpPr txBox="1"/>
            <p:nvPr/>
          </p:nvSpPr>
          <p:spPr>
            <a:xfrm>
              <a:off x="377503" y="119649"/>
              <a:ext cx="1118253"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内存控制器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81" name="Group 1"/>
          <p:cNvGrpSpPr/>
          <p:nvPr/>
        </p:nvGrpSpPr>
        <p:grpSpPr>
          <a:xfrm>
            <a:off x="4324350" y="3809000"/>
            <a:ext cx="3962402" cy="382002"/>
            <a:chOff x="0" y="-18978"/>
            <a:chExt cx="3962401" cy="382000"/>
          </a:xfrm>
        </p:grpSpPr>
        <p:sp>
          <p:nvSpPr>
            <p:cNvPr id="179" name="Line 18"/>
            <p:cNvSpPr/>
            <p:nvPr/>
          </p:nvSpPr>
          <p:spPr>
            <a:xfrm>
              <a:off x="0" y="363021"/>
              <a:ext cx="3962401" cy="1"/>
            </a:xfrm>
            <a:prstGeom prst="line">
              <a:avLst/>
            </a:prstGeom>
            <a:noFill/>
            <a:ln w="76200" cap="flat">
              <a:solidFill>
                <a:srgbClr val="00FFFF"/>
              </a:solidFill>
              <a:prstDash val="solid"/>
              <a:round/>
              <a:tailEnd type="triangle" w="med" len="me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0" name="Text Box 20"/>
            <p:cNvSpPr txBox="1"/>
            <p:nvPr/>
          </p:nvSpPr>
          <p:spPr>
            <a:xfrm>
              <a:off x="3023517" y="-18978"/>
              <a:ext cx="204541" cy="338550"/>
            </a:xfrm>
            <a:prstGeom prst="rect">
              <a:avLst/>
            </a:prstGeom>
            <a:noFill/>
            <a:ln w="12700" cap="flat">
              <a:noFill/>
              <a:miter lim="400000"/>
            </a:ln>
            <a:effectLst/>
          </p:spPr>
          <p:txBody>
            <a:bodyPr wrap="none" lIns="45719" tIns="45719" rIns="45719" bIns="45719" numCol="1" anchor="ctr">
              <a:spAutoFit/>
            </a:bodyPr>
            <a:lstStyle>
              <a:lvl1pPr algn="ctr">
                <a:defRPr sz="16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82" name="Text Box 21"/>
          <p:cNvSpPr txBox="1"/>
          <p:nvPr/>
        </p:nvSpPr>
        <p:spPr>
          <a:xfrm>
            <a:off x="9243695" y="3686761"/>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0</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3" name="Text Box 22"/>
          <p:cNvSpPr txBox="1"/>
          <p:nvPr/>
        </p:nvSpPr>
        <p:spPr>
          <a:xfrm>
            <a:off x="9227820" y="4189998"/>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a:t>
            </a: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186" name="Rectangle 23"/>
          <p:cNvGrpSpPr/>
          <p:nvPr/>
        </p:nvGrpSpPr>
        <p:grpSpPr>
          <a:xfrm>
            <a:off x="8286750" y="4205389"/>
            <a:ext cx="914400" cy="307775"/>
            <a:chOff x="0" y="-13487"/>
            <a:chExt cx="914400" cy="307773"/>
          </a:xfrm>
        </p:grpSpPr>
        <p:sp>
          <p:nvSpPr>
            <p:cNvPr id="184" name="Rectangle"/>
            <p:cNvSpPr/>
            <p:nvPr/>
          </p:nvSpPr>
          <p:spPr>
            <a:xfrm>
              <a:off x="0" y="64199"/>
              <a:ext cx="914400"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5" name="x"/>
            <p:cNvSpPr txBox="1"/>
            <p:nvPr/>
          </p:nvSpPr>
          <p:spPr>
            <a:xfrm>
              <a:off x="361341" y="-13487"/>
              <a:ext cx="191717" cy="307773"/>
            </a:xfrm>
            <a:prstGeom prst="rect">
              <a:avLst/>
            </a:prstGeom>
            <a:noFill/>
            <a:ln w="12700" cap="flat">
              <a:noFill/>
              <a:miter lim="400000"/>
            </a:ln>
            <a:effec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x</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87" name="Text Box 24"/>
          <p:cNvSpPr txBox="1"/>
          <p:nvPr/>
        </p:nvSpPr>
        <p:spPr>
          <a:xfrm>
            <a:off x="8460501" y="3472448"/>
            <a:ext cx="502700"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88" name="Text Box 26"/>
          <p:cNvSpPr txBox="1"/>
          <p:nvPr/>
        </p:nvSpPr>
        <p:spPr>
          <a:xfrm>
            <a:off x="2794083" y="2999373"/>
            <a:ext cx="541172" cy="338554"/>
          </a:xfrm>
          <a:prstGeom prst="rect">
            <a:avLst/>
          </a:prstGeom>
          <a:ln w="12700">
            <a:miter lim="400000"/>
          </a:ln>
        </p:spPr>
        <p:txBody>
          <a:bodyPr wrap="none" lIns="45719" rIns="45719" anchor="ctr">
            <a:spAutoFit/>
          </a:bodyPr>
          <a:lstStyle>
            <a:lvl1pPr algn="ctr">
              <a:defRPr sz="160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%rax</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9" name="Text Box 28"/>
          <p:cNvSpPr txBox="1"/>
          <p:nvPr/>
        </p:nvSpPr>
        <p:spPr>
          <a:xfrm>
            <a:off x="6198869" y="2438399"/>
            <a:ext cx="2472791" cy="338554"/>
          </a:xfrm>
          <a:prstGeom prst="rect">
            <a:avLst/>
          </a:prstGeom>
          <a:ln w="12700">
            <a:miter lim="400000"/>
          </a:ln>
        </p:spPr>
        <p:txBody>
          <a:bodyPr wrap="none" lIns="45719" rIns="45719">
            <a:spAutoFit/>
          </a:bodyPr>
          <a:lstStyle/>
          <a:p>
            <a:pPr>
              <a:defRPr sz="1600">
                <a:solidFill>
                  <a:srgbClr val="C00000"/>
                </a:solidFill>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加载操作</a:t>
            </a:r>
            <a:r>
              <a:rPr lang="zh-CN" altLang="en-US" sz="1600" dirty="0">
                <a:latin typeface="Consolas" panose="020B0609020204030204" pitchFamily="49" charset="0"/>
                <a:ea typeface="FangSong" panose="02010609060101010101" pitchFamily="49" charset="-122"/>
                <a:cs typeface="Consolas" panose="020B0609020204030204" pitchFamily="49" charset="0"/>
              </a:rPr>
              <a:t>：</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movq</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endPar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indefinite" fill="hold"/>
                                        <p:tgtEl>
                                          <p:spTgt spid="181"/>
                                        </p:tgtEl>
                                        <p:attrNameLst>
                                          <p:attrName>style.visibility</p:attrName>
                                        </p:attrNameLst>
                                      </p:cBhvr>
                                      <p:to>
                                        <p:strVal val="visible"/>
                                      </p:to>
                                    </p:set>
                                    <p:animEffect transition="in" filter="wipe(left)">
                                      <p:cBhvr>
                                        <p:cTn id="7" dur="10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Rectangle 28"/>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内存读事务</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dirty="0">
                <a:latin typeface="Consolas" panose="020B0609020204030204" pitchFamily="49" charset="0"/>
                <a:ea typeface="FangSong" panose="02010609060101010101" pitchFamily="49" charset="-122"/>
                <a:cs typeface="Consolas" panose="020B0609020204030204" pitchFamily="49" charset="0"/>
              </a:rPr>
              <a:t>(2)</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93" name="Rectangle 29"/>
          <p:cNvSpPr txBox="1">
            <a:spLocks noGrp="1"/>
          </p:cNvSpPr>
          <p:nvPr>
            <p:ph type="body" idx="1"/>
          </p:nvPr>
        </p:nvSpPr>
        <p:spPr>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主存从内存总线读到</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A</a:t>
            </a:r>
            <a:r>
              <a:rPr lang="zh-CN" altLang="en-US" dirty="0">
                <a:latin typeface="Consolas" panose="020B0609020204030204" pitchFamily="49" charset="0"/>
                <a:ea typeface="FangSong" panose="02010609060101010101" pitchFamily="49" charset="-122"/>
                <a:cs typeface="Consolas" panose="020B0609020204030204" pitchFamily="49" charset="0"/>
              </a:rPr>
              <a:t>，检索到字 </a:t>
            </a:r>
            <a:r>
              <a:rPr lang="en-US" altLang="zh-CN" dirty="0">
                <a:latin typeface="Consolas" panose="020B0609020204030204" pitchFamily="49" charset="0"/>
                <a:ea typeface="FangSong" panose="02010609060101010101" pitchFamily="49" charset="-122"/>
                <a:cs typeface="Consolas" panose="020B0609020204030204" pitchFamily="49" charset="0"/>
              </a:rPr>
              <a:t>x</a:t>
            </a:r>
            <a:r>
              <a:rPr lang="zh-CN" altLang="en-US" dirty="0">
                <a:latin typeface="Consolas" panose="020B0609020204030204" pitchFamily="49" charset="0"/>
                <a:ea typeface="FangSong" panose="02010609060101010101" pitchFamily="49" charset="-122"/>
                <a:cs typeface="Consolas" panose="020B0609020204030204" pitchFamily="49" charset="0"/>
              </a:rPr>
              <a:t>，再把 </a:t>
            </a:r>
            <a:r>
              <a:rPr lang="en-US" altLang="zh-CN" dirty="0">
                <a:latin typeface="Consolas" panose="020B0609020204030204" pitchFamily="49" charset="0"/>
                <a:ea typeface="FangSong" panose="02010609060101010101" pitchFamily="49" charset="-122"/>
                <a:cs typeface="Consolas" panose="020B0609020204030204" pitchFamily="49" charset="0"/>
              </a:rPr>
              <a:t>x</a:t>
            </a:r>
            <a:r>
              <a:rPr lang="zh-CN" altLang="en-US" dirty="0">
                <a:latin typeface="Consolas" panose="020B0609020204030204" pitchFamily="49" charset="0"/>
                <a:ea typeface="FangSong" panose="02010609060101010101" pitchFamily="49" charset="-122"/>
                <a:cs typeface="Consolas" panose="020B0609020204030204" pitchFamily="49" charset="0"/>
              </a:rPr>
              <a:t> 放到总线上</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94" name="AutoShape 4"/>
          <p:cNvSpPr/>
          <p:nvPr/>
        </p:nvSpPr>
        <p:spPr>
          <a:xfrm>
            <a:off x="4398233" y="3959225"/>
            <a:ext cx="3866292"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195" name="Rectangle 7"/>
          <p:cNvSpPr/>
          <p:nvPr/>
        </p:nvSpPr>
        <p:spPr>
          <a:xfrm>
            <a:off x="3416300" y="26638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96" name="Rectangle 8"/>
          <p:cNvSpPr/>
          <p:nvPr/>
        </p:nvSpPr>
        <p:spPr>
          <a:xfrm>
            <a:off x="3416300" y="28162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97" name="Rectangle 9"/>
          <p:cNvSpPr/>
          <p:nvPr/>
        </p:nvSpPr>
        <p:spPr>
          <a:xfrm>
            <a:off x="3416300" y="29686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98" name="Rectangle 10"/>
          <p:cNvSpPr/>
          <p:nvPr/>
        </p:nvSpPr>
        <p:spPr>
          <a:xfrm>
            <a:off x="3416300" y="31210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99" name="Rectangle 11"/>
          <p:cNvSpPr/>
          <p:nvPr/>
        </p:nvSpPr>
        <p:spPr>
          <a:xfrm>
            <a:off x="3416300" y="32734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00" name="AutoShape 12"/>
          <p:cNvSpPr/>
          <p:nvPr/>
        </p:nvSpPr>
        <p:spPr>
          <a:xfrm>
            <a:off x="4189414" y="2663825"/>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01" name="AutoShape 13"/>
          <p:cNvSpPr/>
          <p:nvPr/>
        </p:nvSpPr>
        <p:spPr>
          <a:xfrm flipH="1">
            <a:off x="4100514" y="3044825"/>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04" name="Rectangle 14"/>
          <p:cNvGrpSpPr/>
          <p:nvPr/>
        </p:nvGrpSpPr>
        <p:grpSpPr>
          <a:xfrm>
            <a:off x="4633914" y="2511425"/>
            <a:ext cx="533401" cy="1066800"/>
            <a:chOff x="0" y="0"/>
            <a:chExt cx="533400" cy="1066800"/>
          </a:xfrm>
        </p:grpSpPr>
        <p:sp>
          <p:nvSpPr>
            <p:cNvPr id="202"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03" name="ALU"/>
            <p:cNvSpPr txBox="1"/>
            <p:nvPr/>
          </p:nvSpPr>
          <p:spPr>
            <a:xfrm>
              <a:off x="52219" y="364124"/>
              <a:ext cx="428961"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ALU</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05" name="Text Box 15"/>
          <p:cNvSpPr txBox="1"/>
          <p:nvPr/>
        </p:nvSpPr>
        <p:spPr>
          <a:xfrm>
            <a:off x="3258820" y="2342148"/>
            <a:ext cx="1118253"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寄存器文件</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06" name="AutoShape 16"/>
          <p:cNvSpPr/>
          <p:nvPr/>
        </p:nvSpPr>
        <p:spPr>
          <a:xfrm>
            <a:off x="3490914" y="3502026"/>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09" name="Rectangle 18"/>
          <p:cNvGrpSpPr/>
          <p:nvPr/>
        </p:nvGrpSpPr>
        <p:grpSpPr>
          <a:xfrm>
            <a:off x="2500313" y="3990975"/>
            <a:ext cx="1873251" cy="577850"/>
            <a:chOff x="0" y="0"/>
            <a:chExt cx="1873250" cy="577850"/>
          </a:xfrm>
        </p:grpSpPr>
        <p:sp>
          <p:nvSpPr>
            <p:cNvPr id="207"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08" name="Memory Controller"/>
            <p:cNvSpPr txBox="1"/>
            <p:nvPr/>
          </p:nvSpPr>
          <p:spPr>
            <a:xfrm>
              <a:off x="377504" y="119649"/>
              <a:ext cx="1118252"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内存控制器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212" name="Group 1"/>
          <p:cNvGrpSpPr/>
          <p:nvPr/>
        </p:nvGrpSpPr>
        <p:grpSpPr>
          <a:xfrm>
            <a:off x="4329113" y="3729625"/>
            <a:ext cx="3962402" cy="458202"/>
            <a:chOff x="0" y="-18978"/>
            <a:chExt cx="3962401" cy="458200"/>
          </a:xfrm>
        </p:grpSpPr>
        <p:sp>
          <p:nvSpPr>
            <p:cNvPr id="210" name="Line 17"/>
            <p:cNvSpPr/>
            <p:nvPr/>
          </p:nvSpPr>
          <p:spPr>
            <a:xfrm>
              <a:off x="0" y="439221"/>
              <a:ext cx="3962401" cy="1"/>
            </a:xfrm>
            <a:prstGeom prst="line">
              <a:avLst/>
            </a:prstGeom>
            <a:noFill/>
            <a:ln w="76200" cap="flat">
              <a:solidFill>
                <a:srgbClr val="00FFFF"/>
              </a:solidFill>
              <a:prstDash val="solid"/>
              <a:round/>
              <a:headEnd type="triangle" w="med" len="me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11" name="Text Box 19"/>
            <p:cNvSpPr txBox="1"/>
            <p:nvPr/>
          </p:nvSpPr>
          <p:spPr>
            <a:xfrm>
              <a:off x="3024311" y="-18978"/>
              <a:ext cx="204541" cy="338551"/>
            </a:xfrm>
            <a:prstGeom prst="rect">
              <a:avLst/>
            </a:prstGeom>
            <a:noFill/>
            <a:ln w="12700" cap="flat">
              <a:noFill/>
              <a:miter lim="400000"/>
            </a:ln>
            <a:effectLst/>
          </p:spPr>
          <p:txBody>
            <a:bodyPr wrap="none" lIns="45719" tIns="45719" rIns="45719" bIns="45719" numCol="1" anchor="ctr">
              <a:spAutoFit/>
            </a:bodyPr>
            <a:lstStyle>
              <a:lvl1pPr algn="ctr">
                <a:defRPr sz="16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x</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13" name="Rectangle 20"/>
          <p:cNvSpPr/>
          <p:nvPr/>
        </p:nvSpPr>
        <p:spPr>
          <a:xfrm>
            <a:off x="8296275" y="3806825"/>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214" name="Text Box 21"/>
          <p:cNvSpPr txBox="1"/>
          <p:nvPr/>
        </p:nvSpPr>
        <p:spPr>
          <a:xfrm>
            <a:off x="9248459" y="3683586"/>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0</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15" name="Text Box 22"/>
          <p:cNvSpPr txBox="1"/>
          <p:nvPr/>
        </p:nvSpPr>
        <p:spPr>
          <a:xfrm>
            <a:off x="9232584" y="4186823"/>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a:t>
            </a: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18" name="Rectangle 23"/>
          <p:cNvGrpSpPr/>
          <p:nvPr/>
        </p:nvGrpSpPr>
        <p:grpSpPr>
          <a:xfrm>
            <a:off x="8291514" y="4202214"/>
            <a:ext cx="914401" cy="307775"/>
            <a:chOff x="0" y="-13487"/>
            <a:chExt cx="914400" cy="307773"/>
          </a:xfrm>
        </p:grpSpPr>
        <p:sp>
          <p:nvSpPr>
            <p:cNvPr id="216" name="Rectangle"/>
            <p:cNvSpPr/>
            <p:nvPr/>
          </p:nvSpPr>
          <p:spPr>
            <a:xfrm>
              <a:off x="0" y="64199"/>
              <a:ext cx="914400"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217" name="x"/>
            <p:cNvSpPr txBox="1"/>
            <p:nvPr/>
          </p:nvSpPr>
          <p:spPr>
            <a:xfrm>
              <a:off x="361341" y="-13487"/>
              <a:ext cx="191717" cy="307773"/>
            </a:xfrm>
            <a:prstGeom prst="rect">
              <a:avLst/>
            </a:prstGeom>
            <a:noFill/>
            <a:ln w="12700" cap="flat">
              <a:noFill/>
              <a:miter lim="400000"/>
            </a:ln>
            <a:effec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x</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19" name="Text Box 24"/>
          <p:cNvSpPr txBox="1"/>
          <p:nvPr/>
        </p:nvSpPr>
        <p:spPr>
          <a:xfrm>
            <a:off x="8122920" y="3303000"/>
            <a:ext cx="1228273" cy="338554"/>
          </a:xfrm>
          <a:prstGeom prst="rect">
            <a:avLst/>
          </a:prstGeom>
          <a:ln w="12700">
            <a:miter lim="400000"/>
          </a:ln>
        </p:spPr>
        <p:txBody>
          <a:bodyPr lIns="45719" rIns="45719"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20" name="Text Box 25"/>
          <p:cNvSpPr txBox="1"/>
          <p:nvPr/>
        </p:nvSpPr>
        <p:spPr>
          <a:xfrm>
            <a:off x="2798845" y="3012073"/>
            <a:ext cx="541172" cy="338554"/>
          </a:xfrm>
          <a:prstGeom prst="rect">
            <a:avLst/>
          </a:prstGeom>
          <a:ln w="12700">
            <a:miter lim="400000"/>
          </a:ln>
        </p:spPr>
        <p:txBody>
          <a:bodyPr wrap="none" lIns="45719" rIns="45719" anchor="ctr">
            <a:spAutoFit/>
          </a:bodyPr>
          <a:lstStyle>
            <a:lvl1pPr algn="ctr">
              <a:defRPr sz="160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%rax</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21" name="Text Box 27"/>
          <p:cNvSpPr txBox="1"/>
          <p:nvPr/>
        </p:nvSpPr>
        <p:spPr>
          <a:xfrm>
            <a:off x="6217919" y="2466974"/>
            <a:ext cx="2472791" cy="338554"/>
          </a:xfrm>
          <a:prstGeom prst="rect">
            <a:avLst/>
          </a:prstGeom>
          <a:ln w="12700">
            <a:miter lim="400000"/>
          </a:ln>
        </p:spPr>
        <p:txBody>
          <a:bodyPr wrap="none" lIns="45719" rIns="45719">
            <a:spAutoFit/>
          </a:bodyPr>
          <a:lstStyle/>
          <a:p>
            <a:pPr>
              <a:defRPr sz="1600">
                <a:solidFill>
                  <a:srgbClr val="C00000"/>
                </a:solidFill>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加载操作</a:t>
            </a:r>
            <a:r>
              <a:rPr lang="zh-CN" altLang="en-US" sz="1600" dirty="0">
                <a:latin typeface="Consolas" panose="020B0609020204030204" pitchFamily="49" charset="0"/>
                <a:ea typeface="FangSong" panose="02010609060101010101" pitchFamily="49" charset="-122"/>
                <a:cs typeface="Consolas" panose="020B0609020204030204" pitchFamily="49" charset="0"/>
              </a:rPr>
              <a:t>：</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movq</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endPar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indefinite" fill="hold"/>
                                        <p:tgtEl>
                                          <p:spTgt spid="212"/>
                                        </p:tgtEl>
                                        <p:attrNameLst>
                                          <p:attrName>style.visibility</p:attrName>
                                        </p:attrNameLst>
                                      </p:cBhvr>
                                      <p:to>
                                        <p:strVal val="visible"/>
                                      </p:to>
                                    </p:set>
                                    <p:animEffect transition="in" filter="wipe(right)">
                                      <p:cBhvr>
                                        <p:cTn id="7" dur="500"/>
                                        <p:tgtEl>
                                          <p:spTgt spid="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 grpId="0"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Rectangle 27"/>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内存读事务</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dirty="0">
                <a:latin typeface="Consolas" panose="020B0609020204030204" pitchFamily="49" charset="0"/>
                <a:ea typeface="FangSong" panose="02010609060101010101" pitchFamily="49" charset="-122"/>
                <a:cs typeface="Consolas" panose="020B0609020204030204" pitchFamily="49" charset="0"/>
              </a:rPr>
              <a:t>3</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25" name="Rectangle 28"/>
          <p:cNvSpPr txBox="1">
            <a:spLocks noGrp="1"/>
          </p:cNvSpPr>
          <p:nvPr>
            <p:ph type="body" idx="1"/>
          </p:nvPr>
        </p:nvSpPr>
        <p:spPr>
          <a:prstGeom prst="rect">
            <a:avLst/>
          </a:prstGeom>
        </p:spPr>
        <p:txBody>
          <a:bodyPr/>
          <a:lstStyle/>
          <a:p>
            <a:r>
              <a:rPr dirty="0">
                <a:latin typeface="Consolas" panose="020B0609020204030204" pitchFamily="49" charset="0"/>
                <a:ea typeface="FangSong" panose="02010609060101010101" pitchFamily="49" charset="-122"/>
                <a:cs typeface="Consolas" panose="020B0609020204030204" pitchFamily="49" charset="0"/>
              </a:rPr>
              <a:t>CPU </a:t>
            </a:r>
            <a:r>
              <a:rPr lang="en-US" dirty="0" err="1">
                <a:latin typeface="Consolas" panose="020B0609020204030204" pitchFamily="49" charset="0"/>
                <a:ea typeface="FangSong" panose="02010609060101010101" pitchFamily="49" charset="-122"/>
                <a:cs typeface="Consolas" panose="020B0609020204030204" pitchFamily="49" charset="0"/>
              </a:rPr>
              <a:t>从总线读到字</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x</a:t>
            </a:r>
            <a:r>
              <a:rPr lang="zh-CN" altLang="en-US" dirty="0">
                <a:latin typeface="Consolas" panose="020B0609020204030204" pitchFamily="49" charset="0"/>
                <a:ea typeface="FangSong" panose="02010609060101010101" pitchFamily="49" charset="-122"/>
                <a:cs typeface="Consolas" panose="020B0609020204030204" pitchFamily="49" charset="0"/>
              </a:rPr>
              <a:t>，并把 </a:t>
            </a:r>
            <a:r>
              <a:rPr lang="en-US" altLang="zh-CN" dirty="0">
                <a:latin typeface="Consolas" panose="020B0609020204030204" pitchFamily="49" charset="0"/>
                <a:ea typeface="FangSong" panose="02010609060101010101" pitchFamily="49" charset="-122"/>
                <a:cs typeface="Consolas" panose="020B0609020204030204" pitchFamily="49" charset="0"/>
              </a:rPr>
              <a:t>x</a:t>
            </a:r>
            <a:r>
              <a:rPr lang="zh-CN" altLang="en-US" dirty="0">
                <a:latin typeface="Consolas" panose="020B0609020204030204" pitchFamily="49" charset="0"/>
                <a:ea typeface="FangSong" panose="02010609060101010101" pitchFamily="49" charset="-122"/>
                <a:cs typeface="Consolas" panose="020B0609020204030204" pitchFamily="49" charset="0"/>
              </a:rPr>
              <a:t> 拷贝到寄存器</a:t>
            </a:r>
            <a:r>
              <a:rPr dirty="0">
                <a:latin typeface="Consolas" panose="020B0609020204030204" pitchFamily="49" charset="0"/>
                <a:ea typeface="FangSong" panose="02010609060101010101" pitchFamily="49" charset="-122"/>
                <a:cs typeface="Consolas" panose="020B0609020204030204" pitchFamily="49" charset="0"/>
              </a:rPr>
              <a:t> </a:t>
            </a:r>
            <a:r>
              <a:rPr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a:t>
            </a:r>
            <a:r>
              <a:rPr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r>
              <a:rPr lang="zh-CN" altLang="en-US"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中</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26" name="AutoShape 4"/>
          <p:cNvSpPr/>
          <p:nvPr/>
        </p:nvSpPr>
        <p:spPr>
          <a:xfrm>
            <a:off x="4395788" y="3962400"/>
            <a:ext cx="3868738"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227" name="Rectangle 7"/>
          <p:cNvSpPr/>
          <p:nvPr/>
        </p:nvSpPr>
        <p:spPr>
          <a:xfrm>
            <a:off x="3416300" y="26670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28" name="Rectangle 8"/>
          <p:cNvSpPr/>
          <p:nvPr/>
        </p:nvSpPr>
        <p:spPr>
          <a:xfrm>
            <a:off x="3416300" y="28194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29" name="Rectangle 9"/>
          <p:cNvSpPr/>
          <p:nvPr/>
        </p:nvSpPr>
        <p:spPr>
          <a:xfrm>
            <a:off x="3416300" y="29718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30" name="Rectangle 10"/>
          <p:cNvSpPr/>
          <p:nvPr/>
        </p:nvSpPr>
        <p:spPr>
          <a:xfrm>
            <a:off x="3416300" y="3124200"/>
            <a:ext cx="684215" cy="152400"/>
          </a:xfrm>
          <a:prstGeom prst="rect">
            <a:avLst/>
          </a:prstGeom>
          <a:ln w="12700">
            <a:solidFill>
              <a:srgbClr val="000000"/>
            </a:solidFill>
            <a:miter/>
          </a:ln>
        </p:spPr>
        <p:txBody>
          <a:bodyPr lIns="45719" rIns="45719" anchor="ctr"/>
          <a:lstStyle/>
          <a:p>
            <a:pPr algn="ctr">
              <a:defRPr sz="1000" i="1">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231" name="Rectangle 11"/>
          <p:cNvSpPr/>
          <p:nvPr/>
        </p:nvSpPr>
        <p:spPr>
          <a:xfrm>
            <a:off x="3416300" y="32766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32" name="AutoShape 12"/>
          <p:cNvSpPr/>
          <p:nvPr/>
        </p:nvSpPr>
        <p:spPr>
          <a:xfrm>
            <a:off x="4189414" y="266700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33" name="AutoShape 13"/>
          <p:cNvSpPr/>
          <p:nvPr/>
        </p:nvSpPr>
        <p:spPr>
          <a:xfrm flipH="1">
            <a:off x="4100514" y="304800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36" name="Rectangle 14"/>
          <p:cNvGrpSpPr/>
          <p:nvPr/>
        </p:nvGrpSpPr>
        <p:grpSpPr>
          <a:xfrm>
            <a:off x="4633914" y="2514600"/>
            <a:ext cx="533401" cy="1066800"/>
            <a:chOff x="0" y="0"/>
            <a:chExt cx="533400" cy="1066800"/>
          </a:xfrm>
        </p:grpSpPr>
        <p:sp>
          <p:nvSpPr>
            <p:cNvPr id="234"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35" name="ALU"/>
            <p:cNvSpPr txBox="1"/>
            <p:nvPr/>
          </p:nvSpPr>
          <p:spPr>
            <a:xfrm>
              <a:off x="52069" y="364124"/>
              <a:ext cx="428961" cy="338552"/>
            </a:xfrm>
            <a:prstGeom prst="rect">
              <a:avLst/>
            </a:prstGeom>
            <a:noFill/>
            <a:ln w="12700" cap="flat">
              <a:noFill/>
              <a:miter lim="400000"/>
            </a:ln>
            <a:effectLst/>
          </p:spPr>
          <p:txBody>
            <a:bodyPr wrap="none" lIns="45719" tIns="45719" rIns="45719" bIns="45719" numCol="1"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ALU</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37" name="Text Box 15"/>
          <p:cNvSpPr txBox="1"/>
          <p:nvPr/>
        </p:nvSpPr>
        <p:spPr>
          <a:xfrm>
            <a:off x="3258820" y="2345323"/>
            <a:ext cx="1118253"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寄存器文件</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38" name="AutoShape 16"/>
          <p:cNvSpPr/>
          <p:nvPr/>
        </p:nvSpPr>
        <p:spPr>
          <a:xfrm>
            <a:off x="3490914" y="3505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41" name="Rectangle 17"/>
          <p:cNvGrpSpPr/>
          <p:nvPr/>
        </p:nvGrpSpPr>
        <p:grpSpPr>
          <a:xfrm>
            <a:off x="2500313" y="3994150"/>
            <a:ext cx="1873251" cy="577850"/>
            <a:chOff x="0" y="0"/>
            <a:chExt cx="1873250" cy="577850"/>
          </a:xfrm>
        </p:grpSpPr>
        <p:sp>
          <p:nvSpPr>
            <p:cNvPr id="239"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40" name="Memory Controller"/>
            <p:cNvSpPr txBox="1"/>
            <p:nvPr/>
          </p:nvSpPr>
          <p:spPr>
            <a:xfrm>
              <a:off x="377504" y="119649"/>
              <a:ext cx="1118252"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内存控制器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242" name="Line 18"/>
          <p:cNvSpPr/>
          <p:nvPr/>
        </p:nvSpPr>
        <p:spPr>
          <a:xfrm flipV="1">
            <a:off x="3795714" y="3276600"/>
            <a:ext cx="1" cy="762001"/>
          </a:xfrm>
          <a:prstGeom prst="line">
            <a:avLst/>
          </a:prstGeom>
          <a:ln w="76200">
            <a:solidFill>
              <a:srgbClr val="00FFFF"/>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43" name="Rectangle 19"/>
          <p:cNvSpPr/>
          <p:nvPr/>
        </p:nvSpPr>
        <p:spPr>
          <a:xfrm>
            <a:off x="8296275" y="3810000"/>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grpSp>
        <p:nvGrpSpPr>
          <p:cNvPr id="246" name="Rectangle 20"/>
          <p:cNvGrpSpPr/>
          <p:nvPr/>
        </p:nvGrpSpPr>
        <p:grpSpPr>
          <a:xfrm>
            <a:off x="8291514" y="4205389"/>
            <a:ext cx="914401" cy="307775"/>
            <a:chOff x="0" y="-13487"/>
            <a:chExt cx="914400" cy="307773"/>
          </a:xfrm>
        </p:grpSpPr>
        <p:sp>
          <p:nvSpPr>
            <p:cNvPr id="244" name="Rectangle"/>
            <p:cNvSpPr/>
            <p:nvPr/>
          </p:nvSpPr>
          <p:spPr>
            <a:xfrm>
              <a:off x="0" y="64199"/>
              <a:ext cx="914400"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245" name="x"/>
            <p:cNvSpPr txBox="1"/>
            <p:nvPr/>
          </p:nvSpPr>
          <p:spPr>
            <a:xfrm>
              <a:off x="361341" y="-13487"/>
              <a:ext cx="191717" cy="307773"/>
            </a:xfrm>
            <a:prstGeom prst="rect">
              <a:avLst/>
            </a:prstGeom>
            <a:noFill/>
            <a:ln w="12700" cap="flat">
              <a:noFill/>
              <a:miter lim="400000"/>
            </a:ln>
            <a:effec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x</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47" name="Text Box 21"/>
          <p:cNvSpPr txBox="1"/>
          <p:nvPr/>
        </p:nvSpPr>
        <p:spPr>
          <a:xfrm>
            <a:off x="8046720" y="3471446"/>
            <a:ext cx="1407659" cy="338554"/>
          </a:xfrm>
          <a:prstGeom prst="rect">
            <a:avLst/>
          </a:prstGeom>
          <a:ln w="12700">
            <a:miter lim="400000"/>
          </a:ln>
        </p:spPr>
        <p:txBody>
          <a:bodyPr lIns="45719" rIns="45719"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48" name="Text Box 22"/>
          <p:cNvSpPr txBox="1"/>
          <p:nvPr/>
        </p:nvSpPr>
        <p:spPr>
          <a:xfrm>
            <a:off x="9248459" y="3670886"/>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0</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49" name="Text Box 23"/>
          <p:cNvSpPr txBox="1"/>
          <p:nvPr/>
        </p:nvSpPr>
        <p:spPr>
          <a:xfrm>
            <a:off x="9232584" y="4174123"/>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50" name="Text Box 24"/>
          <p:cNvSpPr txBox="1"/>
          <p:nvPr/>
        </p:nvSpPr>
        <p:spPr>
          <a:xfrm>
            <a:off x="2798845" y="2999373"/>
            <a:ext cx="541172" cy="338554"/>
          </a:xfrm>
          <a:prstGeom prst="rect">
            <a:avLst/>
          </a:prstGeom>
          <a:ln w="12700">
            <a:miter lim="400000"/>
          </a:ln>
        </p:spPr>
        <p:txBody>
          <a:bodyPr wrap="none" lIns="45719" rIns="45719" anchor="ctr">
            <a:spAutoFit/>
          </a:bodyPr>
          <a:lstStyle>
            <a:lvl1pPr algn="ctr">
              <a:defRPr sz="160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%rax</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51" name="Text Box 26"/>
          <p:cNvSpPr txBox="1"/>
          <p:nvPr/>
        </p:nvSpPr>
        <p:spPr>
          <a:xfrm>
            <a:off x="6217919" y="2438400"/>
            <a:ext cx="2490423" cy="338554"/>
          </a:xfrm>
          <a:prstGeom prst="rect">
            <a:avLst/>
          </a:prstGeom>
          <a:ln w="12700">
            <a:miter lim="400000"/>
          </a:ln>
        </p:spPr>
        <p:txBody>
          <a:bodyPr wrap="none" lIns="45719" rIns="45719">
            <a:spAutoFit/>
          </a:bodyPr>
          <a:lstStyle/>
          <a:p>
            <a:pPr>
              <a:defRPr sz="1600">
                <a:solidFill>
                  <a:srgbClr val="C00000"/>
                </a:solidFill>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加载操作</a:t>
            </a:r>
            <a:r>
              <a:rPr sz="1600" dirty="0">
                <a:latin typeface="Consolas" panose="020B0609020204030204" pitchFamily="49" charset="0"/>
                <a:ea typeface="FangSong" panose="02010609060101010101" pitchFamily="49" charset="-122"/>
                <a:cs typeface="Consolas" panose="020B0609020204030204" pitchFamily="49" charset="0"/>
              </a:rPr>
              <a:t>: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movq</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endPar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endParaRPr>
          </a:p>
        </p:txBody>
      </p:sp>
      <p:grpSp>
        <p:nvGrpSpPr>
          <p:cNvPr id="254" name="Rectangle 10"/>
          <p:cNvGrpSpPr/>
          <p:nvPr/>
        </p:nvGrpSpPr>
        <p:grpSpPr>
          <a:xfrm>
            <a:off x="3416299" y="3040516"/>
            <a:ext cx="684216" cy="307775"/>
            <a:chOff x="0" y="-13487"/>
            <a:chExt cx="684214" cy="307773"/>
          </a:xfrm>
        </p:grpSpPr>
        <p:sp>
          <p:nvSpPr>
            <p:cNvPr id="252" name="Rectangle"/>
            <p:cNvSpPr/>
            <p:nvPr/>
          </p:nvSpPr>
          <p:spPr>
            <a:xfrm>
              <a:off x="0" y="64199"/>
              <a:ext cx="684214"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253" name="x"/>
            <p:cNvSpPr txBox="1"/>
            <p:nvPr/>
          </p:nvSpPr>
          <p:spPr>
            <a:xfrm>
              <a:off x="246248" y="-13487"/>
              <a:ext cx="191716" cy="307773"/>
            </a:xfrm>
            <a:prstGeom prst="rect">
              <a:avLst/>
            </a:prstGeom>
            <a:noFill/>
            <a:ln w="12700" cap="flat">
              <a:noFill/>
              <a:miter lim="400000"/>
            </a:ln>
            <a:effec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x</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indefinite" fill="hold"/>
                                        <p:tgtEl>
                                          <p:spTgt spid="242"/>
                                        </p:tgtEl>
                                        <p:attrNameLst>
                                          <p:attrName>style.visibility</p:attrName>
                                        </p:attrNameLst>
                                      </p:cBhvr>
                                      <p:to>
                                        <p:strVal val="visible"/>
                                      </p:to>
                                    </p:set>
                                    <p:animEffect transition="in" filter="wipe(down)">
                                      <p:cBhvr>
                                        <p:cTn id="7" dur="500"/>
                                        <p:tgtEl>
                                          <p:spTgt spid="24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indefinite" fill="hold"/>
                                        <p:tgtEl>
                                          <p:spTgt spid="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animBg="1" advAuto="0"/>
      <p:bldP spid="254" grpId="0"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Rectangle 28"/>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内存写事务</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dirty="0">
                <a:latin typeface="Consolas" panose="020B0609020204030204" pitchFamily="49" charset="0"/>
                <a:ea typeface="FangSong" panose="02010609060101010101" pitchFamily="49" charset="-122"/>
                <a:cs typeface="Consolas" panose="020B0609020204030204" pitchFamily="49" charset="0"/>
              </a:rPr>
              <a:t>1</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58" name="Rectangle 29"/>
          <p:cNvSpPr txBox="1">
            <a:spLocks noGrp="1"/>
          </p:cNvSpPr>
          <p:nvPr>
            <p:ph type="body" idx="1"/>
          </p:nvPr>
        </p:nvSpPr>
        <p:spPr>
          <a:prstGeom prst="rect">
            <a:avLst/>
          </a:prstGeom>
        </p:spPr>
        <p:txBody>
          <a:bodyPr/>
          <a:lstStyle/>
          <a:p>
            <a:r>
              <a:rPr dirty="0">
                <a:latin typeface="Consolas" panose="020B0609020204030204" pitchFamily="49" charset="0"/>
                <a:ea typeface="FangSong" panose="02010609060101010101" pitchFamily="49" charset="-122"/>
                <a:cs typeface="Consolas" panose="020B0609020204030204" pitchFamily="49" charset="0"/>
              </a:rPr>
              <a:t>CPU </a:t>
            </a:r>
            <a:r>
              <a:rPr lang="en-US" dirty="0" err="1">
                <a:latin typeface="Consolas" panose="020B0609020204030204" pitchFamily="49" charset="0"/>
                <a:ea typeface="FangSong" panose="02010609060101010101" pitchFamily="49" charset="-122"/>
                <a:cs typeface="Consolas" panose="020B0609020204030204" pitchFamily="49" charset="0"/>
              </a:rPr>
              <a:t>将地址</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A</a:t>
            </a:r>
            <a:r>
              <a:rPr lang="zh-CN" altLang="en-US" dirty="0">
                <a:latin typeface="Consolas" panose="020B0609020204030204" pitchFamily="49" charset="0"/>
                <a:ea typeface="FangSong" panose="02010609060101010101" pitchFamily="49" charset="-122"/>
                <a:cs typeface="Consolas" panose="020B0609020204030204" pitchFamily="49" charset="0"/>
              </a:rPr>
              <a:t> 放到总线上；主存读到 </a:t>
            </a:r>
            <a:r>
              <a:rPr lang="en-US" altLang="zh-CN" dirty="0">
                <a:latin typeface="Consolas" panose="020B0609020204030204" pitchFamily="49" charset="0"/>
                <a:ea typeface="FangSong" panose="02010609060101010101" pitchFamily="49" charset="-122"/>
                <a:cs typeface="Consolas" panose="020B0609020204030204" pitchFamily="49" charset="0"/>
              </a:rPr>
              <a:t>A</a:t>
            </a:r>
            <a:r>
              <a:rPr lang="zh-CN" altLang="en-US" dirty="0">
                <a:latin typeface="Consolas" panose="020B0609020204030204" pitchFamily="49" charset="0"/>
                <a:ea typeface="FangSong" panose="02010609060101010101" pitchFamily="49" charset="-122"/>
                <a:cs typeface="Consolas" panose="020B0609020204030204" pitchFamily="49" charset="0"/>
              </a:rPr>
              <a:t> 并等待对应的数据字到达</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59" name="AutoShape 4"/>
          <p:cNvSpPr/>
          <p:nvPr/>
        </p:nvSpPr>
        <p:spPr>
          <a:xfrm>
            <a:off x="4378325" y="3962400"/>
            <a:ext cx="3886200"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260" name="Rectangle 7"/>
          <p:cNvSpPr/>
          <p:nvPr/>
        </p:nvSpPr>
        <p:spPr>
          <a:xfrm>
            <a:off x="3416300" y="26670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61" name="Rectangle 8"/>
          <p:cNvSpPr/>
          <p:nvPr/>
        </p:nvSpPr>
        <p:spPr>
          <a:xfrm>
            <a:off x="3416300" y="28194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62" name="Rectangle 9"/>
          <p:cNvSpPr/>
          <p:nvPr/>
        </p:nvSpPr>
        <p:spPr>
          <a:xfrm>
            <a:off x="3416300" y="29718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65" name="Rectangle 10"/>
          <p:cNvGrpSpPr/>
          <p:nvPr/>
        </p:nvGrpSpPr>
        <p:grpSpPr>
          <a:xfrm>
            <a:off x="3416299" y="3046514"/>
            <a:ext cx="684216" cy="307775"/>
            <a:chOff x="0" y="-13487"/>
            <a:chExt cx="684214" cy="307773"/>
          </a:xfrm>
        </p:grpSpPr>
        <p:sp>
          <p:nvSpPr>
            <p:cNvPr id="263" name="Rectangle"/>
            <p:cNvSpPr/>
            <p:nvPr/>
          </p:nvSpPr>
          <p:spPr>
            <a:xfrm>
              <a:off x="0" y="64199"/>
              <a:ext cx="684214"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264" name="y"/>
            <p:cNvSpPr txBox="1"/>
            <p:nvPr/>
          </p:nvSpPr>
          <p:spPr>
            <a:xfrm>
              <a:off x="246249" y="-13487"/>
              <a:ext cx="191716" cy="307773"/>
            </a:xfrm>
            <a:prstGeom prst="rect">
              <a:avLst/>
            </a:prstGeom>
            <a:noFill/>
            <a:ln w="12700" cap="flat">
              <a:noFill/>
              <a:miter lim="400000"/>
            </a:ln>
            <a:effec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y</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66" name="Rectangle 11"/>
          <p:cNvSpPr/>
          <p:nvPr/>
        </p:nvSpPr>
        <p:spPr>
          <a:xfrm>
            <a:off x="3416300" y="327660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67" name="AutoShape 12"/>
          <p:cNvSpPr/>
          <p:nvPr/>
        </p:nvSpPr>
        <p:spPr>
          <a:xfrm>
            <a:off x="4189414" y="266700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68" name="AutoShape 13"/>
          <p:cNvSpPr/>
          <p:nvPr/>
        </p:nvSpPr>
        <p:spPr>
          <a:xfrm flipH="1">
            <a:off x="4100514" y="304800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71" name="Rectangle 14"/>
          <p:cNvGrpSpPr/>
          <p:nvPr/>
        </p:nvGrpSpPr>
        <p:grpSpPr>
          <a:xfrm>
            <a:off x="4633914" y="2514600"/>
            <a:ext cx="533401" cy="1066800"/>
            <a:chOff x="0" y="0"/>
            <a:chExt cx="533400" cy="1066800"/>
          </a:xfrm>
        </p:grpSpPr>
        <p:sp>
          <p:nvSpPr>
            <p:cNvPr id="269"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70" name="ALU"/>
            <p:cNvSpPr txBox="1"/>
            <p:nvPr/>
          </p:nvSpPr>
          <p:spPr>
            <a:xfrm>
              <a:off x="52219" y="364124"/>
              <a:ext cx="428961"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ALU</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72" name="Text Box 15"/>
          <p:cNvSpPr txBox="1"/>
          <p:nvPr/>
        </p:nvSpPr>
        <p:spPr>
          <a:xfrm>
            <a:off x="3215953" y="2345323"/>
            <a:ext cx="1118253"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寄存器文件</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73" name="AutoShape 16"/>
          <p:cNvSpPr/>
          <p:nvPr/>
        </p:nvSpPr>
        <p:spPr>
          <a:xfrm>
            <a:off x="3490914" y="3505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76" name="Rectangle 18"/>
          <p:cNvGrpSpPr/>
          <p:nvPr/>
        </p:nvGrpSpPr>
        <p:grpSpPr>
          <a:xfrm>
            <a:off x="2500313" y="3994150"/>
            <a:ext cx="1873251" cy="577850"/>
            <a:chOff x="0" y="0"/>
            <a:chExt cx="1873250" cy="577850"/>
          </a:xfrm>
        </p:grpSpPr>
        <p:sp>
          <p:nvSpPr>
            <p:cNvPr id="274"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75" name="Memory Controller"/>
            <p:cNvSpPr txBox="1"/>
            <p:nvPr/>
          </p:nvSpPr>
          <p:spPr>
            <a:xfrm>
              <a:off x="377504" y="119649"/>
              <a:ext cx="1118252"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内存控制器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279" name="Group 1"/>
          <p:cNvGrpSpPr/>
          <p:nvPr/>
        </p:nvGrpSpPr>
        <p:grpSpPr>
          <a:xfrm>
            <a:off x="4329113" y="3809000"/>
            <a:ext cx="3962402" cy="382002"/>
            <a:chOff x="0" y="-18978"/>
            <a:chExt cx="3962401" cy="382000"/>
          </a:xfrm>
        </p:grpSpPr>
        <p:sp>
          <p:nvSpPr>
            <p:cNvPr id="277" name="Line 17"/>
            <p:cNvSpPr/>
            <p:nvPr/>
          </p:nvSpPr>
          <p:spPr>
            <a:xfrm>
              <a:off x="0" y="363021"/>
              <a:ext cx="3962401" cy="1"/>
            </a:xfrm>
            <a:prstGeom prst="line">
              <a:avLst/>
            </a:prstGeom>
            <a:noFill/>
            <a:ln w="76200" cap="flat">
              <a:solidFill>
                <a:srgbClr val="00FFFF"/>
              </a:solidFill>
              <a:prstDash val="solid"/>
              <a:round/>
              <a:tailEnd type="triangle" w="med" len="me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78" name="Text Box 19"/>
            <p:cNvSpPr txBox="1"/>
            <p:nvPr/>
          </p:nvSpPr>
          <p:spPr>
            <a:xfrm>
              <a:off x="3023516" y="-18978"/>
              <a:ext cx="204541" cy="338550"/>
            </a:xfrm>
            <a:prstGeom prst="rect">
              <a:avLst/>
            </a:prstGeom>
            <a:noFill/>
            <a:ln w="12700" cap="flat">
              <a:noFill/>
              <a:miter lim="400000"/>
            </a:ln>
            <a:effectLst/>
          </p:spPr>
          <p:txBody>
            <a:bodyPr wrap="none" lIns="45719" tIns="45719" rIns="45719" bIns="45719" numCol="1" anchor="ctr">
              <a:spAutoFit/>
            </a:bodyPr>
            <a:lstStyle>
              <a:lvl1pPr algn="ctr">
                <a:defRPr sz="16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80" name="Rectangle 20"/>
          <p:cNvSpPr/>
          <p:nvPr/>
        </p:nvSpPr>
        <p:spPr>
          <a:xfrm>
            <a:off x="8296275" y="3810000"/>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281" name="Rectangle 21"/>
          <p:cNvSpPr/>
          <p:nvPr/>
        </p:nvSpPr>
        <p:spPr>
          <a:xfrm>
            <a:off x="8291514" y="4283075"/>
            <a:ext cx="914401" cy="152400"/>
          </a:xfrm>
          <a:prstGeom prst="rect">
            <a:avLst/>
          </a:prstGeom>
          <a:ln w="12700">
            <a:solidFill>
              <a:srgbClr val="000000"/>
            </a:solidFill>
            <a:miter/>
          </a:ln>
        </p:spPr>
        <p:txBody>
          <a:bodyPr lIns="45719" rIns="45719" anchor="ctr"/>
          <a:lstStyle/>
          <a:p>
            <a:pPr>
              <a:defRPr sz="1000">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282" name="Text Box 22"/>
          <p:cNvSpPr txBox="1"/>
          <p:nvPr/>
        </p:nvSpPr>
        <p:spPr>
          <a:xfrm>
            <a:off x="8552134" y="3471446"/>
            <a:ext cx="502700"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83" name="Text Box 23"/>
          <p:cNvSpPr txBox="1"/>
          <p:nvPr/>
        </p:nvSpPr>
        <p:spPr>
          <a:xfrm>
            <a:off x="9248459" y="3670886"/>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0</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84" name="Text Box 24"/>
          <p:cNvSpPr txBox="1"/>
          <p:nvPr/>
        </p:nvSpPr>
        <p:spPr>
          <a:xfrm>
            <a:off x="9232584" y="4174123"/>
            <a:ext cx="204541" cy="338554"/>
          </a:xfrm>
          <a:prstGeom prst="rect">
            <a:avLst/>
          </a:prstGeom>
          <a:ln w="12700">
            <a:miter lim="400000"/>
          </a:ln>
        </p:spPr>
        <p:txBody>
          <a:bodyPr wrap="none" lIns="45719" rIns="45719" anchor="ctr">
            <a:spAutoFit/>
          </a:bodyPr>
          <a:lstStyle>
            <a:lvl1pPr>
              <a:defRPr sz="16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85" name="Text Box 25"/>
          <p:cNvSpPr txBox="1"/>
          <p:nvPr/>
        </p:nvSpPr>
        <p:spPr>
          <a:xfrm>
            <a:off x="2798845" y="2999373"/>
            <a:ext cx="541172" cy="338554"/>
          </a:xfrm>
          <a:prstGeom prst="rect">
            <a:avLst/>
          </a:prstGeom>
          <a:ln w="12700">
            <a:miter lim="400000"/>
          </a:ln>
        </p:spPr>
        <p:txBody>
          <a:bodyPr wrap="none" lIns="45719" rIns="45719" anchor="ctr">
            <a:spAutoFit/>
          </a:bodyPr>
          <a:lstStyle>
            <a:lvl1pPr algn="ctr">
              <a:defRPr sz="160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%rax</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86" name="Text Box 27"/>
          <p:cNvSpPr txBox="1"/>
          <p:nvPr/>
        </p:nvSpPr>
        <p:spPr>
          <a:xfrm>
            <a:off x="6217919" y="2438399"/>
            <a:ext cx="2490423" cy="338554"/>
          </a:xfrm>
          <a:prstGeom prst="rect">
            <a:avLst/>
          </a:prstGeom>
          <a:ln w="12700">
            <a:miter lim="400000"/>
          </a:ln>
        </p:spPr>
        <p:txBody>
          <a:bodyPr wrap="none" lIns="45719" rIns="45719">
            <a:spAutoFit/>
          </a:bodyPr>
          <a:lstStyle/>
          <a:p>
            <a:pPr>
              <a:defRPr sz="1600">
                <a:solidFill>
                  <a:srgbClr val="C00000"/>
                </a:solidFill>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存储操作</a:t>
            </a:r>
            <a:r>
              <a:rPr sz="1600" dirty="0">
                <a:latin typeface="Consolas" panose="020B0609020204030204" pitchFamily="49" charset="0"/>
                <a:ea typeface="FangSong" panose="02010609060101010101" pitchFamily="49" charset="-122"/>
                <a:cs typeface="Consolas" panose="020B0609020204030204" pitchFamily="49" charset="0"/>
              </a:rPr>
              <a:t>: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movq</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a:t>
            </a:r>
            <a:endPar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indefinite" fill="hold"/>
                                        <p:tgtEl>
                                          <p:spTgt spid="279"/>
                                        </p:tgtEl>
                                        <p:attrNameLst>
                                          <p:attrName>style.visibility</p:attrName>
                                        </p:attrNameLst>
                                      </p:cBhvr>
                                      <p:to>
                                        <p:strVal val="visible"/>
                                      </p:to>
                                    </p:set>
                                    <p:animEffect transition="in" filter="wipe(left)">
                                      <p:cBhvr>
                                        <p:cTn id="7" dur="500"/>
                                        <p:tgtEl>
                                          <p:spTgt spid="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Rectangle 29"/>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内存写事务</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lang="en-US" altLang="zh-CN" dirty="0">
                <a:latin typeface="Consolas" panose="020B0609020204030204" pitchFamily="49" charset="0"/>
                <a:ea typeface="FangSong" panose="02010609060101010101" pitchFamily="49" charset="-122"/>
                <a:cs typeface="Consolas" panose="020B0609020204030204" pitchFamily="49" charset="0"/>
              </a:rPr>
              <a:t>2</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90" name="Rectangle 30"/>
          <p:cNvSpPr txBox="1">
            <a:spLocks noGrp="1"/>
          </p:cNvSpPr>
          <p:nvPr>
            <p:ph type="body" idx="1"/>
          </p:nvPr>
        </p:nvSpPr>
        <p:spPr>
          <a:prstGeom prst="rect">
            <a:avLst/>
          </a:prstGeom>
        </p:spPr>
        <p:txBody>
          <a:bodyPr/>
          <a:lstStyle>
            <a:lvl1pPr marL="288925" indent="-288925"/>
          </a:lstStyle>
          <a:p>
            <a:r>
              <a:rPr dirty="0">
                <a:latin typeface="Consolas" panose="020B0609020204030204" pitchFamily="49" charset="0"/>
                <a:ea typeface="FangSong" panose="02010609060101010101" pitchFamily="49" charset="-122"/>
                <a:cs typeface="Consolas" panose="020B0609020204030204" pitchFamily="49" charset="0"/>
              </a:rPr>
              <a:t> CPU </a:t>
            </a:r>
            <a:r>
              <a:rPr lang="en-US" dirty="0" err="1">
                <a:latin typeface="Consolas" panose="020B0609020204030204" pitchFamily="49" charset="0"/>
                <a:ea typeface="FangSong" panose="02010609060101010101" pitchFamily="49" charset="-122"/>
                <a:cs typeface="Consolas" panose="020B0609020204030204" pitchFamily="49" charset="0"/>
              </a:rPr>
              <a:t>将数据字</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y</a:t>
            </a:r>
            <a:r>
              <a:rPr lang="zh-CN" altLang="en-US" dirty="0">
                <a:latin typeface="Consolas" panose="020B0609020204030204" pitchFamily="49" charset="0"/>
                <a:ea typeface="FangSong" panose="02010609060101010101" pitchFamily="49" charset="-122"/>
                <a:cs typeface="Consolas" panose="020B0609020204030204" pitchFamily="49" charset="0"/>
              </a:rPr>
              <a:t> 放到总线上</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91" name="Rectangle 4"/>
          <p:cNvSpPr/>
          <p:nvPr/>
        </p:nvSpPr>
        <p:spPr>
          <a:xfrm>
            <a:off x="8291513" y="3810000"/>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292" name="AutoShape 5"/>
          <p:cNvSpPr/>
          <p:nvPr/>
        </p:nvSpPr>
        <p:spPr>
          <a:xfrm>
            <a:off x="4400551" y="3962400"/>
            <a:ext cx="3859213"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293" name="Rectangle 8"/>
          <p:cNvSpPr/>
          <p:nvPr/>
        </p:nvSpPr>
        <p:spPr>
          <a:xfrm>
            <a:off x="3411539" y="26670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94" name="Rectangle 9"/>
          <p:cNvSpPr/>
          <p:nvPr/>
        </p:nvSpPr>
        <p:spPr>
          <a:xfrm>
            <a:off x="3411539" y="28194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95" name="Rectangle 10"/>
          <p:cNvSpPr/>
          <p:nvPr/>
        </p:nvSpPr>
        <p:spPr>
          <a:xfrm>
            <a:off x="3411539" y="29718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298" name="Rectangle 11"/>
          <p:cNvGrpSpPr/>
          <p:nvPr/>
        </p:nvGrpSpPr>
        <p:grpSpPr>
          <a:xfrm>
            <a:off x="3411538" y="3046514"/>
            <a:ext cx="684214" cy="307775"/>
            <a:chOff x="0" y="-13487"/>
            <a:chExt cx="684213" cy="307773"/>
          </a:xfrm>
        </p:grpSpPr>
        <p:sp>
          <p:nvSpPr>
            <p:cNvPr id="296" name="Rectangle"/>
            <p:cNvSpPr/>
            <p:nvPr/>
          </p:nvSpPr>
          <p:spPr>
            <a:xfrm>
              <a:off x="0" y="64199"/>
              <a:ext cx="684213"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297" name="y"/>
            <p:cNvSpPr txBox="1"/>
            <p:nvPr/>
          </p:nvSpPr>
          <p:spPr>
            <a:xfrm>
              <a:off x="246248" y="-13487"/>
              <a:ext cx="191717" cy="307773"/>
            </a:xfrm>
            <a:prstGeom prst="rect">
              <a:avLst/>
            </a:prstGeom>
            <a:noFill/>
            <a:ln w="12700" cap="flat">
              <a:noFill/>
              <a:miter lim="400000"/>
            </a:ln>
            <a:effec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y</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299" name="Rectangle 12"/>
          <p:cNvSpPr/>
          <p:nvPr/>
        </p:nvSpPr>
        <p:spPr>
          <a:xfrm>
            <a:off x="3411539" y="32766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00" name="AutoShape 13"/>
          <p:cNvSpPr/>
          <p:nvPr/>
        </p:nvSpPr>
        <p:spPr>
          <a:xfrm>
            <a:off x="4184650" y="26670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01" name="AutoShape 14"/>
          <p:cNvSpPr/>
          <p:nvPr/>
        </p:nvSpPr>
        <p:spPr>
          <a:xfrm flipH="1">
            <a:off x="4095750" y="30480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304" name="Rectangle 15"/>
          <p:cNvGrpSpPr/>
          <p:nvPr/>
        </p:nvGrpSpPr>
        <p:grpSpPr>
          <a:xfrm>
            <a:off x="4629150" y="2514600"/>
            <a:ext cx="533400" cy="1066800"/>
            <a:chOff x="0" y="0"/>
            <a:chExt cx="533400" cy="1066800"/>
          </a:xfrm>
        </p:grpSpPr>
        <p:sp>
          <p:nvSpPr>
            <p:cNvPr id="302"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03" name="ALU"/>
            <p:cNvSpPr txBox="1"/>
            <p:nvPr/>
          </p:nvSpPr>
          <p:spPr>
            <a:xfrm>
              <a:off x="52069" y="364124"/>
              <a:ext cx="428962" cy="338552"/>
            </a:xfrm>
            <a:prstGeom prst="rect">
              <a:avLst/>
            </a:prstGeom>
            <a:noFill/>
            <a:ln w="12700" cap="flat">
              <a:noFill/>
              <a:miter lim="400000"/>
            </a:ln>
            <a:effectLst/>
          </p:spPr>
          <p:txBody>
            <a:bodyPr wrap="none" lIns="45719" tIns="45719" rIns="45719" bIns="45719" numCol="1"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ALU</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305" name="Text Box 16"/>
          <p:cNvSpPr txBox="1"/>
          <p:nvPr/>
        </p:nvSpPr>
        <p:spPr>
          <a:xfrm>
            <a:off x="3211191" y="2345323"/>
            <a:ext cx="1118253"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寄存器文件</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06" name="AutoShape 17"/>
          <p:cNvSpPr/>
          <p:nvPr/>
        </p:nvSpPr>
        <p:spPr>
          <a:xfrm>
            <a:off x="3486151" y="3505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309" name="Rectangle 18"/>
          <p:cNvGrpSpPr/>
          <p:nvPr/>
        </p:nvGrpSpPr>
        <p:grpSpPr>
          <a:xfrm>
            <a:off x="2495550" y="3994150"/>
            <a:ext cx="1873250" cy="577850"/>
            <a:chOff x="0" y="0"/>
            <a:chExt cx="1873250" cy="577850"/>
          </a:xfrm>
        </p:grpSpPr>
        <p:sp>
          <p:nvSpPr>
            <p:cNvPr id="307"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08" name="Memory Controller"/>
            <p:cNvSpPr txBox="1"/>
            <p:nvPr/>
          </p:nvSpPr>
          <p:spPr>
            <a:xfrm>
              <a:off x="377502" y="119649"/>
              <a:ext cx="1118253"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内存控制器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310" name="Line 20"/>
          <p:cNvSpPr/>
          <p:nvPr/>
        </p:nvSpPr>
        <p:spPr>
          <a:xfrm>
            <a:off x="3790950" y="3305503"/>
            <a:ext cx="0" cy="914401"/>
          </a:xfrm>
          <a:prstGeom prst="line">
            <a:avLst/>
          </a:prstGeom>
          <a:ln w="76200">
            <a:solidFill>
              <a:srgbClr val="00FFFF"/>
            </a:solidFill>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313" name="Group 1"/>
          <p:cNvGrpSpPr/>
          <p:nvPr/>
        </p:nvGrpSpPr>
        <p:grpSpPr>
          <a:xfrm>
            <a:off x="3790950" y="3824389"/>
            <a:ext cx="4495802" cy="366612"/>
            <a:chOff x="0" y="-13487"/>
            <a:chExt cx="4495801" cy="366611"/>
          </a:xfrm>
        </p:grpSpPr>
        <p:sp>
          <p:nvSpPr>
            <p:cNvPr id="311" name="Text Box 19"/>
            <p:cNvSpPr txBox="1"/>
            <p:nvPr/>
          </p:nvSpPr>
          <p:spPr>
            <a:xfrm>
              <a:off x="3562033" y="-13487"/>
              <a:ext cx="191717" cy="307774"/>
            </a:xfrm>
            <a:prstGeom prst="rect">
              <a:avLst/>
            </a:prstGeom>
            <a:noFill/>
            <a:ln w="12700" cap="flat">
              <a:noFill/>
              <a:miter lim="400000"/>
            </a:ln>
            <a:effectLst/>
          </p:spPr>
          <p:txBody>
            <a:bodyPr wrap="none" lIns="45719" tIns="45719" rIns="45719" bIns="45719" numCol="1" anchor="ctr">
              <a:spAutoFit/>
            </a:bodyPr>
            <a:lstStyle>
              <a:lvl1pP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y</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12" name="Line 21"/>
            <p:cNvSpPr/>
            <p:nvPr/>
          </p:nvSpPr>
          <p:spPr>
            <a:xfrm>
              <a:off x="0" y="353123"/>
              <a:ext cx="4495801" cy="1"/>
            </a:xfrm>
            <a:prstGeom prst="line">
              <a:avLst/>
            </a:prstGeom>
            <a:noFill/>
            <a:ln w="76200" cap="flat">
              <a:solidFill>
                <a:srgbClr val="00FFFF"/>
              </a:solidFill>
              <a:prstDash val="solid"/>
              <a:round/>
              <a:tailEnd type="triangle" w="med" len="me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314" name="Rectangle 22"/>
          <p:cNvSpPr/>
          <p:nvPr/>
        </p:nvSpPr>
        <p:spPr>
          <a:xfrm>
            <a:off x="8286750" y="4267200"/>
            <a:ext cx="914400"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15" name="Text Box 23"/>
          <p:cNvSpPr txBox="1"/>
          <p:nvPr/>
        </p:nvSpPr>
        <p:spPr>
          <a:xfrm>
            <a:off x="8486603" y="3471446"/>
            <a:ext cx="502700"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16" name="Text Box 24"/>
          <p:cNvSpPr txBox="1"/>
          <p:nvPr/>
        </p:nvSpPr>
        <p:spPr>
          <a:xfrm>
            <a:off x="9243695" y="3686761"/>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0</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17" name="Text Box 25"/>
          <p:cNvSpPr txBox="1"/>
          <p:nvPr/>
        </p:nvSpPr>
        <p:spPr>
          <a:xfrm>
            <a:off x="9227820" y="4189998"/>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18" name="Text Box 26"/>
          <p:cNvSpPr txBox="1"/>
          <p:nvPr/>
        </p:nvSpPr>
        <p:spPr>
          <a:xfrm>
            <a:off x="2794083" y="3015248"/>
            <a:ext cx="541172" cy="338554"/>
          </a:xfrm>
          <a:prstGeom prst="rect">
            <a:avLst/>
          </a:prstGeom>
          <a:ln w="12700">
            <a:miter lim="400000"/>
          </a:ln>
        </p:spPr>
        <p:txBody>
          <a:bodyPr wrap="none" lIns="45719" rIns="45719" anchor="ctr">
            <a:spAutoFit/>
          </a:bodyPr>
          <a:lstStyle>
            <a:lvl1pPr algn="ctr">
              <a:defRPr sz="160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%rax</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19" name="Text Box 28"/>
          <p:cNvSpPr txBox="1"/>
          <p:nvPr/>
        </p:nvSpPr>
        <p:spPr>
          <a:xfrm>
            <a:off x="6222682" y="2438399"/>
            <a:ext cx="2490423" cy="338554"/>
          </a:xfrm>
          <a:prstGeom prst="rect">
            <a:avLst/>
          </a:prstGeom>
          <a:ln w="12700">
            <a:miter lim="400000"/>
          </a:ln>
        </p:spPr>
        <p:txBody>
          <a:bodyPr wrap="none" lIns="45719" rIns="45719">
            <a:spAutoFit/>
          </a:bodyPr>
          <a:lstStyle/>
          <a:p>
            <a:pPr>
              <a:defRPr sz="1600">
                <a:solidFill>
                  <a:srgbClr val="C00000"/>
                </a:solidFill>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存储操作</a:t>
            </a:r>
            <a:r>
              <a:rPr sz="1600" dirty="0">
                <a:latin typeface="Consolas" panose="020B0609020204030204" pitchFamily="49" charset="0"/>
                <a:ea typeface="FangSong" panose="02010609060101010101" pitchFamily="49" charset="-122"/>
                <a:cs typeface="Consolas" panose="020B0609020204030204" pitchFamily="49" charset="0"/>
              </a:rPr>
              <a:t>: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movq</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a:t>
            </a:r>
            <a:endPar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indefinite" fill="hold"/>
                                        <p:tgtEl>
                                          <p:spTgt spid="310"/>
                                        </p:tgtEl>
                                        <p:attrNameLst>
                                          <p:attrName>style.visibility</p:attrName>
                                        </p:attrNameLst>
                                      </p:cBhvr>
                                      <p:to>
                                        <p:strVal val="visible"/>
                                      </p:to>
                                    </p:set>
                                    <p:animEffect transition="in" filter="wipe(up)">
                                      <p:cBhvr>
                                        <p:cTn id="7" dur="500"/>
                                        <p:tgtEl>
                                          <p:spTgt spid="3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indefinite" fill="hold"/>
                                        <p:tgtEl>
                                          <p:spTgt spid="313"/>
                                        </p:tgtEl>
                                        <p:attrNameLst>
                                          <p:attrName>style.visibility</p:attrName>
                                        </p:attrNameLst>
                                      </p:cBhvr>
                                      <p:to>
                                        <p:strVal val="visible"/>
                                      </p:to>
                                    </p:set>
                                    <p:animEffect transition="in" filter="wipe(left)">
                                      <p:cBhvr>
                                        <p:cTn id="11" dur="5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 grpId="0" animBg="1" advAuto="0"/>
      <p:bldP spid="313"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Rectangle 26"/>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内存写事务</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lang="en-US" altLang="zh-CN" dirty="0">
                <a:latin typeface="Consolas" panose="020B0609020204030204" pitchFamily="49" charset="0"/>
                <a:ea typeface="FangSong" panose="02010609060101010101" pitchFamily="49" charset="-122"/>
                <a:cs typeface="Consolas" panose="020B0609020204030204" pitchFamily="49" charset="0"/>
              </a:rPr>
              <a:t>3</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23" name="Rectangle 27"/>
          <p:cNvSpPr txBox="1">
            <a:spLocks noGrp="1"/>
          </p:cNvSpPr>
          <p:nvPr>
            <p:ph type="body" idx="1"/>
          </p:nvPr>
        </p:nvSpPr>
        <p:spPr>
          <a:prstGeom prst="rect">
            <a:avLst/>
          </a:prstGeom>
        </p:spPr>
        <p:txBody>
          <a:bodyPr/>
          <a:lstStyle>
            <a:lvl1pPr marL="401955" indent="-401955"/>
          </a:lstStyle>
          <a:p>
            <a:r>
              <a:rPr lang="en-US" dirty="0" err="1">
                <a:latin typeface="Consolas" panose="020B0609020204030204" pitchFamily="49" charset="0"/>
                <a:ea typeface="FangSong" panose="02010609060101010101" pitchFamily="49" charset="-122"/>
                <a:cs typeface="Consolas" panose="020B0609020204030204" pitchFamily="49" charset="0"/>
              </a:rPr>
              <a:t>主存从总线读到数据字</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y</a:t>
            </a:r>
            <a:r>
              <a:rPr lang="zh-CN" altLang="en-US" dirty="0">
                <a:latin typeface="Consolas" panose="020B0609020204030204" pitchFamily="49" charset="0"/>
                <a:ea typeface="FangSong" panose="02010609060101010101" pitchFamily="49" charset="-122"/>
                <a:cs typeface="Consolas" panose="020B0609020204030204" pitchFamily="49" charset="0"/>
              </a:rPr>
              <a:t>，并把 </a:t>
            </a:r>
            <a:r>
              <a:rPr lang="en-US" altLang="zh-CN" dirty="0">
                <a:latin typeface="Consolas" panose="020B0609020204030204" pitchFamily="49" charset="0"/>
                <a:ea typeface="FangSong" panose="02010609060101010101" pitchFamily="49" charset="-122"/>
                <a:cs typeface="Consolas" panose="020B0609020204030204" pitchFamily="49" charset="0"/>
              </a:rPr>
              <a:t>y</a:t>
            </a:r>
            <a:r>
              <a:rPr lang="zh-CN" altLang="en-US" dirty="0">
                <a:latin typeface="Consolas" panose="020B0609020204030204" pitchFamily="49" charset="0"/>
                <a:ea typeface="FangSong" panose="02010609060101010101" pitchFamily="49" charset="-122"/>
                <a:cs typeface="Consolas" panose="020B0609020204030204" pitchFamily="49" charset="0"/>
              </a:rPr>
              <a:t> 存储到地址 </a:t>
            </a:r>
            <a:r>
              <a:rPr lang="en-US" altLang="zh-CN" dirty="0">
                <a:latin typeface="Consolas" panose="020B0609020204030204" pitchFamily="49" charset="0"/>
                <a:ea typeface="FangSong" panose="02010609060101010101" pitchFamily="49" charset="-122"/>
                <a:cs typeface="Consolas" panose="020B0609020204030204" pitchFamily="49" charset="0"/>
              </a:rPr>
              <a:t>A</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24" name="Rectangle 4"/>
          <p:cNvSpPr/>
          <p:nvPr/>
        </p:nvSpPr>
        <p:spPr>
          <a:xfrm>
            <a:off x="8296275" y="3806825"/>
            <a:ext cx="909638" cy="91440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325" name="AutoShape 5"/>
          <p:cNvSpPr/>
          <p:nvPr/>
        </p:nvSpPr>
        <p:spPr>
          <a:xfrm>
            <a:off x="4373564" y="3959225"/>
            <a:ext cx="3890963" cy="533400"/>
          </a:xfrm>
          <a:prstGeom prst="leftRightArrow">
            <a:avLst>
              <a:gd name="adj1" fmla="val 50000"/>
              <a:gd name="adj2" fmla="val 55952"/>
            </a:avLst>
          </a:prstGeom>
          <a:solidFill>
            <a:srgbClr val="F7F5CD"/>
          </a:solidFill>
          <a:ln w="12700">
            <a:solidFill>
              <a:srgbClr val="000000"/>
            </a:solidFill>
            <a:miter/>
          </a:ln>
        </p:spPr>
        <p:txBody>
          <a:bodyPr lIns="45719" rIns="45719" anchor="ctr"/>
          <a:lstStyle/>
          <a:p>
            <a:pPr>
              <a:defRPr sz="1600">
                <a:latin typeface="Calibri"/>
                <a:ea typeface="Calibri"/>
                <a:cs typeface="Calibri"/>
                <a:sym typeface="Calibri"/>
              </a:defRPr>
            </a:pPr>
            <a:endParaRPr sz="1600">
              <a:latin typeface="Consolas" panose="020B0609020204030204" pitchFamily="49" charset="0"/>
              <a:ea typeface="FangSong" panose="02010609060101010101" pitchFamily="49" charset="-122"/>
              <a:cs typeface="Consolas" panose="020B0609020204030204" pitchFamily="49" charset="0"/>
            </a:endParaRPr>
          </a:p>
        </p:txBody>
      </p:sp>
      <p:sp>
        <p:nvSpPr>
          <p:cNvPr id="326" name="Rectangle 8"/>
          <p:cNvSpPr/>
          <p:nvPr/>
        </p:nvSpPr>
        <p:spPr>
          <a:xfrm>
            <a:off x="3416300" y="26638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27" name="Rectangle 9"/>
          <p:cNvSpPr/>
          <p:nvPr/>
        </p:nvSpPr>
        <p:spPr>
          <a:xfrm>
            <a:off x="3416300" y="28162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28" name="Rectangle 10"/>
          <p:cNvSpPr/>
          <p:nvPr/>
        </p:nvSpPr>
        <p:spPr>
          <a:xfrm>
            <a:off x="3416300" y="29686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331" name="Rectangle 11"/>
          <p:cNvGrpSpPr/>
          <p:nvPr/>
        </p:nvGrpSpPr>
        <p:grpSpPr>
          <a:xfrm>
            <a:off x="3416299" y="3043339"/>
            <a:ext cx="684216" cy="307775"/>
            <a:chOff x="0" y="-13487"/>
            <a:chExt cx="684214" cy="307773"/>
          </a:xfrm>
        </p:grpSpPr>
        <p:sp>
          <p:nvSpPr>
            <p:cNvPr id="329" name="Rectangle"/>
            <p:cNvSpPr/>
            <p:nvPr/>
          </p:nvSpPr>
          <p:spPr>
            <a:xfrm>
              <a:off x="0" y="64199"/>
              <a:ext cx="684214"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330" name="y"/>
            <p:cNvSpPr txBox="1"/>
            <p:nvPr/>
          </p:nvSpPr>
          <p:spPr>
            <a:xfrm>
              <a:off x="246249" y="-13487"/>
              <a:ext cx="191716" cy="307773"/>
            </a:xfrm>
            <a:prstGeom prst="rect">
              <a:avLst/>
            </a:prstGeom>
            <a:noFill/>
            <a:ln w="12700" cap="flat">
              <a:noFill/>
              <a:miter lim="400000"/>
            </a:ln>
            <a:effec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y</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332" name="Rectangle 12"/>
          <p:cNvSpPr/>
          <p:nvPr/>
        </p:nvSpPr>
        <p:spPr>
          <a:xfrm>
            <a:off x="3416300" y="3273425"/>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33" name="AutoShape 13"/>
          <p:cNvSpPr/>
          <p:nvPr/>
        </p:nvSpPr>
        <p:spPr>
          <a:xfrm>
            <a:off x="4189414" y="2663825"/>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34" name="AutoShape 14"/>
          <p:cNvSpPr/>
          <p:nvPr/>
        </p:nvSpPr>
        <p:spPr>
          <a:xfrm flipH="1">
            <a:off x="4100514" y="3044825"/>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337" name="Rectangle 15"/>
          <p:cNvGrpSpPr/>
          <p:nvPr/>
        </p:nvGrpSpPr>
        <p:grpSpPr>
          <a:xfrm>
            <a:off x="4633914" y="2511425"/>
            <a:ext cx="533401" cy="1066800"/>
            <a:chOff x="0" y="0"/>
            <a:chExt cx="533400" cy="1066800"/>
          </a:xfrm>
        </p:grpSpPr>
        <p:sp>
          <p:nvSpPr>
            <p:cNvPr id="335"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36" name="ALU"/>
            <p:cNvSpPr txBox="1"/>
            <p:nvPr/>
          </p:nvSpPr>
          <p:spPr>
            <a:xfrm>
              <a:off x="52069" y="364124"/>
              <a:ext cx="428961" cy="338552"/>
            </a:xfrm>
            <a:prstGeom prst="rect">
              <a:avLst/>
            </a:prstGeom>
            <a:noFill/>
            <a:ln w="12700" cap="flat">
              <a:noFill/>
              <a:miter lim="400000"/>
            </a:ln>
            <a:effectLst/>
          </p:spPr>
          <p:txBody>
            <a:bodyPr wrap="none" lIns="45719" tIns="45719" rIns="45719" bIns="45719" numCol="1"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ALU</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338" name="Text Box 16"/>
          <p:cNvSpPr txBox="1"/>
          <p:nvPr/>
        </p:nvSpPr>
        <p:spPr>
          <a:xfrm>
            <a:off x="3179445" y="2342148"/>
            <a:ext cx="1118253"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寄存器文件</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39" name="AutoShape 17"/>
          <p:cNvSpPr/>
          <p:nvPr/>
        </p:nvSpPr>
        <p:spPr>
          <a:xfrm>
            <a:off x="3490914" y="3502026"/>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342" name="Rectangle 18"/>
          <p:cNvGrpSpPr/>
          <p:nvPr/>
        </p:nvGrpSpPr>
        <p:grpSpPr>
          <a:xfrm>
            <a:off x="2500313" y="3990975"/>
            <a:ext cx="1873251" cy="577850"/>
            <a:chOff x="0" y="0"/>
            <a:chExt cx="1873250" cy="577850"/>
          </a:xfrm>
        </p:grpSpPr>
        <p:sp>
          <p:nvSpPr>
            <p:cNvPr id="340" name="Rectangle"/>
            <p:cNvSpPr/>
            <p:nvPr/>
          </p:nvSpPr>
          <p:spPr>
            <a:xfrm>
              <a:off x="0" y="0"/>
              <a:ext cx="1873250" cy="57785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41" name="Memory Controller"/>
            <p:cNvSpPr txBox="1"/>
            <p:nvPr/>
          </p:nvSpPr>
          <p:spPr>
            <a:xfrm>
              <a:off x="377504" y="119649"/>
              <a:ext cx="1118252"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内存控制器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345" name="Rectangle 19"/>
          <p:cNvGrpSpPr/>
          <p:nvPr/>
        </p:nvGrpSpPr>
        <p:grpSpPr>
          <a:xfrm>
            <a:off x="8291514" y="4186339"/>
            <a:ext cx="914401" cy="307775"/>
            <a:chOff x="0" y="-13487"/>
            <a:chExt cx="914400" cy="307773"/>
          </a:xfrm>
        </p:grpSpPr>
        <p:sp>
          <p:nvSpPr>
            <p:cNvPr id="343" name="Rectangle"/>
            <p:cNvSpPr/>
            <p:nvPr/>
          </p:nvSpPr>
          <p:spPr>
            <a:xfrm>
              <a:off x="0" y="64199"/>
              <a:ext cx="914400" cy="1524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defRPr sz="1000" i="1">
                  <a:latin typeface="Calibri"/>
                  <a:ea typeface="Calibri"/>
                  <a:cs typeface="Calibri"/>
                  <a:sym typeface="Calibri"/>
                </a:defRPr>
              </a:pPr>
              <a:endParaRPr sz="1000">
                <a:latin typeface="Consolas" panose="020B0609020204030204" pitchFamily="49" charset="0"/>
                <a:ea typeface="FangSong" panose="02010609060101010101" pitchFamily="49" charset="-122"/>
                <a:cs typeface="Consolas" panose="020B0609020204030204" pitchFamily="49" charset="0"/>
              </a:endParaRPr>
            </a:p>
          </p:txBody>
        </p:sp>
        <p:sp>
          <p:nvSpPr>
            <p:cNvPr id="344" name="y"/>
            <p:cNvSpPr txBox="1"/>
            <p:nvPr/>
          </p:nvSpPr>
          <p:spPr>
            <a:xfrm>
              <a:off x="361342" y="-13487"/>
              <a:ext cx="191717" cy="307773"/>
            </a:xfrm>
            <a:prstGeom prst="rect">
              <a:avLst/>
            </a:prstGeom>
            <a:noFill/>
            <a:ln w="12700" cap="flat">
              <a:noFill/>
              <a:miter lim="400000"/>
            </a:ln>
            <a:effectLst/>
          </p:spPr>
          <p:txBody>
            <a:bodyPr wrap="none" lIns="45719" tIns="45719" rIns="45719" bIns="45719" numCol="1" anchor="ctr">
              <a:spAutoFit/>
            </a:bodyPr>
            <a:lstStyle>
              <a:lvl1pPr algn="ctr">
                <a:defRPr sz="1400" i="1">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y</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346" name="Text Box 20"/>
          <p:cNvSpPr txBox="1"/>
          <p:nvPr/>
        </p:nvSpPr>
        <p:spPr>
          <a:xfrm>
            <a:off x="8497364" y="3467880"/>
            <a:ext cx="502700"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47" name="Text Box 21"/>
          <p:cNvSpPr txBox="1"/>
          <p:nvPr/>
        </p:nvSpPr>
        <p:spPr>
          <a:xfrm>
            <a:off x="9248459" y="3667711"/>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0</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48" name="Text Box 22"/>
          <p:cNvSpPr txBox="1"/>
          <p:nvPr/>
        </p:nvSpPr>
        <p:spPr>
          <a:xfrm>
            <a:off x="9232584" y="4170948"/>
            <a:ext cx="204541"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49" name="Text Box 23"/>
          <p:cNvSpPr txBox="1"/>
          <p:nvPr/>
        </p:nvSpPr>
        <p:spPr>
          <a:xfrm>
            <a:off x="2811700" y="3014247"/>
            <a:ext cx="541172" cy="338554"/>
          </a:xfrm>
          <a:prstGeom prst="rect">
            <a:avLst/>
          </a:prstGeom>
          <a:ln w="12700">
            <a:miter lim="400000"/>
          </a:ln>
        </p:spPr>
        <p:txBody>
          <a:bodyPr wrap="none" lIns="45719" rIns="45719" anchor="ctr">
            <a:spAutoFit/>
          </a:bodyPr>
          <a:lstStyle>
            <a:lvl1pPr>
              <a:defRPr sz="160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%rax</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350" name="Text Box 25"/>
          <p:cNvSpPr txBox="1"/>
          <p:nvPr/>
        </p:nvSpPr>
        <p:spPr>
          <a:xfrm>
            <a:off x="6208394" y="2466974"/>
            <a:ext cx="2490423" cy="338554"/>
          </a:xfrm>
          <a:prstGeom prst="rect">
            <a:avLst/>
          </a:prstGeom>
          <a:ln w="12700">
            <a:miter lim="400000"/>
          </a:ln>
        </p:spPr>
        <p:txBody>
          <a:bodyPr wrap="none" lIns="45719" rIns="45719">
            <a:spAutoFit/>
          </a:bodyPr>
          <a:lstStyle/>
          <a:p>
            <a:pPr>
              <a:defRPr sz="1600">
                <a:solidFill>
                  <a:srgbClr val="C00000"/>
                </a:solidFill>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存储操作</a:t>
            </a:r>
            <a:r>
              <a:rPr sz="1600" dirty="0">
                <a:latin typeface="Consolas" panose="020B0609020204030204" pitchFamily="49" charset="0"/>
                <a:ea typeface="FangSong" panose="02010609060101010101" pitchFamily="49" charset="-122"/>
                <a:cs typeface="Consolas" panose="020B0609020204030204" pitchFamily="49" charset="0"/>
              </a:rPr>
              <a:t>: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movq</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t>
            </a:r>
            <a:r>
              <a:rPr sz="1600" dirty="0" err="1">
                <a:latin typeface="Consolas" panose="020B0609020204030204" pitchFamily="49" charset="0"/>
                <a:ea typeface="FangSong" panose="02010609060101010101" pitchFamily="49" charset="-122"/>
                <a:cs typeface="Consolas" panose="020B0609020204030204" pitchFamily="49" charset="0"/>
                <a:sym typeface="Courier New" panose="02070609020205020404"/>
              </a:rPr>
              <a:t>rax</a:t>
            </a:r>
            <a:r>
              <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rPr>
              <a:t>, A</a:t>
            </a:r>
            <a:endParaRPr sz="1600" dirty="0">
              <a:latin typeface="Consolas" panose="020B0609020204030204" pitchFamily="49" charset="0"/>
              <a:ea typeface="FangSong" panose="02010609060101010101" pitchFamily="49" charset="-122"/>
              <a:cs typeface="Consolas" panose="020B0609020204030204" pitchFamily="49" charset="0"/>
              <a:sym typeface="Courier New" panose="02070609020205020404"/>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3664" y="435679"/>
            <a:ext cx="10122792" cy="762001"/>
          </a:xfrm>
        </p:spPr>
        <p:txBody>
          <a:bodyPr/>
          <a:lstStyle/>
          <a:p>
            <a:r>
              <a:rPr lang="en-US" dirty="0">
                <a:latin typeface="Consolas" panose="020B0609020204030204" pitchFamily="49" charset="0"/>
                <a:ea typeface="FangSong" panose="02010609060101010101" pitchFamily="49" charset="-122"/>
                <a:cs typeface="Consolas" panose="020B0609020204030204" pitchFamily="49" charset="0"/>
              </a:rPr>
              <a:t>Today</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3" name="Content Placeholder 2"/>
          <p:cNvSpPr>
            <a:spLocks noGrp="1"/>
          </p:cNvSpPr>
          <p:nvPr>
            <p:ph idx="1"/>
          </p:nvPr>
        </p:nvSpPr>
        <p:spPr>
          <a:xfrm>
            <a:off x="1920875" y="1362075"/>
            <a:ext cx="8335342" cy="4972050"/>
          </a:xfrm>
        </p:spPr>
        <p:txBody>
          <a:bodyPr/>
          <a:lstStyle/>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存储器抽象</a:t>
            </a:r>
            <a:r>
              <a:rPr lang="en-US" b="0"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6.1.1</a:t>
            </a:r>
            <a:endParaRPr lang="en-US" dirty="0">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RAM : </a:t>
            </a: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主存构造模块</a:t>
            </a: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	</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6.1.1</a:t>
            </a: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latin typeface="Consolas" panose="020B0609020204030204" pitchFamily="49" charset="0"/>
                <a:ea typeface="FangSong" panose="02010609060101010101" pitchFamily="49" charset="-122"/>
                <a:cs typeface="Consolas" panose="020B0609020204030204" pitchFamily="49" charset="0"/>
              </a:rPr>
              <a:t>访问的局部性</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6.2</a:t>
            </a: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存储器层次结构</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6.3</a:t>
            </a:r>
            <a:endPar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存储技术与趋势</a:t>
            </a: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	</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6.1.2-6.1.4</a:t>
            </a:r>
            <a:endParaRPr lang="en-US" dirty="0">
              <a:latin typeface="Consolas" panose="020B0609020204030204" pitchFamily="49" charset="0"/>
              <a:ea typeface="FangSong" panose="02010609060101010101" pitchFamily="49" charset="-122"/>
              <a:cs typeface="Consolas" panose="020B0609020204030204" pitchFamily="49" charset="0"/>
            </a:endParaRPr>
          </a:p>
          <a:p>
            <a:pPr>
              <a:lnSpc>
                <a:spcPct val="80000"/>
              </a:lnSpc>
            </a:pP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p:txBody>
      </p:sp>
      <p:sp>
        <p:nvSpPr>
          <p:cNvPr id="4" name="Slide Number Placeholder 3"/>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内存速度远远慢于</a:t>
            </a:r>
            <a:r>
              <a:rPr lang="en-US" altLang="zh-CN"/>
              <a:t>CPU</a:t>
            </a:r>
            <a:r>
              <a:rPr lang="zh-CN" altLang="en-US"/>
              <a:t>速度</a:t>
            </a:r>
            <a:endParaRPr lang="zh-CN" altLang="en-US"/>
          </a:p>
        </p:txBody>
      </p:sp>
      <p:sp>
        <p:nvSpPr>
          <p:cNvPr id="3" name="Text Placeholder 2"/>
          <p:cNvSpPr>
            <a:spLocks noGrp="1"/>
          </p:cNvSpPr>
          <p:nvPr>
            <p:ph type="body" idx="1"/>
          </p:nvPr>
        </p:nvSpPr>
        <p:spPr/>
        <p:txBody>
          <a:bodyPr/>
          <a:lstStyle/>
          <a:p>
            <a:endParaRPr lang="en-US"/>
          </a:p>
        </p:txBody>
      </p:sp>
      <p:pic>
        <p:nvPicPr>
          <p:cNvPr id="1026" name="Picture 2" descr="2017 Oscars Preview: Who Will Win and Who Should Win - Paste Magaz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2403" y="2152650"/>
            <a:ext cx="6029325" cy="339090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内存速度远远慢于</a:t>
            </a:r>
            <a:r>
              <a:rPr lang="en-US" altLang="zh-CN">
                <a:sym typeface="+mn-ea"/>
              </a:rPr>
              <a:t>CPU</a:t>
            </a:r>
            <a:r>
              <a:rPr lang="zh-CN" altLang="en-US">
                <a:sym typeface="+mn-ea"/>
              </a:rPr>
              <a:t>速度</a:t>
            </a:r>
            <a:endParaRPr lang="en-US"/>
          </a:p>
        </p:txBody>
      </p:sp>
      <p:sp>
        <p:nvSpPr>
          <p:cNvPr id="3" name="Text Placeholder 2"/>
          <p:cNvSpPr>
            <a:spLocks noGrp="1"/>
          </p:cNvSpPr>
          <p:nvPr>
            <p:ph type="body" idx="1"/>
          </p:nvPr>
        </p:nvSpPr>
        <p:spPr/>
        <p:txBody>
          <a:bodyPr/>
          <a:lstStyle/>
          <a:p>
            <a:endParaRPr lang="en-US"/>
          </a:p>
        </p:txBody>
      </p:sp>
      <p:pic>
        <p:nvPicPr>
          <p:cNvPr id="1026" name="Picture 2" descr="2017 Oscars Preview: Who Will Win and Who Should Win - Paste Magazi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2403" y="2152650"/>
            <a:ext cx="6029325" cy="33909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icture 2"/>
          <p:cNvPicPr>
            <a:picLocks noChangeAspect="1"/>
          </p:cNvPicPr>
          <p:nvPr/>
        </p:nvPicPr>
        <p:blipFill>
          <a:blip r:embed="rId2"/>
          <a:srcRect l="11427" t="11632" b="8240"/>
          <a:stretch>
            <a:fillRect/>
          </a:stretch>
        </p:blipFill>
        <p:spPr>
          <a:xfrm>
            <a:off x="6462150" y="2609387"/>
            <a:ext cx="856534" cy="607741"/>
          </a:xfrm>
          <a:prstGeom prst="rect">
            <a:avLst/>
          </a:prstGeom>
          <a:ln w="12700">
            <a:miter lim="400000"/>
            <a:headEnd/>
            <a:tailEnd/>
          </a:ln>
        </p:spPr>
      </p:pic>
      <p:pic>
        <p:nvPicPr>
          <p:cNvPr id="6" name="Picture 2" descr="Picture 2"/>
          <p:cNvPicPr>
            <a:picLocks noChangeAspect="1"/>
          </p:cNvPicPr>
          <p:nvPr/>
        </p:nvPicPr>
        <p:blipFill>
          <a:blip r:embed="rId2"/>
          <a:srcRect l="11427" t="11632" b="8240"/>
          <a:stretch>
            <a:fillRect/>
          </a:stretch>
        </p:blipFill>
        <p:spPr>
          <a:xfrm>
            <a:off x="4806586" y="2460704"/>
            <a:ext cx="856534" cy="607741"/>
          </a:xfrm>
          <a:prstGeom prst="rect">
            <a:avLst/>
          </a:prstGeom>
          <a:ln w="12700">
            <a:miter lim="400000"/>
            <a:headEnd/>
            <a:tailEnd/>
          </a:ln>
        </p:spPr>
      </p:pic>
      <p:pic>
        <p:nvPicPr>
          <p:cNvPr id="7" name="Picture 2" descr="Picture 2"/>
          <p:cNvPicPr>
            <a:picLocks noChangeAspect="1"/>
          </p:cNvPicPr>
          <p:nvPr/>
        </p:nvPicPr>
        <p:blipFill>
          <a:blip r:embed="rId2"/>
          <a:srcRect l="11427" t="11632" b="8240"/>
          <a:stretch>
            <a:fillRect/>
          </a:stretch>
        </p:blipFill>
        <p:spPr>
          <a:xfrm>
            <a:off x="3705742" y="2262770"/>
            <a:ext cx="856534" cy="607741"/>
          </a:xfrm>
          <a:prstGeom prst="rect">
            <a:avLst/>
          </a:prstGeom>
          <a:ln w="12700">
            <a:miter lim="400000"/>
            <a:headEnd/>
            <a:tailEnd/>
          </a:ln>
        </p:spPr>
      </p:pic>
      <p:pic>
        <p:nvPicPr>
          <p:cNvPr id="2050" name="Picture 2" descr="CPU, processor PNG transparent image download, size: 1500x1370px"/>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16220" y="4226314"/>
            <a:ext cx="1079781" cy="98618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 name="Rectangle 5"/>
          <p:cNvSpPr txBox="1">
            <a:spLocks noGrp="1"/>
          </p:cNvSpPr>
          <p:nvPr>
            <p:ph type="sldNum" sz="quarter" idx="2"/>
          </p:nvPr>
        </p:nvSpPr>
        <p:spPr>
          <a:xfrm>
            <a:off x="10354844" y="6611779"/>
            <a:ext cx="162863" cy="246221"/>
          </a:xfrm>
          <a:prstGeom prst="rect">
            <a:avLst/>
          </a:prstGeom>
        </p:spPr>
        <p:txBody>
          <a:bodyPr/>
          <a:lstStyle/>
          <a:p>
            <a:fld id="{86CB4B4D-7CA3-9044-876B-883B54F8677D}" type="slidenum">
              <a:rPr>
                <a:latin typeface="Consolas" panose="020B0609020204030204" pitchFamily="49" charset="0"/>
                <a:ea typeface="FangSong" panose="02010609060101010101" pitchFamily="49" charset="-122"/>
                <a:cs typeface="Consolas" panose="020B0609020204030204" pitchFamily="49" charset="0"/>
              </a:rPr>
            </a:fld>
            <a:endParaRPr>
              <a:latin typeface="Consolas" panose="020B0609020204030204" pitchFamily="49" charset="0"/>
              <a:ea typeface="FangSong" panose="02010609060101010101" pitchFamily="49" charset="-122"/>
              <a:cs typeface="Consolas" panose="020B0609020204030204" pitchFamily="49" charset="0"/>
            </a:endParaRPr>
          </a:p>
        </p:txBody>
      </p:sp>
      <p:sp>
        <p:nvSpPr>
          <p:cNvPr id="671" name="Rectangle 2"/>
          <p:cNvSpPr txBox="1">
            <a:spLocks noGrp="1"/>
          </p:cNvSpPr>
          <p:nvPr>
            <p:ph type="title"/>
          </p:nvPr>
        </p:nvSpPr>
        <p:spPr>
          <a:xfrm>
            <a:off x="1881018" y="435679"/>
            <a:ext cx="7592095" cy="762001"/>
          </a:xfrm>
          <a:prstGeom prst="rect">
            <a:avLst/>
          </a:prstGeom>
        </p:spPr>
        <p:txBody>
          <a:bodyPr/>
          <a:lstStyle/>
          <a:p>
            <a:r>
              <a:rPr dirty="0">
                <a:latin typeface="Consolas" panose="020B0609020204030204" pitchFamily="49" charset="0"/>
                <a:ea typeface="FangSong" panose="02010609060101010101" pitchFamily="49" charset="-122"/>
                <a:cs typeface="Consolas" panose="020B0609020204030204" pitchFamily="49" charset="0"/>
              </a:rPr>
              <a:t>CPU-</a:t>
            </a:r>
            <a:r>
              <a:rPr lang="en-US" dirty="0" err="1">
                <a:latin typeface="Consolas" panose="020B0609020204030204" pitchFamily="49" charset="0"/>
                <a:ea typeface="FangSong" panose="02010609060101010101" pitchFamily="49" charset="-122"/>
                <a:cs typeface="Consolas" panose="020B0609020204030204" pitchFamily="49" charset="0"/>
              </a:rPr>
              <a:t>内存的速度差异</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672" name="Rectangle 4"/>
          <p:cNvSpPr txBox="1"/>
          <p:nvPr/>
        </p:nvSpPr>
        <p:spPr>
          <a:xfrm>
            <a:off x="1928813" y="1142999"/>
            <a:ext cx="8167686" cy="443198"/>
          </a:xfrm>
          <a:prstGeom prst="rect">
            <a:avLst/>
          </a:prstGeom>
          <a:ln w="12700">
            <a:miter lim="400000"/>
          </a:ln>
        </p:spPr>
        <p:txBody>
          <a:bodyPr lIns="45719" rIns="45719">
            <a:spAutoFit/>
          </a:bodyPr>
          <a:lstStyle/>
          <a:p>
            <a:pPr>
              <a:lnSpc>
                <a:spcPct val="95000"/>
              </a:lnSpc>
              <a:spcBef>
                <a:spcPts val="1400"/>
              </a:spcBef>
              <a:defRPr>
                <a:solidFill>
                  <a:srgbClr val="C00000"/>
                </a:solidFill>
                <a:effectLst>
                  <a:outerShdw blurRad="38100" dist="38100" dir="2700000" rotWithShape="0">
                    <a:srgbClr val="DDDDDD"/>
                  </a:outerShdw>
                </a:effectLst>
                <a:latin typeface="Calibri"/>
                <a:ea typeface="Calibri"/>
                <a:cs typeface="Calibri"/>
                <a:sym typeface="Calibri"/>
              </a:defRPr>
            </a:pPr>
            <a:r>
              <a:rPr lang="en-US" dirty="0">
                <a:latin typeface="Consolas" panose="020B0609020204030204" pitchFamily="49" charset="0"/>
                <a:ea typeface="FangSong" panose="02010609060101010101" pitchFamily="49" charset="-122"/>
                <a:cs typeface="Consolas" panose="020B0609020204030204" pitchFamily="49" charset="0"/>
              </a:rPr>
              <a:t>DRAM</a:t>
            </a:r>
            <a:r>
              <a:rPr lang="zh-CN" altLang="en-US" dirty="0">
                <a:latin typeface="Consolas" panose="020B0609020204030204" pitchFamily="49" charset="0"/>
                <a:ea typeface="FangSong" panose="02010609060101010101" pitchFamily="49" charset="-122"/>
                <a:cs typeface="Consolas" panose="020B0609020204030204" pitchFamily="49" charset="0"/>
              </a:rPr>
              <a:t>、磁盘和 </a:t>
            </a:r>
            <a:r>
              <a:rPr lang="en-US" altLang="zh-CN" dirty="0">
                <a:latin typeface="Consolas" panose="020B0609020204030204" pitchFamily="49" charset="0"/>
                <a:ea typeface="FangSong" panose="02010609060101010101" pitchFamily="49" charset="-122"/>
                <a:cs typeface="Consolas" panose="020B0609020204030204" pitchFamily="49" charset="0"/>
              </a:rPr>
              <a:t>CPU</a:t>
            </a:r>
            <a:r>
              <a:rPr lang="zh-CN" altLang="en-US" dirty="0">
                <a:latin typeface="Consolas" panose="020B0609020204030204" pitchFamily="49" charset="0"/>
                <a:ea typeface="FangSong" panose="02010609060101010101" pitchFamily="49" charset="-122"/>
                <a:cs typeface="Consolas" panose="020B0609020204030204" pitchFamily="49" charset="0"/>
              </a:rPr>
              <a:t> 之间的速度差异不断加大</a:t>
            </a:r>
            <a:endParaRPr dirty="0">
              <a:latin typeface="Consolas" panose="020B0609020204030204" pitchFamily="49" charset="0"/>
              <a:ea typeface="FangSong" panose="02010609060101010101" pitchFamily="49" charset="-122"/>
              <a:cs typeface="Consolas" panose="020B0609020204030204" pitchFamily="49" charset="0"/>
            </a:endParaRPr>
          </a:p>
        </p:txBody>
      </p:sp>
      <p:graphicFrame>
        <p:nvGraphicFramePr>
          <p:cNvPr id="673" name="Chart 13"/>
          <p:cNvGraphicFramePr/>
          <p:nvPr/>
        </p:nvGraphicFramePr>
        <p:xfrm>
          <a:off x="2024332" y="1885727"/>
          <a:ext cx="8163324" cy="4519822"/>
        </p:xfrm>
        <a:graphic>
          <a:graphicData uri="http://schemas.openxmlformats.org/drawingml/2006/chart">
            <c:chart xmlns:c="http://schemas.openxmlformats.org/drawingml/2006/chart" xmlns:r="http://schemas.openxmlformats.org/officeDocument/2006/relationships" r:id="rId1"/>
          </a:graphicData>
        </a:graphic>
      </p:graphicFrame>
      <p:sp>
        <p:nvSpPr>
          <p:cNvPr id="674" name="TextBox 8"/>
          <p:cNvSpPr txBox="1"/>
          <p:nvPr/>
        </p:nvSpPr>
        <p:spPr>
          <a:xfrm>
            <a:off x="7012838" y="4159477"/>
            <a:ext cx="598880" cy="369332"/>
          </a:xfrm>
          <a:prstGeom prst="rect">
            <a:avLst/>
          </a:prstGeom>
          <a:ln w="12700">
            <a:miter lim="400000"/>
          </a:ln>
        </p:spPr>
        <p:txBody>
          <a:bodyPr wrap="none" lIns="45719" rIns="45719">
            <a:spAutoFit/>
          </a:bodyPr>
          <a:lstStyle>
            <a:lvl1pPr>
              <a:defRPr sz="1800">
                <a:solidFill>
                  <a:srgbClr val="C00000"/>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DRAM</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675" name="TextBox 9"/>
          <p:cNvSpPr txBox="1"/>
          <p:nvPr/>
        </p:nvSpPr>
        <p:spPr>
          <a:xfrm>
            <a:off x="7585999" y="5189356"/>
            <a:ext cx="472243" cy="369332"/>
          </a:xfrm>
          <a:prstGeom prst="rect">
            <a:avLst/>
          </a:prstGeom>
          <a:ln w="12700">
            <a:miter lim="400000"/>
          </a:ln>
        </p:spPr>
        <p:txBody>
          <a:bodyPr wrap="none" lIns="45719" rIns="45719">
            <a:spAutoFit/>
          </a:bodyPr>
          <a:lstStyle>
            <a:lvl1pPr>
              <a:defRPr sz="1800">
                <a:solidFill>
                  <a:srgbClr val="C00000"/>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CPU</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676" name="TextBox 10"/>
          <p:cNvSpPr txBox="1"/>
          <p:nvPr/>
        </p:nvSpPr>
        <p:spPr>
          <a:xfrm>
            <a:off x="7278913" y="2890509"/>
            <a:ext cx="472243" cy="369332"/>
          </a:xfrm>
          <a:prstGeom prst="rect">
            <a:avLst/>
          </a:prstGeom>
          <a:ln w="12700">
            <a:miter lim="400000"/>
          </a:ln>
        </p:spPr>
        <p:txBody>
          <a:bodyPr wrap="none" lIns="45719" rIns="45719">
            <a:spAutoFit/>
          </a:bodyPr>
          <a:lstStyle>
            <a:lvl1pPr>
              <a:defRPr sz="1800">
                <a:solidFill>
                  <a:srgbClr val="C00000"/>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SSD</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677" name="TextBox 7"/>
          <p:cNvSpPr txBox="1"/>
          <p:nvPr/>
        </p:nvSpPr>
        <p:spPr>
          <a:xfrm>
            <a:off x="6988755" y="2297668"/>
            <a:ext cx="598880" cy="369332"/>
          </a:xfrm>
          <a:prstGeom prst="rect">
            <a:avLst/>
          </a:prstGeom>
          <a:ln w="12700">
            <a:miter lim="400000"/>
          </a:ln>
        </p:spPr>
        <p:txBody>
          <a:bodyPr wrap="none" lIns="45719" rIns="45719">
            <a:spAutoFit/>
          </a:bodyPr>
          <a:lstStyle>
            <a:lvl1pPr>
              <a:defRPr sz="1800">
                <a:solidFill>
                  <a:srgbClr val="C00000"/>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Disk</a:t>
            </a:r>
            <a:endParaRPr>
              <a:latin typeface="Consolas" panose="020B0609020204030204" pitchFamily="49" charset="0"/>
              <a:ea typeface="FangSong" panose="02010609060101010101" pitchFamily="49" charset="-122"/>
              <a:cs typeface="Consolas" panose="020B0609020204030204" pitchFamily="49" charset="0"/>
            </a:endParaRP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1018" y="435679"/>
            <a:ext cx="8240572" cy="762001"/>
          </a:xfrm>
        </p:spPr>
        <p:txBody>
          <a:bodyPr>
            <a:normAutofit/>
          </a:bodyPr>
          <a:lstStyle/>
          <a:p>
            <a:r>
              <a:rPr lang="en-US" dirty="0">
                <a:latin typeface="Consolas" panose="020B0609020204030204" pitchFamily="49" charset="0"/>
                <a:ea typeface="FangSong" panose="02010609060101010101" pitchFamily="49" charset="-122"/>
                <a:cs typeface="Consolas" panose="020B0609020204030204" pitchFamily="49" charset="0"/>
              </a:rPr>
              <a:t>“</a:t>
            </a:r>
            <a:r>
              <a:rPr lang="en-US" dirty="0" err="1">
                <a:latin typeface="Consolas" panose="020B0609020204030204" pitchFamily="49" charset="0"/>
                <a:ea typeface="FangSong" panose="02010609060101010101" pitchFamily="49" charset="-122"/>
                <a:cs typeface="Consolas" panose="020B0609020204030204" pitchFamily="49" charset="0"/>
              </a:rPr>
              <a:t>内存墙</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err="1">
                <a:latin typeface="Consolas" panose="020B0609020204030204" pitchFamily="49" charset="0"/>
                <a:ea typeface="FangSong" panose="02010609060101010101" pitchFamily="49" charset="-122"/>
                <a:cs typeface="Consolas" panose="020B0609020204030204" pitchFamily="49" charset="0"/>
              </a:rPr>
              <a:t>或</a:t>
            </a:r>
            <a:r>
              <a:rPr lang="en-US" dirty="0">
                <a:latin typeface="Consolas" panose="020B0609020204030204" pitchFamily="49" charset="0"/>
                <a:ea typeface="FangSong" panose="02010609060101010101" pitchFamily="49" charset="-122"/>
                <a:cs typeface="Consolas" panose="020B0609020204030204" pitchFamily="49" charset="0"/>
              </a:rPr>
              <a:t> </a:t>
            </a:r>
            <a:r>
              <a:rPr lang="en-US" b="1" i="0" dirty="0">
                <a:effectLst/>
                <a:highlight>
                  <a:srgbClr val="FFFFFF"/>
                </a:highlight>
                <a:latin typeface="Consolas" panose="020B0609020204030204" pitchFamily="49" charset="0"/>
                <a:ea typeface="FangSong" panose="02010609060101010101" pitchFamily="49" charset="-122"/>
                <a:cs typeface="Consolas" panose="020B0609020204030204" pitchFamily="49" charset="0"/>
              </a:rPr>
              <a:t>Von Neumann </a:t>
            </a:r>
            <a:r>
              <a:rPr lang="en-US" b="1" i="0" dirty="0" err="1">
                <a:effectLst/>
                <a:highlight>
                  <a:srgbClr val="FFFFFF"/>
                </a:highlight>
                <a:latin typeface="Consolas" panose="020B0609020204030204" pitchFamily="49" charset="0"/>
                <a:ea typeface="FangSong" panose="02010609060101010101" pitchFamily="49" charset="-122"/>
                <a:cs typeface="Consolas" panose="020B0609020204030204" pitchFamily="49" charset="0"/>
              </a:rPr>
              <a:t>瓶颈</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3" name="Text Placeholder 2"/>
          <p:cNvSpPr>
            <a:spLocks noGrp="1"/>
          </p:cNvSpPr>
          <p:nvPr>
            <p:ph type="body" idx="1"/>
          </p:nvPr>
        </p:nvSpPr>
        <p:spPr>
          <a:xfrm>
            <a:off x="980440" y="1362075"/>
            <a:ext cx="10233660" cy="4972050"/>
          </a:xfrm>
        </p:spPr>
        <p:txBody>
          <a:bodyPr>
            <a:normAutofit fontScale="90000"/>
          </a:bodyPr>
          <a:lstStyle/>
          <a:p>
            <a:r>
              <a:rPr lang="en-US" dirty="0" err="1">
                <a:latin typeface="Consolas" panose="020B0609020204030204" pitchFamily="49" charset="0"/>
                <a:ea typeface="FangSong" panose="02010609060101010101" pitchFamily="49" charset="-122"/>
                <a:cs typeface="Consolas" panose="020B0609020204030204" pitchFamily="49" charset="0"/>
              </a:rPr>
              <a:t>计算与数据存储设备之间的性能差</a:t>
            </a:r>
            <a:endParaRPr lang="en-US" dirty="0">
              <a:latin typeface="Consolas" panose="020B0609020204030204" pitchFamily="49" charset="0"/>
              <a:ea typeface="FangSong" panose="02010609060101010101" pitchFamily="49" charset="-122"/>
              <a:cs typeface="Consolas" panose="020B0609020204030204" pitchFamily="49" charset="0"/>
            </a:endParaRPr>
          </a:p>
          <a:p>
            <a:endParaRPr lang="en-US" dirty="0">
              <a:latin typeface="Consolas" panose="020B0609020204030204" pitchFamily="49" charset="0"/>
              <a:ea typeface="FangSong" panose="02010609060101010101" pitchFamily="49" charset="-122"/>
              <a:cs typeface="Consolas" panose="020B0609020204030204" pitchFamily="49" charset="0"/>
            </a:endParaRPr>
          </a:p>
          <a:p>
            <a:r>
              <a:rPr lang="en-US" dirty="0" err="1">
                <a:latin typeface="Consolas" panose="020B0609020204030204" pitchFamily="49" charset="0"/>
                <a:ea typeface="FangSong" panose="02010609060101010101" pitchFamily="49" charset="-122"/>
                <a:cs typeface="Consolas" panose="020B0609020204030204" pitchFamily="49" charset="0"/>
              </a:rPr>
              <a:t>三种方法</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lang="en-US" dirty="0">
              <a:latin typeface="Consolas" panose="020B0609020204030204" pitchFamily="49" charset="0"/>
              <a:ea typeface="FangSong" panose="02010609060101010101" pitchFamily="49" charset="-122"/>
              <a:cs typeface="Consolas" panose="020B0609020204030204" pitchFamily="49" charset="0"/>
            </a:endParaRPr>
          </a:p>
          <a:p>
            <a:pPr lvl="1"/>
            <a:r>
              <a:rPr lang="en-US" dirty="0" err="1">
                <a:latin typeface="Consolas" panose="020B0609020204030204" pitchFamily="49" charset="0"/>
                <a:ea typeface="FangSong" panose="02010609060101010101" pitchFamily="49" charset="-122"/>
                <a:cs typeface="Consolas" panose="020B0609020204030204" pitchFamily="49" charset="0"/>
              </a:rPr>
              <a:t>构造一种层次结构</a:t>
            </a:r>
            <a:r>
              <a:rPr lang="zh-CN" altLang="en-US" dirty="0">
                <a:latin typeface="Consolas" panose="020B0609020204030204" pitchFamily="49" charset="0"/>
                <a:ea typeface="FangSong" panose="02010609060101010101" pitchFamily="49" charset="-122"/>
                <a:cs typeface="Consolas" panose="020B0609020204030204" pitchFamily="49" charset="0"/>
              </a:rPr>
              <a:t>（本门课程介绍）</a:t>
            </a:r>
            <a:endParaRPr lang="en-US"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b="0" dirty="0" err="1">
                <a:latin typeface="Consolas" panose="020B0609020204030204" pitchFamily="49" charset="0"/>
                <a:ea typeface="FangSong" panose="02010609060101010101" pitchFamily="49" charset="-122"/>
                <a:cs typeface="Consolas" panose="020B0609020204030204" pitchFamily="49" charset="0"/>
              </a:rPr>
              <a:t>暂时计算别的任务</a:t>
            </a:r>
            <a:r>
              <a:rPr lang="zh-CN" altLang="en-US" b="0" dirty="0">
                <a:latin typeface="Consolas" panose="020B0609020204030204" pitchFamily="49" charset="0"/>
                <a:ea typeface="FangSong" panose="02010609060101010101" pitchFamily="49" charset="-122"/>
                <a:cs typeface="Consolas" panose="020B0609020204030204" pitchFamily="49" charset="0"/>
              </a:rPr>
              <a:t>（例如</a:t>
            </a:r>
            <a:r>
              <a:rPr lang="en-US" altLang="zh-CN" b="0" dirty="0">
                <a:latin typeface="Consolas" panose="020B0609020204030204" pitchFamily="49" charset="0"/>
                <a:ea typeface="FangSong" panose="02010609060101010101" pitchFamily="49" charset="-122"/>
                <a:cs typeface="Consolas" panose="020B0609020204030204" pitchFamily="49" charset="0"/>
              </a:rPr>
              <a:t>，</a:t>
            </a:r>
            <a:r>
              <a:rPr lang="en-US" b="0" dirty="0" err="1">
                <a:latin typeface="Consolas" panose="020B0609020204030204" pitchFamily="49" charset="0"/>
                <a:ea typeface="FangSong" panose="02010609060101010101" pitchFamily="49" charset="-122"/>
                <a:cs typeface="Consolas" panose="020B0609020204030204" pitchFamily="49" charset="0"/>
              </a:rPr>
              <a:t>并行计算</a:t>
            </a:r>
            <a:r>
              <a:rPr lang="zh-CN" altLang="en-US" b="0" dirty="0">
                <a:latin typeface="Consolas" panose="020B0609020204030204" pitchFamily="49" charset="0"/>
                <a:ea typeface="FangSong" panose="02010609060101010101" pitchFamily="49" charset="-122"/>
                <a:cs typeface="Consolas" panose="020B0609020204030204" pitchFamily="49" charset="0"/>
              </a:rPr>
              <a:t>）</a:t>
            </a:r>
            <a:endParaRPr lang="en-US" b="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b="0" dirty="0">
                <a:latin typeface="Consolas" panose="020B0609020204030204" pitchFamily="49" charset="0"/>
                <a:ea typeface="FangSong" panose="02010609060101010101" pitchFamily="49" charset="-122"/>
                <a:cs typeface="Consolas" panose="020B0609020204030204" pitchFamily="49" charset="0"/>
              </a:rPr>
              <a:t>消除数据搬运（例如，存内计算）</a:t>
            </a:r>
            <a:endParaRPr lang="zh-CN" altLang="en-US" b="0" dirty="0">
              <a:latin typeface="Consolas" panose="020B0609020204030204" pitchFamily="49" charset="0"/>
              <a:ea typeface="FangSong" panose="02010609060101010101" pitchFamily="49" charset="-122"/>
              <a:cs typeface="Consolas" panose="020B0609020204030204" pitchFamily="49" charset="0"/>
            </a:endParaRPr>
          </a:p>
          <a:p>
            <a:pPr lvl="2"/>
            <a:r>
              <a:rPr lang="zh-CN" altLang="en-US" b="0" dirty="0">
                <a:latin typeface="Consolas" panose="020B0609020204030204" pitchFamily="49" charset="0"/>
                <a:ea typeface="FangSong" panose="02010609060101010101" pitchFamily="49" charset="-122"/>
                <a:cs typeface="Consolas" panose="020B0609020204030204" pitchFamily="49" charset="0"/>
              </a:rPr>
              <a:t>存内计算的核心理念是让数据在原地完成计算。它不像传统架构那样，将数据从内存搬运到</a:t>
            </a:r>
            <a:r>
              <a:rPr lang="en-US" altLang="en-US" b="0" dirty="0">
                <a:latin typeface="Consolas" panose="020B0609020204030204" pitchFamily="49" charset="0"/>
                <a:ea typeface="FangSong" panose="02010609060101010101" pitchFamily="49" charset="-122"/>
                <a:cs typeface="Consolas" panose="020B0609020204030204" pitchFamily="49" charset="0"/>
              </a:rPr>
              <a:t>CPU</a:t>
            </a:r>
            <a:r>
              <a:rPr lang="zh-CN" altLang="en-US" b="0" dirty="0">
                <a:latin typeface="Consolas" panose="020B0609020204030204" pitchFamily="49" charset="0"/>
                <a:ea typeface="FangSong" panose="02010609060101010101" pitchFamily="49" charset="-122"/>
                <a:cs typeface="Consolas" panose="020B0609020204030204" pitchFamily="49" charset="0"/>
              </a:rPr>
              <a:t>，计算完再存回去，而是直接在存储阵列内部，利用电路本身的物理定律（如欧姆定律、基尔霍夫定律、电荷共享等）完成计算</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lang="zh-CN" altLang="en-US" dirty="0">
              <a:latin typeface="Consolas" panose="020B0609020204030204" pitchFamily="49" charset="0"/>
              <a:ea typeface="FangSong" panose="02010609060101010101" pitchFamily="49" charset="-122"/>
              <a:cs typeface="Consolas" panose="020B0609020204030204" pitchFamily="49" charset="0"/>
            </a:endParaRPr>
          </a:p>
          <a:p>
            <a:pPr lvl="2"/>
            <a:r>
              <a:rPr lang="zh-CN"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例如，在基于阻变存储器（</a:t>
            </a:r>
            <a:r>
              <a:rPr lang="en-US"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ReRAM</a:t>
            </a:r>
            <a:r>
              <a:rPr lang="zh-CN"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）的存内计算中，输入电压与存储单元的电导（电阻的倒数</a:t>
            </a:r>
            <a:r>
              <a:rPr lang="en-US" altLang="zh-CN"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a:t>
            </a:r>
            <a:r>
              <a:rPr lang="zh-CN"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代表权重）相乘，产生的电流在字线上自动累加，这一过程恰好完成了神经网络中最核心的</a:t>
            </a:r>
            <a:r>
              <a:rPr lang="en-US"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a:t>
            </a:r>
            <a:r>
              <a:rPr lang="zh-CN"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乘累加</a:t>
            </a:r>
            <a:r>
              <a:rPr lang="en-US"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a:t>
            </a:r>
            <a:r>
              <a:rPr lang="zh-CN"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rPr>
              <a:t>运算。</a:t>
            </a:r>
            <a:endParaRPr lang="zh-CN" altLang="en-US" dirty="0">
              <a:solidFill>
                <a:schemeClr val="bg1">
                  <a:lumMod val="50000"/>
                </a:schemeClr>
              </a:solidFill>
              <a:latin typeface="Consolas" panose="020B0609020204030204" pitchFamily="49" charset="0"/>
              <a:ea typeface="FangSong" panose="02010609060101010101" pitchFamily="49" charset="-122"/>
              <a:cs typeface="Consolas" panose="020B0609020204030204" pitchFamily="49" charset="0"/>
            </a:endParaRPr>
          </a:p>
        </p:txBody>
      </p:sp>
      <p:sp>
        <p:nvSpPr>
          <p:cNvPr id="4" name="Slide Number Placeholder 3"/>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存储器</a:t>
            </a:r>
            <a:r>
              <a:rPr lang="zh-CN" altLang="en-US">
                <a:sym typeface="+mn-ea"/>
              </a:rPr>
              <a:t>特性</a:t>
            </a:r>
            <a:r>
              <a:rPr lang="en-US" altLang="zh-CN">
                <a:sym typeface="+mn-ea"/>
              </a:rPr>
              <a:t>：</a:t>
            </a:r>
            <a:r>
              <a:rPr lang="zh-CN" altLang="en-US">
                <a:sym typeface="+mn-ea"/>
              </a:rPr>
              <a:t>容量</a:t>
            </a:r>
            <a:r>
              <a:rPr lang="en-US" altLang="en-US">
                <a:sym typeface="+mn-ea"/>
              </a:rPr>
              <a:t>影响延迟</a:t>
            </a:r>
            <a:r>
              <a:rPr lang="en-US" altLang="zh-CN">
                <a:sym typeface="+mn-ea"/>
              </a:rPr>
              <a:t>&amp;</a:t>
            </a:r>
            <a:r>
              <a:rPr lang="zh-CN" altLang="en-US">
                <a:sym typeface="+mn-ea"/>
              </a:rPr>
              <a:t>能耗</a:t>
            </a:r>
            <a:endParaRPr lang="zh-CN" altLang="en-US"/>
          </a:p>
        </p:txBody>
      </p:sp>
      <p:sp>
        <p:nvSpPr>
          <p:cNvPr id="3" name="Text Placeholder 2"/>
          <p:cNvSpPr>
            <a:spLocks noGrp="1"/>
          </p:cNvSpPr>
          <p:nvPr>
            <p:ph type="body" idx="1"/>
          </p:nvPr>
        </p:nvSpPr>
        <p:spPr>
          <a:xfrm>
            <a:off x="528955" y="1362075"/>
            <a:ext cx="5109845" cy="4972050"/>
          </a:xfrm>
        </p:spPr>
        <p:txBody>
          <a:bodyPr/>
          <a:p>
            <a:pPr lvl="0"/>
            <a:r>
              <a:rPr lang="zh-CN" altLang="en-US">
                <a:sym typeface="+mn-ea"/>
              </a:rPr>
              <a:t>特性</a:t>
            </a:r>
            <a:endParaRPr lang="zh-CN" altLang="en-US"/>
          </a:p>
          <a:p>
            <a:pPr lvl="1"/>
            <a:r>
              <a:rPr lang="zh-CN" altLang="en-US">
                <a:sym typeface="+mn-ea"/>
              </a:rPr>
              <a:t>存储器</a:t>
            </a:r>
            <a:r>
              <a:rPr lang="zh-CN" altLang="en-US">
                <a:sym typeface="+mn-ea"/>
              </a:rPr>
              <a:t>的容量越小</a:t>
            </a:r>
            <a:r>
              <a:rPr lang="en-US" altLang="zh-CN">
                <a:sym typeface="+mn-ea"/>
              </a:rPr>
              <a:t>，</a:t>
            </a:r>
            <a:r>
              <a:rPr lang="zh-CN" altLang="en-US">
                <a:sym typeface="+mn-ea"/>
              </a:rPr>
              <a:t>速度越快</a:t>
            </a:r>
            <a:endParaRPr lang="zh-CN" altLang="en-US"/>
          </a:p>
          <a:p>
            <a:pPr lvl="0"/>
            <a:r>
              <a:rPr lang="zh-CN" altLang="en-US"/>
              <a:t>机会</a:t>
            </a:r>
            <a:endParaRPr lang="zh-CN" altLang="en-US"/>
          </a:p>
          <a:p>
            <a:pPr lvl="1"/>
            <a:r>
              <a:rPr lang="zh-CN" altLang="en-US">
                <a:sym typeface="+mn-ea"/>
              </a:rPr>
              <a:t>如何利用小容量</a:t>
            </a:r>
            <a:r>
              <a:rPr lang="zh-CN" altLang="en-US">
                <a:sym typeface="+mn-ea"/>
              </a:rPr>
              <a:t>的快速存储</a:t>
            </a:r>
            <a:r>
              <a:rPr lang="en-US" altLang="zh-CN">
                <a:sym typeface="+mn-ea"/>
              </a:rPr>
              <a:t>？</a:t>
            </a:r>
            <a:endParaRPr lang="zh-CN" altLang="en-US">
              <a:sym typeface="+mn-ea"/>
            </a:endParaRPr>
          </a:p>
          <a:p>
            <a:pPr lvl="1"/>
            <a:endParaRPr lang="zh-CN" altLang="en-US"/>
          </a:p>
        </p:txBody>
      </p:sp>
      <p:sp>
        <p:nvSpPr>
          <p:cNvPr id="4" name="Slide Number Placeholder 3"/>
          <p:cNvSpPr>
            <a:spLocks noGrp="1"/>
          </p:cNvSpPr>
          <p:nvPr>
            <p:ph type="sldNum" sz="quarter" idx="2"/>
          </p:nvPr>
        </p:nvSpPr>
        <p:spPr/>
        <p:txBody>
          <a:bodyPr/>
          <a:p>
            <a:fld id="{86CB4B4D-7CA3-9044-876B-883B54F8677D}" type="slidenum">
              <a:rPr/>
            </a:fld>
            <a:endParaRPr/>
          </a:p>
        </p:txBody>
      </p:sp>
      <p:grpSp>
        <p:nvGrpSpPr>
          <p:cNvPr id="5" name="Group 16"/>
          <p:cNvGrpSpPr/>
          <p:nvPr/>
        </p:nvGrpSpPr>
        <p:grpSpPr bwMode="auto">
          <a:xfrm>
            <a:off x="5924550" y="2447925"/>
            <a:ext cx="971550" cy="1657350"/>
            <a:chOff x="609600" y="2209800"/>
            <a:chExt cx="1295400" cy="2209800"/>
          </a:xfrm>
        </p:grpSpPr>
        <p:sp>
          <p:nvSpPr>
            <p:cNvPr id="6" name="Rectangle 3"/>
            <p:cNvSpPr>
              <a:spLocks noChangeArrowheads="1"/>
            </p:cNvSpPr>
            <p:nvPr/>
          </p:nvSpPr>
          <p:spPr bwMode="auto">
            <a:xfrm>
              <a:off x="609600" y="3124200"/>
              <a:ext cx="1295400" cy="1295400"/>
            </a:xfrm>
            <a:prstGeom prst="rect">
              <a:avLst/>
            </a:prstGeom>
            <a:solidFill>
              <a:schemeClr val="bg1"/>
            </a:solidFill>
            <a:ln w="38100" algn="ctr">
              <a:solidFill>
                <a:schemeClr val="tx1"/>
              </a:solidFill>
              <a:round/>
            </a:ln>
          </p:spPr>
          <p:txBody>
            <a:bodyPr anchor="ctr"/>
            <a:lstStyle>
              <a:lvl1pPr>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lgn="ctr">
                <a:spcBef>
                  <a:spcPct val="50000"/>
                </a:spcBef>
              </a:pPr>
              <a:r>
                <a:rPr lang="en-US" altLang="en-US" b="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小存储器</a:t>
              </a:r>
              <a:endParaRPr lang="en-US" altLang="en-US" b="0"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cxnSp>
          <p:nvCxnSpPr>
            <p:cNvPr id="7" name="Straight Arrow Connector 9"/>
            <p:cNvCxnSpPr>
              <a:cxnSpLocks noChangeShapeType="1"/>
              <a:endCxn id="6" idx="0"/>
            </p:cNvCxnSpPr>
            <p:nvPr/>
          </p:nvCxnSpPr>
          <p:spPr bwMode="auto">
            <a:xfrm rot="5400000" flipH="1" flipV="1">
              <a:off x="285750" y="3448050"/>
              <a:ext cx="1295400" cy="647700"/>
            </a:xfrm>
            <a:prstGeom prst="straightConnector1">
              <a:avLst/>
            </a:prstGeom>
            <a:noFill/>
            <a:ln w="12700"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8" name="Rectangle 11"/>
            <p:cNvSpPr>
              <a:spLocks noChangeArrowheads="1"/>
            </p:cNvSpPr>
            <p:nvPr/>
          </p:nvSpPr>
          <p:spPr bwMode="auto">
            <a:xfrm>
              <a:off x="762000" y="2209800"/>
              <a:ext cx="990600" cy="914400"/>
            </a:xfrm>
            <a:prstGeom prst="rect">
              <a:avLst/>
            </a:prstGeom>
            <a:solidFill>
              <a:schemeClr val="bg1"/>
            </a:solidFill>
            <a:ln w="38100" algn="ctr">
              <a:solidFill>
                <a:schemeClr val="tx1"/>
              </a:solidFill>
              <a:round/>
            </a:ln>
          </p:spPr>
          <p:txBody>
            <a:bodyPr anchor="ctr"/>
            <a:lstStyle>
              <a:lvl1pPr>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lgn="ctr">
                <a:spcBef>
                  <a:spcPct val="50000"/>
                </a:spcBef>
              </a:pPr>
              <a:r>
                <a:rPr lang="en-US" altLang="en-US" sz="1800" b="0">
                  <a:solidFill>
                    <a:srgbClr val="000000"/>
                  </a:solidFill>
                  <a:latin typeface="Consolas" panose="020B0609020204030204" pitchFamily="49" charset="0"/>
                  <a:ea typeface="FangSong" panose="02010609060101010101" pitchFamily="49" charset="-122"/>
                  <a:cs typeface="Consolas" panose="020B0609020204030204" pitchFamily="49" charset="0"/>
                </a:rPr>
                <a:t>CPU</a:t>
              </a:r>
              <a:endParaRPr lang="en-US" altLang="en-US" sz="1800" b="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9" name="Group 8"/>
          <p:cNvGrpSpPr/>
          <p:nvPr/>
        </p:nvGrpSpPr>
        <p:grpSpPr bwMode="auto">
          <a:xfrm>
            <a:off x="7581900" y="2447925"/>
            <a:ext cx="3657600" cy="3886200"/>
            <a:chOff x="2743200" y="990600"/>
            <a:chExt cx="4876800" cy="5181600"/>
          </a:xfrm>
        </p:grpSpPr>
        <p:sp>
          <p:nvSpPr>
            <p:cNvPr id="10" name="Rectangle 4"/>
            <p:cNvSpPr>
              <a:spLocks noChangeArrowheads="1"/>
            </p:cNvSpPr>
            <p:nvPr/>
          </p:nvSpPr>
          <p:spPr bwMode="auto">
            <a:xfrm>
              <a:off x="2743200" y="1905000"/>
              <a:ext cx="4876800" cy="4267200"/>
            </a:xfrm>
            <a:prstGeom prst="rect">
              <a:avLst/>
            </a:prstGeom>
            <a:solidFill>
              <a:schemeClr val="bg1"/>
            </a:solidFill>
            <a:ln w="38100" algn="ctr">
              <a:solidFill>
                <a:schemeClr val="tx1"/>
              </a:solidFill>
              <a:round/>
            </a:ln>
          </p:spPr>
          <p:txBody>
            <a:bodyPr anchor="ctr"/>
            <a:lstStyle>
              <a:lvl1pPr>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lgn="ctr">
                <a:spcBef>
                  <a:spcPct val="50000"/>
                </a:spcBef>
              </a:pPr>
              <a:r>
                <a:rPr lang="en-US" altLang="en-US" sz="3000" b="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大存储器</a:t>
              </a:r>
              <a:endParaRPr lang="en-US" altLang="en-US" sz="3000" b="0"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cxnSp>
          <p:nvCxnSpPr>
            <p:cNvPr id="11" name="Straight Arrow Connector 10"/>
            <p:cNvCxnSpPr>
              <a:cxnSpLocks noChangeShapeType="1"/>
            </p:cNvCxnSpPr>
            <p:nvPr/>
          </p:nvCxnSpPr>
          <p:spPr bwMode="auto">
            <a:xfrm rot="5400000" flipH="1" flipV="1">
              <a:off x="1790700" y="2857500"/>
              <a:ext cx="4267200" cy="2362200"/>
            </a:xfrm>
            <a:prstGeom prst="straightConnector1">
              <a:avLst/>
            </a:prstGeom>
            <a:noFill/>
            <a:ln w="12700"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12" name="Rectangle 13"/>
            <p:cNvSpPr>
              <a:spLocks noChangeArrowheads="1"/>
            </p:cNvSpPr>
            <p:nvPr/>
          </p:nvSpPr>
          <p:spPr bwMode="auto">
            <a:xfrm>
              <a:off x="4572000" y="990600"/>
              <a:ext cx="990600" cy="914400"/>
            </a:xfrm>
            <a:prstGeom prst="rect">
              <a:avLst/>
            </a:prstGeom>
            <a:solidFill>
              <a:schemeClr val="bg1"/>
            </a:solidFill>
            <a:ln w="38100" algn="ctr">
              <a:solidFill>
                <a:schemeClr val="tx1"/>
              </a:solidFill>
              <a:round/>
            </a:ln>
          </p:spPr>
          <p:txBody>
            <a:bodyPr anchor="ctr"/>
            <a:lstStyle>
              <a:lvl1pPr>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lgn="ctr">
                <a:spcBef>
                  <a:spcPct val="50000"/>
                </a:spcBef>
              </a:pPr>
              <a:r>
                <a:rPr lang="en-US" altLang="en-US" sz="1800" b="0">
                  <a:solidFill>
                    <a:srgbClr val="000000"/>
                  </a:solidFill>
                  <a:latin typeface="Consolas" panose="020B0609020204030204" pitchFamily="49" charset="0"/>
                  <a:ea typeface="FangSong" panose="02010609060101010101" pitchFamily="49" charset="-122"/>
                  <a:cs typeface="Consolas" panose="020B0609020204030204" pitchFamily="49" charset="0"/>
                </a:rPr>
                <a:t>CPU</a:t>
              </a:r>
              <a:endParaRPr lang="en-US" altLang="en-US" sz="1800" b="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grpSp>
      <p:sp>
        <p:nvSpPr>
          <p:cNvPr id="16" name="TextBox 15"/>
          <p:cNvSpPr txBox="1">
            <a:spLocks noChangeArrowheads="1"/>
          </p:cNvSpPr>
          <p:nvPr/>
        </p:nvSpPr>
        <p:spPr bwMode="auto">
          <a:xfrm>
            <a:off x="8181975" y="5742208"/>
            <a:ext cx="30289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lgn="r">
              <a:buFont typeface="Wingdings" panose="05000000000000000000" pitchFamily="2" charset="2"/>
              <a:buChar char="§"/>
            </a:pPr>
            <a:r>
              <a:rPr lang="en-US" altLang="en-US" sz="1600" dirty="0">
                <a:solidFill>
                  <a:srgbClr val="000000"/>
                </a:solidFill>
                <a:latin typeface="Consolas" panose="020B0609020204030204" pitchFamily="49" charset="0"/>
                <a:ea typeface="FangSong" panose="02010609060101010101" pitchFamily="49" charset="-122"/>
                <a:cs typeface="Consolas" panose="020B0609020204030204" pitchFamily="49" charset="0"/>
              </a:rPr>
              <a:t> </a:t>
            </a:r>
            <a:r>
              <a:rPr lang="en-US" altLang="en-US" sz="160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信号传播距离增大</a:t>
            </a:r>
            <a:endParaRPr lang="en-US" altLang="en-US" sz="1600"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a:p>
            <a:pPr algn="r">
              <a:buFont typeface="Wingdings" panose="05000000000000000000" pitchFamily="2" charset="2"/>
              <a:buChar char="§"/>
            </a:pPr>
            <a:r>
              <a:rPr lang="en-US" altLang="en-US" sz="1600" dirty="0">
                <a:solidFill>
                  <a:srgbClr val="000000"/>
                </a:solidFill>
                <a:latin typeface="Consolas" panose="020B0609020204030204" pitchFamily="49" charset="0"/>
                <a:ea typeface="FangSong" panose="02010609060101010101" pitchFamily="49" charset="-122"/>
                <a:cs typeface="Consolas" panose="020B0609020204030204" pitchFamily="49" charset="0"/>
              </a:rPr>
              <a:t> </a:t>
            </a:r>
            <a:r>
              <a:rPr lang="en-US" altLang="en-US" sz="160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扇出到更多的位置</a:t>
            </a:r>
            <a:endParaRPr lang="en-US" altLang="en-US" sz="1600"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Title 1"/>
          <p:cNvSpPr txBox="1">
            <a:spLocks noGrp="1"/>
          </p:cNvSpPr>
          <p:nvPr>
            <p:ph type="title"/>
          </p:nvPr>
        </p:nvSpPr>
        <p:spPr>
          <a:xfrm>
            <a:off x="1881018" y="435679"/>
            <a:ext cx="7592095" cy="762001"/>
          </a:xfrm>
          <a:prstGeom prst="rect">
            <a:avLst/>
          </a:prstGeom>
        </p:spPr>
        <p:txBody>
          <a:bodyPr/>
          <a:lstStyle/>
          <a:p>
            <a:r>
              <a:rPr lang="en-US" dirty="0" err="1">
                <a:latin typeface="FangSong" panose="02010609060101010101" pitchFamily="49" charset="-122"/>
                <a:ea typeface="FangSong" panose="02010609060101010101" pitchFamily="49" charset="-122"/>
              </a:rPr>
              <a:t>局部性来帮忙</a:t>
            </a:r>
            <a:r>
              <a:rPr lang="zh-CN" altLang="en-US" dirty="0">
                <a:latin typeface="FangSong" panose="02010609060101010101" pitchFamily="49" charset="-122"/>
                <a:ea typeface="FangSong" panose="02010609060101010101" pitchFamily="49" charset="-122"/>
              </a:rPr>
              <a:t>！</a:t>
            </a:r>
            <a:endParaRPr dirty="0">
              <a:latin typeface="FangSong" panose="02010609060101010101" pitchFamily="49" charset="-122"/>
              <a:ea typeface="FangSong" panose="02010609060101010101" pitchFamily="49" charset="-122"/>
            </a:endParaRPr>
          </a:p>
        </p:txBody>
      </p:sp>
      <p:sp>
        <p:nvSpPr>
          <p:cNvPr id="681" name="Content Placeholder 2"/>
          <p:cNvSpPr txBox="1">
            <a:spLocks noGrp="1"/>
          </p:cNvSpPr>
          <p:nvPr>
            <p:ph type="body" idx="1"/>
          </p:nvPr>
        </p:nvSpPr>
        <p:spPr>
          <a:prstGeom prst="rect">
            <a:avLst/>
          </a:prstGeom>
        </p:spPr>
        <p:txBody>
          <a:bodyPr/>
          <a:lstStyle/>
          <a:p>
            <a:endParaRPr dirty="0">
              <a:latin typeface="FangSong" panose="02010609060101010101" pitchFamily="49" charset="-122"/>
              <a:ea typeface="FangSong" panose="02010609060101010101" pitchFamily="49" charset="-122"/>
            </a:endParaRPr>
          </a:p>
          <a:p>
            <a:pPr marL="0" indent="0" algn="just">
              <a:buSzTx/>
              <a:buNone/>
            </a:pPr>
            <a:r>
              <a:rPr lang="en-US" dirty="0" err="1">
                <a:latin typeface="FangSong" panose="02010609060101010101" pitchFamily="49" charset="-122"/>
                <a:ea typeface="FangSong" panose="02010609060101010101" pitchFamily="49" charset="-122"/>
              </a:rPr>
              <a:t>解决</a:t>
            </a:r>
            <a:r>
              <a:rPr lang="zh-CN" altLang="en-US" dirty="0">
                <a:latin typeface="FangSong" panose="02010609060101010101" pitchFamily="49" charset="-122"/>
                <a:ea typeface="FangSong" panose="02010609060101010101" pitchFamily="49" charset="-122"/>
              </a:rPr>
              <a:t> </a:t>
            </a:r>
            <a:r>
              <a:rPr lang="en-US" altLang="zh-CN" dirty="0">
                <a:latin typeface="FangSong" panose="02010609060101010101" pitchFamily="49" charset="-122"/>
                <a:ea typeface="FangSong" panose="02010609060101010101" pitchFamily="49" charset="-122"/>
              </a:rPr>
              <a:t>CPU-</a:t>
            </a:r>
            <a:r>
              <a:rPr lang="zh-CN" altLang="en-US" dirty="0">
                <a:latin typeface="FangSong" panose="02010609060101010101" pitchFamily="49" charset="-122"/>
                <a:ea typeface="FangSong" panose="02010609060101010101" pitchFamily="49" charset="-122"/>
              </a:rPr>
              <a:t>内存速度差的关键是计算机程序的一个重要属性，称为</a:t>
            </a:r>
            <a:r>
              <a:rPr lang="zh-CN" altLang="en-US" dirty="0">
                <a:solidFill>
                  <a:srgbClr val="FF0000"/>
                </a:solidFill>
                <a:latin typeface="FangSong" panose="02010609060101010101" pitchFamily="49" charset="-122"/>
                <a:ea typeface="FangSong" panose="02010609060101010101" pitchFamily="49" charset="-122"/>
              </a:rPr>
              <a:t>局部性</a:t>
            </a:r>
            <a:r>
              <a:rPr lang="zh-CN" altLang="en-US" dirty="0">
                <a:latin typeface="FangSong" panose="02010609060101010101" pitchFamily="49" charset="-122"/>
                <a:ea typeface="FangSong" panose="02010609060101010101" pitchFamily="49" charset="-122"/>
              </a:rPr>
              <a:t>（</a:t>
            </a:r>
            <a:r>
              <a:rPr dirty="0">
                <a:solidFill>
                  <a:srgbClr val="C00000"/>
                </a:solidFill>
                <a:latin typeface="FangSong" panose="02010609060101010101" pitchFamily="49" charset="-122"/>
                <a:ea typeface="FangSong" panose="02010609060101010101" pitchFamily="49" charset="-122"/>
              </a:rPr>
              <a:t>locality</a:t>
            </a:r>
            <a:r>
              <a:rPr lang="en-US" dirty="0">
                <a:solidFill>
                  <a:schemeClr val="tx1"/>
                </a:solidFill>
                <a:latin typeface="FangSong" panose="02010609060101010101" pitchFamily="49" charset="-122"/>
                <a:ea typeface="FangSong" panose="02010609060101010101" pitchFamily="49" charset="-122"/>
              </a:rPr>
              <a:t>)</a:t>
            </a:r>
            <a:r>
              <a:rPr lang="zh-CN" altLang="en-US" dirty="0">
                <a:solidFill>
                  <a:schemeClr val="tx1"/>
                </a:solidFill>
                <a:latin typeface="FangSong" panose="02010609060101010101" pitchFamily="49" charset="-122"/>
                <a:ea typeface="FangSong" panose="02010609060101010101" pitchFamily="49" charset="-122"/>
              </a:rPr>
              <a:t>。</a:t>
            </a:r>
            <a:endParaRPr dirty="0">
              <a:solidFill>
                <a:schemeClr val="tx1"/>
              </a:solidFill>
              <a:latin typeface="FangSong" panose="02010609060101010101" pitchFamily="49" charset="-122"/>
              <a:ea typeface="FangSong" panose="02010609060101010101" pitchFamily="49" charset="-122"/>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Title 1"/>
          <p:cNvSpPr txBox="1">
            <a:spLocks noGrp="1"/>
          </p:cNvSpPr>
          <p:nvPr>
            <p:ph type="title"/>
          </p:nvPr>
        </p:nvSpPr>
        <p:spPr>
          <a:xfrm>
            <a:off x="1881017" y="435679"/>
            <a:ext cx="8177384"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局部性</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685" name="Content Placeholder 2"/>
          <p:cNvSpPr txBox="1">
            <a:spLocks noGrp="1"/>
          </p:cNvSpPr>
          <p:nvPr>
            <p:ph type="body" idx="1"/>
          </p:nvPr>
        </p:nvSpPr>
        <p:spPr>
          <a:prstGeom prst="rect">
            <a:avLst/>
          </a:prstGeom>
        </p:spPr>
        <p:txBody>
          <a:bodyPr/>
          <a:lstStyle/>
          <a:p>
            <a:pPr>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a:solidFill>
                  <a:srgbClr val="C00000"/>
                </a:solidFill>
              </a:defRPr>
            </a:pPr>
            <a:r>
              <a:rPr lang="en-US" dirty="0" err="1">
                <a:latin typeface="Consolas" panose="020B0609020204030204" pitchFamily="49" charset="0"/>
                <a:ea typeface="FangSong" panose="02010609060101010101" pitchFamily="49" charset="-122"/>
                <a:cs typeface="Consolas" panose="020B0609020204030204" pitchFamily="49" charset="0"/>
              </a:rPr>
              <a:t>局部性原理</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dirty="0">
                <a:latin typeface="Consolas" panose="020B0609020204030204" pitchFamily="49" charset="0"/>
                <a:ea typeface="FangSong" panose="02010609060101010101" pitchFamily="49" charset="-122"/>
                <a:cs typeface="Consolas" panose="020B0609020204030204" pitchFamily="49" charset="0"/>
              </a:rPr>
              <a:t>Principle of Locality: </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zh-CN" altLang="en-US" dirty="0">
                <a:solidFill>
                  <a:schemeClr val="tx1"/>
                </a:solidFill>
                <a:latin typeface="Consolas" panose="020B0609020204030204" pitchFamily="49" charset="0"/>
                <a:ea typeface="FangSong" panose="02010609060101010101" pitchFamily="49" charset="-122"/>
                <a:cs typeface="Consolas" panose="020B0609020204030204" pitchFamily="49" charset="0"/>
              </a:rPr>
              <a:t>许多程序倾向于使用与其最近使用过的地址相近或相同的地址来访问数据和指令。</a:t>
            </a:r>
            <a:endParaRPr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a:p>
            <a:pPr>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a:solidFill>
                  <a:srgbClr val="C00000"/>
                </a:solidFill>
              </a:defRPr>
            </a:pPr>
            <a:endParaRPr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a:p>
            <a:pPr>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a:solidFill>
                  <a:srgbClr val="C00000"/>
                </a:solidFill>
              </a:defRPr>
            </a:pPr>
            <a:r>
              <a:rPr lang="en-US" dirty="0" err="1">
                <a:latin typeface="Consolas" panose="020B0609020204030204" pitchFamily="49" charset="0"/>
                <a:ea typeface="FangSong" panose="02010609060101010101" pitchFamily="49" charset="-122"/>
                <a:cs typeface="Consolas" panose="020B0609020204030204" pitchFamily="49" charset="0"/>
              </a:rPr>
              <a:t>时间局部性</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dirty="0">
                <a:latin typeface="Consolas" panose="020B0609020204030204" pitchFamily="49" charset="0"/>
                <a:ea typeface="FangSong" panose="02010609060101010101" pitchFamily="49" charset="-122"/>
                <a:cs typeface="Consolas" panose="020B0609020204030204" pitchFamily="49" charset="0"/>
              </a:rPr>
              <a:t>Temporal locality:  </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r>
              <a:rPr lang="zh-CN" altLang="en-US" sz="2000" b="0" dirty="0">
                <a:latin typeface="Consolas" panose="020B0609020204030204" pitchFamily="49" charset="0"/>
                <a:ea typeface="FangSong" panose="02010609060101010101" pitchFamily="49" charset="-122"/>
                <a:cs typeface="Consolas" panose="020B0609020204030204" pitchFamily="49" charset="0"/>
              </a:rPr>
              <a:t>最近被访问过的</a:t>
            </a:r>
            <a:r>
              <a:rPr lang="zh-CN" altLang="en-US" sz="2000" b="0" dirty="0">
                <a:latin typeface="Consolas" panose="020B0609020204030204" pitchFamily="49" charset="0"/>
                <a:ea typeface="FangSong" panose="02010609060101010101" pitchFamily="49" charset="-122"/>
                <a:cs typeface="Consolas" panose="020B0609020204030204" pitchFamily="49" charset="0"/>
              </a:rPr>
              <a:t>对象很可能在不久的将来再次被访问。</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r>
              <a:rPr lang="zh-CN" altLang="en-US" sz="2000" b="1" dirty="0">
                <a:latin typeface="Consolas" panose="020B0609020204030204" pitchFamily="49" charset="0"/>
                <a:ea typeface="FangSong" panose="02010609060101010101" pitchFamily="49" charset="-122"/>
                <a:cs typeface="Consolas" panose="020B0609020204030204" pitchFamily="49" charset="0"/>
              </a:rPr>
              <a:t>机会</a:t>
            </a:r>
            <a:r>
              <a:rPr lang="en-US" altLang="zh-CN" sz="2000" b="1" dirty="0">
                <a:latin typeface="Consolas" panose="020B0609020204030204" pitchFamily="49" charset="0"/>
                <a:ea typeface="FangSong" panose="02010609060101010101" pitchFamily="49" charset="-122"/>
                <a:cs typeface="Consolas" panose="020B0609020204030204" pitchFamily="49" charset="0"/>
              </a:rPr>
              <a:t>：</a:t>
            </a:r>
            <a:r>
              <a:rPr lang="zh-CN" altLang="en-US" sz="2000" b="1" dirty="0">
                <a:latin typeface="Consolas" panose="020B0609020204030204" pitchFamily="49" charset="0"/>
                <a:ea typeface="FangSong" panose="02010609060101010101" pitchFamily="49" charset="-122"/>
                <a:cs typeface="Consolas" panose="020B0609020204030204" pitchFamily="49" charset="0"/>
              </a:rPr>
              <a:t>尽量让重复访问的对象</a:t>
            </a:r>
            <a:r>
              <a:rPr lang="en-US" altLang="zh-CN" sz="2000" b="1" dirty="0">
                <a:latin typeface="Consolas" panose="020B0609020204030204" pitchFamily="49" charset="0"/>
                <a:ea typeface="FangSong" panose="02010609060101010101" pitchFamily="49" charset="-122"/>
                <a:cs typeface="Consolas" panose="020B0609020204030204" pitchFamily="49" charset="0"/>
              </a:rPr>
              <a:t>，</a:t>
            </a:r>
            <a:r>
              <a:rPr lang="zh-CN" altLang="en-US" sz="2000" b="1" dirty="0">
                <a:solidFill>
                  <a:srgbClr val="FF0000"/>
                </a:solidFill>
                <a:latin typeface="Consolas" panose="020B0609020204030204" pitchFamily="49" charset="0"/>
                <a:ea typeface="FangSong" panose="02010609060101010101" pitchFamily="49" charset="-122"/>
                <a:cs typeface="Consolas" panose="020B0609020204030204" pitchFamily="49" charset="0"/>
              </a:rPr>
              <a:t>长驻</a:t>
            </a:r>
            <a:r>
              <a:rPr lang="zh-CN" altLang="en-US" sz="2000" b="1" dirty="0">
                <a:latin typeface="Consolas" panose="020B0609020204030204" pitchFamily="49" charset="0"/>
                <a:ea typeface="FangSong" panose="02010609060101010101" pitchFamily="49" charset="-122"/>
                <a:cs typeface="Consolas" panose="020B0609020204030204" pitchFamily="49" charset="0"/>
              </a:rPr>
              <a:t>小容量的快速存储</a:t>
            </a:r>
            <a:endParaRPr lang="en-US" altLang="zh-CN" sz="2000" b="1"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endParaRPr dirty="0">
              <a:latin typeface="Consolas" panose="020B0609020204030204" pitchFamily="49" charset="0"/>
              <a:ea typeface="FangSong" panose="02010609060101010101" pitchFamily="49" charset="-122"/>
              <a:cs typeface="Consolas" panose="020B0609020204030204" pitchFamily="49" charset="0"/>
            </a:endParaRPr>
          </a:p>
          <a:p>
            <a:pPr>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a:solidFill>
                  <a:srgbClr val="C00000"/>
                </a:solidFill>
              </a:defRPr>
            </a:pPr>
            <a:r>
              <a:rPr lang="en-US" dirty="0" err="1">
                <a:latin typeface="Consolas" panose="020B0609020204030204" pitchFamily="49" charset="0"/>
                <a:ea typeface="FangSong" panose="02010609060101010101" pitchFamily="49" charset="-122"/>
                <a:cs typeface="Consolas" panose="020B0609020204030204" pitchFamily="49" charset="0"/>
              </a:rPr>
              <a:t>空间局部性</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dirty="0">
                <a:latin typeface="Consolas" panose="020B0609020204030204" pitchFamily="49" charset="0"/>
                <a:ea typeface="FangSong" panose="02010609060101010101" pitchFamily="49" charset="-122"/>
                <a:cs typeface="Consolas" panose="020B0609020204030204" pitchFamily="49" charset="0"/>
              </a:rPr>
              <a:t>Spatial locality:  </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r>
              <a:rPr lang="zh-CN" altLang="en-US" sz="2000" b="0" dirty="0">
                <a:latin typeface="Consolas" panose="020B0609020204030204" pitchFamily="49" charset="0"/>
                <a:ea typeface="FangSong" panose="02010609060101010101" pitchFamily="49" charset="-122"/>
                <a:cs typeface="Consolas" panose="020B0609020204030204" pitchFamily="49" charset="0"/>
              </a:rPr>
              <a:t>地址相邻的</a:t>
            </a:r>
            <a:r>
              <a:rPr lang="zh-CN" altLang="en-US" sz="2000" b="0" dirty="0">
                <a:latin typeface="Consolas" panose="020B0609020204030204" pitchFamily="49" charset="0"/>
                <a:ea typeface="FangSong" panose="02010609060101010101" pitchFamily="49" charset="-122"/>
                <a:cs typeface="Consolas" panose="020B0609020204030204" pitchFamily="49" charset="0"/>
              </a:rPr>
              <a:t>对象往往在时间上被集中地连续访问。</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r>
              <a:rPr lang="zh-CN" b="1" dirty="0">
                <a:latin typeface="Consolas" panose="020B0609020204030204" pitchFamily="49" charset="0"/>
                <a:ea typeface="FangSong" panose="02010609060101010101" pitchFamily="49" charset="-122"/>
                <a:cs typeface="Consolas" panose="020B0609020204030204" pitchFamily="49" charset="0"/>
              </a:rPr>
              <a:t>机会</a:t>
            </a:r>
            <a:r>
              <a:rPr lang="en-US" altLang="zh-CN" b="1" dirty="0">
                <a:latin typeface="Consolas" panose="020B0609020204030204" pitchFamily="49" charset="0"/>
                <a:ea typeface="FangSong" panose="02010609060101010101" pitchFamily="49" charset="-122"/>
                <a:cs typeface="Consolas" panose="020B0609020204030204" pitchFamily="49" charset="0"/>
              </a:rPr>
              <a:t>：</a:t>
            </a:r>
            <a:r>
              <a:rPr lang="zh-CN" altLang="en-US" b="1" dirty="0">
                <a:latin typeface="Consolas" panose="020B0609020204030204" pitchFamily="49" charset="0"/>
                <a:ea typeface="FangSong" panose="02010609060101010101" pitchFamily="49" charset="-122"/>
                <a:cs typeface="Consolas" panose="020B0609020204030204" pitchFamily="49" charset="0"/>
              </a:rPr>
              <a:t>尽量将相邻对象</a:t>
            </a:r>
            <a:r>
              <a:rPr lang="en-US" altLang="zh-CN" b="1" dirty="0">
                <a:latin typeface="Consolas" panose="020B0609020204030204" pitchFamily="49" charset="0"/>
                <a:ea typeface="FangSong" panose="02010609060101010101" pitchFamily="49" charset="-122"/>
                <a:cs typeface="Consolas" panose="020B0609020204030204" pitchFamily="49" charset="0"/>
              </a:rPr>
              <a:t>，</a:t>
            </a:r>
            <a:r>
              <a:rPr lang="zh-CN" altLang="en-US" b="1" dirty="0">
                <a:solidFill>
                  <a:srgbClr val="FF0000"/>
                </a:solidFill>
                <a:latin typeface="Consolas" panose="020B0609020204030204" pitchFamily="49" charset="0"/>
                <a:ea typeface="FangSong" panose="02010609060101010101" pitchFamily="49" charset="-122"/>
                <a:cs typeface="Consolas" panose="020B0609020204030204" pitchFamily="49" charset="0"/>
              </a:rPr>
              <a:t>预取</a:t>
            </a:r>
            <a:r>
              <a:rPr lang="zh-CN" altLang="en-US" b="1" dirty="0">
                <a:latin typeface="Consolas" panose="020B0609020204030204" pitchFamily="49" charset="0"/>
                <a:ea typeface="FangSong" panose="02010609060101010101" pitchFamily="49" charset="-122"/>
                <a:cs typeface="Consolas" panose="020B0609020204030204" pitchFamily="49" charset="0"/>
              </a:rPr>
              <a:t>到</a:t>
            </a:r>
            <a:r>
              <a:rPr lang="zh-CN" altLang="en-US" b="1" dirty="0">
                <a:latin typeface="Consolas" panose="020B0609020204030204" pitchFamily="49" charset="0"/>
                <a:ea typeface="FangSong" panose="02010609060101010101" pitchFamily="49" charset="-122"/>
                <a:cs typeface="Consolas" panose="020B0609020204030204" pitchFamily="49" charset="0"/>
                <a:sym typeface="+mn-ea"/>
              </a:rPr>
              <a:t>小容量的快速存储</a:t>
            </a:r>
            <a:endParaRPr lang="en-US" altLang="zh-CN" b="1"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tabLst>
                <a:tab pos="381000" algn="l"/>
                <a:tab pos="901700" algn="l"/>
                <a:tab pos="1816100" algn="l"/>
                <a:tab pos="2730500" algn="l"/>
                <a:tab pos="3644900" algn="l"/>
                <a:tab pos="4559300" algn="l"/>
                <a:tab pos="5473700" algn="l"/>
                <a:tab pos="6388100" algn="l"/>
                <a:tab pos="7302500" algn="l"/>
                <a:tab pos="8216900" algn="l"/>
                <a:tab pos="9131300" algn="l"/>
                <a:tab pos="10045700" algn="l"/>
              </a:tabLst>
              <a:defRPr sz="2000" b="0"/>
            </a:pPr>
            <a:endParaRPr lang="zh-CN" altLang="en-US" b="1" dirty="0">
              <a:latin typeface="Consolas" panose="020B0609020204030204" pitchFamily="49" charset="0"/>
              <a:ea typeface="FangSong" panose="02010609060101010101" pitchFamily="49" charset="-122"/>
              <a:cs typeface="Consolas" panose="020B0609020204030204" pitchFamily="49" charset="0"/>
            </a:endParaRPr>
          </a:p>
        </p:txBody>
      </p:sp>
      <p:sp>
        <p:nvSpPr>
          <p:cNvPr id="686" name="Rectangle 3"/>
          <p:cNvSpPr/>
          <p:nvPr/>
        </p:nvSpPr>
        <p:spPr>
          <a:xfrm>
            <a:off x="7620000" y="2741426"/>
            <a:ext cx="1905000" cy="304800"/>
          </a:xfrm>
          <a:prstGeom prst="rect">
            <a:avLst/>
          </a:prstGeom>
          <a:solidFill>
            <a:schemeClr val="accent3">
              <a:lumOff val="44000"/>
            </a:schemeClr>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687" name="Rectangle 4"/>
          <p:cNvSpPr/>
          <p:nvPr/>
        </p:nvSpPr>
        <p:spPr>
          <a:xfrm>
            <a:off x="8013700" y="2741426"/>
            <a:ext cx="381000" cy="304800"/>
          </a:xfrm>
          <a:prstGeom prst="rect">
            <a:avLst/>
          </a:prstGeom>
          <a:solidFill>
            <a:srgbClr val="FF9999"/>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688" name="Freeform 5"/>
          <p:cNvSpPr/>
          <p:nvPr/>
        </p:nvSpPr>
        <p:spPr>
          <a:xfrm>
            <a:off x="7880498" y="2251872"/>
            <a:ext cx="547260" cy="413355"/>
          </a:xfrm>
          <a:custGeom>
            <a:avLst/>
            <a:gdLst/>
            <a:ahLst/>
            <a:cxnLst>
              <a:cxn ang="0">
                <a:pos x="wd2" y="hd2"/>
              </a:cxn>
              <a:cxn ang="5400000">
                <a:pos x="wd2" y="hd2"/>
              </a:cxn>
              <a:cxn ang="10800000">
                <a:pos x="wd2" y="hd2"/>
              </a:cxn>
              <a:cxn ang="16200000">
                <a:pos x="wd2" y="hd2"/>
              </a:cxn>
            </a:cxnLst>
            <a:rect l="0" t="0" r="r" b="b"/>
            <a:pathLst>
              <a:path w="18828" h="20592" extrusionOk="0">
                <a:moveTo>
                  <a:pt x="8718" y="20592"/>
                </a:moveTo>
                <a:cubicBezTo>
                  <a:pt x="3715" y="13160"/>
                  <a:pt x="-1288" y="5729"/>
                  <a:pt x="300" y="2628"/>
                </a:cubicBezTo>
                <a:cubicBezTo>
                  <a:pt x="1887" y="-473"/>
                  <a:pt x="16177" y="-1008"/>
                  <a:pt x="18244" y="1986"/>
                </a:cubicBezTo>
                <a:cubicBezTo>
                  <a:pt x="20312" y="4980"/>
                  <a:pt x="16509" y="12786"/>
                  <a:pt x="12706" y="20592"/>
                </a:cubicBezTo>
              </a:path>
            </a:pathLst>
          </a:custGeom>
          <a:ln w="25400">
            <a:solidFill>
              <a:srgbClr val="000000"/>
            </a:solidFill>
            <a:tailEnd type="triangle"/>
          </a:ln>
        </p:spPr>
        <p:txBody>
          <a:bodyPr lIns="45719" rIns="45719" anchor="ct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689" name="Rectangle 6"/>
          <p:cNvSpPr/>
          <p:nvPr/>
        </p:nvSpPr>
        <p:spPr>
          <a:xfrm>
            <a:off x="7626261" y="4234166"/>
            <a:ext cx="1905001" cy="304801"/>
          </a:xfrm>
          <a:prstGeom prst="rect">
            <a:avLst/>
          </a:prstGeom>
          <a:solidFill>
            <a:schemeClr val="accent3">
              <a:lumOff val="44000"/>
            </a:schemeClr>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690" name="Rectangle 7"/>
          <p:cNvSpPr/>
          <p:nvPr/>
        </p:nvSpPr>
        <p:spPr>
          <a:xfrm>
            <a:off x="8019961" y="4234166"/>
            <a:ext cx="381001" cy="304801"/>
          </a:xfrm>
          <a:prstGeom prst="rect">
            <a:avLst/>
          </a:prstGeom>
          <a:solidFill>
            <a:srgbClr val="FF9999"/>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691" name="Rectangle 9"/>
          <p:cNvSpPr/>
          <p:nvPr/>
        </p:nvSpPr>
        <p:spPr>
          <a:xfrm>
            <a:off x="8394700" y="4234166"/>
            <a:ext cx="381000" cy="304801"/>
          </a:xfrm>
          <a:prstGeom prst="rect">
            <a:avLst/>
          </a:prstGeom>
          <a:solidFill>
            <a:srgbClr val="FF9999"/>
          </a:solidFill>
          <a:ln w="28575">
            <a:solidFill>
              <a:srgbClr val="000000"/>
            </a:solidFill>
            <a:tailEnd type="triangle"/>
          </a:ln>
        </p:spPr>
        <p:txBody>
          <a:bodyPr lIns="45719" rIns="45719" anchor="ctr"/>
          <a:lstStyle/>
          <a:p>
            <a:pPr algn="ctr">
              <a:defRPr sz="180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692" name="Freeform 10"/>
          <p:cNvSpPr/>
          <p:nvPr/>
        </p:nvSpPr>
        <p:spPr>
          <a:xfrm>
            <a:off x="7996162" y="3819474"/>
            <a:ext cx="730912" cy="343859"/>
          </a:xfrm>
          <a:custGeom>
            <a:avLst/>
            <a:gdLst/>
            <a:ahLst/>
            <a:cxnLst>
              <a:cxn ang="0">
                <a:pos x="wd2" y="hd2"/>
              </a:cxn>
              <a:cxn ang="5400000">
                <a:pos x="wd2" y="hd2"/>
              </a:cxn>
              <a:cxn ang="10800000">
                <a:pos x="wd2" y="hd2"/>
              </a:cxn>
              <a:cxn ang="16200000">
                <a:pos x="wd2" y="hd2"/>
              </a:cxn>
            </a:cxnLst>
            <a:rect l="0" t="0" r="r" b="b"/>
            <a:pathLst>
              <a:path w="18763" h="20658" extrusionOk="0">
                <a:moveTo>
                  <a:pt x="3729" y="20271"/>
                </a:moveTo>
                <a:cubicBezTo>
                  <a:pt x="1153" y="12888"/>
                  <a:pt x="-1423" y="5506"/>
                  <a:pt x="919" y="2475"/>
                </a:cubicBezTo>
                <a:cubicBezTo>
                  <a:pt x="3261" y="-555"/>
                  <a:pt x="15383" y="-942"/>
                  <a:pt x="17780" y="2088"/>
                </a:cubicBezTo>
                <a:cubicBezTo>
                  <a:pt x="20177" y="5119"/>
                  <a:pt x="17739" y="12888"/>
                  <a:pt x="15300" y="20658"/>
                </a:cubicBezTo>
              </a:path>
            </a:pathLst>
          </a:custGeom>
          <a:ln w="25400">
            <a:solidFill>
              <a:srgbClr val="000000"/>
            </a:solidFill>
            <a:tailEnd type="triangle"/>
          </a:ln>
        </p:spPr>
        <p:txBody>
          <a:bodyPr lIns="45719" rIns="45719" anchor="ct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685">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indefinite" fill="hold"/>
                                        <p:tgtEl>
                                          <p:spTgt spid="68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indefinite" fill="hold"/>
                                        <p:tgtEl>
                                          <p:spTgt spid="68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indefinite" fill="hold"/>
                                        <p:tgtEl>
                                          <p:spTgt spid="68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indefinite" fill="hold"/>
                                        <p:tgtEl>
                                          <p:spTgt spid="685">
                                            <p:txEl>
                                              <p:pRg st="6" end="6"/>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indefinite" fill="hold"/>
                                        <p:tgtEl>
                                          <p:spTgt spid="689"/>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indefinite" fill="hold"/>
                                        <p:tgtEl>
                                          <p:spTgt spid="690"/>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indefinite" fill="hold"/>
                                        <p:tgtEl>
                                          <p:spTgt spid="691"/>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indefinite" fill="hold"/>
                                        <p:tgtEl>
                                          <p:spTgt spid="6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 grpId="0" bldLvl="5" animBg="1" advAuto="0" build="p"/>
      <p:bldP spid="686" grpId="0" animBg="1" advAuto="0"/>
      <p:bldP spid="687" grpId="0" animBg="1" advAuto="0"/>
      <p:bldP spid="688" grpId="0" animBg="1" advAuto="0"/>
      <p:bldP spid="689" grpId="0" animBg="1" advAuto="0"/>
      <p:bldP spid="690" grpId="0" animBg="1" advAuto="0"/>
      <p:bldP spid="691" grpId="0" animBg="1" advAuto="0"/>
      <p:bldP spid="692" grpId="0"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 name="Title 4"/>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局部性示例</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696" name="Content Placeholder 2"/>
          <p:cNvSpPr txBox="1">
            <a:spLocks noGrp="1"/>
          </p:cNvSpPr>
          <p:nvPr>
            <p:ph type="body" sz="half" idx="1"/>
          </p:nvPr>
        </p:nvSpPr>
        <p:spPr>
          <a:xfrm>
            <a:off x="1144696" y="3472481"/>
            <a:ext cx="5575078" cy="2768860"/>
          </a:xfrm>
          <a:prstGeom prst="rect">
            <a:avLst/>
          </a:prstGeom>
        </p:spPr>
        <p:txBody>
          <a:bodyPr>
            <a:normAutofit/>
          </a:bodyPr>
          <a:lstStyle/>
          <a:p>
            <a:r>
              <a:rPr lang="en-US" dirty="0" err="1">
                <a:latin typeface="Consolas" panose="020B0609020204030204" pitchFamily="49" charset="0"/>
                <a:ea typeface="FangSong" panose="02010609060101010101" pitchFamily="49" charset="-122"/>
                <a:cs typeface="Consolas" panose="020B0609020204030204" pitchFamily="49" charset="0"/>
              </a:rPr>
              <a:t>访问数据</a:t>
            </a:r>
            <a:endParaRPr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b="0" dirty="0">
                <a:latin typeface="Consolas" panose="020B0609020204030204" pitchFamily="49" charset="0"/>
                <a:ea typeface="FangSong" panose="02010609060101010101" pitchFamily="49" charset="-122"/>
                <a:cs typeface="Consolas" panose="020B0609020204030204" pitchFamily="49" charset="0"/>
              </a:rPr>
              <a:t>依次访问数组元素（步长为</a:t>
            </a:r>
            <a:r>
              <a:rPr lang="en-US" altLang="zh-CN" sz="2000" b="0" dirty="0">
                <a:latin typeface="Consolas" panose="020B0609020204030204" pitchFamily="49" charset="0"/>
                <a:ea typeface="FangSong" panose="02010609060101010101" pitchFamily="49" charset="-122"/>
                <a:cs typeface="Consolas" panose="020B0609020204030204" pitchFamily="49" charset="0"/>
              </a:rPr>
              <a:t>1</a:t>
            </a:r>
            <a:r>
              <a:rPr lang="zh-CN" altLang="en-US" sz="2000" b="0" dirty="0">
                <a:latin typeface="Consolas" panose="020B0609020204030204" pitchFamily="49" charset="0"/>
                <a:ea typeface="FangSong" panose="02010609060101010101" pitchFamily="49" charset="-122"/>
                <a:cs typeface="Consolas" panose="020B0609020204030204" pitchFamily="49" charset="0"/>
              </a:rPr>
              <a:t>的访问模式）</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b="0" dirty="0">
                <a:latin typeface="Consolas" panose="020B0609020204030204" pitchFamily="49" charset="0"/>
                <a:ea typeface="FangSong" panose="02010609060101010101" pitchFamily="49" charset="-122"/>
                <a:cs typeface="Consolas" panose="020B0609020204030204" pitchFamily="49" charset="0"/>
              </a:rPr>
              <a:t>每次迭代都访问变量 </a:t>
            </a:r>
            <a:r>
              <a:rPr lang="en-US" sz="2000" b="0" dirty="0">
                <a:latin typeface="Consolas" panose="020B0609020204030204" pitchFamily="49" charset="0"/>
                <a:ea typeface="FangSong" panose="02010609060101010101" pitchFamily="49" charset="-122"/>
                <a:cs typeface="Consolas" panose="020B0609020204030204" pitchFamily="49" charset="0"/>
              </a:rPr>
              <a:t>sum</a:t>
            </a:r>
            <a:endParaRPr lang="en-US" sz="2000" b="0" dirty="0">
              <a:latin typeface="Consolas" panose="020B0609020204030204" pitchFamily="49" charset="0"/>
              <a:ea typeface="FangSong" panose="02010609060101010101" pitchFamily="49" charset="-122"/>
              <a:cs typeface="Consolas" panose="020B0609020204030204" pitchFamily="49" charset="0"/>
            </a:endParaRPr>
          </a:p>
          <a:p>
            <a:r>
              <a:rPr lang="en-US" dirty="0" err="1">
                <a:latin typeface="Consolas" panose="020B0609020204030204" pitchFamily="49" charset="0"/>
                <a:ea typeface="FangSong" panose="02010609060101010101" pitchFamily="49" charset="-122"/>
                <a:cs typeface="Consolas" panose="020B0609020204030204" pitchFamily="49" charset="0"/>
              </a:rPr>
              <a:t>访问指令</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pPr>
            <a:r>
              <a:rPr lang="en-US" dirty="0" err="1">
                <a:latin typeface="Consolas" panose="020B0609020204030204" pitchFamily="49" charset="0"/>
                <a:ea typeface="FangSong" panose="02010609060101010101" pitchFamily="49" charset="-122"/>
                <a:cs typeface="Consolas" panose="020B0609020204030204" pitchFamily="49" charset="0"/>
              </a:rPr>
              <a:t>顺序访问指令</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pPr>
            <a:r>
              <a:rPr lang="zh-CN" altLang="en-US" sz="2000" b="0" dirty="0">
                <a:latin typeface="Consolas" panose="020B0609020204030204" pitchFamily="49" charset="0"/>
                <a:ea typeface="FangSong" panose="02010609060101010101" pitchFamily="49" charset="-122"/>
                <a:cs typeface="Consolas" panose="020B0609020204030204" pitchFamily="49" charset="0"/>
              </a:rPr>
              <a:t>循环反复执行循环体中的指令</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p:txBody>
      </p:sp>
      <p:sp>
        <p:nvSpPr>
          <p:cNvPr id="697" name="Rectangle 4"/>
          <p:cNvSpPr/>
          <p:nvPr/>
        </p:nvSpPr>
        <p:spPr>
          <a:xfrm>
            <a:off x="3956430" y="1544749"/>
            <a:ext cx="3441269" cy="1074653"/>
          </a:xfrm>
          <a:prstGeom prst="rect">
            <a:avLst/>
          </a:prstGeom>
          <a:solidFill>
            <a:srgbClr val="F7F5CD"/>
          </a:solidFill>
          <a:ln w="12700">
            <a:solidFill>
              <a:srgbClr val="000000"/>
            </a:solidFill>
            <a:miter/>
          </a:ln>
        </p:spPr>
        <p:txBody>
          <a:bodyPr wrap="square" lIns="44450" tIns="44450" rIns="44450" bIns="44450">
            <a:spAutoFit/>
          </a:bodyPr>
          <a:lstStyle/>
          <a:p>
            <a:pPr>
              <a:tabLst>
                <a:tab pos="457200" algn="l"/>
              </a:tabLst>
              <a:defRPr sz="1600">
                <a:latin typeface="Courier New" panose="02070609020205020404"/>
                <a:ea typeface="Courier New" panose="02070609020205020404"/>
                <a:cs typeface="Courier New" panose="02070609020205020404"/>
                <a:sym typeface="Courier New" panose="02070609020205020404"/>
              </a:defRPr>
            </a:pPr>
            <a:r>
              <a:rPr lang="en-US" sz="1600" dirty="0">
                <a:latin typeface="Consolas" panose="020B0609020204030204" pitchFamily="49" charset="0"/>
                <a:ea typeface="FangSong" panose="02010609060101010101" pitchFamily="49" charset="-122"/>
                <a:cs typeface="Consolas" panose="020B0609020204030204" pitchFamily="49" charset="0"/>
              </a:rPr>
              <a:t>long </a:t>
            </a:r>
            <a:r>
              <a:rPr sz="1600" dirty="0">
                <a:latin typeface="Consolas" panose="020B0609020204030204" pitchFamily="49" charset="0"/>
                <a:ea typeface="FangSong" panose="02010609060101010101" pitchFamily="49" charset="-122"/>
                <a:cs typeface="Consolas" panose="020B0609020204030204" pitchFamily="49" charset="0"/>
              </a:rPr>
              <a:t>sum = 0;</a:t>
            </a:r>
            <a:endParaRPr sz="1600" dirty="0">
              <a:latin typeface="Consolas" panose="020B0609020204030204" pitchFamily="49" charset="0"/>
              <a:ea typeface="FangSong" panose="02010609060101010101" pitchFamily="49" charset="-122"/>
              <a:cs typeface="Consolas" panose="020B0609020204030204" pitchFamily="49" charset="0"/>
            </a:endParaRPr>
          </a:p>
          <a:p>
            <a:pPr>
              <a:tabLst>
                <a:tab pos="457200" algn="l"/>
              </a:tabLst>
              <a:defRPr sz="1600">
                <a:latin typeface="Courier New" panose="02070609020205020404"/>
                <a:ea typeface="Courier New" panose="02070609020205020404"/>
                <a:cs typeface="Courier New" panose="02070609020205020404"/>
                <a:sym typeface="Courier New" panose="02070609020205020404"/>
              </a:defRPr>
            </a:pPr>
            <a:r>
              <a:rPr sz="1600" dirty="0">
                <a:latin typeface="Consolas" panose="020B0609020204030204" pitchFamily="49" charset="0"/>
                <a:ea typeface="FangSong" panose="02010609060101010101" pitchFamily="49" charset="-122"/>
                <a:cs typeface="Consolas" panose="020B0609020204030204" pitchFamily="49" charset="0"/>
              </a:rPr>
              <a:t>for (</a:t>
            </a:r>
            <a:r>
              <a:rPr lang="en-US" sz="1600" dirty="0">
                <a:latin typeface="Consolas" panose="020B0609020204030204" pitchFamily="49" charset="0"/>
                <a:ea typeface="FangSong" panose="02010609060101010101" pitchFamily="49" charset="-122"/>
                <a:cs typeface="Consolas" panose="020B0609020204030204" pitchFamily="49" charset="0"/>
              </a:rPr>
              <a:t>int </a:t>
            </a:r>
            <a:r>
              <a:rPr sz="1600" dirty="0">
                <a:latin typeface="Consolas" panose="020B0609020204030204" pitchFamily="49" charset="0"/>
                <a:ea typeface="FangSong" panose="02010609060101010101" pitchFamily="49" charset="-122"/>
                <a:cs typeface="Consolas" panose="020B0609020204030204" pitchFamily="49" charset="0"/>
              </a:rPr>
              <a:t>i = 0; i &lt; n; i++)</a:t>
            </a:r>
            <a:endParaRPr sz="1600" dirty="0">
              <a:latin typeface="Consolas" panose="020B0609020204030204" pitchFamily="49" charset="0"/>
              <a:ea typeface="FangSong" panose="02010609060101010101" pitchFamily="49" charset="-122"/>
              <a:cs typeface="Consolas" panose="020B0609020204030204" pitchFamily="49" charset="0"/>
            </a:endParaRPr>
          </a:p>
          <a:p>
            <a:pPr>
              <a:tabLst>
                <a:tab pos="457200" algn="l"/>
              </a:tabLst>
              <a:defRPr sz="1600">
                <a:latin typeface="Courier New" panose="02070609020205020404"/>
                <a:ea typeface="Courier New" panose="02070609020205020404"/>
                <a:cs typeface="Courier New" panose="02070609020205020404"/>
                <a:sym typeface="Courier New" panose="02070609020205020404"/>
              </a:defRPr>
            </a:pPr>
            <a:r>
              <a:rPr sz="1600" dirty="0">
                <a:latin typeface="Consolas" panose="020B0609020204030204" pitchFamily="49" charset="0"/>
                <a:ea typeface="FangSong" panose="02010609060101010101" pitchFamily="49" charset="-122"/>
                <a:cs typeface="Consolas" panose="020B0609020204030204" pitchFamily="49" charset="0"/>
              </a:rPr>
              <a:t>	sum += a[i];</a:t>
            </a:r>
            <a:endParaRPr sz="1600" dirty="0">
              <a:latin typeface="Consolas" panose="020B0609020204030204" pitchFamily="49" charset="0"/>
              <a:ea typeface="FangSong" panose="02010609060101010101" pitchFamily="49" charset="-122"/>
              <a:cs typeface="Consolas" panose="020B0609020204030204" pitchFamily="49" charset="0"/>
            </a:endParaRPr>
          </a:p>
          <a:p>
            <a:pPr>
              <a:tabLst>
                <a:tab pos="457200" algn="l"/>
              </a:tabLst>
              <a:defRPr sz="1600">
                <a:latin typeface="Courier New" panose="02070609020205020404"/>
                <a:ea typeface="Courier New" panose="02070609020205020404"/>
                <a:cs typeface="Courier New" panose="02070609020205020404"/>
                <a:sym typeface="Courier New" panose="02070609020205020404"/>
              </a:defRPr>
            </a:pPr>
            <a:r>
              <a:rPr sz="1600" dirty="0">
                <a:latin typeface="Consolas" panose="020B0609020204030204" pitchFamily="49" charset="0"/>
                <a:ea typeface="FangSong" panose="02010609060101010101" pitchFamily="49" charset="-122"/>
                <a:cs typeface="Consolas" panose="020B0609020204030204" pitchFamily="49" charset="0"/>
              </a:rPr>
              <a:t>return sum;</a:t>
            </a:r>
            <a:endParaRPr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698" name="TextBox 12"/>
          <p:cNvSpPr txBox="1"/>
          <p:nvPr/>
        </p:nvSpPr>
        <p:spPr>
          <a:xfrm>
            <a:off x="6795338" y="3125412"/>
            <a:ext cx="3247041" cy="461665"/>
          </a:xfrm>
          <a:prstGeom prst="rect">
            <a:avLst/>
          </a:prstGeom>
          <a:ln w="12700">
            <a:miter lim="400000"/>
          </a:ln>
        </p:spPr>
        <p:txBody>
          <a:bodyPr wrap="none" lIns="45719" rIns="45719">
            <a:spAutoFit/>
          </a:bodyPr>
          <a:lstStyle/>
          <a:p>
            <a:pPr algn="ctr">
              <a:defRPr>
                <a:latin typeface="Calibri"/>
                <a:ea typeface="Calibri"/>
                <a:cs typeface="Calibri"/>
                <a:sym typeface="Calibri"/>
              </a:defRPr>
            </a:pPr>
            <a:r>
              <a:rPr lang="en-US" dirty="0" err="1">
                <a:latin typeface="Consolas" panose="020B0609020204030204" pitchFamily="49" charset="0"/>
                <a:ea typeface="FangSong" panose="02010609060101010101" pitchFamily="49" charset="-122"/>
                <a:cs typeface="Consolas" panose="020B0609020204030204" pitchFamily="49" charset="0"/>
              </a:rPr>
              <a:t>空间</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or</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dirty="0" err="1">
                <a:latin typeface="Consolas" panose="020B0609020204030204" pitchFamily="49" charset="0"/>
                <a:ea typeface="FangSong" panose="02010609060101010101" pitchFamily="49" charset="-122"/>
                <a:cs typeface="Consolas" panose="020B0609020204030204" pitchFamily="49" charset="0"/>
              </a:rPr>
              <a:t>时间局部性</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699" name="TextBox 13"/>
          <p:cNvSpPr txBox="1"/>
          <p:nvPr/>
        </p:nvSpPr>
        <p:spPr>
          <a:xfrm>
            <a:off x="8064916" y="4293599"/>
            <a:ext cx="605292" cy="400110"/>
          </a:xfrm>
          <a:prstGeom prst="rect">
            <a:avLst/>
          </a:prstGeom>
          <a:ln w="12700">
            <a:miter lim="400000"/>
          </a:ln>
        </p:spPr>
        <p:txBody>
          <a:bodyPr wrap="none" lIns="45719" rIns="45719">
            <a:spAutoFit/>
          </a:bodyPr>
          <a:lstStyle>
            <a:lvl1pPr>
              <a:defRPr>
                <a:solidFill>
                  <a:srgbClr val="C00000"/>
                </a:solidFill>
                <a:latin typeface="Calibri"/>
                <a:ea typeface="Calibri"/>
                <a:cs typeface="Calibri"/>
                <a:sym typeface="Calibri"/>
              </a:defRPr>
            </a:lvl1pPr>
          </a:lstStyle>
          <a:p>
            <a:r>
              <a:rPr lang="en-US" sz="2000" dirty="0" err="1">
                <a:latin typeface="Consolas" panose="020B0609020204030204" pitchFamily="49" charset="0"/>
                <a:ea typeface="FangSong" panose="02010609060101010101" pitchFamily="49" charset="-122"/>
                <a:cs typeface="Consolas" panose="020B0609020204030204" pitchFamily="49" charset="0"/>
              </a:rPr>
              <a:t>时间</a:t>
            </a:r>
            <a:endParaRPr sz="2000" dirty="0">
              <a:latin typeface="Consolas" panose="020B0609020204030204" pitchFamily="49" charset="0"/>
              <a:ea typeface="FangSong" panose="02010609060101010101" pitchFamily="49" charset="-122"/>
              <a:cs typeface="Consolas" panose="020B0609020204030204" pitchFamily="49" charset="0"/>
            </a:endParaRPr>
          </a:p>
        </p:txBody>
      </p:sp>
      <p:sp>
        <p:nvSpPr>
          <p:cNvPr id="700" name="TextBox 14"/>
          <p:cNvSpPr txBox="1"/>
          <p:nvPr/>
        </p:nvSpPr>
        <p:spPr>
          <a:xfrm>
            <a:off x="8064916" y="5020798"/>
            <a:ext cx="605292" cy="400110"/>
          </a:xfrm>
          <a:prstGeom prst="rect">
            <a:avLst/>
          </a:prstGeom>
          <a:ln w="12700">
            <a:miter lim="400000"/>
          </a:ln>
        </p:spPr>
        <p:txBody>
          <a:bodyPr wrap="none" lIns="45719" rIns="45719">
            <a:spAutoFit/>
          </a:bodyPr>
          <a:lstStyle>
            <a:lvl1pPr>
              <a:defRPr>
                <a:solidFill>
                  <a:srgbClr val="C00000"/>
                </a:solidFill>
                <a:latin typeface="Calibri"/>
                <a:ea typeface="Calibri"/>
                <a:cs typeface="Calibri"/>
                <a:sym typeface="Calibri"/>
              </a:defRPr>
            </a:lvl1pPr>
          </a:lstStyle>
          <a:p>
            <a:r>
              <a:rPr lang="en-US" sz="2000" dirty="0" err="1">
                <a:latin typeface="Consolas" panose="020B0609020204030204" pitchFamily="49" charset="0"/>
                <a:ea typeface="FangSong" panose="02010609060101010101" pitchFamily="49" charset="-122"/>
                <a:cs typeface="Consolas" panose="020B0609020204030204" pitchFamily="49" charset="0"/>
              </a:rPr>
              <a:t>空间</a:t>
            </a:r>
            <a:endParaRPr sz="2000" dirty="0">
              <a:latin typeface="Consolas" panose="020B0609020204030204" pitchFamily="49" charset="0"/>
              <a:ea typeface="FangSong" panose="02010609060101010101" pitchFamily="49" charset="-122"/>
              <a:cs typeface="Consolas" panose="020B0609020204030204" pitchFamily="49" charset="0"/>
            </a:endParaRPr>
          </a:p>
        </p:txBody>
      </p:sp>
      <p:sp>
        <p:nvSpPr>
          <p:cNvPr id="701" name="TextBox 16"/>
          <p:cNvSpPr txBox="1"/>
          <p:nvPr/>
        </p:nvSpPr>
        <p:spPr>
          <a:xfrm>
            <a:off x="8064916" y="5434065"/>
            <a:ext cx="605292" cy="400110"/>
          </a:xfrm>
          <a:prstGeom prst="rect">
            <a:avLst/>
          </a:prstGeom>
          <a:ln w="12700">
            <a:miter lim="400000"/>
          </a:ln>
        </p:spPr>
        <p:txBody>
          <a:bodyPr wrap="none" lIns="45719" rIns="45719">
            <a:spAutoFit/>
          </a:bodyPr>
          <a:lstStyle>
            <a:lvl1pPr>
              <a:defRPr>
                <a:solidFill>
                  <a:srgbClr val="C00000"/>
                </a:solidFill>
                <a:latin typeface="Calibri"/>
                <a:ea typeface="Calibri"/>
                <a:cs typeface="Calibri"/>
                <a:sym typeface="Calibri"/>
              </a:defRPr>
            </a:lvl1pPr>
          </a:lstStyle>
          <a:p>
            <a:r>
              <a:rPr lang="en-US" sz="2000" dirty="0" err="1">
                <a:latin typeface="Consolas" panose="020B0609020204030204" pitchFamily="49" charset="0"/>
                <a:ea typeface="FangSong" panose="02010609060101010101" pitchFamily="49" charset="-122"/>
                <a:cs typeface="Consolas" panose="020B0609020204030204" pitchFamily="49" charset="0"/>
              </a:rPr>
              <a:t>时间</a:t>
            </a:r>
            <a:endParaRPr sz="2000" dirty="0">
              <a:latin typeface="Consolas" panose="020B0609020204030204" pitchFamily="49" charset="0"/>
              <a:ea typeface="FangSong" panose="02010609060101010101" pitchFamily="49" charset="-122"/>
              <a:cs typeface="Consolas" panose="020B0609020204030204" pitchFamily="49" charset="0"/>
            </a:endParaRPr>
          </a:p>
        </p:txBody>
      </p:sp>
      <p:sp>
        <p:nvSpPr>
          <p:cNvPr id="702" name="TextBox 8"/>
          <p:cNvSpPr txBox="1"/>
          <p:nvPr/>
        </p:nvSpPr>
        <p:spPr>
          <a:xfrm>
            <a:off x="8064916" y="3875842"/>
            <a:ext cx="605292" cy="400110"/>
          </a:xfrm>
          <a:prstGeom prst="rect">
            <a:avLst/>
          </a:prstGeom>
          <a:ln w="12700">
            <a:miter lim="400000"/>
          </a:ln>
        </p:spPr>
        <p:txBody>
          <a:bodyPr wrap="none" lIns="45719" rIns="45719">
            <a:spAutoFit/>
          </a:bodyPr>
          <a:lstStyle>
            <a:lvl1pPr>
              <a:defRPr>
                <a:solidFill>
                  <a:srgbClr val="C00000"/>
                </a:solidFill>
                <a:latin typeface="Calibri"/>
                <a:ea typeface="Calibri"/>
                <a:cs typeface="Calibri"/>
                <a:sym typeface="Calibri"/>
              </a:defRPr>
            </a:lvl1pPr>
          </a:lstStyle>
          <a:p>
            <a:r>
              <a:rPr lang="en-US" sz="2000" dirty="0" err="1">
                <a:latin typeface="Consolas" panose="020B0609020204030204" pitchFamily="49" charset="0"/>
                <a:ea typeface="FangSong" panose="02010609060101010101" pitchFamily="49" charset="-122"/>
                <a:cs typeface="Consolas" panose="020B0609020204030204" pitchFamily="49" charset="0"/>
              </a:rPr>
              <a:t>空间</a:t>
            </a:r>
            <a:endParaRPr sz="2000"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7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indefinite" fill="hold"/>
                                        <p:tgtEl>
                                          <p:spTgt spid="6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indefinite" fill="hold"/>
                                        <p:tgtEl>
                                          <p:spTgt spid="70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indefinite" fill="hold"/>
                                        <p:tgtEl>
                                          <p:spTgt spid="7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 grpId="0" animBg="1" advAuto="0"/>
      <p:bldP spid="700" grpId="0" animBg="1" advAuto="0"/>
      <p:bldP spid="701" grpId="0" animBg="1" advAuto="0"/>
      <p:bldP spid="702" grpId="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 name="Rectangle 1029"/>
          <p:cNvSpPr txBox="1">
            <a:spLocks noGrp="1"/>
          </p:cNvSpPr>
          <p:nvPr>
            <p:ph type="title"/>
          </p:nvPr>
        </p:nvSpPr>
        <p:spPr>
          <a:xfrm>
            <a:off x="1881017" y="435679"/>
            <a:ext cx="8177384"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局部性的定性估计</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706" name="Rectangle 1030"/>
          <p:cNvSpPr txBox="1">
            <a:spLocks noGrp="1"/>
          </p:cNvSpPr>
          <p:nvPr>
            <p:ph type="body" idx="1"/>
          </p:nvPr>
        </p:nvSpPr>
        <p:spPr>
          <a:xfrm>
            <a:off x="893134" y="1197677"/>
            <a:ext cx="10377377" cy="5136448"/>
          </a:xfrm>
          <a:prstGeom prst="rect">
            <a:avLst/>
          </a:prstGeom>
        </p:spPr>
        <p:txBody>
          <a:bodyPr/>
          <a:lstStyle/>
          <a:p>
            <a:pPr>
              <a:defRPr>
                <a:solidFill>
                  <a:srgbClr val="C00000"/>
                </a:solidFill>
              </a:defRPr>
            </a:pPr>
            <a:r>
              <a:rPr lang="zh-CN" altLang="en-US" dirty="0">
                <a:latin typeface="Consolas" panose="020B0609020204030204" pitchFamily="49" charset="0"/>
                <a:ea typeface="FangSong" panose="02010609060101010101" pitchFamily="49" charset="-122"/>
                <a:cs typeface="Consolas" panose="020B0609020204030204" pitchFamily="49" charset="0"/>
              </a:rPr>
              <a:t>论断</a:t>
            </a:r>
            <a:r>
              <a:rPr lang="zh-CN" alt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：能够通过阅读代码，对其局部性做出定性判断，是专业程序员的一项关键技能。</a:t>
            </a:r>
            <a:endParaRPr lang="en-US" altLang="zh-CN" b="0" dirty="0">
              <a:solidFill>
                <a:schemeClr val="tx1"/>
              </a:solidFill>
              <a:latin typeface="Consolas" panose="020B0609020204030204" pitchFamily="49" charset="0"/>
              <a:ea typeface="FangSong" panose="02010609060101010101" pitchFamily="49" charset="-122"/>
              <a:cs typeface="Consolas" panose="020B0609020204030204" pitchFamily="49" charset="0"/>
            </a:endParaRPr>
          </a:p>
          <a:p>
            <a:pPr>
              <a:defRPr>
                <a:solidFill>
                  <a:srgbClr val="C00000"/>
                </a:solidFill>
              </a:defRPr>
            </a:pPr>
            <a:r>
              <a:rPr lang="zh-CN" altLang="en-US" dirty="0">
                <a:latin typeface="Consolas" panose="020B0609020204030204" pitchFamily="49" charset="0"/>
                <a:ea typeface="FangSong" panose="02010609060101010101" pitchFamily="49" charset="-122"/>
                <a:cs typeface="Consolas" panose="020B0609020204030204" pitchFamily="49" charset="0"/>
              </a:rPr>
              <a:t>问题</a:t>
            </a:r>
            <a:r>
              <a:rPr lang="zh-CN" alt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：该函数对数组 </a:t>
            </a:r>
            <a:r>
              <a:rPr 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a </a:t>
            </a:r>
            <a:r>
              <a:rPr lang="zh-CN" alt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是否具有良好的局部性？</a:t>
            </a:r>
            <a:endParaRPr dirty="0">
              <a:solidFill>
                <a:schemeClr val="tx1"/>
              </a:solidFill>
              <a:latin typeface="Consolas" panose="020B0609020204030204" pitchFamily="49" charset="0"/>
              <a:ea typeface="FangSong" panose="02010609060101010101" pitchFamily="49" charset="-122"/>
              <a:cs typeface="Consolas" panose="020B0609020204030204" pitchFamily="49" charset="0"/>
            </a:endParaRPr>
          </a:p>
        </p:txBody>
      </p:sp>
      <p:sp>
        <p:nvSpPr>
          <p:cNvPr id="707" name="Text Box 1028"/>
          <p:cNvSpPr txBox="1"/>
          <p:nvPr/>
        </p:nvSpPr>
        <p:spPr>
          <a:xfrm>
            <a:off x="5530241" y="2821229"/>
            <a:ext cx="4018086" cy="2585323"/>
          </a:xfrm>
          <a:prstGeom prst="rect">
            <a:avLst/>
          </a:prstGeom>
          <a:solidFill>
            <a:srgbClr val="F6F5BD"/>
          </a:solidFill>
          <a:ln w="25400">
            <a:solidFill>
              <a:srgbClr val="000000"/>
            </a:solidFill>
            <a:miter/>
          </a:ln>
        </p:spPr>
        <p:txBody>
          <a:bodyPr wrap="none" lIns="45719" rIns="45719">
            <a:spAutoFit/>
          </a:bodyPr>
          <a:lstStyle/>
          <a:p>
            <a:pPr>
              <a:defRPr sz="1800">
                <a:latin typeface="Courier New" panose="02070609020205020404"/>
                <a:ea typeface="Courier New" panose="02070609020205020404"/>
                <a:cs typeface="Courier New" panose="02070609020205020404"/>
                <a:sym typeface="Courier New" panose="02070609020205020404"/>
              </a:defRPr>
            </a:pPr>
            <a:r>
              <a:rPr sz="1800" dirty="0">
                <a:latin typeface="Consolas" panose="020B0609020204030204" pitchFamily="49" charset="0"/>
                <a:ea typeface="FangSong" panose="02010609060101010101" pitchFamily="49" charset="-122"/>
                <a:cs typeface="Consolas" panose="020B0609020204030204" pitchFamily="49" charset="0"/>
              </a:rPr>
              <a:t>int </a:t>
            </a:r>
            <a:r>
              <a:rPr sz="1800" dirty="0" err="1">
                <a:latin typeface="Consolas" panose="020B0609020204030204" pitchFamily="49" charset="0"/>
                <a:ea typeface="FangSong" panose="02010609060101010101" pitchFamily="49" charset="-122"/>
                <a:cs typeface="Consolas" panose="020B0609020204030204" pitchFamily="49" charset="0"/>
              </a:rPr>
              <a:t>sum_array_rows</a:t>
            </a:r>
            <a:r>
              <a:rPr sz="1800" dirty="0">
                <a:latin typeface="Consolas" panose="020B0609020204030204" pitchFamily="49" charset="0"/>
                <a:ea typeface="FangSong" panose="02010609060101010101" pitchFamily="49" charset="-122"/>
                <a:cs typeface="Consolas" panose="020B0609020204030204" pitchFamily="49" charset="0"/>
              </a:rPr>
              <a:t>(int a[M][N])</a:t>
            </a:r>
            <a:endParaRPr sz="1800" dirty="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dirty="0">
                <a:latin typeface="Consolas" panose="020B0609020204030204" pitchFamily="49" charset="0"/>
                <a:ea typeface="FangSong" panose="02010609060101010101" pitchFamily="49" charset="-122"/>
                <a:cs typeface="Consolas" panose="020B0609020204030204" pitchFamily="49" charset="0"/>
              </a:rPr>
              <a:t>{</a:t>
            </a:r>
            <a:endParaRPr sz="1800" dirty="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dirty="0">
                <a:latin typeface="Consolas" panose="020B0609020204030204" pitchFamily="49" charset="0"/>
                <a:ea typeface="FangSong" panose="02010609060101010101" pitchFamily="49" charset="-122"/>
                <a:cs typeface="Consolas" panose="020B0609020204030204" pitchFamily="49" charset="0"/>
              </a:rPr>
              <a:t>    int i, j, sum = 0;</a:t>
            </a:r>
            <a:endParaRPr sz="1800" dirty="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endParaRPr sz="1800" dirty="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dirty="0">
                <a:latin typeface="Consolas" panose="020B0609020204030204" pitchFamily="49" charset="0"/>
                <a:ea typeface="FangSong" panose="02010609060101010101" pitchFamily="49" charset="-122"/>
                <a:cs typeface="Consolas" panose="020B0609020204030204" pitchFamily="49" charset="0"/>
              </a:rPr>
              <a:t>    for (i = 0; i &lt; M; i++)</a:t>
            </a:r>
            <a:endParaRPr sz="1800" dirty="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dirty="0">
                <a:latin typeface="Consolas" panose="020B0609020204030204" pitchFamily="49" charset="0"/>
                <a:ea typeface="FangSong" panose="02010609060101010101" pitchFamily="49" charset="-122"/>
                <a:cs typeface="Consolas" panose="020B0609020204030204" pitchFamily="49" charset="0"/>
              </a:rPr>
              <a:t>        for (j = 0; j &lt; N; </a:t>
            </a:r>
            <a:r>
              <a:rPr sz="1800" dirty="0" err="1">
                <a:latin typeface="Consolas" panose="020B0609020204030204" pitchFamily="49" charset="0"/>
                <a:ea typeface="FangSong" panose="02010609060101010101" pitchFamily="49" charset="-122"/>
                <a:cs typeface="Consolas" panose="020B0609020204030204" pitchFamily="49" charset="0"/>
              </a:rPr>
              <a:t>j++</a:t>
            </a:r>
            <a:r>
              <a:rPr sz="1800" dirty="0">
                <a:latin typeface="Consolas" panose="020B0609020204030204" pitchFamily="49" charset="0"/>
                <a:ea typeface="FangSong" panose="02010609060101010101" pitchFamily="49" charset="-122"/>
                <a:cs typeface="Consolas" panose="020B0609020204030204" pitchFamily="49" charset="0"/>
              </a:rPr>
              <a:t>)</a:t>
            </a:r>
            <a:endParaRPr sz="1800" dirty="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dirty="0">
                <a:latin typeface="Consolas" panose="020B0609020204030204" pitchFamily="49" charset="0"/>
                <a:ea typeface="FangSong" panose="02010609060101010101" pitchFamily="49" charset="-122"/>
                <a:cs typeface="Consolas" panose="020B0609020204030204" pitchFamily="49" charset="0"/>
              </a:rPr>
              <a:t>            sum += a[i][j];</a:t>
            </a:r>
            <a:endParaRPr sz="1800" dirty="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dirty="0">
                <a:latin typeface="Consolas" panose="020B0609020204030204" pitchFamily="49" charset="0"/>
                <a:ea typeface="FangSong" panose="02010609060101010101" pitchFamily="49" charset="-122"/>
                <a:cs typeface="Consolas" panose="020B0609020204030204" pitchFamily="49" charset="0"/>
              </a:rPr>
              <a:t>    return sum;</a:t>
            </a:r>
            <a:endParaRPr sz="1800" dirty="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dirty="0">
                <a:latin typeface="Consolas" panose="020B0609020204030204" pitchFamily="49" charset="0"/>
                <a:ea typeface="FangSong" panose="02010609060101010101" pitchFamily="49" charset="-122"/>
                <a:cs typeface="Consolas" panose="020B0609020204030204" pitchFamily="49" charset="0"/>
              </a:rPr>
              <a:t>}</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708" name="TextBox 5"/>
          <p:cNvSpPr txBox="1"/>
          <p:nvPr/>
        </p:nvSpPr>
        <p:spPr>
          <a:xfrm>
            <a:off x="2538544" y="4250902"/>
            <a:ext cx="1560682" cy="461665"/>
          </a:xfrm>
          <a:prstGeom prst="rect">
            <a:avLst/>
          </a:prstGeom>
          <a:ln w="12700">
            <a:miter lim="400000"/>
          </a:ln>
        </p:spPr>
        <p:txBody>
          <a:bodyPr wrap="none" lIns="45719" rIns="45719">
            <a:spAutoFit/>
          </a:bodyPr>
          <a:lstStyle>
            <a:lvl1pPr algn="ctr">
              <a:defRPr>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答案</a:t>
            </a:r>
            <a:r>
              <a:rPr dirty="0">
                <a:latin typeface="Consolas" panose="020B0609020204030204" pitchFamily="49" charset="0"/>
                <a:ea typeface="FangSong" panose="02010609060101010101" pitchFamily="49" charset="-122"/>
                <a:cs typeface="Consolas" panose="020B0609020204030204" pitchFamily="49" charset="0"/>
              </a:rPr>
              <a:t>: yes</a:t>
            </a:r>
            <a:endParaRPr dirty="0">
              <a:latin typeface="Consolas" panose="020B0609020204030204" pitchFamily="49" charset="0"/>
              <a:ea typeface="FangSong" panose="02010609060101010101" pitchFamily="49" charset="-122"/>
              <a:cs typeface="Consolas" panose="020B0609020204030204" pitchFamily="49" charset="0"/>
            </a:endParaRPr>
          </a:p>
        </p:txBody>
      </p:sp>
      <p:grpSp>
        <p:nvGrpSpPr>
          <p:cNvPr id="744" name="Group 1"/>
          <p:cNvGrpSpPr/>
          <p:nvPr/>
        </p:nvGrpSpPr>
        <p:grpSpPr>
          <a:xfrm>
            <a:off x="1269249" y="3094476"/>
            <a:ext cx="8308625" cy="3389822"/>
            <a:chOff x="-555687" y="-255927"/>
            <a:chExt cx="8308624" cy="3389821"/>
          </a:xfrm>
        </p:grpSpPr>
        <p:sp>
          <p:nvSpPr>
            <p:cNvPr id="709" name="TextBox 4"/>
            <p:cNvSpPr txBox="1"/>
            <p:nvPr/>
          </p:nvSpPr>
          <p:spPr>
            <a:xfrm>
              <a:off x="-555687" y="-255927"/>
              <a:ext cx="4099273" cy="707884"/>
            </a:xfrm>
            <a:prstGeom prst="rect">
              <a:avLst/>
            </a:prstGeom>
            <a:noFill/>
            <a:ln w="12700" cap="flat">
              <a:noFill/>
              <a:miter lim="400000"/>
            </a:ln>
            <a:effectLst/>
          </p:spPr>
          <p:txBody>
            <a:bodyPr wrap="square" lIns="45719" tIns="45719" rIns="45719" bIns="45719" numCol="1" anchor="t">
              <a:spAutoFit/>
            </a:bodyPr>
            <a:lstStyle/>
            <a:p>
              <a:pPr algn="ctr">
                <a:defRPr>
                  <a:latin typeface="Calibri"/>
                  <a:ea typeface="Calibri"/>
                  <a:cs typeface="Calibri"/>
                  <a:sym typeface="Calibri"/>
                </a:defRPr>
              </a:pPr>
              <a:r>
                <a:rPr lang="zh-CN" altLang="en-US" sz="2000" dirty="0">
                  <a:latin typeface="Consolas" panose="020B0609020204030204" pitchFamily="49" charset="0"/>
                  <a:ea typeface="FangSong" panose="02010609060101010101" pitchFamily="49" charset="-122"/>
                  <a:cs typeface="Consolas" panose="020B0609020204030204" pitchFamily="49" charset="0"/>
                </a:rPr>
                <a:t>提示：数组在内存中按行优先顺序（</a:t>
              </a:r>
              <a:r>
                <a:rPr lang="en-US" sz="2000" dirty="0">
                  <a:latin typeface="Consolas" panose="020B0609020204030204" pitchFamily="49" charset="0"/>
                  <a:ea typeface="FangSong" panose="02010609060101010101" pitchFamily="49" charset="-122"/>
                  <a:cs typeface="Consolas" panose="020B0609020204030204" pitchFamily="49" charset="0"/>
                </a:rPr>
                <a:t>row-major order）</a:t>
              </a:r>
              <a:r>
                <a:rPr lang="zh-CN" altLang="en-US" sz="2000" dirty="0">
                  <a:latin typeface="Consolas" panose="020B0609020204030204" pitchFamily="49" charset="0"/>
                  <a:ea typeface="FangSong" panose="02010609060101010101" pitchFamily="49" charset="-122"/>
                  <a:cs typeface="Consolas" panose="020B0609020204030204" pitchFamily="49" charset="0"/>
                </a:rPr>
                <a:t>存储。</a:t>
              </a:r>
              <a:endParaRPr sz="2000" dirty="0">
                <a:latin typeface="Consolas" panose="020B0609020204030204" pitchFamily="49" charset="0"/>
                <a:ea typeface="FangSong" panose="02010609060101010101" pitchFamily="49" charset="-122"/>
                <a:cs typeface="Consolas" panose="020B0609020204030204" pitchFamily="49" charset="0"/>
              </a:endParaRPr>
            </a:p>
          </p:txBody>
        </p:sp>
        <p:grpSp>
          <p:nvGrpSpPr>
            <p:cNvPr id="743" name="Group 16"/>
            <p:cNvGrpSpPr/>
            <p:nvPr/>
          </p:nvGrpSpPr>
          <p:grpSpPr>
            <a:xfrm>
              <a:off x="566160" y="2272371"/>
              <a:ext cx="7186777" cy="861523"/>
              <a:chOff x="-1" y="-1"/>
              <a:chExt cx="7186775" cy="861522"/>
            </a:xfrm>
          </p:grpSpPr>
          <p:grpSp>
            <p:nvGrpSpPr>
              <p:cNvPr id="719" name="Group 17"/>
              <p:cNvGrpSpPr/>
              <p:nvPr/>
            </p:nvGrpSpPr>
            <p:grpSpPr>
              <a:xfrm>
                <a:off x="-1" y="-1"/>
                <a:ext cx="1885127" cy="861522"/>
                <a:chOff x="-1" y="-1"/>
                <a:chExt cx="1885126" cy="861521"/>
              </a:xfrm>
            </p:grpSpPr>
            <p:grpSp>
              <p:nvGrpSpPr>
                <p:cNvPr id="712" name="Rectangle 20"/>
                <p:cNvGrpSpPr/>
                <p:nvPr/>
              </p:nvGrpSpPr>
              <p:grpSpPr>
                <a:xfrm>
                  <a:off x="-1" y="-1"/>
                  <a:ext cx="1855579" cy="861521"/>
                  <a:chOff x="-1" y="-1"/>
                  <a:chExt cx="1855578" cy="861520"/>
                </a:xfrm>
              </p:grpSpPr>
              <p:sp>
                <p:nvSpPr>
                  <p:cNvPr id="710" name="Rectangle"/>
                  <p:cNvSpPr/>
                  <p:nvPr/>
                </p:nvSpPr>
                <p:spPr>
                  <a:xfrm>
                    <a:off x="-1" y="-1"/>
                    <a:ext cx="1855578" cy="861520"/>
                  </a:xfrm>
                  <a:prstGeom prst="rect">
                    <a:avLst/>
                  </a:prstGeom>
                  <a:solidFill>
                    <a:srgbClr val="F1C7C7"/>
                  </a:solidFill>
                  <a:ln w="28575"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11" name="• • •"/>
                  <p:cNvSpPr txBox="1"/>
                  <p:nvPr/>
                </p:nvSpPr>
                <p:spPr>
                  <a:xfrm>
                    <a:off x="633157" y="276873"/>
                    <a:ext cx="589261" cy="307774"/>
                  </a:xfrm>
                  <a:prstGeom prst="rect">
                    <a:avLst/>
                  </a:prstGeom>
                  <a:noFill/>
                  <a:ln w="12700" cap="flat">
                    <a:noFill/>
                    <a:miter lim="400000"/>
                  </a:ln>
                  <a:effectLst/>
                </p:spPr>
                <p:txBody>
                  <a:bodyPr wrap="none" lIns="45719" tIns="45719" rIns="45719" bIns="45719" numCol="1" anchor="ctr">
                    <a:spAutoFit/>
                  </a:bodyPr>
                  <a:lstStyle>
                    <a:lvl1pPr algn="ctr">
                      <a:defRPr sz="1400" b="0">
                        <a:latin typeface="Courier New" panose="02070609020205020404"/>
                        <a:ea typeface="Courier New" panose="02070609020205020404"/>
                        <a:cs typeface="Courier New" panose="02070609020205020404"/>
                        <a:sym typeface="Courier New" panose="02070609020205020404"/>
                      </a:defRPr>
                    </a:lvl1pPr>
                  </a:lstStyle>
                  <a:p>
                    <a:r>
                      <a:rPr dirty="0">
                        <a:latin typeface="Consolas" panose="020B0609020204030204" pitchFamily="49" charset="0"/>
                        <a:ea typeface="FangSong" panose="02010609060101010101" pitchFamily="49" charset="-122"/>
                        <a:cs typeface="Consolas" panose="020B0609020204030204" pitchFamily="49" charset="0"/>
                      </a:rPr>
                      <a:t>• • •</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715" name="Rectangle 18"/>
                <p:cNvGrpSpPr/>
                <p:nvPr/>
              </p:nvGrpSpPr>
              <p:grpSpPr>
                <a:xfrm>
                  <a:off x="-1" y="-1"/>
                  <a:ext cx="530167" cy="861521"/>
                  <a:chOff x="-1" y="-1"/>
                  <a:chExt cx="530166" cy="861520"/>
                </a:xfrm>
              </p:grpSpPr>
              <p:sp>
                <p:nvSpPr>
                  <p:cNvPr id="713" name="Rectangle"/>
                  <p:cNvSpPr/>
                  <p:nvPr/>
                </p:nvSpPr>
                <p:spPr>
                  <a:xfrm>
                    <a:off x="-1" y="-1"/>
                    <a:ext cx="530166" cy="861520"/>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714" name="a…"/>
                  <p:cNvSpPr txBox="1"/>
                  <p:nvPr/>
                </p:nvSpPr>
                <p:spPr>
                  <a:xfrm>
                    <a:off x="69838" y="61429"/>
                    <a:ext cx="390488" cy="738659"/>
                  </a:xfrm>
                  <a:prstGeom prst="rect">
                    <a:avLst/>
                  </a:prstGeom>
                  <a:noFill/>
                  <a:ln w="12700" cap="flat">
                    <a:noFill/>
                    <a:miter lim="400000"/>
                  </a:ln>
                  <a:effectLst/>
                </p:spPr>
                <p:txBody>
                  <a:bodyPr wrap="none" lIns="45719" tIns="45719" rIns="45719" bIns="45719" numCol="1" anchor="ctr">
                    <a:spAutoFit/>
                  </a:bodyPr>
                  <a:lstStyle/>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a</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[0]</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[0]</a:t>
                    </a:r>
                    <a:endParaRPr sz="140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718" name="Rectangle 19"/>
                <p:cNvGrpSpPr/>
                <p:nvPr/>
              </p:nvGrpSpPr>
              <p:grpSpPr>
                <a:xfrm>
                  <a:off x="1295863" y="0"/>
                  <a:ext cx="589262" cy="861520"/>
                  <a:chOff x="24183" y="0"/>
                  <a:chExt cx="589260" cy="861519"/>
                </a:xfrm>
              </p:grpSpPr>
              <p:sp>
                <p:nvSpPr>
                  <p:cNvPr id="716" name="Rectangle"/>
                  <p:cNvSpPr/>
                  <p:nvPr/>
                </p:nvSpPr>
                <p:spPr>
                  <a:xfrm>
                    <a:off x="53731" y="0"/>
                    <a:ext cx="530165" cy="861519"/>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17" name="a…"/>
                  <p:cNvSpPr txBox="1"/>
                  <p:nvPr/>
                </p:nvSpPr>
                <p:spPr>
                  <a:xfrm>
                    <a:off x="24183" y="61430"/>
                    <a:ext cx="589260" cy="738659"/>
                  </a:xfrm>
                  <a:prstGeom prst="rect">
                    <a:avLst/>
                  </a:prstGeom>
                  <a:noFill/>
                  <a:ln w="12700" cap="flat">
                    <a:noFill/>
                    <a:miter lim="400000"/>
                  </a:ln>
                  <a:effectLst/>
                </p:spPr>
                <p:txBody>
                  <a:bodyPr wrap="none" lIns="45719" tIns="45719" rIns="45719" bIns="45719" numCol="1" anchor="ctr">
                    <a:spAutoFit/>
                  </a:bodyPr>
                  <a:lstStyle/>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a</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[0]</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[N-1]</a:t>
                    </a:r>
                    <a:endParaRPr sz="1400">
                      <a:latin typeface="Consolas" panose="020B0609020204030204" pitchFamily="49" charset="0"/>
                      <a:ea typeface="FangSong" panose="02010609060101010101" pitchFamily="49" charset="-122"/>
                      <a:cs typeface="Consolas" panose="020B0609020204030204" pitchFamily="49" charset="0"/>
                    </a:endParaRPr>
                  </a:p>
                </p:txBody>
              </p:sp>
            </p:grpSp>
          </p:grpSp>
          <p:grpSp>
            <p:nvGrpSpPr>
              <p:cNvPr id="729" name="Group 21"/>
              <p:cNvGrpSpPr/>
              <p:nvPr/>
            </p:nvGrpSpPr>
            <p:grpSpPr>
              <a:xfrm>
                <a:off x="1855575" y="-1"/>
                <a:ext cx="1885128" cy="861522"/>
                <a:chOff x="-1" y="-1"/>
                <a:chExt cx="1885126" cy="861521"/>
              </a:xfrm>
            </p:grpSpPr>
            <p:grpSp>
              <p:nvGrpSpPr>
                <p:cNvPr id="722" name="Rectangle 24"/>
                <p:cNvGrpSpPr/>
                <p:nvPr/>
              </p:nvGrpSpPr>
              <p:grpSpPr>
                <a:xfrm>
                  <a:off x="-1" y="-1"/>
                  <a:ext cx="1855579" cy="861521"/>
                  <a:chOff x="-1" y="-1"/>
                  <a:chExt cx="1855578" cy="861520"/>
                </a:xfrm>
              </p:grpSpPr>
              <p:sp>
                <p:nvSpPr>
                  <p:cNvPr id="720" name="Rectangle"/>
                  <p:cNvSpPr/>
                  <p:nvPr/>
                </p:nvSpPr>
                <p:spPr>
                  <a:xfrm>
                    <a:off x="-1" y="-1"/>
                    <a:ext cx="1855578" cy="861520"/>
                  </a:xfrm>
                  <a:prstGeom prst="rect">
                    <a:avLst/>
                  </a:prstGeom>
                  <a:solidFill>
                    <a:srgbClr val="F6F5BD"/>
                  </a:solidFill>
                  <a:ln w="28575"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21" name="• • •"/>
                  <p:cNvSpPr txBox="1"/>
                  <p:nvPr/>
                </p:nvSpPr>
                <p:spPr>
                  <a:xfrm>
                    <a:off x="633157" y="276873"/>
                    <a:ext cx="589261" cy="307774"/>
                  </a:xfrm>
                  <a:prstGeom prst="rect">
                    <a:avLst/>
                  </a:prstGeom>
                  <a:noFill/>
                  <a:ln w="12700" cap="flat">
                    <a:noFill/>
                    <a:miter lim="400000"/>
                  </a:ln>
                  <a:effectLst/>
                </p:spPr>
                <p:txBody>
                  <a:bodyPr wrap="none" lIns="45719" tIns="45719" rIns="45719" bIns="45719" numCol="1" anchor="ctr">
                    <a:spAutoFit/>
                  </a:bodyPr>
                  <a:lstStyle>
                    <a:lvl1pPr algn="ctr">
                      <a:defRPr sz="1400" b="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 • •</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725" name="Rectangle 22"/>
                <p:cNvGrpSpPr/>
                <p:nvPr/>
              </p:nvGrpSpPr>
              <p:grpSpPr>
                <a:xfrm>
                  <a:off x="-1" y="-1"/>
                  <a:ext cx="530167" cy="861521"/>
                  <a:chOff x="-1" y="-1"/>
                  <a:chExt cx="530166" cy="861520"/>
                </a:xfrm>
              </p:grpSpPr>
              <p:sp>
                <p:nvSpPr>
                  <p:cNvPr id="723" name="Rectangle"/>
                  <p:cNvSpPr/>
                  <p:nvPr/>
                </p:nvSpPr>
                <p:spPr>
                  <a:xfrm>
                    <a:off x="-1" y="-1"/>
                    <a:ext cx="530166" cy="861520"/>
                  </a:xfrm>
                  <a:prstGeom prst="rect">
                    <a:avLst/>
                  </a:prstGeom>
                  <a:solidFill>
                    <a:srgbClr val="F6F5BD"/>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24" name="a…"/>
                  <p:cNvSpPr txBox="1"/>
                  <p:nvPr/>
                </p:nvSpPr>
                <p:spPr>
                  <a:xfrm>
                    <a:off x="69838" y="61429"/>
                    <a:ext cx="390488" cy="738659"/>
                  </a:xfrm>
                  <a:prstGeom prst="rect">
                    <a:avLst/>
                  </a:prstGeom>
                  <a:noFill/>
                  <a:ln w="12700" cap="flat">
                    <a:noFill/>
                    <a:miter lim="400000"/>
                  </a:ln>
                  <a:effectLst/>
                </p:spPr>
                <p:txBody>
                  <a:bodyPr wrap="none" lIns="45719" tIns="45719" rIns="45719" bIns="45719" numCol="1" anchor="ctr">
                    <a:spAutoFit/>
                  </a:bodyPr>
                  <a:lstStyle/>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a</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[1]</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[0]</a:t>
                    </a:r>
                    <a:endParaRPr sz="140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728" name="Rectangle 23"/>
                <p:cNvGrpSpPr/>
                <p:nvPr/>
              </p:nvGrpSpPr>
              <p:grpSpPr>
                <a:xfrm>
                  <a:off x="1295863" y="0"/>
                  <a:ext cx="589262" cy="861520"/>
                  <a:chOff x="24183" y="0"/>
                  <a:chExt cx="589260" cy="861519"/>
                </a:xfrm>
              </p:grpSpPr>
              <p:sp>
                <p:nvSpPr>
                  <p:cNvPr id="726" name="Rectangle"/>
                  <p:cNvSpPr/>
                  <p:nvPr/>
                </p:nvSpPr>
                <p:spPr>
                  <a:xfrm>
                    <a:off x="53731" y="0"/>
                    <a:ext cx="530165" cy="861519"/>
                  </a:xfrm>
                  <a:prstGeom prst="rect">
                    <a:avLst/>
                  </a:prstGeom>
                  <a:solidFill>
                    <a:srgbClr val="F6F5BD"/>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27" name="a…"/>
                  <p:cNvSpPr txBox="1"/>
                  <p:nvPr/>
                </p:nvSpPr>
                <p:spPr>
                  <a:xfrm>
                    <a:off x="24183" y="61430"/>
                    <a:ext cx="589260" cy="738659"/>
                  </a:xfrm>
                  <a:prstGeom prst="rect">
                    <a:avLst/>
                  </a:prstGeom>
                  <a:noFill/>
                  <a:ln w="12700" cap="flat">
                    <a:noFill/>
                    <a:miter lim="400000"/>
                  </a:ln>
                  <a:effectLst/>
                </p:spPr>
                <p:txBody>
                  <a:bodyPr wrap="none" lIns="45719" tIns="45719" rIns="45719" bIns="45719" numCol="1" anchor="ctr">
                    <a:spAutoFit/>
                  </a:bodyPr>
                  <a:lstStyle/>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a</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[1]</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[N-1]</a:t>
                    </a:r>
                    <a:endParaRPr sz="1400">
                      <a:latin typeface="Consolas" panose="020B0609020204030204" pitchFamily="49" charset="0"/>
                      <a:ea typeface="FangSong" panose="02010609060101010101" pitchFamily="49" charset="-122"/>
                      <a:cs typeface="Consolas" panose="020B0609020204030204" pitchFamily="49" charset="0"/>
                    </a:endParaRPr>
                  </a:p>
                </p:txBody>
              </p:sp>
            </p:grpSp>
          </p:grpSp>
          <p:grpSp>
            <p:nvGrpSpPr>
              <p:cNvPr id="739" name="Group 25"/>
              <p:cNvGrpSpPr/>
              <p:nvPr/>
            </p:nvGrpSpPr>
            <p:grpSpPr>
              <a:xfrm>
                <a:off x="5272098" y="-1"/>
                <a:ext cx="1914676" cy="861522"/>
                <a:chOff x="24182" y="-1"/>
                <a:chExt cx="1914674" cy="861521"/>
              </a:xfrm>
            </p:grpSpPr>
            <p:grpSp>
              <p:nvGrpSpPr>
                <p:cNvPr id="732" name="Rectangle 28"/>
                <p:cNvGrpSpPr/>
                <p:nvPr/>
              </p:nvGrpSpPr>
              <p:grpSpPr>
                <a:xfrm>
                  <a:off x="53730" y="-1"/>
                  <a:ext cx="1855579" cy="861521"/>
                  <a:chOff x="-1" y="-1"/>
                  <a:chExt cx="1855578" cy="861520"/>
                </a:xfrm>
              </p:grpSpPr>
              <p:sp>
                <p:nvSpPr>
                  <p:cNvPr id="730" name="Rectangle"/>
                  <p:cNvSpPr/>
                  <p:nvPr/>
                </p:nvSpPr>
                <p:spPr>
                  <a:xfrm>
                    <a:off x="-1" y="-1"/>
                    <a:ext cx="1855578" cy="861520"/>
                  </a:xfrm>
                  <a:prstGeom prst="rect">
                    <a:avLst/>
                  </a:prstGeom>
                  <a:solidFill>
                    <a:srgbClr val="D5F1CF"/>
                  </a:solidFill>
                  <a:ln w="28575"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31" name="• • •"/>
                  <p:cNvSpPr txBox="1"/>
                  <p:nvPr/>
                </p:nvSpPr>
                <p:spPr>
                  <a:xfrm>
                    <a:off x="633157" y="276873"/>
                    <a:ext cx="589261" cy="307774"/>
                  </a:xfrm>
                  <a:prstGeom prst="rect">
                    <a:avLst/>
                  </a:prstGeom>
                  <a:noFill/>
                  <a:ln w="12700" cap="flat">
                    <a:noFill/>
                    <a:miter lim="400000"/>
                  </a:ln>
                  <a:effectLst/>
                </p:spPr>
                <p:txBody>
                  <a:bodyPr wrap="none" lIns="45719" tIns="45719" rIns="45719" bIns="45719" numCol="1" anchor="ctr">
                    <a:spAutoFit/>
                  </a:bodyPr>
                  <a:lstStyle>
                    <a:lvl1pPr algn="ctr">
                      <a:defRPr sz="1400" b="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 • •</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735" name="Rectangle 26"/>
                <p:cNvGrpSpPr/>
                <p:nvPr/>
              </p:nvGrpSpPr>
              <p:grpSpPr>
                <a:xfrm>
                  <a:off x="24182" y="0"/>
                  <a:ext cx="589262" cy="861520"/>
                  <a:chOff x="24183" y="0"/>
                  <a:chExt cx="589260" cy="861519"/>
                </a:xfrm>
              </p:grpSpPr>
              <p:sp>
                <p:nvSpPr>
                  <p:cNvPr id="733" name="Rectangle"/>
                  <p:cNvSpPr/>
                  <p:nvPr/>
                </p:nvSpPr>
                <p:spPr>
                  <a:xfrm>
                    <a:off x="53731" y="0"/>
                    <a:ext cx="530165" cy="861519"/>
                  </a:xfrm>
                  <a:prstGeom prst="rect">
                    <a:avLst/>
                  </a:prstGeom>
                  <a:solidFill>
                    <a:srgbClr val="D5F1CF"/>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34" name="a…"/>
                  <p:cNvSpPr txBox="1"/>
                  <p:nvPr/>
                </p:nvSpPr>
                <p:spPr>
                  <a:xfrm>
                    <a:off x="24183" y="61430"/>
                    <a:ext cx="589260" cy="738659"/>
                  </a:xfrm>
                  <a:prstGeom prst="rect">
                    <a:avLst/>
                  </a:prstGeom>
                  <a:noFill/>
                  <a:ln w="12700" cap="flat">
                    <a:noFill/>
                    <a:miter lim="400000"/>
                  </a:ln>
                  <a:effectLst/>
                </p:spPr>
                <p:txBody>
                  <a:bodyPr wrap="none" lIns="45719" tIns="45719" rIns="45719" bIns="45719" numCol="1" anchor="ctr">
                    <a:spAutoFit/>
                  </a:bodyPr>
                  <a:lstStyle/>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a</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[M-1]</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[0]</a:t>
                    </a:r>
                    <a:endParaRPr sz="140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738" name="Rectangle 27"/>
                <p:cNvGrpSpPr/>
                <p:nvPr/>
              </p:nvGrpSpPr>
              <p:grpSpPr>
                <a:xfrm>
                  <a:off x="1349594" y="0"/>
                  <a:ext cx="589262" cy="861520"/>
                  <a:chOff x="24183" y="0"/>
                  <a:chExt cx="589260" cy="861519"/>
                </a:xfrm>
              </p:grpSpPr>
              <p:sp>
                <p:nvSpPr>
                  <p:cNvPr id="736" name="Rectangle"/>
                  <p:cNvSpPr/>
                  <p:nvPr/>
                </p:nvSpPr>
                <p:spPr>
                  <a:xfrm>
                    <a:off x="53731" y="0"/>
                    <a:ext cx="530165" cy="861519"/>
                  </a:xfrm>
                  <a:prstGeom prst="rect">
                    <a:avLst/>
                  </a:prstGeom>
                  <a:solidFill>
                    <a:srgbClr val="D5F1CF"/>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37" name="a…"/>
                  <p:cNvSpPr txBox="1"/>
                  <p:nvPr/>
                </p:nvSpPr>
                <p:spPr>
                  <a:xfrm>
                    <a:off x="24183" y="61430"/>
                    <a:ext cx="589260" cy="738659"/>
                  </a:xfrm>
                  <a:prstGeom prst="rect">
                    <a:avLst/>
                  </a:prstGeom>
                  <a:noFill/>
                  <a:ln w="12700" cap="flat">
                    <a:noFill/>
                    <a:miter lim="400000"/>
                  </a:ln>
                  <a:effectLst/>
                </p:spPr>
                <p:txBody>
                  <a:bodyPr wrap="none" lIns="45719" tIns="45719" rIns="45719" bIns="45719" numCol="1" anchor="ctr">
                    <a:spAutoFit/>
                  </a:bodyPr>
                  <a:lstStyle/>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a</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[M-1]</a:t>
                    </a:r>
                    <a:endParaRPr sz="1400">
                      <a:latin typeface="Consolas" panose="020B0609020204030204" pitchFamily="49" charset="0"/>
                      <a:ea typeface="FangSong" panose="02010609060101010101" pitchFamily="49" charset="-122"/>
                      <a:cs typeface="Consolas" panose="020B0609020204030204" pitchFamily="49" charset="0"/>
                    </a:endParaRPr>
                  </a:p>
                  <a:p>
                    <a:pPr algn="ctr">
                      <a:defRPr sz="1400">
                        <a:latin typeface="Courier New" panose="02070609020205020404"/>
                        <a:ea typeface="Courier New" panose="02070609020205020404"/>
                        <a:cs typeface="Courier New" panose="02070609020205020404"/>
                        <a:sym typeface="Courier New" panose="02070609020205020404"/>
                      </a:defRPr>
                    </a:pPr>
                    <a:r>
                      <a:rPr sz="1400">
                        <a:latin typeface="Consolas" panose="020B0609020204030204" pitchFamily="49" charset="0"/>
                        <a:ea typeface="FangSong" panose="02010609060101010101" pitchFamily="49" charset="-122"/>
                        <a:cs typeface="Consolas" panose="020B0609020204030204" pitchFamily="49" charset="0"/>
                      </a:rPr>
                      <a:t>[N-1]</a:t>
                    </a:r>
                    <a:endParaRPr sz="1400">
                      <a:latin typeface="Consolas" panose="020B0609020204030204" pitchFamily="49" charset="0"/>
                      <a:ea typeface="FangSong" panose="02010609060101010101" pitchFamily="49" charset="-122"/>
                      <a:cs typeface="Consolas" panose="020B0609020204030204" pitchFamily="49" charset="0"/>
                    </a:endParaRPr>
                  </a:p>
                </p:txBody>
              </p:sp>
            </p:grpSp>
          </p:grpSp>
          <p:grpSp>
            <p:nvGrpSpPr>
              <p:cNvPr id="742" name="Rectangle 29"/>
              <p:cNvGrpSpPr/>
              <p:nvPr/>
            </p:nvGrpSpPr>
            <p:grpSpPr>
              <a:xfrm>
                <a:off x="3711152" y="-1"/>
                <a:ext cx="1590497" cy="861521"/>
                <a:chOff x="-1" y="-1"/>
                <a:chExt cx="1590496" cy="861520"/>
              </a:xfrm>
            </p:grpSpPr>
            <p:sp>
              <p:nvSpPr>
                <p:cNvPr id="740" name="Rectangle"/>
                <p:cNvSpPr/>
                <p:nvPr/>
              </p:nvSpPr>
              <p:spPr>
                <a:xfrm>
                  <a:off x="-1" y="-1"/>
                  <a:ext cx="1590496" cy="861520"/>
                </a:xfrm>
                <a:prstGeom prst="rect">
                  <a:avLst/>
                </a:prstGeom>
                <a:solidFill>
                  <a:schemeClr val="accent3">
                    <a:lumOff val="44000"/>
                  </a:schemeClr>
                </a:solidFill>
                <a:ln w="254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741" name="•  •  •"/>
                <p:cNvSpPr txBox="1"/>
                <p:nvPr/>
              </p:nvSpPr>
              <p:spPr>
                <a:xfrm>
                  <a:off x="401228" y="276872"/>
                  <a:ext cx="788034" cy="307774"/>
                </a:xfrm>
                <a:prstGeom prst="rect">
                  <a:avLst/>
                </a:prstGeom>
                <a:noFill/>
                <a:ln w="12700" cap="flat">
                  <a:noFill/>
                  <a:miter lim="400000"/>
                </a:ln>
                <a:effectLst/>
              </p:spPr>
              <p:txBody>
                <a:bodyPr wrap="none" lIns="45719" tIns="45719" rIns="45719" bIns="45719" numCol="1" anchor="ctr">
                  <a:spAutoFit/>
                </a:bodyPr>
                <a:lstStyle>
                  <a:lvl1pPr algn="ctr">
                    <a:defRPr sz="1400" b="0">
                      <a:latin typeface="Courier New" panose="02070609020205020404"/>
                      <a:ea typeface="Courier New" panose="02070609020205020404"/>
                      <a:cs typeface="Courier New" panose="02070609020205020404"/>
                      <a:sym typeface="Courier New" panose="02070609020205020404"/>
                    </a:defRPr>
                  </a:lvl1pPr>
                </a:lstStyle>
                <a:p>
                  <a:r>
                    <a:rPr>
                      <a:latin typeface="Consolas" panose="020B0609020204030204" pitchFamily="49" charset="0"/>
                      <a:ea typeface="FangSong" panose="02010609060101010101" pitchFamily="49" charset="-122"/>
                      <a:cs typeface="Consolas" panose="020B0609020204030204" pitchFamily="49" charset="0"/>
                    </a:rPr>
                    <a:t>•  •  •</a:t>
                  </a:r>
                  <a:endParaRPr>
                    <a:latin typeface="Consolas" panose="020B0609020204030204" pitchFamily="49" charset="0"/>
                    <a:ea typeface="FangSong" panose="02010609060101010101" pitchFamily="49" charset="-122"/>
                    <a:cs typeface="Consolas" panose="020B0609020204030204" pitchFamily="49" charset="0"/>
                  </a:endParaRPr>
                </a:p>
              </p:txBody>
            </p:sp>
          </p:grpSp>
        </p:grpSp>
      </p:grpSp>
      <p:sp>
        <p:nvSpPr>
          <p:cNvPr id="2" name="Slide Number Placeholder 1"/>
          <p:cNvSpPr>
            <a:spLocks noGrp="1"/>
          </p:cNvSpPr>
          <p:nvPr>
            <p:ph type="sldNum" sz="quarter" idx="2"/>
          </p:nvPr>
        </p:nvSpPr>
        <p:spPr/>
        <p:txBody>
          <a:bodyPr/>
          <a:p>
            <a:fld id="{86CB4B4D-7CA3-9044-876B-883B54F8677D}" type="slidenum">
              <a:rPr/>
            </a:fld>
            <a:endParaRPr/>
          </a:p>
        </p:txBody>
      </p:sp>
      <p:cxnSp>
        <p:nvCxnSpPr>
          <p:cNvPr id="3" name="Straight Arrow Connector 2"/>
          <p:cNvCxnSpPr/>
          <p:nvPr/>
        </p:nvCxnSpPr>
        <p:spPr>
          <a:xfrm>
            <a:off x="2719705" y="5191760"/>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4" name="Straight Arrow Connector 3"/>
          <p:cNvCxnSpPr/>
          <p:nvPr/>
        </p:nvCxnSpPr>
        <p:spPr>
          <a:xfrm>
            <a:off x="3033395" y="5185410"/>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5" name="Straight Arrow Connector 4"/>
          <p:cNvCxnSpPr/>
          <p:nvPr/>
        </p:nvCxnSpPr>
        <p:spPr>
          <a:xfrm>
            <a:off x="3220085" y="5185410"/>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6" name="Straight Arrow Connector 5"/>
          <p:cNvCxnSpPr/>
          <p:nvPr/>
        </p:nvCxnSpPr>
        <p:spPr>
          <a:xfrm>
            <a:off x="3406775" y="5196205"/>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 name="Straight Arrow Connector 6"/>
          <p:cNvCxnSpPr/>
          <p:nvPr/>
        </p:nvCxnSpPr>
        <p:spPr>
          <a:xfrm>
            <a:off x="3966845" y="5222240"/>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8" name="Straight Arrow Connector 7"/>
          <p:cNvCxnSpPr/>
          <p:nvPr/>
        </p:nvCxnSpPr>
        <p:spPr>
          <a:xfrm>
            <a:off x="4401820" y="5222240"/>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7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indefinite" fill="hold"/>
                                        <p:tgtEl>
                                          <p:spTgt spid="7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 grpId="0" animBg="1" advAuto="0"/>
      <p:bldP spid="744" grpId="0"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6" name="Rectangle 6"/>
          <p:cNvSpPr>
            <a:spLocks noGrp="1" noChangeArrowheads="1"/>
          </p:cNvSpPr>
          <p:nvPr>
            <p:ph type="body" idx="1"/>
          </p:nvPr>
        </p:nvSpPr>
        <p:spPr>
          <a:xfrm>
            <a:off x="1920876" y="1362075"/>
            <a:ext cx="8082107" cy="4972050"/>
          </a:xfrm>
        </p:spPr>
        <p:txBody>
          <a:bodyPr/>
          <a:lstStyle/>
          <a:p>
            <a:r>
              <a:rPr lang="en-US" dirty="0" err="1">
                <a:solidFill>
                  <a:srgbClr val="C00000"/>
                </a:solidFill>
                <a:latin typeface="Consolas" panose="020B0609020204030204" pitchFamily="49" charset="0"/>
                <a:ea typeface="FangSong" panose="02010609060101010101" pitchFamily="49" charset="-122"/>
                <a:cs typeface="Consolas" panose="020B0609020204030204" pitchFamily="49" charset="0"/>
              </a:rPr>
              <a:t>问题</a:t>
            </a:r>
            <a:r>
              <a:rPr lang="en-US" dirty="0">
                <a:solidFill>
                  <a:srgbClr val="C00000"/>
                </a:solidFill>
                <a:latin typeface="Consolas" panose="020B0609020204030204" pitchFamily="49" charset="0"/>
                <a:ea typeface="FangSong" panose="02010609060101010101" pitchFamily="49" charset="-122"/>
                <a:cs typeface="Consolas" panose="020B0609020204030204" pitchFamily="49" charset="0"/>
              </a:rPr>
              <a:t>: </a:t>
            </a:r>
            <a:r>
              <a:rPr lang="zh-CN" altLang="en-US" b="0" dirty="0">
                <a:latin typeface="Consolas" panose="020B0609020204030204" pitchFamily="49" charset="0"/>
                <a:ea typeface="FangSong" panose="02010609060101010101" pitchFamily="49" charset="-122"/>
                <a:cs typeface="Consolas" panose="020B0609020204030204" pitchFamily="49" charset="0"/>
              </a:rPr>
              <a:t>该函数对数组 </a:t>
            </a:r>
            <a:r>
              <a:rPr lang="en-US" b="0" dirty="0">
                <a:latin typeface="Consolas" panose="020B0609020204030204" pitchFamily="49" charset="0"/>
                <a:ea typeface="FangSong" panose="02010609060101010101" pitchFamily="49" charset="-122"/>
                <a:cs typeface="Consolas" panose="020B0609020204030204" pitchFamily="49" charset="0"/>
              </a:rPr>
              <a:t>a </a:t>
            </a:r>
            <a:r>
              <a:rPr lang="zh-CN" altLang="en-US" b="0" dirty="0">
                <a:latin typeface="Consolas" panose="020B0609020204030204" pitchFamily="49" charset="0"/>
                <a:ea typeface="FangSong" panose="02010609060101010101" pitchFamily="49" charset="-122"/>
                <a:cs typeface="Consolas" panose="020B0609020204030204" pitchFamily="49" charset="0"/>
              </a:rPr>
              <a:t>是否具有良好的局部性？</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133124" name="Text Box 4"/>
          <p:cNvSpPr txBox="1">
            <a:spLocks noChangeArrowheads="1"/>
          </p:cNvSpPr>
          <p:nvPr/>
        </p:nvSpPr>
        <p:spPr bwMode="auto">
          <a:xfrm>
            <a:off x="1636182" y="2134181"/>
            <a:ext cx="4110421" cy="2585323"/>
          </a:xfrm>
          <a:prstGeom prst="rect">
            <a:avLst/>
          </a:prstGeom>
          <a:solidFill>
            <a:srgbClr val="F6F5BD"/>
          </a:solidFill>
          <a:ln w="25400">
            <a:solidFill>
              <a:schemeClr val="tx1"/>
            </a:solidFill>
            <a:miter lim="800000"/>
          </a:ln>
          <a:effectLst/>
        </p:spPr>
        <p:txBody>
          <a:bodyPr wrap="none">
            <a:spAutoFit/>
          </a:bodyPr>
          <a:lstStyle/>
          <a:p>
            <a:pPr algn="l">
              <a:lnSpc>
                <a:spcPct val="100000"/>
              </a:lnSpc>
            </a:pPr>
            <a:r>
              <a:rPr lang="en-US" sz="1800" dirty="0" err="1">
                <a:latin typeface="Consolas" panose="020B0609020204030204" pitchFamily="49" charset="0"/>
                <a:ea typeface="FangSong" panose="02010609060101010101" pitchFamily="49" charset="-122"/>
                <a:cs typeface="Consolas" panose="020B0609020204030204" pitchFamily="49" charset="0"/>
              </a:rPr>
              <a:t>int</a:t>
            </a:r>
            <a:r>
              <a:rPr lang="en-US" sz="1800" dirty="0">
                <a:latin typeface="Consolas" panose="020B0609020204030204" pitchFamily="49" charset="0"/>
                <a:ea typeface="FangSong" panose="02010609060101010101" pitchFamily="49" charset="-122"/>
                <a:cs typeface="Consolas" panose="020B0609020204030204" pitchFamily="49" charset="0"/>
              </a:rPr>
              <a:t> </a:t>
            </a:r>
            <a:r>
              <a:rPr lang="en-US" sz="1800" dirty="0" err="1">
                <a:latin typeface="Consolas" panose="020B0609020204030204" pitchFamily="49" charset="0"/>
                <a:ea typeface="FangSong" panose="02010609060101010101" pitchFamily="49" charset="-122"/>
                <a:cs typeface="Consolas" panose="020B0609020204030204" pitchFamily="49" charset="0"/>
              </a:rPr>
              <a:t>sum_array_cols(int</a:t>
            </a:r>
            <a:r>
              <a:rPr lang="en-US" sz="1800" dirty="0">
                <a:latin typeface="Consolas" panose="020B0609020204030204" pitchFamily="49" charset="0"/>
                <a:ea typeface="FangSong" panose="02010609060101010101" pitchFamily="49" charset="-122"/>
                <a:cs typeface="Consolas" panose="020B0609020204030204" pitchFamily="49" charset="0"/>
              </a:rPr>
              <a:t> </a:t>
            </a:r>
            <a:r>
              <a:rPr lang="en-US" sz="1800" dirty="0" err="1">
                <a:latin typeface="Consolas" panose="020B0609020204030204" pitchFamily="49" charset="0"/>
                <a:ea typeface="FangSong" panose="02010609060101010101" pitchFamily="49" charset="-122"/>
                <a:cs typeface="Consolas" panose="020B0609020204030204" pitchFamily="49" charset="0"/>
              </a:rPr>
              <a:t>a[M][N</a:t>
            </a:r>
            <a:r>
              <a:rPr lang="en-US" sz="1800" dirty="0">
                <a:latin typeface="Consolas" panose="020B0609020204030204" pitchFamily="49" charset="0"/>
                <a:ea typeface="FangSong" panose="02010609060101010101" pitchFamily="49" charset="-122"/>
                <a:cs typeface="Consolas" panose="020B0609020204030204" pitchFamily="49" charset="0"/>
              </a:rPr>
              <a:t>])</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800" dirty="0">
                <a:latin typeface="Consolas" panose="020B0609020204030204" pitchFamily="49" charset="0"/>
                <a:ea typeface="FangSong" panose="02010609060101010101" pitchFamily="49" charset="-122"/>
                <a:cs typeface="Consolas" panose="020B0609020204030204" pitchFamily="49" charset="0"/>
              </a:rPr>
              <a:t>{</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800" dirty="0">
                <a:latin typeface="Consolas" panose="020B0609020204030204" pitchFamily="49" charset="0"/>
                <a:ea typeface="FangSong" panose="02010609060101010101" pitchFamily="49" charset="-122"/>
                <a:cs typeface="Consolas" panose="020B0609020204030204" pitchFamily="49" charset="0"/>
              </a:rPr>
              <a:t>    </a:t>
            </a:r>
            <a:r>
              <a:rPr lang="en-US" sz="1800" dirty="0" err="1">
                <a:latin typeface="Consolas" panose="020B0609020204030204" pitchFamily="49" charset="0"/>
                <a:ea typeface="FangSong" panose="02010609060101010101" pitchFamily="49" charset="-122"/>
                <a:cs typeface="Consolas" panose="020B0609020204030204" pitchFamily="49" charset="0"/>
              </a:rPr>
              <a:t>int</a:t>
            </a:r>
            <a:r>
              <a:rPr lang="en-US" sz="1800" dirty="0">
                <a:latin typeface="Consolas" panose="020B0609020204030204" pitchFamily="49" charset="0"/>
                <a:ea typeface="FangSong" panose="02010609060101010101" pitchFamily="49" charset="-122"/>
                <a:cs typeface="Consolas" panose="020B0609020204030204" pitchFamily="49" charset="0"/>
              </a:rPr>
              <a:t> </a:t>
            </a:r>
            <a:r>
              <a:rPr lang="en-US" sz="1800" dirty="0" err="1">
                <a:latin typeface="Consolas" panose="020B0609020204030204" pitchFamily="49" charset="0"/>
                <a:ea typeface="FangSong" panose="02010609060101010101" pitchFamily="49" charset="-122"/>
                <a:cs typeface="Consolas" panose="020B0609020204030204" pitchFamily="49" charset="0"/>
              </a:rPr>
              <a:t>i</a:t>
            </a:r>
            <a:r>
              <a:rPr lang="en-US" sz="1800" dirty="0">
                <a:latin typeface="Consolas" panose="020B0609020204030204" pitchFamily="49" charset="0"/>
                <a:ea typeface="FangSong" panose="02010609060101010101" pitchFamily="49" charset="-122"/>
                <a:cs typeface="Consolas" panose="020B0609020204030204" pitchFamily="49" charset="0"/>
              </a:rPr>
              <a:t>, </a:t>
            </a:r>
            <a:r>
              <a:rPr lang="en-US" sz="1800" dirty="0" err="1">
                <a:latin typeface="Consolas" panose="020B0609020204030204" pitchFamily="49" charset="0"/>
                <a:ea typeface="FangSong" panose="02010609060101010101" pitchFamily="49" charset="-122"/>
                <a:cs typeface="Consolas" panose="020B0609020204030204" pitchFamily="49" charset="0"/>
              </a:rPr>
              <a:t>j</a:t>
            </a:r>
            <a:r>
              <a:rPr lang="en-US" sz="1800" dirty="0">
                <a:latin typeface="Consolas" panose="020B0609020204030204" pitchFamily="49" charset="0"/>
                <a:ea typeface="FangSong" panose="02010609060101010101" pitchFamily="49" charset="-122"/>
                <a:cs typeface="Consolas" panose="020B0609020204030204" pitchFamily="49" charset="0"/>
              </a:rPr>
              <a:t>, sum = 0;</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800" dirty="0">
                <a:latin typeface="Consolas" panose="020B0609020204030204" pitchFamily="49" charset="0"/>
                <a:ea typeface="FangSong" panose="02010609060101010101" pitchFamily="49" charset="-122"/>
                <a:cs typeface="Consolas" panose="020B0609020204030204" pitchFamily="49" charset="0"/>
              </a:rPr>
              <a:t>    for (</a:t>
            </a:r>
            <a:r>
              <a:rPr lang="en-US" sz="1800" dirty="0" err="1">
                <a:latin typeface="Consolas" panose="020B0609020204030204" pitchFamily="49" charset="0"/>
                <a:ea typeface="FangSong" panose="02010609060101010101" pitchFamily="49" charset="-122"/>
                <a:cs typeface="Consolas" panose="020B0609020204030204" pitchFamily="49" charset="0"/>
              </a:rPr>
              <a:t>j</a:t>
            </a:r>
            <a:r>
              <a:rPr lang="en-US" sz="1800" dirty="0">
                <a:latin typeface="Consolas" panose="020B0609020204030204" pitchFamily="49" charset="0"/>
                <a:ea typeface="FangSong" panose="02010609060101010101" pitchFamily="49" charset="-122"/>
                <a:cs typeface="Consolas" panose="020B0609020204030204" pitchFamily="49" charset="0"/>
              </a:rPr>
              <a:t> = 0; </a:t>
            </a:r>
            <a:r>
              <a:rPr lang="en-US" sz="1800" dirty="0" err="1">
                <a:latin typeface="Consolas" panose="020B0609020204030204" pitchFamily="49" charset="0"/>
                <a:ea typeface="FangSong" panose="02010609060101010101" pitchFamily="49" charset="-122"/>
                <a:cs typeface="Consolas" panose="020B0609020204030204" pitchFamily="49" charset="0"/>
              </a:rPr>
              <a:t>j</a:t>
            </a:r>
            <a:r>
              <a:rPr lang="en-US" sz="1800" dirty="0">
                <a:latin typeface="Consolas" panose="020B0609020204030204" pitchFamily="49" charset="0"/>
                <a:ea typeface="FangSong" panose="02010609060101010101" pitchFamily="49" charset="-122"/>
                <a:cs typeface="Consolas" panose="020B0609020204030204" pitchFamily="49" charset="0"/>
              </a:rPr>
              <a:t> &lt; N; </a:t>
            </a:r>
            <a:r>
              <a:rPr lang="en-US" sz="1800" dirty="0" err="1">
                <a:latin typeface="Consolas" panose="020B0609020204030204" pitchFamily="49" charset="0"/>
                <a:ea typeface="FangSong" panose="02010609060101010101" pitchFamily="49" charset="-122"/>
                <a:cs typeface="Consolas" panose="020B0609020204030204" pitchFamily="49" charset="0"/>
              </a:rPr>
              <a:t>j</a:t>
            </a:r>
            <a:r>
              <a:rPr lang="en-US" sz="1800" dirty="0">
                <a:latin typeface="Consolas" panose="020B0609020204030204" pitchFamily="49" charset="0"/>
                <a:ea typeface="FangSong" panose="02010609060101010101" pitchFamily="49" charset="-122"/>
                <a:cs typeface="Consolas" panose="020B0609020204030204" pitchFamily="49" charset="0"/>
              </a:rPr>
              <a:t>++)</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800" dirty="0">
                <a:latin typeface="Consolas" panose="020B0609020204030204" pitchFamily="49" charset="0"/>
                <a:ea typeface="FangSong" panose="02010609060101010101" pitchFamily="49" charset="-122"/>
                <a:cs typeface="Consolas" panose="020B0609020204030204" pitchFamily="49" charset="0"/>
              </a:rPr>
              <a:t>        for (</a:t>
            </a:r>
            <a:r>
              <a:rPr lang="en-US" sz="1800" dirty="0" err="1">
                <a:latin typeface="Consolas" panose="020B0609020204030204" pitchFamily="49" charset="0"/>
                <a:ea typeface="FangSong" panose="02010609060101010101" pitchFamily="49" charset="-122"/>
                <a:cs typeface="Consolas" panose="020B0609020204030204" pitchFamily="49" charset="0"/>
              </a:rPr>
              <a:t>i</a:t>
            </a:r>
            <a:r>
              <a:rPr lang="en-US" sz="1800" dirty="0">
                <a:latin typeface="Consolas" panose="020B0609020204030204" pitchFamily="49" charset="0"/>
                <a:ea typeface="FangSong" panose="02010609060101010101" pitchFamily="49" charset="-122"/>
                <a:cs typeface="Consolas" panose="020B0609020204030204" pitchFamily="49" charset="0"/>
              </a:rPr>
              <a:t> = 0; </a:t>
            </a:r>
            <a:r>
              <a:rPr lang="en-US" sz="1800" dirty="0" err="1">
                <a:latin typeface="Consolas" panose="020B0609020204030204" pitchFamily="49" charset="0"/>
                <a:ea typeface="FangSong" panose="02010609060101010101" pitchFamily="49" charset="-122"/>
                <a:cs typeface="Consolas" panose="020B0609020204030204" pitchFamily="49" charset="0"/>
              </a:rPr>
              <a:t>i</a:t>
            </a:r>
            <a:r>
              <a:rPr lang="en-US" sz="1800" dirty="0">
                <a:latin typeface="Consolas" panose="020B0609020204030204" pitchFamily="49" charset="0"/>
                <a:ea typeface="FangSong" panose="02010609060101010101" pitchFamily="49" charset="-122"/>
                <a:cs typeface="Consolas" panose="020B0609020204030204" pitchFamily="49" charset="0"/>
              </a:rPr>
              <a:t> &lt; M; </a:t>
            </a:r>
            <a:r>
              <a:rPr lang="en-US" sz="1800" dirty="0" err="1">
                <a:latin typeface="Consolas" panose="020B0609020204030204" pitchFamily="49" charset="0"/>
                <a:ea typeface="FangSong" panose="02010609060101010101" pitchFamily="49" charset="-122"/>
                <a:cs typeface="Consolas" panose="020B0609020204030204" pitchFamily="49" charset="0"/>
              </a:rPr>
              <a:t>i</a:t>
            </a:r>
            <a:r>
              <a:rPr lang="en-US" sz="1800" dirty="0">
                <a:latin typeface="Consolas" panose="020B0609020204030204" pitchFamily="49" charset="0"/>
                <a:ea typeface="FangSong" panose="02010609060101010101" pitchFamily="49" charset="-122"/>
                <a:cs typeface="Consolas" panose="020B0609020204030204" pitchFamily="49" charset="0"/>
              </a:rPr>
              <a:t>++)</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800" dirty="0">
                <a:latin typeface="Consolas" panose="020B0609020204030204" pitchFamily="49" charset="0"/>
                <a:ea typeface="FangSong" panose="02010609060101010101" pitchFamily="49" charset="-122"/>
                <a:cs typeface="Consolas" panose="020B0609020204030204" pitchFamily="49" charset="0"/>
              </a:rPr>
              <a:t>            sum += </a:t>
            </a:r>
            <a:r>
              <a:rPr lang="en-US" sz="1800" dirty="0" err="1">
                <a:latin typeface="Consolas" panose="020B0609020204030204" pitchFamily="49" charset="0"/>
                <a:ea typeface="FangSong" panose="02010609060101010101" pitchFamily="49" charset="-122"/>
                <a:cs typeface="Consolas" panose="020B0609020204030204" pitchFamily="49" charset="0"/>
              </a:rPr>
              <a:t>a[i][j</a:t>
            </a:r>
            <a:r>
              <a:rPr lang="en-US" sz="1800" dirty="0">
                <a:latin typeface="Consolas" panose="020B0609020204030204" pitchFamily="49" charset="0"/>
                <a:ea typeface="FangSong" panose="02010609060101010101" pitchFamily="49" charset="-122"/>
                <a:cs typeface="Consolas" panose="020B0609020204030204" pitchFamily="49" charset="0"/>
              </a:rPr>
              <a:t>];</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800" dirty="0">
                <a:latin typeface="Consolas" panose="020B0609020204030204" pitchFamily="49" charset="0"/>
                <a:ea typeface="FangSong" panose="02010609060101010101" pitchFamily="49" charset="-122"/>
                <a:cs typeface="Consolas" panose="020B0609020204030204" pitchFamily="49" charset="0"/>
              </a:rPr>
              <a:t>    return sum;</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l">
              <a:lnSpc>
                <a:spcPct val="100000"/>
              </a:lnSpc>
            </a:pPr>
            <a:r>
              <a:rPr lang="en-US" sz="1800" dirty="0">
                <a:latin typeface="Consolas" panose="020B0609020204030204" pitchFamily="49" charset="0"/>
                <a:ea typeface="FangSong" panose="02010609060101010101" pitchFamily="49" charset="-122"/>
                <a:cs typeface="Consolas" panose="020B0609020204030204" pitchFamily="49" charset="0"/>
              </a:rPr>
              <a:t>}</a:t>
            </a:r>
            <a:endParaRPr lang="en-US"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5" name="TextBox 4"/>
          <p:cNvSpPr txBox="1"/>
          <p:nvPr/>
        </p:nvSpPr>
        <p:spPr>
          <a:xfrm>
            <a:off x="8051856" y="2200789"/>
            <a:ext cx="1483098" cy="461665"/>
          </a:xfrm>
          <a:prstGeom prst="rect">
            <a:avLst/>
          </a:prstGeom>
          <a:noFill/>
        </p:spPr>
        <p:txBody>
          <a:bodyPr wrap="none" rtlCol="0">
            <a:spAutoFit/>
          </a:bodyPr>
          <a:lstStyle/>
          <a:p>
            <a:pPr algn="ctr"/>
            <a:r>
              <a:rPr lang="en-US" dirty="0" err="1">
                <a:latin typeface="Consolas" panose="020B0609020204030204" pitchFamily="49" charset="0"/>
                <a:ea typeface="FangSong" panose="02010609060101010101" pitchFamily="49" charset="-122"/>
                <a:cs typeface="Consolas" panose="020B0609020204030204" pitchFamily="49" charset="0"/>
              </a:rPr>
              <a:t>答案</a:t>
            </a:r>
            <a:r>
              <a:rPr lang="en-US" dirty="0">
                <a:latin typeface="Consolas" panose="020B0609020204030204" pitchFamily="49" charset="0"/>
                <a:ea typeface="FangSong" panose="02010609060101010101" pitchFamily="49" charset="-122"/>
                <a:cs typeface="Consolas" panose="020B0609020204030204" pitchFamily="49" charset="0"/>
              </a:rPr>
              <a:t>: No</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6" name="TextBox 5"/>
          <p:cNvSpPr txBox="1"/>
          <p:nvPr/>
        </p:nvSpPr>
        <p:spPr>
          <a:xfrm>
            <a:off x="7208677" y="2826851"/>
            <a:ext cx="3169457" cy="461665"/>
          </a:xfrm>
          <a:prstGeom prst="rect">
            <a:avLst/>
          </a:prstGeom>
          <a:noFill/>
        </p:spPr>
        <p:txBody>
          <a:bodyPr wrap="none" rtlCol="0">
            <a:spAutoFit/>
          </a:bodyPr>
          <a:lstStyle/>
          <a:p>
            <a:pPr algn="ctr"/>
            <a:r>
              <a:rPr lang="en-US" dirty="0" err="1">
                <a:latin typeface="Consolas" panose="020B0609020204030204" pitchFamily="49" charset="0"/>
                <a:ea typeface="FangSong" panose="02010609060101010101" pitchFamily="49" charset="-122"/>
                <a:cs typeface="Consolas" panose="020B0609020204030204" pitchFamily="49" charset="0"/>
              </a:rPr>
              <a:t>步长</a:t>
            </a:r>
            <a:r>
              <a:rPr lang="zh-CN" altLang="en-US" dirty="0">
                <a:latin typeface="Consolas" panose="020B0609020204030204" pitchFamily="49" charset="0"/>
                <a:ea typeface="FangSong" panose="02010609060101010101" pitchFamily="49" charset="-122"/>
                <a:cs typeface="Consolas" panose="020B0609020204030204" pitchFamily="49" charset="0"/>
              </a:rPr>
              <a:t>为 </a:t>
            </a:r>
            <a:r>
              <a:rPr lang="en-US" altLang="zh-CN" dirty="0">
                <a:latin typeface="Consolas" panose="020B0609020204030204" pitchFamily="49" charset="0"/>
                <a:ea typeface="FangSong" panose="02010609060101010101" pitchFamily="49" charset="-122"/>
                <a:cs typeface="Consolas" panose="020B0609020204030204" pitchFamily="49" charset="0"/>
              </a:rPr>
              <a:t>N</a:t>
            </a:r>
            <a:r>
              <a:rPr lang="zh-CN" altLang="en-US" dirty="0">
                <a:latin typeface="Consolas" panose="020B0609020204030204" pitchFamily="49" charset="0"/>
                <a:ea typeface="FangSong" panose="02010609060101010101" pitchFamily="49" charset="-122"/>
                <a:cs typeface="Consolas" panose="020B0609020204030204" pitchFamily="49" charset="0"/>
              </a:rPr>
              <a:t> 的访问模式</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grpSp>
        <p:nvGrpSpPr>
          <p:cNvPr id="9" name="Group 16"/>
          <p:cNvGrpSpPr/>
          <p:nvPr/>
        </p:nvGrpSpPr>
        <p:grpSpPr bwMode="auto">
          <a:xfrm>
            <a:off x="1636181" y="5250630"/>
            <a:ext cx="7157224" cy="861518"/>
            <a:chOff x="336" y="3408"/>
            <a:chExt cx="5184" cy="624"/>
          </a:xfrm>
        </p:grpSpPr>
        <p:grpSp>
          <p:nvGrpSpPr>
            <p:cNvPr id="10" name="Group 17"/>
            <p:cNvGrpSpPr/>
            <p:nvPr/>
          </p:nvGrpSpPr>
          <p:grpSpPr bwMode="auto">
            <a:xfrm>
              <a:off x="336" y="3408"/>
              <a:ext cx="1344" cy="624"/>
              <a:chOff x="1488" y="3504"/>
              <a:chExt cx="1344" cy="624"/>
            </a:xfrm>
          </p:grpSpPr>
          <p:sp>
            <p:nvSpPr>
              <p:cNvPr id="20" name="Rectangle 20"/>
              <p:cNvSpPr>
                <a:spLocks noChangeArrowheads="1"/>
              </p:cNvSpPr>
              <p:nvPr/>
            </p:nvSpPr>
            <p:spPr bwMode="auto">
              <a:xfrm>
                <a:off x="1488" y="3504"/>
                <a:ext cx="1344" cy="624"/>
              </a:xfrm>
              <a:prstGeom prst="rect">
                <a:avLst/>
              </a:prstGeom>
              <a:solidFill>
                <a:srgbClr val="F1C7C7"/>
              </a:solidFill>
              <a:ln w="28575">
                <a:solidFill>
                  <a:schemeClr val="tx1"/>
                </a:solidFill>
                <a:miter lim="800000"/>
              </a:ln>
            </p:spPr>
            <p:txBody>
              <a:bodyPr wrap="none" anchor="ctr"/>
              <a:lstStyle/>
              <a:p>
                <a:pPr algn="ctr" eaLnBrk="0" hangingPunct="0"/>
                <a:r>
                  <a:rPr lang="en-US" sz="1400" b="0" dirty="0">
                    <a:latin typeface="Consolas" panose="020B0609020204030204" pitchFamily="49" charset="0"/>
                    <a:ea typeface="FangSong" panose="02010609060101010101" pitchFamily="49" charset="-122"/>
                    <a:cs typeface="Consolas" panose="020B0609020204030204" pitchFamily="49" charset="0"/>
                  </a:rPr>
                  <a:t>• • •</a:t>
                </a:r>
                <a:endParaRPr lang="en-US" sz="1400" b="0" dirty="0">
                  <a:latin typeface="Consolas" panose="020B0609020204030204" pitchFamily="49" charset="0"/>
                  <a:ea typeface="FangSong" panose="02010609060101010101" pitchFamily="49" charset="-122"/>
                  <a:cs typeface="Consolas" panose="020B0609020204030204" pitchFamily="49" charset="0"/>
                </a:endParaRPr>
              </a:p>
            </p:txBody>
          </p:sp>
          <p:sp>
            <p:nvSpPr>
              <p:cNvPr id="21" name="Rectangle 20"/>
              <p:cNvSpPr>
                <a:spLocks noChangeArrowheads="1"/>
              </p:cNvSpPr>
              <p:nvPr/>
            </p:nvSpPr>
            <p:spPr bwMode="auto">
              <a:xfrm>
                <a:off x="1488" y="3504"/>
                <a:ext cx="384" cy="624"/>
              </a:xfrm>
              <a:prstGeom prst="rect">
                <a:avLst/>
              </a:prstGeom>
              <a:solidFill>
                <a:srgbClr val="F1C7C7"/>
              </a:solidFill>
              <a:ln w="12700">
                <a:solidFill>
                  <a:schemeClr val="tx1"/>
                </a:solidFill>
                <a:miter lim="800000"/>
              </a:ln>
            </p:spPr>
            <p:txBody>
              <a:bodyPr wrap="none" anchor="ctr"/>
              <a:lstStyle/>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a</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[0]</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[0]</a:t>
                </a:r>
                <a:endParaRPr lang="en-US" sz="1400" dirty="0">
                  <a:latin typeface="Consolas" panose="020B0609020204030204" pitchFamily="49" charset="0"/>
                  <a:ea typeface="FangSong" panose="02010609060101010101" pitchFamily="49" charset="-122"/>
                  <a:cs typeface="Consolas" panose="020B0609020204030204" pitchFamily="49" charset="0"/>
                </a:endParaRPr>
              </a:p>
            </p:txBody>
          </p:sp>
          <p:sp>
            <p:nvSpPr>
              <p:cNvPr id="22" name="Rectangle 21"/>
              <p:cNvSpPr>
                <a:spLocks noChangeArrowheads="1"/>
              </p:cNvSpPr>
              <p:nvPr/>
            </p:nvSpPr>
            <p:spPr bwMode="auto">
              <a:xfrm>
                <a:off x="2448" y="3504"/>
                <a:ext cx="384" cy="624"/>
              </a:xfrm>
              <a:prstGeom prst="rect">
                <a:avLst/>
              </a:prstGeom>
              <a:solidFill>
                <a:srgbClr val="F1C7C7"/>
              </a:solidFill>
              <a:ln w="12700">
                <a:solidFill>
                  <a:schemeClr val="tx1"/>
                </a:solidFill>
                <a:miter lim="800000"/>
              </a:ln>
            </p:spPr>
            <p:txBody>
              <a:bodyPr wrap="none" anchor="ctr"/>
              <a:lstStyle/>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a</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[0]</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[N-1]</a:t>
                </a:r>
                <a:endParaRPr lang="en-US" sz="1400"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 name="Group 21"/>
            <p:cNvGrpSpPr/>
            <p:nvPr/>
          </p:nvGrpSpPr>
          <p:grpSpPr bwMode="auto">
            <a:xfrm>
              <a:off x="1680" y="3408"/>
              <a:ext cx="1344" cy="624"/>
              <a:chOff x="1488" y="3504"/>
              <a:chExt cx="1344" cy="624"/>
            </a:xfrm>
          </p:grpSpPr>
          <p:sp>
            <p:nvSpPr>
              <p:cNvPr id="17" name="Rectangle 24"/>
              <p:cNvSpPr>
                <a:spLocks noChangeArrowheads="1"/>
              </p:cNvSpPr>
              <p:nvPr/>
            </p:nvSpPr>
            <p:spPr bwMode="auto">
              <a:xfrm>
                <a:off x="1488" y="3504"/>
                <a:ext cx="1344" cy="624"/>
              </a:xfrm>
              <a:prstGeom prst="rect">
                <a:avLst/>
              </a:prstGeom>
              <a:solidFill>
                <a:srgbClr val="F6F5BD"/>
              </a:solidFill>
              <a:ln w="28575">
                <a:solidFill>
                  <a:schemeClr val="tx1"/>
                </a:solidFill>
                <a:miter lim="800000"/>
              </a:ln>
            </p:spPr>
            <p:txBody>
              <a:bodyPr wrap="none" anchor="ctr"/>
              <a:lstStyle/>
              <a:p>
                <a:pPr algn="ctr" eaLnBrk="0" hangingPunct="0"/>
                <a:r>
                  <a:rPr lang="en-US" sz="1400" b="0">
                    <a:latin typeface="Consolas" panose="020B0609020204030204" pitchFamily="49" charset="0"/>
                    <a:ea typeface="FangSong" panose="02010609060101010101" pitchFamily="49" charset="-122"/>
                    <a:cs typeface="Consolas" panose="020B0609020204030204" pitchFamily="49" charset="0"/>
                  </a:rPr>
                  <a:t>• • •</a:t>
                </a:r>
                <a:endParaRPr lang="en-US" sz="1400" b="0">
                  <a:latin typeface="Consolas" panose="020B0609020204030204" pitchFamily="49" charset="0"/>
                  <a:ea typeface="FangSong" panose="02010609060101010101" pitchFamily="49" charset="-122"/>
                  <a:cs typeface="Consolas" panose="020B0609020204030204" pitchFamily="49" charset="0"/>
                </a:endParaRPr>
              </a:p>
            </p:txBody>
          </p:sp>
          <p:sp>
            <p:nvSpPr>
              <p:cNvPr id="18" name="Rectangle 22"/>
              <p:cNvSpPr>
                <a:spLocks noChangeArrowheads="1"/>
              </p:cNvSpPr>
              <p:nvPr/>
            </p:nvSpPr>
            <p:spPr bwMode="auto">
              <a:xfrm>
                <a:off x="1488" y="3504"/>
                <a:ext cx="384" cy="624"/>
              </a:xfrm>
              <a:prstGeom prst="rect">
                <a:avLst/>
              </a:prstGeom>
              <a:solidFill>
                <a:srgbClr val="F6F5BD"/>
              </a:solidFill>
              <a:ln w="12700">
                <a:solidFill>
                  <a:schemeClr val="tx1"/>
                </a:solidFill>
                <a:miter lim="800000"/>
              </a:ln>
            </p:spPr>
            <p:txBody>
              <a:bodyPr wrap="none" anchor="ctr"/>
              <a:lstStyle/>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a</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[1]</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[0]</a:t>
                </a:r>
                <a:endParaRPr lang="en-US" sz="1400" dirty="0">
                  <a:latin typeface="Consolas" panose="020B0609020204030204" pitchFamily="49" charset="0"/>
                  <a:ea typeface="FangSong" panose="02010609060101010101" pitchFamily="49" charset="-122"/>
                  <a:cs typeface="Consolas" panose="020B0609020204030204" pitchFamily="49" charset="0"/>
                </a:endParaRPr>
              </a:p>
            </p:txBody>
          </p:sp>
          <p:sp>
            <p:nvSpPr>
              <p:cNvPr id="19" name="Rectangle 23"/>
              <p:cNvSpPr>
                <a:spLocks noChangeArrowheads="1"/>
              </p:cNvSpPr>
              <p:nvPr/>
            </p:nvSpPr>
            <p:spPr bwMode="auto">
              <a:xfrm>
                <a:off x="2448" y="3504"/>
                <a:ext cx="384" cy="624"/>
              </a:xfrm>
              <a:prstGeom prst="rect">
                <a:avLst/>
              </a:prstGeom>
              <a:solidFill>
                <a:srgbClr val="F6F5BD"/>
              </a:solidFill>
              <a:ln w="12700">
                <a:solidFill>
                  <a:schemeClr val="tx1"/>
                </a:solidFill>
                <a:miter lim="800000"/>
              </a:ln>
            </p:spPr>
            <p:txBody>
              <a:bodyPr wrap="none" anchor="ctr"/>
              <a:lstStyle/>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a</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[1]</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[N-1]</a:t>
                </a:r>
                <a:endParaRPr lang="en-US" sz="1400"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 name="Group 25"/>
            <p:cNvGrpSpPr/>
            <p:nvPr/>
          </p:nvGrpSpPr>
          <p:grpSpPr bwMode="auto">
            <a:xfrm>
              <a:off x="4176" y="3408"/>
              <a:ext cx="1344" cy="624"/>
              <a:chOff x="1488" y="3504"/>
              <a:chExt cx="1344" cy="624"/>
            </a:xfrm>
          </p:grpSpPr>
          <p:sp>
            <p:nvSpPr>
              <p:cNvPr id="14" name="Rectangle 28"/>
              <p:cNvSpPr>
                <a:spLocks noChangeArrowheads="1"/>
              </p:cNvSpPr>
              <p:nvPr/>
            </p:nvSpPr>
            <p:spPr bwMode="auto">
              <a:xfrm>
                <a:off x="1488" y="3504"/>
                <a:ext cx="1344" cy="624"/>
              </a:xfrm>
              <a:prstGeom prst="rect">
                <a:avLst/>
              </a:prstGeom>
              <a:solidFill>
                <a:srgbClr val="D5F1CF"/>
              </a:solidFill>
              <a:ln w="28575">
                <a:solidFill>
                  <a:schemeClr val="tx1"/>
                </a:solidFill>
                <a:miter lim="800000"/>
              </a:ln>
            </p:spPr>
            <p:txBody>
              <a:bodyPr wrap="none" anchor="ctr"/>
              <a:lstStyle/>
              <a:p>
                <a:pPr algn="ctr" eaLnBrk="0" hangingPunct="0"/>
                <a:r>
                  <a:rPr lang="en-US" sz="1400" b="0">
                    <a:latin typeface="Consolas" panose="020B0609020204030204" pitchFamily="49" charset="0"/>
                    <a:ea typeface="FangSong" panose="02010609060101010101" pitchFamily="49" charset="-122"/>
                    <a:cs typeface="Consolas" panose="020B0609020204030204" pitchFamily="49" charset="0"/>
                  </a:rPr>
                  <a:t>• • •</a:t>
                </a:r>
                <a:endParaRPr lang="en-US" sz="1400" b="0">
                  <a:latin typeface="Consolas" panose="020B0609020204030204" pitchFamily="49" charset="0"/>
                  <a:ea typeface="FangSong" panose="02010609060101010101" pitchFamily="49" charset="-122"/>
                  <a:cs typeface="Consolas" panose="020B0609020204030204" pitchFamily="49" charset="0"/>
                </a:endParaRPr>
              </a:p>
            </p:txBody>
          </p:sp>
          <p:sp>
            <p:nvSpPr>
              <p:cNvPr id="15" name="Rectangle 26"/>
              <p:cNvSpPr>
                <a:spLocks noChangeArrowheads="1"/>
              </p:cNvSpPr>
              <p:nvPr/>
            </p:nvSpPr>
            <p:spPr bwMode="auto">
              <a:xfrm>
                <a:off x="1488" y="3504"/>
                <a:ext cx="384" cy="624"/>
              </a:xfrm>
              <a:prstGeom prst="rect">
                <a:avLst/>
              </a:prstGeom>
              <a:solidFill>
                <a:srgbClr val="D5F1CF"/>
              </a:solidFill>
              <a:ln w="12700">
                <a:solidFill>
                  <a:schemeClr val="tx1"/>
                </a:solidFill>
                <a:miter lim="800000"/>
              </a:ln>
            </p:spPr>
            <p:txBody>
              <a:bodyPr wrap="none" anchor="ctr"/>
              <a:lstStyle/>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a</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[M-1]</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[0]</a:t>
                </a:r>
                <a:endParaRPr lang="en-US" sz="1400" dirty="0">
                  <a:latin typeface="Consolas" panose="020B0609020204030204" pitchFamily="49" charset="0"/>
                  <a:ea typeface="FangSong" panose="02010609060101010101" pitchFamily="49" charset="-122"/>
                  <a:cs typeface="Consolas" panose="020B0609020204030204" pitchFamily="49" charset="0"/>
                </a:endParaRPr>
              </a:p>
            </p:txBody>
          </p:sp>
          <p:sp>
            <p:nvSpPr>
              <p:cNvPr id="16" name="Rectangle 27"/>
              <p:cNvSpPr>
                <a:spLocks noChangeArrowheads="1"/>
              </p:cNvSpPr>
              <p:nvPr/>
            </p:nvSpPr>
            <p:spPr bwMode="auto">
              <a:xfrm>
                <a:off x="2448" y="3504"/>
                <a:ext cx="384" cy="624"/>
              </a:xfrm>
              <a:prstGeom prst="rect">
                <a:avLst/>
              </a:prstGeom>
              <a:solidFill>
                <a:srgbClr val="D5F1CF"/>
              </a:solidFill>
              <a:ln w="12700">
                <a:solidFill>
                  <a:schemeClr val="tx1"/>
                </a:solidFill>
                <a:miter lim="800000"/>
              </a:ln>
            </p:spPr>
            <p:txBody>
              <a:bodyPr wrap="none" anchor="ctr"/>
              <a:lstStyle/>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a</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[M-1]</a:t>
                </a:r>
                <a:endParaRPr lang="en-US" sz="1400" dirty="0">
                  <a:latin typeface="Consolas" panose="020B0609020204030204" pitchFamily="49" charset="0"/>
                  <a:ea typeface="FangSong" panose="02010609060101010101" pitchFamily="49" charset="-122"/>
                  <a:cs typeface="Consolas" panose="020B0609020204030204" pitchFamily="49" charset="0"/>
                </a:endParaRPr>
              </a:p>
              <a:p>
                <a:pPr algn="ctr" eaLnBrk="0" hangingPunct="0"/>
                <a:r>
                  <a:rPr lang="en-US" sz="1400" dirty="0">
                    <a:latin typeface="Consolas" panose="020B0609020204030204" pitchFamily="49" charset="0"/>
                    <a:ea typeface="FangSong" panose="02010609060101010101" pitchFamily="49" charset="-122"/>
                    <a:cs typeface="Consolas" panose="020B0609020204030204" pitchFamily="49" charset="0"/>
                  </a:rPr>
                  <a:t>[N-1]</a:t>
                </a:r>
                <a:endParaRPr lang="en-US" sz="1400"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13" name="Rectangle 29"/>
            <p:cNvSpPr>
              <a:spLocks noChangeArrowheads="1"/>
            </p:cNvSpPr>
            <p:nvPr/>
          </p:nvSpPr>
          <p:spPr bwMode="auto">
            <a:xfrm>
              <a:off x="3024" y="3408"/>
              <a:ext cx="1152" cy="624"/>
            </a:xfrm>
            <a:prstGeom prst="rect">
              <a:avLst/>
            </a:prstGeom>
            <a:solidFill>
              <a:schemeClr val="bg1"/>
            </a:solidFill>
            <a:ln w="25400">
              <a:solidFill>
                <a:schemeClr val="tx1"/>
              </a:solidFill>
              <a:miter lim="800000"/>
            </a:ln>
          </p:spPr>
          <p:txBody>
            <a:bodyPr wrap="none" anchor="ctr"/>
            <a:lstStyle/>
            <a:p>
              <a:pPr algn="ctr" eaLnBrk="0" hangingPunct="0"/>
              <a:r>
                <a:rPr lang="en-US" sz="1400" b="0">
                  <a:latin typeface="Consolas" panose="020B0609020204030204" pitchFamily="49" charset="0"/>
                  <a:ea typeface="FangSong" panose="02010609060101010101" pitchFamily="49" charset="-122"/>
                  <a:cs typeface="Consolas" panose="020B0609020204030204" pitchFamily="49" charset="0"/>
                </a:rPr>
                <a:t>•  •  •</a:t>
              </a:r>
              <a:endParaRPr lang="en-US" sz="1400" b="0">
                <a:latin typeface="Consolas" panose="020B0609020204030204" pitchFamily="49" charset="0"/>
                <a:ea typeface="FangSong" panose="02010609060101010101" pitchFamily="49" charset="-122"/>
                <a:cs typeface="Consolas" panose="020B0609020204030204" pitchFamily="49" charset="0"/>
              </a:endParaRPr>
            </a:p>
          </p:txBody>
        </p:sp>
      </p:grpSp>
      <p:sp>
        <p:nvSpPr>
          <p:cNvPr id="23" name="TextBox 22"/>
          <p:cNvSpPr txBox="1"/>
          <p:nvPr/>
        </p:nvSpPr>
        <p:spPr>
          <a:xfrm>
            <a:off x="6623151" y="3769760"/>
            <a:ext cx="4340508" cy="830997"/>
          </a:xfrm>
          <a:prstGeom prst="rect">
            <a:avLst/>
          </a:prstGeom>
          <a:noFill/>
        </p:spPr>
        <p:txBody>
          <a:bodyPr wrap="square" rtlCol="0">
            <a:spAutoFit/>
          </a:bodyPr>
          <a:lstStyle/>
          <a:p>
            <a:r>
              <a:rPr lang="en-US" dirty="0" err="1">
                <a:latin typeface="Consolas" panose="020B0609020204030204" pitchFamily="49" charset="0"/>
                <a:ea typeface="FangSong" panose="02010609060101010101" pitchFamily="49" charset="-122"/>
                <a:cs typeface="Consolas" panose="020B0609020204030204" pitchFamily="49" charset="0"/>
              </a:rPr>
              <a:t>注意</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lang="zh-CN" altLang="en-US" b="0" dirty="0">
                <a:latin typeface="Consolas" panose="020B0609020204030204" pitchFamily="49" charset="0"/>
                <a:ea typeface="FangSong" panose="02010609060101010101" pitchFamily="49" charset="-122"/>
                <a:cs typeface="Consolas" panose="020B0609020204030204" pitchFamily="49" charset="0"/>
              </a:rPr>
              <a:t> 如果 </a:t>
            </a:r>
            <a:r>
              <a:rPr lang="en-US" b="0" dirty="0">
                <a:latin typeface="Consolas" panose="020B0609020204030204" pitchFamily="49" charset="0"/>
                <a:ea typeface="FangSong" panose="02010609060101010101" pitchFamily="49" charset="-122"/>
                <a:cs typeface="Consolas" panose="020B0609020204030204" pitchFamily="49" charset="0"/>
              </a:rPr>
              <a:t>M </a:t>
            </a:r>
            <a:r>
              <a:rPr lang="zh-CN" altLang="en-US" b="0" dirty="0">
                <a:latin typeface="Consolas" panose="020B0609020204030204" pitchFamily="49" charset="0"/>
                <a:ea typeface="FangSong" panose="02010609060101010101" pitchFamily="49" charset="-122"/>
                <a:cs typeface="Consolas" panose="020B0609020204030204" pitchFamily="49" charset="0"/>
              </a:rPr>
              <a:t>非常小，那么具有良好的局部性。为什么？</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4" name="Rectangle 1029"/>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局部性示例</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cxnSp>
        <p:nvCxnSpPr>
          <p:cNvPr id="8" name="Straight Arrow Connector 7"/>
          <p:cNvCxnSpPr/>
          <p:nvPr/>
        </p:nvCxnSpPr>
        <p:spPr>
          <a:xfrm>
            <a:off x="1880870" y="4824095"/>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3" name="Straight Arrow Connector 2"/>
          <p:cNvCxnSpPr/>
          <p:nvPr/>
        </p:nvCxnSpPr>
        <p:spPr>
          <a:xfrm>
            <a:off x="3717925" y="4826000"/>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7" name="Straight Arrow Connector 6"/>
          <p:cNvCxnSpPr/>
          <p:nvPr/>
        </p:nvCxnSpPr>
        <p:spPr>
          <a:xfrm>
            <a:off x="7208520" y="4876165"/>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4" name="Straight Arrow Connector 23"/>
          <p:cNvCxnSpPr/>
          <p:nvPr/>
        </p:nvCxnSpPr>
        <p:spPr>
          <a:xfrm>
            <a:off x="5962015" y="4866005"/>
            <a:ext cx="0" cy="321310"/>
          </a:xfrm>
          <a:prstGeom prst="straightConnector1">
            <a:avLst/>
          </a:prstGeom>
          <a:noFill/>
          <a:ln w="25400" cap="flat">
            <a:solidFill>
              <a:schemeClr val="accent1"/>
            </a:solidFill>
            <a:prstDash val="solid"/>
            <a:round/>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Rectangle 1029"/>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局部性示例</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789" name="Rectangle 1030"/>
          <p:cNvSpPr txBox="1">
            <a:spLocks noGrp="1"/>
          </p:cNvSpPr>
          <p:nvPr>
            <p:ph type="body" idx="1"/>
          </p:nvPr>
        </p:nvSpPr>
        <p:spPr>
          <a:prstGeom prst="rect">
            <a:avLst/>
          </a:prstGeom>
        </p:spPr>
        <p:txBody>
          <a:bodyPr/>
          <a:lstStyle/>
          <a:p>
            <a:pPr>
              <a:defRPr>
                <a:solidFill>
                  <a:srgbClr val="C00000"/>
                </a:solidFill>
              </a:defRPr>
            </a:pPr>
            <a:r>
              <a:rPr lang="zh-CN" altLang="en-US" b="0" dirty="0">
                <a:latin typeface="Consolas" panose="020B0609020204030204" pitchFamily="49" charset="0"/>
                <a:ea typeface="FangSong" panose="02010609060101010101" pitchFamily="49" charset="-122"/>
                <a:cs typeface="Consolas" panose="020B0609020204030204" pitchFamily="49" charset="0"/>
              </a:rPr>
              <a:t>问题</a:t>
            </a:r>
            <a:r>
              <a:rPr lang="zh-CN" alt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：你能调整循环的顺序，使得该函数以</a:t>
            </a:r>
            <a:r>
              <a:rPr lang="zh-CN" altLang="en-US" dirty="0">
                <a:solidFill>
                  <a:schemeClr val="tx1"/>
                </a:solidFill>
                <a:latin typeface="Consolas" panose="020B0609020204030204" pitchFamily="49" charset="0"/>
                <a:ea typeface="FangSong" panose="02010609060101010101" pitchFamily="49" charset="-122"/>
                <a:cs typeface="Consolas" panose="020B0609020204030204" pitchFamily="49" charset="0"/>
              </a:rPr>
              <a:t>步长为</a:t>
            </a:r>
            <a:r>
              <a:rPr lang="en-US" altLang="zh-CN" dirty="0">
                <a:solidFill>
                  <a:schemeClr val="tx1"/>
                </a:solidFill>
                <a:latin typeface="Consolas" panose="020B0609020204030204" pitchFamily="49" charset="0"/>
                <a:ea typeface="FangSong" panose="02010609060101010101" pitchFamily="49" charset="-122"/>
                <a:cs typeface="Consolas" panose="020B0609020204030204" pitchFamily="49" charset="0"/>
              </a:rPr>
              <a:t>1</a:t>
            </a:r>
            <a:r>
              <a:rPr lang="zh-CN" altLang="en-US" dirty="0">
                <a:solidFill>
                  <a:schemeClr val="tx1"/>
                </a:solidFill>
                <a:latin typeface="Consolas" panose="020B0609020204030204" pitchFamily="49" charset="0"/>
                <a:ea typeface="FangSong" panose="02010609060101010101" pitchFamily="49" charset="-122"/>
                <a:cs typeface="Consolas" panose="020B0609020204030204" pitchFamily="49" charset="0"/>
              </a:rPr>
              <a:t>的访问模式</a:t>
            </a:r>
            <a:r>
              <a:rPr lang="zh-CN" alt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a:t>
            </a:r>
            <a:r>
              <a:rPr 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stride-1 reference pattern）</a:t>
            </a:r>
            <a:r>
              <a:rPr lang="zh-CN" alt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遍历三维数组 </a:t>
            </a:r>
            <a:r>
              <a:rPr 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a </a:t>
            </a:r>
            <a:r>
              <a:rPr lang="zh-CN" altLang="en-US" b="0" dirty="0">
                <a:solidFill>
                  <a:schemeClr val="tx1"/>
                </a:solidFill>
                <a:latin typeface="Consolas" panose="020B0609020204030204" pitchFamily="49" charset="0"/>
                <a:ea typeface="FangSong" panose="02010609060101010101" pitchFamily="49" charset="-122"/>
                <a:cs typeface="Consolas" panose="020B0609020204030204" pitchFamily="49" charset="0"/>
              </a:rPr>
              <a:t>吗？（从而获得良好的空间局部性）</a:t>
            </a:r>
            <a:endParaRPr dirty="0">
              <a:solidFill>
                <a:schemeClr val="tx1"/>
              </a:solidFill>
              <a:latin typeface="Consolas" panose="020B0609020204030204" pitchFamily="49" charset="0"/>
              <a:ea typeface="FangSong" panose="02010609060101010101" pitchFamily="49" charset="-122"/>
              <a:cs typeface="Consolas" panose="020B0609020204030204" pitchFamily="49" charset="0"/>
            </a:endParaRPr>
          </a:p>
        </p:txBody>
      </p:sp>
      <p:sp>
        <p:nvSpPr>
          <p:cNvPr id="790" name="Text Box 1028"/>
          <p:cNvSpPr txBox="1"/>
          <p:nvPr/>
        </p:nvSpPr>
        <p:spPr>
          <a:xfrm>
            <a:off x="3334632" y="2479520"/>
            <a:ext cx="4524635" cy="2862322"/>
          </a:xfrm>
          <a:prstGeom prst="rect">
            <a:avLst/>
          </a:prstGeom>
          <a:solidFill>
            <a:srgbClr val="F6F5BD"/>
          </a:solidFill>
          <a:ln w="25400">
            <a:solidFill>
              <a:srgbClr val="000000"/>
            </a:solidFill>
            <a:miter/>
          </a:ln>
        </p:spPr>
        <p:txBody>
          <a:bodyPr wrap="none" lIns="45719" rIns="45719">
            <a:spAutoFit/>
          </a:bodyPr>
          <a:lstStyle/>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int sum_array_3d(int a[M][N][N])</a:t>
            </a: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a:t>
            </a: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    int i, j, k, sum = 0;</a:t>
            </a: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    for (i = 0; i &lt; N; i++)</a:t>
            </a: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        for (j = 0; j &lt; N; j++)</a:t>
            </a: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            for (k = 0; k &lt; M; k++)</a:t>
            </a: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                sum += a[k][i][j];</a:t>
            </a: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    return sum;</a:t>
            </a:r>
            <a:endParaRPr sz="1800">
              <a:latin typeface="Consolas" panose="020B0609020204030204" pitchFamily="49" charset="0"/>
              <a:ea typeface="FangSong" panose="02010609060101010101" pitchFamily="49" charset="-122"/>
              <a:cs typeface="Consolas" panose="020B0609020204030204" pitchFamily="49" charset="0"/>
            </a:endParaRPr>
          </a:p>
          <a:p>
            <a:pPr>
              <a:defRPr sz="1800">
                <a:latin typeface="Courier New" panose="02070609020205020404"/>
                <a:ea typeface="Courier New" panose="02070609020205020404"/>
                <a:cs typeface="Courier New" panose="02070609020205020404"/>
                <a:sym typeface="Courier New" panose="02070609020205020404"/>
              </a:defRPr>
            </a:pPr>
            <a:r>
              <a:rPr sz="1800">
                <a:latin typeface="Consolas" panose="020B0609020204030204" pitchFamily="49" charset="0"/>
                <a:ea typeface="FangSong" panose="02010609060101010101" pitchFamily="49" charset="-122"/>
                <a:cs typeface="Consolas" panose="020B0609020204030204" pitchFamily="49" charset="0"/>
              </a:rPr>
              <a:t>}</a:t>
            </a: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791" name="TextBox 4"/>
          <p:cNvSpPr txBox="1"/>
          <p:nvPr/>
        </p:nvSpPr>
        <p:spPr>
          <a:xfrm>
            <a:off x="3594318" y="5780455"/>
            <a:ext cx="4005261" cy="461665"/>
          </a:xfrm>
          <a:prstGeom prst="rect">
            <a:avLst/>
          </a:prstGeom>
          <a:ln w="12700">
            <a:miter lim="400000"/>
          </a:ln>
        </p:spPr>
        <p:txBody>
          <a:bodyPr wrap="none" lIns="45719" rIns="45719">
            <a:spAutoFit/>
          </a:bodyPr>
          <a:lstStyle>
            <a:lvl1pPr algn="ctr">
              <a:defRPr>
                <a:latin typeface="Calibri"/>
                <a:ea typeface="Calibri"/>
                <a:cs typeface="Calibri"/>
                <a:sym typeface="Calibri"/>
              </a:defRPr>
            </a:lvl1pPr>
          </a:lstStyle>
          <a:p>
            <a:r>
              <a:rPr lang="zh-CN" altLang="en-US" dirty="0">
                <a:latin typeface="Consolas" panose="020B0609020204030204" pitchFamily="49" charset="0"/>
                <a:ea typeface="FangSong" panose="02010609060101010101" pitchFamily="49" charset="-122"/>
                <a:cs typeface="Consolas" panose="020B0609020204030204" pitchFamily="49" charset="0"/>
              </a:rPr>
              <a:t>答案：将 </a:t>
            </a:r>
            <a:r>
              <a:rPr lang="en-US" dirty="0">
                <a:latin typeface="Consolas" panose="020B0609020204030204" pitchFamily="49" charset="0"/>
                <a:ea typeface="FangSong" panose="02010609060101010101" pitchFamily="49" charset="-122"/>
                <a:cs typeface="Consolas" panose="020B0609020204030204" pitchFamily="49" charset="0"/>
              </a:rPr>
              <a:t>j </a:t>
            </a:r>
            <a:r>
              <a:rPr lang="zh-CN" altLang="en-US" dirty="0">
                <a:latin typeface="Consolas" panose="020B0609020204030204" pitchFamily="49" charset="0"/>
                <a:ea typeface="FangSong" panose="02010609060101010101" pitchFamily="49" charset="-122"/>
                <a:cs typeface="Consolas" panose="020B0609020204030204" pitchFamily="49" charset="0"/>
              </a:rPr>
              <a:t>作为最内层循环</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 grpId="0"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20875" y="1362075"/>
            <a:ext cx="8335342" cy="4972050"/>
          </a:xfrm>
        </p:spPr>
        <p:txBody>
          <a:bodyPr/>
          <a:lstStyle/>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存储器抽象</a:t>
            </a:r>
            <a:r>
              <a:rPr lang="en-US" b="0"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6.1.1</a:t>
            </a:r>
            <a:endParaRPr lang="en-US" dirty="0">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RAM : </a:t>
            </a: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主存构造模块</a:t>
            </a: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	</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6.1.1</a:t>
            </a: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访问的局部性</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6.2</a:t>
            </a: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latin typeface="Consolas" panose="020B0609020204030204" pitchFamily="49" charset="0"/>
                <a:ea typeface="FangSong" panose="02010609060101010101" pitchFamily="49" charset="-122"/>
                <a:cs typeface="Consolas" panose="020B0609020204030204" pitchFamily="49" charset="0"/>
              </a:rPr>
              <a:t>存储器层次结构</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6.3</a:t>
            </a:r>
            <a:endPar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存储技术与趋势</a:t>
            </a:r>
            <a:r>
              <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rPr>
              <a:t>	</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6.1.2-6.1.4</a:t>
            </a:r>
            <a:endParaRPr lang="en-US" dirty="0">
              <a:latin typeface="Consolas" panose="020B0609020204030204" pitchFamily="49" charset="0"/>
              <a:ea typeface="FangSong" panose="02010609060101010101" pitchFamily="49" charset="-122"/>
              <a:cs typeface="Consolas" panose="020B0609020204030204" pitchFamily="49" charset="0"/>
            </a:endParaRPr>
          </a:p>
          <a:p>
            <a:pPr>
              <a:lnSpc>
                <a:spcPct val="80000"/>
              </a:lnSpc>
            </a:pP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p:txBody>
      </p:sp>
      <p:sp>
        <p:nvSpPr>
          <p:cNvPr id="6" name="Title 1"/>
          <p:cNvSpPr txBox="1">
            <a:spLocks noGrp="1"/>
          </p:cNvSpPr>
          <p:nvPr>
            <p:ph type="title"/>
          </p:nvPr>
        </p:nvSpPr>
        <p:spPr>
          <a:xfrm>
            <a:off x="1881018" y="435679"/>
            <a:ext cx="7592095" cy="762001"/>
          </a:xfrm>
          <a:prstGeom prst="rect">
            <a:avLst/>
          </a:prstGeom>
        </p:spPr>
        <p:txBody>
          <a:bodyPr/>
          <a:lstStyle/>
          <a:p>
            <a:r>
              <a:rPr dirty="0"/>
              <a:t>Today</a:t>
            </a:r>
            <a:endParaRPr dirty="0"/>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Rectangle 4"/>
          <p:cNvSpPr txBox="1">
            <a:spLocks noGrp="1"/>
          </p:cNvSpPr>
          <p:nvPr>
            <p:ph type="title"/>
          </p:nvPr>
        </p:nvSpPr>
        <p:spPr>
          <a:prstGeom prst="rect">
            <a:avLst/>
          </a:prstGeom>
        </p:spPr>
        <p:txBody>
          <a:bodyPr/>
          <a:lstStyle/>
          <a:p>
            <a:r>
              <a:rPr lang="en-US"/>
              <a:t>存储层次结构</a:t>
            </a:r>
            <a:endParaRPr lang="en-US"/>
          </a:p>
        </p:txBody>
      </p:sp>
      <p:sp>
        <p:nvSpPr>
          <p:cNvPr id="799" name="Rectangle 5"/>
          <p:cNvSpPr txBox="1">
            <a:spLocks noGrp="1"/>
          </p:cNvSpPr>
          <p:nvPr>
            <p:ph type="body" idx="1"/>
          </p:nvPr>
        </p:nvSpPr>
        <p:spPr>
          <a:prstGeom prst="rect">
            <a:avLst/>
          </a:prstGeom>
        </p:spPr>
        <p:txBody>
          <a:bodyPr>
            <a:normAutofit lnSpcReduction="10000"/>
          </a:bodyPr>
          <a:lstStyle/>
          <a:p>
            <a:r>
              <a:rPr lang="zh-CN" altLang="en-US"/>
              <a:t>硬件与软件具有一些基本且持久的特性</a:t>
            </a:r>
            <a:endParaRPr lang="zh-CN" altLang="en-US"/>
          </a:p>
          <a:p>
            <a:pPr lvl="1"/>
            <a:r>
              <a:rPr lang="zh-CN" altLang="en-US">
                <a:sym typeface="+mn-ea"/>
              </a:rPr>
              <a:t>内存墙</a:t>
            </a:r>
            <a:endParaRPr lang="zh-CN" altLang="en-US"/>
          </a:p>
          <a:p>
            <a:pPr lvl="2"/>
            <a:r>
              <a:rPr lang="zh-CN" altLang="en-US" sz="2000">
                <a:sym typeface="+mn-ea"/>
              </a:rPr>
              <a:t>CPU 与主存之间的速度差距正在不断扩大</a:t>
            </a:r>
            <a:endParaRPr lang="zh-CN" altLang="en-US" sz="2000"/>
          </a:p>
          <a:p>
            <a:pPr lvl="1" algn="l"/>
            <a:r>
              <a:rPr lang="zh-CN" altLang="en-US">
                <a:sym typeface="+mn-ea"/>
              </a:rPr>
              <a:t>局部性</a:t>
            </a:r>
            <a:endParaRPr lang="zh-CN" altLang="en-US"/>
          </a:p>
          <a:p>
            <a:pPr lvl="2" algn="l"/>
            <a:r>
              <a:rPr lang="zh-CN" altLang="en-US" sz="2000">
                <a:sym typeface="+mn-ea"/>
              </a:rPr>
              <a:t>编写良好的程序往往表现出良好的局部性</a:t>
            </a:r>
            <a:endParaRPr lang="zh-CN" altLang="en-US" sz="2000"/>
          </a:p>
          <a:p>
            <a:pPr lvl="1"/>
            <a:r>
              <a:rPr lang="zh-CN" altLang="en-US"/>
              <a:t>小容量的高速</a:t>
            </a:r>
            <a:r>
              <a:rPr lang="zh-CN" altLang="en-US"/>
              <a:t>存储</a:t>
            </a:r>
            <a:endParaRPr lang="zh-CN" altLang="en-US"/>
          </a:p>
          <a:p>
            <a:pPr lvl="2"/>
            <a:r>
              <a:rPr lang="zh-CN" altLang="en-US" sz="2000"/>
              <a:t>高速存储技术每字节成本更高、容量更小，且功耗更大（产生更多热量！）</a:t>
            </a:r>
            <a:endParaRPr lang="zh-CN" altLang="en-US" sz="2000"/>
          </a:p>
          <a:p>
            <a:pPr marL="0" indent="0">
              <a:buNone/>
            </a:pPr>
            <a:endParaRPr lang="en-US" altLang="zh-CN"/>
          </a:p>
          <a:p>
            <a:r>
              <a:rPr lang="zh-CN" altLang="en-US"/>
              <a:t>这些特性在许多类型的程序中能够很好地相互配合</a:t>
            </a:r>
            <a:endParaRPr lang="en-US" altLang="zh-CN"/>
          </a:p>
          <a:p>
            <a:endParaRPr lang="en-US" altLang="zh-CN"/>
          </a:p>
          <a:p>
            <a:r>
              <a:rPr lang="zh-CN" altLang="en-US"/>
              <a:t>由此引出一种组织内存与存储系统的方法</a:t>
            </a:r>
            <a:r>
              <a:rPr lang="en-US" altLang="zh-CN"/>
              <a:t>——</a:t>
            </a:r>
            <a:r>
              <a:rPr lang="zh-CN" altLang="en-US"/>
              <a:t>存储层次</a:t>
            </a:r>
            <a:r>
              <a:rPr lang="zh-CN" altLang="en-US"/>
              <a:t>结构（</a:t>
            </a:r>
            <a:r>
              <a:rPr lang="en-US"/>
              <a:t>memory hierarchy）</a:t>
            </a:r>
            <a:endParaRPr lang="en-US"/>
          </a:p>
          <a:p>
            <a:pPr marL="0" indent="0">
              <a:buNone/>
            </a:pPr>
            <a:endParaRPr lang="en-US"/>
          </a:p>
        </p:txBody>
      </p:sp>
      <p:sp>
        <p:nvSpPr>
          <p:cNvPr id="2" name="Slide Number Placeholder 1"/>
          <p:cNvSpPr>
            <a:spLocks noGrp="1"/>
          </p:cNvSpPr>
          <p:nvPr>
            <p:ph type="sldNum" sz="quarter" idx="2"/>
          </p:nvPr>
        </p:nvSpPr>
        <p:spPr>
          <a:xfrm>
            <a:off x="11573163" y="6458109"/>
            <a:ext cx="288290" cy="306705"/>
          </a:xfrm>
        </p:spPr>
        <p:txBody>
          <a:bodyPr/>
          <a:p>
            <a:r>
              <a:t>*</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 name="Rectangle 1"/>
          <p:cNvSpPr txBox="1">
            <a:spLocks noGrp="1"/>
          </p:cNvSpPr>
          <p:nvPr>
            <p:ph type="title"/>
          </p:nvPr>
        </p:nvSpPr>
        <p:spPr>
          <a:xfrm>
            <a:off x="1585913" y="247649"/>
            <a:ext cx="8716962" cy="782640"/>
          </a:xfrm>
          <a:prstGeom prst="rect">
            <a:avLst/>
          </a:prstGeom>
        </p:spPr>
        <p:txBody>
          <a:bodyPr>
            <a:normAutofit/>
          </a:bodyPr>
          <a:lstStyle/>
          <a:p>
            <a:pPr marL="91440" indent="-91440" defTabSz="704215">
              <a:tabLst>
                <a:tab pos="698500" algn="l"/>
                <a:tab pos="1397000" algn="l"/>
                <a:tab pos="2108200" algn="l"/>
                <a:tab pos="2806700" algn="l"/>
                <a:tab pos="3517900" algn="l"/>
                <a:tab pos="4216400" algn="l"/>
                <a:tab pos="4927600" algn="l"/>
                <a:tab pos="5626100" algn="l"/>
                <a:tab pos="6324600" algn="l"/>
                <a:tab pos="7035800" algn="l"/>
                <a:tab pos="7734300" algn="l"/>
              </a:tabLst>
              <a:defRPr sz="2465"/>
            </a:pPr>
            <a:r>
              <a:rPr lang="en-US" dirty="0" err="1">
                <a:latin typeface="Consolas" panose="020B0609020204030204" pitchFamily="49" charset="0"/>
                <a:ea typeface="FangSong" panose="02010609060101010101" pitchFamily="49" charset="-122"/>
                <a:cs typeface="Consolas" panose="020B0609020204030204" pitchFamily="49" charset="0"/>
              </a:rPr>
              <a:t>存储器层次结构示例</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803" name="AutoShape 195"/>
          <p:cNvSpPr/>
          <p:nvPr/>
        </p:nvSpPr>
        <p:spPr>
          <a:xfrm>
            <a:off x="2076450" y="401321"/>
            <a:ext cx="6902451" cy="6456363"/>
          </a:xfrm>
          <a:prstGeom prst="triangle">
            <a:avLst/>
          </a:prstGeom>
          <a:gradFill>
            <a:gsLst>
              <a:gs pos="0">
                <a:srgbClr val="D2D2F4">
                  <a:alpha val="7000"/>
                </a:srgbClr>
              </a:gs>
              <a:gs pos="100000">
                <a:srgbClr val="D2D2F4"/>
              </a:gs>
            </a:gsLst>
            <a:lin ang="16140000"/>
          </a:gradFill>
          <a:ln w="12700">
            <a:solidFill>
              <a:srgbClr val="000000"/>
            </a:solidFill>
            <a:miter/>
          </a:ln>
        </p:spPr>
        <p:txBody>
          <a:bodyPr lIns="45719" rIns="45719" anchor="ctr"/>
          <a:lstStyle/>
          <a:p>
            <a:pPr>
              <a:defRPr sz="1800" b="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804" name="Text Box 196"/>
          <p:cNvSpPr txBox="1"/>
          <p:nvPr/>
        </p:nvSpPr>
        <p:spPr>
          <a:xfrm>
            <a:off x="5280721" y="834509"/>
            <a:ext cx="598880" cy="369332"/>
          </a:xfrm>
          <a:prstGeom prst="rect">
            <a:avLst/>
          </a:prstGeom>
          <a:ln w="12700">
            <a:miter lim="400000"/>
          </a:ln>
        </p:spPr>
        <p:txBody>
          <a:bodyPr wrap="none" lIns="45719" rIns="45719" anchor="ctr">
            <a:spAutoFit/>
          </a:bodyPr>
          <a:lstStyle>
            <a:lvl1pPr algn="ctr">
              <a:defRPr sz="1800"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Regs</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05" name="Text Box 198"/>
          <p:cNvSpPr txBox="1"/>
          <p:nvPr/>
        </p:nvSpPr>
        <p:spPr>
          <a:xfrm>
            <a:off x="4964128" y="1283386"/>
            <a:ext cx="1232067" cy="646331"/>
          </a:xfrm>
          <a:prstGeom prst="rect">
            <a:avLst/>
          </a:prstGeom>
          <a:ln w="12700">
            <a:miter lim="400000"/>
          </a:ln>
        </p:spPr>
        <p:txBody>
          <a:bodyPr wrap="none" lIns="45719" rIns="45719" anchor="ctr">
            <a:spAutoFit/>
          </a:bodyPr>
          <a:lstStyle/>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L1 cache </a:t>
            </a:r>
            <a:endParaRPr sz="1800">
              <a:latin typeface="Consolas" panose="020B0609020204030204" pitchFamily="49" charset="0"/>
              <a:ea typeface="FangSong" panose="02010609060101010101" pitchFamily="49" charset="-122"/>
              <a:cs typeface="Consolas" panose="020B0609020204030204" pitchFamily="49" charset="0"/>
            </a:endParaRPr>
          </a:p>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(SRAM)</a:t>
            </a: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806" name="Text Box 199"/>
          <p:cNvSpPr txBox="1"/>
          <p:nvPr/>
        </p:nvSpPr>
        <p:spPr>
          <a:xfrm>
            <a:off x="4837491" y="3821798"/>
            <a:ext cx="1485341" cy="646331"/>
          </a:xfrm>
          <a:prstGeom prst="rect">
            <a:avLst/>
          </a:prstGeom>
          <a:ln w="12700">
            <a:miter lim="400000"/>
          </a:ln>
        </p:spPr>
        <p:txBody>
          <a:bodyPr wrap="none" lIns="45719" rIns="45719" anchor="ctr">
            <a:spAutoFit/>
          </a:bodyPr>
          <a:lstStyle/>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Main memory</a:t>
            </a:r>
            <a:endParaRPr sz="1800">
              <a:latin typeface="Consolas" panose="020B0609020204030204" pitchFamily="49" charset="0"/>
              <a:ea typeface="FangSong" panose="02010609060101010101" pitchFamily="49" charset="-122"/>
              <a:cs typeface="Consolas" panose="020B0609020204030204" pitchFamily="49" charset="0"/>
            </a:endParaRPr>
          </a:p>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(DRAM)</a:t>
            </a: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807" name="Text Box 200"/>
          <p:cNvSpPr txBox="1"/>
          <p:nvPr/>
        </p:nvSpPr>
        <p:spPr>
          <a:xfrm>
            <a:off x="4077666" y="4847323"/>
            <a:ext cx="3004988" cy="646331"/>
          </a:xfrm>
          <a:prstGeom prst="rect">
            <a:avLst/>
          </a:prstGeom>
          <a:ln w="12700">
            <a:miter lim="400000"/>
          </a:ln>
        </p:spPr>
        <p:txBody>
          <a:bodyPr wrap="none" lIns="45719" rIns="45719" anchor="ctr">
            <a:spAutoFit/>
          </a:bodyPr>
          <a:lstStyle/>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Local secondary storage</a:t>
            </a:r>
            <a:endParaRPr sz="1800">
              <a:latin typeface="Consolas" panose="020B0609020204030204" pitchFamily="49" charset="0"/>
              <a:ea typeface="FangSong" panose="02010609060101010101" pitchFamily="49" charset="-122"/>
              <a:cs typeface="Consolas" panose="020B0609020204030204" pitchFamily="49" charset="0"/>
            </a:endParaRPr>
          </a:p>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(local disks)</a:t>
            </a: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808" name="Line 203"/>
          <p:cNvSpPr/>
          <p:nvPr/>
        </p:nvSpPr>
        <p:spPr>
          <a:xfrm>
            <a:off x="5037137" y="1265238"/>
            <a:ext cx="981076" cy="1"/>
          </a:xfrm>
          <a:prstGeom prst="line">
            <a:avLst/>
          </a:prstGeom>
          <a:ln w="12700">
            <a:solidFill>
              <a:srgbClr val="000000"/>
            </a:solidFill>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09" name="Line 204"/>
          <p:cNvSpPr/>
          <p:nvPr/>
        </p:nvSpPr>
        <p:spPr>
          <a:xfrm>
            <a:off x="4686300" y="1903414"/>
            <a:ext cx="1671639" cy="1"/>
          </a:xfrm>
          <a:prstGeom prst="line">
            <a:avLst/>
          </a:prstGeom>
          <a:ln w="12700">
            <a:solidFill>
              <a:srgbClr val="000000"/>
            </a:solidFill>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10" name="Line 205"/>
          <p:cNvSpPr/>
          <p:nvPr/>
        </p:nvSpPr>
        <p:spPr>
          <a:xfrm>
            <a:off x="4303713" y="2655889"/>
            <a:ext cx="2447926" cy="1"/>
          </a:xfrm>
          <a:prstGeom prst="line">
            <a:avLst/>
          </a:prstGeom>
          <a:ln w="12700">
            <a:solidFill>
              <a:srgbClr val="000000"/>
            </a:solidFill>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11" name="Line 222"/>
          <p:cNvSpPr/>
          <p:nvPr/>
        </p:nvSpPr>
        <p:spPr>
          <a:xfrm flipH="1">
            <a:off x="1507733" y="3473450"/>
            <a:ext cx="2" cy="2344739"/>
          </a:xfrm>
          <a:prstGeom prst="line">
            <a:avLst/>
          </a:prstGeom>
          <a:ln w="38100">
            <a:solidFill>
              <a:srgbClr val="22228B"/>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12" name="Text Box 223"/>
          <p:cNvSpPr txBox="1"/>
          <p:nvPr/>
        </p:nvSpPr>
        <p:spPr>
          <a:xfrm>
            <a:off x="1601079" y="3994498"/>
            <a:ext cx="1733806" cy="1077218"/>
          </a:xfrm>
          <a:prstGeom prst="rect">
            <a:avLst/>
          </a:prstGeom>
          <a:ln w="12700">
            <a:miter lim="400000"/>
          </a:ln>
        </p:spPr>
        <p:txBody>
          <a:bodyPr wrap="none" lIns="45719" rIns="45719" anchor="ctr">
            <a:spAutoFit/>
          </a:bodyPr>
          <a:lstStyle/>
          <a:p>
            <a:pPr>
              <a:defRPr sz="1600" b="0">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更大</a:t>
            </a:r>
            <a:r>
              <a:rPr lang="zh-CN" altLang="en-US" sz="1600" dirty="0">
                <a:latin typeface="Consolas" panose="020B0609020204030204" pitchFamily="49" charset="0"/>
                <a:ea typeface="FangSong" panose="02010609060101010101" pitchFamily="49" charset="-122"/>
                <a:cs typeface="Consolas" panose="020B0609020204030204" pitchFamily="49" charset="0"/>
              </a:rPr>
              <a:t>、</a:t>
            </a:r>
            <a:endParaRPr lang="en-US" altLang="zh-CN" sz="1600" dirty="0">
              <a:latin typeface="Consolas" panose="020B0609020204030204" pitchFamily="49" charset="0"/>
              <a:ea typeface="FangSong" panose="02010609060101010101" pitchFamily="49" charset="-122"/>
              <a:cs typeface="Consolas" panose="020B0609020204030204" pitchFamily="49" charset="0"/>
            </a:endParaRPr>
          </a:p>
          <a:p>
            <a:pPr>
              <a:defRPr sz="1600" b="0">
                <a:latin typeface="Calibri"/>
                <a:ea typeface="Calibri"/>
                <a:cs typeface="Calibri"/>
                <a:sym typeface="Calibri"/>
              </a:defRPr>
            </a:pPr>
            <a:r>
              <a:rPr lang="zh-CN" altLang="en-US" sz="1600" dirty="0">
                <a:latin typeface="Consolas" panose="020B0609020204030204" pitchFamily="49" charset="0"/>
                <a:ea typeface="FangSong" panose="02010609060101010101" pitchFamily="49" charset="-122"/>
                <a:cs typeface="Consolas" panose="020B0609020204030204" pitchFamily="49" charset="0"/>
              </a:rPr>
              <a:t>更慢、</a:t>
            </a:r>
            <a:endParaRPr lang="en-US" sz="1600" dirty="0">
              <a:latin typeface="Consolas" panose="020B0609020204030204" pitchFamily="49" charset="0"/>
              <a:ea typeface="FangSong" panose="02010609060101010101" pitchFamily="49" charset="-122"/>
              <a:cs typeface="Consolas" panose="020B0609020204030204" pitchFamily="49" charset="0"/>
            </a:endParaRPr>
          </a:p>
          <a:p>
            <a:pPr>
              <a:defRPr sz="1600" b="0">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更便宜</a:t>
            </a:r>
            <a:r>
              <a:rPr lang="zh-CN" altLang="en-US" sz="1600" dirty="0">
                <a:latin typeface="Consolas" panose="020B0609020204030204" pitchFamily="49" charset="0"/>
                <a:ea typeface="FangSong" panose="02010609060101010101" pitchFamily="49" charset="-122"/>
                <a:cs typeface="Consolas" panose="020B0609020204030204" pitchFamily="49" charset="0"/>
              </a:rPr>
              <a:t>（每字节）</a:t>
            </a:r>
            <a:endParaRPr lang="en-US" altLang="zh-CN" sz="1600" dirty="0">
              <a:latin typeface="Consolas" panose="020B0609020204030204" pitchFamily="49" charset="0"/>
              <a:ea typeface="FangSong" panose="02010609060101010101" pitchFamily="49" charset="-122"/>
              <a:cs typeface="Consolas" panose="020B0609020204030204" pitchFamily="49" charset="0"/>
            </a:endParaRPr>
          </a:p>
          <a:p>
            <a:pPr>
              <a:defRPr sz="1600" b="0">
                <a:latin typeface="Calibri"/>
                <a:ea typeface="Calibri"/>
                <a:cs typeface="Calibri"/>
                <a:sym typeface="Calibri"/>
              </a:defRPr>
            </a:pPr>
            <a:r>
              <a:rPr lang="zh-CN" altLang="en-US" sz="1600" dirty="0">
                <a:latin typeface="Consolas" panose="020B0609020204030204" pitchFamily="49" charset="0"/>
                <a:ea typeface="FangSong" panose="02010609060101010101" pitchFamily="49" charset="-122"/>
                <a:cs typeface="Consolas" panose="020B0609020204030204" pitchFamily="49" charset="0"/>
              </a:rPr>
              <a:t>的存储设备</a:t>
            </a:r>
            <a:endParaRPr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813" name="Line 224"/>
          <p:cNvSpPr/>
          <p:nvPr/>
        </p:nvSpPr>
        <p:spPr>
          <a:xfrm>
            <a:off x="3779838" y="3586163"/>
            <a:ext cx="3475038" cy="1"/>
          </a:xfrm>
          <a:prstGeom prst="line">
            <a:avLst/>
          </a:prstGeom>
          <a:ln w="12700">
            <a:solidFill>
              <a:srgbClr val="000000"/>
            </a:solidFill>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14" name="Text Box 225"/>
          <p:cNvSpPr txBox="1"/>
          <p:nvPr/>
        </p:nvSpPr>
        <p:spPr>
          <a:xfrm>
            <a:off x="4014349" y="5947461"/>
            <a:ext cx="3131626" cy="646331"/>
          </a:xfrm>
          <a:prstGeom prst="rect">
            <a:avLst/>
          </a:prstGeom>
          <a:ln w="12700">
            <a:miter lim="400000"/>
          </a:ln>
        </p:spPr>
        <p:txBody>
          <a:bodyPr wrap="none" lIns="45719" rIns="45719" anchor="ctr">
            <a:spAutoFit/>
          </a:bodyPr>
          <a:lstStyle/>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Remote secondary storage</a:t>
            </a:r>
            <a:endParaRPr sz="1800">
              <a:latin typeface="Consolas" panose="020B0609020204030204" pitchFamily="49" charset="0"/>
              <a:ea typeface="FangSong" panose="02010609060101010101" pitchFamily="49" charset="-122"/>
              <a:cs typeface="Consolas" panose="020B0609020204030204" pitchFamily="49" charset="0"/>
            </a:endParaRPr>
          </a:p>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(e.g., Web servers)</a:t>
            </a: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815" name="Text Box 227"/>
          <p:cNvSpPr txBox="1"/>
          <p:nvPr/>
        </p:nvSpPr>
        <p:spPr>
          <a:xfrm>
            <a:off x="8643027" y="5590493"/>
            <a:ext cx="3192802" cy="307777"/>
          </a:xfrm>
          <a:prstGeom prst="rect">
            <a:avLst/>
          </a:prstGeom>
          <a:ln w="12700">
            <a:miter lim="400000"/>
          </a:ln>
        </p:spPr>
        <p:txBody>
          <a:bodyPr wrap="square" lIns="45719" rIns="45719" anchor="ctr">
            <a:spAutoFit/>
          </a:bodyPr>
          <a:lstStyle/>
          <a:p>
            <a:pPr>
              <a:defRPr sz="1400">
                <a:solidFill>
                  <a:srgbClr val="C00000"/>
                </a:solidFill>
                <a:latin typeface="Calibri"/>
                <a:ea typeface="Calibri"/>
                <a:cs typeface="Calibri"/>
                <a:sym typeface="Calibri"/>
              </a:defRPr>
            </a:pPr>
            <a:r>
              <a:rPr lang="en-US" sz="1400" dirty="0" err="1">
                <a:latin typeface="Consolas" panose="020B0609020204030204" pitchFamily="49" charset="0"/>
                <a:ea typeface="FangSong" panose="02010609060101010101" pitchFamily="49" charset="-122"/>
                <a:cs typeface="Consolas" panose="020B0609020204030204" pitchFamily="49" charset="0"/>
              </a:rPr>
              <a:t>本地磁盘保存检索自远程服务器的文件</a:t>
            </a:r>
            <a:endParaRPr sz="1400" dirty="0">
              <a:latin typeface="Consolas" panose="020B0609020204030204" pitchFamily="49" charset="0"/>
              <a:ea typeface="FangSong" panose="02010609060101010101" pitchFamily="49" charset="-122"/>
              <a:cs typeface="Consolas" panose="020B0609020204030204" pitchFamily="49" charset="0"/>
            </a:endParaRPr>
          </a:p>
        </p:txBody>
      </p:sp>
      <p:sp>
        <p:nvSpPr>
          <p:cNvPr id="816" name="Line 235"/>
          <p:cNvSpPr/>
          <p:nvPr/>
        </p:nvSpPr>
        <p:spPr>
          <a:xfrm>
            <a:off x="3232150" y="4632325"/>
            <a:ext cx="4576764" cy="0"/>
          </a:xfrm>
          <a:prstGeom prst="line">
            <a:avLst/>
          </a:prstGeom>
          <a:ln w="12700">
            <a:solidFill>
              <a:srgbClr val="000000"/>
            </a:solidFill>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17" name="Text Box 236"/>
          <p:cNvSpPr txBox="1"/>
          <p:nvPr/>
        </p:nvSpPr>
        <p:spPr>
          <a:xfrm>
            <a:off x="4964128" y="1948548"/>
            <a:ext cx="1232067" cy="646331"/>
          </a:xfrm>
          <a:prstGeom prst="rect">
            <a:avLst/>
          </a:prstGeom>
          <a:ln w="12700">
            <a:miter lim="400000"/>
          </a:ln>
        </p:spPr>
        <p:txBody>
          <a:bodyPr wrap="none" lIns="45719" rIns="45719" anchor="ctr">
            <a:spAutoFit/>
          </a:bodyPr>
          <a:lstStyle/>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L2 cache </a:t>
            </a:r>
            <a:endParaRPr sz="1800">
              <a:latin typeface="Consolas" panose="020B0609020204030204" pitchFamily="49" charset="0"/>
              <a:ea typeface="FangSong" panose="02010609060101010101" pitchFamily="49" charset="-122"/>
              <a:cs typeface="Consolas" panose="020B0609020204030204" pitchFamily="49" charset="0"/>
            </a:endParaRPr>
          </a:p>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(SRAM)</a:t>
            </a: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818" name="Text Box 243"/>
          <p:cNvSpPr txBox="1"/>
          <p:nvPr/>
        </p:nvSpPr>
        <p:spPr>
          <a:xfrm>
            <a:off x="6532247" y="1749525"/>
            <a:ext cx="4052324" cy="307777"/>
          </a:xfrm>
          <a:prstGeom prst="rect">
            <a:avLst/>
          </a:prstGeom>
          <a:ln w="12700">
            <a:miter lim="400000"/>
          </a:ln>
        </p:spPr>
        <p:txBody>
          <a:bodyPr wrap="square" lIns="45719" rIns="45719" anchor="ctr">
            <a:spAutoFit/>
          </a:bodyPr>
          <a:lstStyle>
            <a:lvl1pPr>
              <a:defRPr sz="1400">
                <a:solidFill>
                  <a:srgbClr val="C00000"/>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L1 cache </a:t>
            </a:r>
            <a:r>
              <a:rPr lang="en-US" dirty="0" err="1">
                <a:latin typeface="Consolas" panose="020B0609020204030204" pitchFamily="49" charset="0"/>
                <a:ea typeface="FangSong" panose="02010609060101010101" pitchFamily="49" charset="-122"/>
                <a:cs typeface="Consolas" panose="020B0609020204030204" pitchFamily="49" charset="0"/>
              </a:rPr>
              <a:t>保存检索自</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L2</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cache</a:t>
            </a:r>
            <a:r>
              <a:rPr lang="zh-CN" altLang="en-US" dirty="0">
                <a:latin typeface="Consolas" panose="020B0609020204030204" pitchFamily="49" charset="0"/>
                <a:ea typeface="FangSong" panose="02010609060101010101" pitchFamily="49" charset="-122"/>
                <a:cs typeface="Consolas" panose="020B0609020204030204" pitchFamily="49" charset="0"/>
              </a:rPr>
              <a:t> 的 </a:t>
            </a:r>
            <a:r>
              <a:rPr lang="en-US" altLang="zh-CN" dirty="0">
                <a:latin typeface="Consolas" panose="020B0609020204030204" pitchFamily="49" charset="0"/>
                <a:ea typeface="FangSong" panose="02010609060101010101" pitchFamily="49" charset="-122"/>
                <a:cs typeface="Consolas" panose="020B0609020204030204" pitchFamily="49" charset="0"/>
              </a:rPr>
              <a:t>cache</a:t>
            </a:r>
            <a:r>
              <a:rPr lang="zh-CN" altLang="en-US" dirty="0">
                <a:latin typeface="Consolas" panose="020B0609020204030204" pitchFamily="49" charset="0"/>
                <a:ea typeface="FangSong" panose="02010609060101010101" pitchFamily="49" charset="-122"/>
                <a:cs typeface="Consolas" panose="020B0609020204030204" pitchFamily="49" charset="0"/>
              </a:rPr>
              <a:t> 行</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819" name="Text Box 233"/>
          <p:cNvSpPr txBox="1"/>
          <p:nvPr/>
        </p:nvSpPr>
        <p:spPr>
          <a:xfrm>
            <a:off x="6143308" y="1081186"/>
            <a:ext cx="3257158" cy="307777"/>
          </a:xfrm>
          <a:prstGeom prst="rect">
            <a:avLst/>
          </a:prstGeom>
          <a:ln w="12700">
            <a:miter lim="400000"/>
          </a:ln>
        </p:spPr>
        <p:txBody>
          <a:bodyPr wrap="square" lIns="45719" rIns="45719" anchor="ctr">
            <a:spAutoFit/>
          </a:bodyPr>
          <a:lstStyle>
            <a:lvl1pPr>
              <a:defRPr sz="1400">
                <a:solidFill>
                  <a:srgbClr val="C00000"/>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CPU </a:t>
            </a:r>
            <a:r>
              <a:rPr lang="en-US" dirty="0" err="1">
                <a:latin typeface="Consolas" panose="020B0609020204030204" pitchFamily="49" charset="0"/>
                <a:ea typeface="FangSong" panose="02010609060101010101" pitchFamily="49" charset="-122"/>
                <a:cs typeface="Consolas" panose="020B0609020204030204" pitchFamily="49" charset="0"/>
              </a:rPr>
              <a:t>寄存器保存检索自</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L1</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cache</a:t>
            </a:r>
            <a:r>
              <a:rPr lang="zh-CN" altLang="en-US" dirty="0">
                <a:latin typeface="Consolas" panose="020B0609020204030204" pitchFamily="49" charset="0"/>
                <a:ea typeface="FangSong" panose="02010609060101010101" pitchFamily="49" charset="-122"/>
                <a:cs typeface="Consolas" panose="020B0609020204030204" pitchFamily="49" charset="0"/>
              </a:rPr>
              <a:t> 的字</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820" name="Text Box 231"/>
          <p:cNvSpPr txBox="1"/>
          <p:nvPr/>
        </p:nvSpPr>
        <p:spPr>
          <a:xfrm>
            <a:off x="6935472" y="2511521"/>
            <a:ext cx="3965408" cy="307777"/>
          </a:xfrm>
          <a:prstGeom prst="rect">
            <a:avLst/>
          </a:prstGeom>
          <a:ln w="12700">
            <a:miter lim="400000"/>
          </a:ln>
        </p:spPr>
        <p:txBody>
          <a:bodyPr wrap="square" lIns="45719" rIns="45719" anchor="ctr">
            <a:spAutoFit/>
          </a:bodyPr>
          <a:lstStyle/>
          <a:p>
            <a:pPr>
              <a:defRPr sz="1400">
                <a:solidFill>
                  <a:srgbClr val="C00000"/>
                </a:solidFill>
                <a:latin typeface="Calibri"/>
                <a:ea typeface="Calibri"/>
                <a:cs typeface="Calibri"/>
                <a:sym typeface="Calibri"/>
              </a:defRPr>
            </a:pPr>
            <a:r>
              <a:rPr sz="1400" dirty="0">
                <a:latin typeface="Consolas" panose="020B0609020204030204" pitchFamily="49" charset="0"/>
                <a:ea typeface="FangSong" panose="02010609060101010101" pitchFamily="49" charset="-122"/>
                <a:cs typeface="Consolas" panose="020B0609020204030204" pitchFamily="49" charset="0"/>
              </a:rPr>
              <a:t>L2 cache </a:t>
            </a:r>
            <a:r>
              <a:rPr lang="en-US" dirty="0" err="1">
                <a:latin typeface="Consolas" panose="020B0609020204030204" pitchFamily="49" charset="0"/>
                <a:ea typeface="FangSong" panose="02010609060101010101" pitchFamily="49" charset="-122"/>
                <a:cs typeface="Consolas" panose="020B0609020204030204" pitchFamily="49" charset="0"/>
              </a:rPr>
              <a:t>保存检索自</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L3</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cache</a:t>
            </a:r>
            <a:r>
              <a:rPr lang="zh-CN" altLang="en-US" dirty="0">
                <a:latin typeface="Consolas" panose="020B0609020204030204" pitchFamily="49" charset="0"/>
                <a:ea typeface="FangSong" panose="02010609060101010101" pitchFamily="49" charset="-122"/>
                <a:cs typeface="Consolas" panose="020B0609020204030204" pitchFamily="49" charset="0"/>
              </a:rPr>
              <a:t> 的 </a:t>
            </a:r>
            <a:r>
              <a:rPr lang="en-US" altLang="zh-CN" dirty="0">
                <a:latin typeface="Consolas" panose="020B0609020204030204" pitchFamily="49" charset="0"/>
                <a:ea typeface="FangSong" panose="02010609060101010101" pitchFamily="49" charset="-122"/>
                <a:cs typeface="Consolas" panose="020B0609020204030204" pitchFamily="49" charset="0"/>
              </a:rPr>
              <a:t>cache</a:t>
            </a:r>
            <a:r>
              <a:rPr lang="zh-CN" altLang="en-US" dirty="0">
                <a:latin typeface="Consolas" panose="020B0609020204030204" pitchFamily="49" charset="0"/>
                <a:ea typeface="FangSong" panose="02010609060101010101" pitchFamily="49" charset="-122"/>
                <a:cs typeface="Consolas" panose="020B0609020204030204" pitchFamily="49" charset="0"/>
              </a:rPr>
              <a:t> 行</a:t>
            </a:r>
            <a:endParaRPr sz="1400" dirty="0">
              <a:latin typeface="Consolas" panose="020B0609020204030204" pitchFamily="49" charset="0"/>
              <a:ea typeface="FangSong" panose="02010609060101010101" pitchFamily="49" charset="-122"/>
              <a:cs typeface="Consolas" panose="020B0609020204030204" pitchFamily="49" charset="0"/>
            </a:endParaRPr>
          </a:p>
        </p:txBody>
      </p:sp>
      <p:sp>
        <p:nvSpPr>
          <p:cNvPr id="821" name="Text Box 247"/>
          <p:cNvSpPr txBox="1"/>
          <p:nvPr/>
        </p:nvSpPr>
        <p:spPr>
          <a:xfrm>
            <a:off x="4805045" y="644009"/>
            <a:ext cx="472243" cy="369332"/>
          </a:xfrm>
          <a:prstGeom prst="rect">
            <a:avLst/>
          </a:prstGeom>
          <a:ln w="12700">
            <a:miter lim="400000"/>
          </a:ln>
        </p:spPr>
        <p:txBody>
          <a:bodyPr wrap="none" lIns="45719" rIns="45719" anchor="ctr">
            <a:spAutoFit/>
          </a:bodyPr>
          <a:lstStyle>
            <a:lvl1pPr>
              <a:defRPr sz="1800">
                <a:solidFill>
                  <a:srgbClr val="22228B"/>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L0:</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22" name="Text Box 248"/>
          <p:cNvSpPr txBox="1"/>
          <p:nvPr/>
        </p:nvSpPr>
        <p:spPr>
          <a:xfrm>
            <a:off x="4436745" y="1353622"/>
            <a:ext cx="472243" cy="369332"/>
          </a:xfrm>
          <a:prstGeom prst="rect">
            <a:avLst/>
          </a:prstGeom>
          <a:ln w="12700">
            <a:miter lim="400000"/>
          </a:ln>
        </p:spPr>
        <p:txBody>
          <a:bodyPr wrap="none" lIns="45719" rIns="45719" anchor="ctr">
            <a:spAutoFit/>
          </a:bodyPr>
          <a:lstStyle>
            <a:lvl1pPr>
              <a:defRPr sz="1800">
                <a:solidFill>
                  <a:srgbClr val="22228B"/>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L1:</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23" name="Text Box 249"/>
          <p:cNvSpPr txBox="1"/>
          <p:nvPr/>
        </p:nvSpPr>
        <p:spPr>
          <a:xfrm>
            <a:off x="4055745" y="2041009"/>
            <a:ext cx="472243" cy="369332"/>
          </a:xfrm>
          <a:prstGeom prst="rect">
            <a:avLst/>
          </a:prstGeom>
          <a:ln w="12700">
            <a:miter lim="400000"/>
          </a:ln>
        </p:spPr>
        <p:txBody>
          <a:bodyPr wrap="none" lIns="45719" rIns="45719" anchor="ctr">
            <a:spAutoFit/>
          </a:bodyPr>
          <a:lstStyle>
            <a:lvl1pPr>
              <a:defRPr sz="1800">
                <a:solidFill>
                  <a:srgbClr val="22228B"/>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L2:</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24" name="Text Box 250"/>
          <p:cNvSpPr txBox="1"/>
          <p:nvPr/>
        </p:nvSpPr>
        <p:spPr>
          <a:xfrm>
            <a:off x="3649345" y="2796659"/>
            <a:ext cx="472243" cy="369332"/>
          </a:xfrm>
          <a:prstGeom prst="rect">
            <a:avLst/>
          </a:prstGeom>
          <a:ln w="12700">
            <a:miter lim="400000"/>
          </a:ln>
        </p:spPr>
        <p:txBody>
          <a:bodyPr wrap="none" lIns="45719" rIns="45719" anchor="ctr">
            <a:spAutoFit/>
          </a:bodyPr>
          <a:lstStyle>
            <a:lvl1pPr>
              <a:defRPr sz="1800">
                <a:solidFill>
                  <a:srgbClr val="22228B"/>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L3:</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25" name="Text Box 251"/>
          <p:cNvSpPr txBox="1"/>
          <p:nvPr/>
        </p:nvSpPr>
        <p:spPr>
          <a:xfrm>
            <a:off x="3123883" y="3795197"/>
            <a:ext cx="472243" cy="369332"/>
          </a:xfrm>
          <a:prstGeom prst="rect">
            <a:avLst/>
          </a:prstGeom>
          <a:ln w="12700">
            <a:miter lim="400000"/>
          </a:ln>
        </p:spPr>
        <p:txBody>
          <a:bodyPr wrap="none" lIns="45719" rIns="45719" anchor="ctr">
            <a:spAutoFit/>
          </a:bodyPr>
          <a:lstStyle>
            <a:lvl1pPr>
              <a:defRPr sz="1800">
                <a:solidFill>
                  <a:srgbClr val="22228B"/>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L4:</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26" name="Text Box 252"/>
          <p:cNvSpPr txBox="1"/>
          <p:nvPr/>
        </p:nvSpPr>
        <p:spPr>
          <a:xfrm>
            <a:off x="2503170" y="4912797"/>
            <a:ext cx="472243" cy="369332"/>
          </a:xfrm>
          <a:prstGeom prst="rect">
            <a:avLst/>
          </a:prstGeom>
          <a:ln w="12700">
            <a:miter lim="400000"/>
          </a:ln>
        </p:spPr>
        <p:txBody>
          <a:bodyPr wrap="none" lIns="45719" rIns="45719" anchor="ctr">
            <a:spAutoFit/>
          </a:bodyPr>
          <a:lstStyle>
            <a:lvl1pPr>
              <a:defRPr sz="1800">
                <a:solidFill>
                  <a:srgbClr val="22228B"/>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L5:</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27" name="Text Box 289"/>
          <p:cNvSpPr txBox="1"/>
          <p:nvPr/>
        </p:nvSpPr>
        <p:spPr>
          <a:xfrm>
            <a:off x="1607429" y="1506884"/>
            <a:ext cx="1938990" cy="1077218"/>
          </a:xfrm>
          <a:prstGeom prst="rect">
            <a:avLst/>
          </a:prstGeom>
          <a:ln w="12700">
            <a:miter lim="400000"/>
          </a:ln>
        </p:spPr>
        <p:txBody>
          <a:bodyPr wrap="none" lIns="45719" rIns="45719" anchor="ctr">
            <a:spAutoFit/>
          </a:bodyPr>
          <a:lstStyle/>
          <a:p>
            <a:pPr>
              <a:defRPr sz="1600" b="0">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更小</a:t>
            </a:r>
            <a:r>
              <a:rPr lang="zh-CN" altLang="en-US" sz="1600" dirty="0">
                <a:latin typeface="Consolas" panose="020B0609020204030204" pitchFamily="49" charset="0"/>
                <a:ea typeface="FangSong" panose="02010609060101010101" pitchFamily="49" charset="-122"/>
                <a:cs typeface="Consolas" panose="020B0609020204030204" pitchFamily="49" charset="0"/>
              </a:rPr>
              <a:t>、</a:t>
            </a:r>
            <a:endParaRPr sz="1600" dirty="0">
              <a:latin typeface="Consolas" panose="020B0609020204030204" pitchFamily="49" charset="0"/>
              <a:ea typeface="FangSong" panose="02010609060101010101" pitchFamily="49" charset="-122"/>
              <a:cs typeface="Consolas" panose="020B0609020204030204" pitchFamily="49" charset="0"/>
            </a:endParaRPr>
          </a:p>
          <a:p>
            <a:pPr>
              <a:defRPr sz="1600" b="0">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更快</a:t>
            </a:r>
            <a:r>
              <a:rPr lang="zh-CN" altLang="en-US" sz="1600" dirty="0">
                <a:latin typeface="Consolas" panose="020B0609020204030204" pitchFamily="49" charset="0"/>
                <a:ea typeface="FangSong" panose="02010609060101010101" pitchFamily="49" charset="-122"/>
                <a:cs typeface="Consolas" panose="020B0609020204030204" pitchFamily="49" charset="0"/>
              </a:rPr>
              <a:t>、</a:t>
            </a:r>
            <a:endParaRPr sz="1600" dirty="0">
              <a:latin typeface="Consolas" panose="020B0609020204030204" pitchFamily="49" charset="0"/>
              <a:ea typeface="FangSong" panose="02010609060101010101" pitchFamily="49" charset="-122"/>
              <a:cs typeface="Consolas" panose="020B0609020204030204" pitchFamily="49" charset="0"/>
            </a:endParaRPr>
          </a:p>
          <a:p>
            <a:pPr>
              <a:defRPr sz="1600" b="0">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成本更高</a:t>
            </a:r>
            <a:r>
              <a:rPr lang="zh-CN" altLang="en-US" sz="1600" dirty="0">
                <a:latin typeface="Consolas" panose="020B0609020204030204" pitchFamily="49" charset="0"/>
                <a:ea typeface="FangSong" panose="02010609060101010101" pitchFamily="49" charset="-122"/>
                <a:cs typeface="Consolas" panose="020B0609020204030204" pitchFamily="49" charset="0"/>
              </a:rPr>
              <a:t>（</a:t>
            </a:r>
            <a:r>
              <a:rPr lang="en-US" sz="1600" dirty="0" err="1">
                <a:latin typeface="Consolas" panose="020B0609020204030204" pitchFamily="49" charset="0"/>
                <a:ea typeface="FangSong" panose="02010609060101010101" pitchFamily="49" charset="-122"/>
                <a:cs typeface="Consolas" panose="020B0609020204030204" pitchFamily="49" charset="0"/>
              </a:rPr>
              <a:t>每字节</a:t>
            </a:r>
            <a:r>
              <a:rPr lang="zh-CN" altLang="en-US" sz="1600" dirty="0">
                <a:latin typeface="Consolas" panose="020B0609020204030204" pitchFamily="49" charset="0"/>
                <a:ea typeface="FangSong" panose="02010609060101010101" pitchFamily="49" charset="-122"/>
                <a:cs typeface="Consolas" panose="020B0609020204030204" pitchFamily="49" charset="0"/>
              </a:rPr>
              <a:t>）</a:t>
            </a:r>
            <a:endParaRPr sz="1600" dirty="0">
              <a:latin typeface="Consolas" panose="020B0609020204030204" pitchFamily="49" charset="0"/>
              <a:ea typeface="FangSong" panose="02010609060101010101" pitchFamily="49" charset="-122"/>
              <a:cs typeface="Consolas" panose="020B0609020204030204" pitchFamily="49" charset="0"/>
            </a:endParaRPr>
          </a:p>
          <a:p>
            <a:pPr>
              <a:defRPr sz="1600" b="0">
                <a:latin typeface="Calibri"/>
                <a:ea typeface="Calibri"/>
                <a:cs typeface="Calibri"/>
                <a:sym typeface="Calibri"/>
              </a:defRPr>
            </a:pPr>
            <a:r>
              <a:rPr lang="en-US" sz="1600" dirty="0" err="1">
                <a:latin typeface="Consolas" panose="020B0609020204030204" pitchFamily="49" charset="0"/>
                <a:ea typeface="FangSong" panose="02010609060101010101" pitchFamily="49" charset="-122"/>
                <a:cs typeface="Consolas" panose="020B0609020204030204" pitchFamily="49" charset="0"/>
              </a:rPr>
              <a:t>的存储设备</a:t>
            </a:r>
            <a:endParaRPr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828" name="Line 291"/>
          <p:cNvSpPr/>
          <p:nvPr/>
        </p:nvSpPr>
        <p:spPr>
          <a:xfrm flipV="1">
            <a:off x="1523293" y="954089"/>
            <a:ext cx="1" cy="2154237"/>
          </a:xfrm>
          <a:prstGeom prst="line">
            <a:avLst/>
          </a:prstGeom>
          <a:ln w="38100">
            <a:solidFill>
              <a:srgbClr val="22228B"/>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29" name="Line 292"/>
          <p:cNvSpPr/>
          <p:nvPr/>
        </p:nvSpPr>
        <p:spPr>
          <a:xfrm>
            <a:off x="2641601" y="5743575"/>
            <a:ext cx="5765801" cy="0"/>
          </a:xfrm>
          <a:prstGeom prst="line">
            <a:avLst/>
          </a:prstGeom>
          <a:ln w="12700">
            <a:solidFill>
              <a:srgbClr val="000000"/>
            </a:solidFill>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30" name="Text Box 293"/>
          <p:cNvSpPr txBox="1"/>
          <p:nvPr/>
        </p:nvSpPr>
        <p:spPr>
          <a:xfrm>
            <a:off x="4964128" y="2780398"/>
            <a:ext cx="1232067" cy="646331"/>
          </a:xfrm>
          <a:prstGeom prst="rect">
            <a:avLst/>
          </a:prstGeom>
          <a:ln w="12700">
            <a:miter lim="400000"/>
          </a:ln>
        </p:spPr>
        <p:txBody>
          <a:bodyPr wrap="none" lIns="45719" rIns="45719" anchor="ctr">
            <a:spAutoFit/>
          </a:bodyPr>
          <a:lstStyle/>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L3 cache </a:t>
            </a:r>
            <a:endParaRPr sz="1800">
              <a:latin typeface="Consolas" panose="020B0609020204030204" pitchFamily="49" charset="0"/>
              <a:ea typeface="FangSong" panose="02010609060101010101" pitchFamily="49" charset="-122"/>
              <a:cs typeface="Consolas" panose="020B0609020204030204" pitchFamily="49" charset="0"/>
            </a:endParaRPr>
          </a:p>
          <a:p>
            <a:pPr algn="ctr">
              <a:defRPr sz="1800" b="0">
                <a:latin typeface="Calibri"/>
                <a:ea typeface="Calibri"/>
                <a:cs typeface="Calibri"/>
                <a:sym typeface="Calibri"/>
              </a:defRPr>
            </a:pPr>
            <a:r>
              <a:rPr sz="1800">
                <a:latin typeface="Consolas" panose="020B0609020204030204" pitchFamily="49" charset="0"/>
                <a:ea typeface="FangSong" panose="02010609060101010101" pitchFamily="49" charset="-122"/>
                <a:cs typeface="Consolas" panose="020B0609020204030204" pitchFamily="49" charset="0"/>
              </a:rPr>
              <a:t>(SRAM)</a:t>
            </a: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831" name="Text Box 295"/>
          <p:cNvSpPr txBox="1"/>
          <p:nvPr/>
        </p:nvSpPr>
        <p:spPr>
          <a:xfrm>
            <a:off x="7379970" y="3304540"/>
            <a:ext cx="3257550" cy="524510"/>
          </a:xfrm>
          <a:prstGeom prst="rect">
            <a:avLst/>
          </a:prstGeom>
          <a:ln w="12700">
            <a:miter lim="400000"/>
          </a:ln>
        </p:spPr>
        <p:txBody>
          <a:bodyPr wrap="square" lIns="45719" rIns="45719" anchor="ctr">
            <a:noAutofit/>
          </a:bodyPr>
          <a:lstStyle/>
          <a:p>
            <a:pPr>
              <a:defRPr sz="1400">
                <a:solidFill>
                  <a:srgbClr val="C00000"/>
                </a:solidFill>
                <a:latin typeface="Calibri"/>
                <a:ea typeface="Calibri"/>
                <a:cs typeface="Calibri"/>
                <a:sym typeface="Calibri"/>
              </a:defRPr>
            </a:pPr>
            <a:r>
              <a:rPr sz="1400" dirty="0">
                <a:latin typeface="Consolas" panose="020B0609020204030204" pitchFamily="49" charset="0"/>
                <a:ea typeface="FangSong" panose="02010609060101010101" pitchFamily="49" charset="-122"/>
                <a:cs typeface="Consolas" panose="020B0609020204030204" pitchFamily="49" charset="0"/>
              </a:rPr>
              <a:t>L3 cache </a:t>
            </a:r>
            <a:r>
              <a:rPr lang="en-US" dirty="0" err="1">
                <a:latin typeface="Consolas" panose="020B0609020204030204" pitchFamily="49" charset="0"/>
                <a:ea typeface="FangSong" panose="02010609060101010101" pitchFamily="49" charset="-122"/>
                <a:cs typeface="Consolas" panose="020B0609020204030204" pitchFamily="49" charset="0"/>
              </a:rPr>
              <a:t>保存检索自</a:t>
            </a:r>
            <a:r>
              <a:rPr lang="zh-CN" altLang="en-US" dirty="0">
                <a:latin typeface="Consolas" panose="020B0609020204030204" pitchFamily="49" charset="0"/>
                <a:ea typeface="FangSong" panose="02010609060101010101" pitchFamily="49" charset="-122"/>
                <a:cs typeface="Consolas" panose="020B0609020204030204" pitchFamily="49" charset="0"/>
              </a:rPr>
              <a:t>主存的 </a:t>
            </a:r>
            <a:r>
              <a:rPr lang="en-US" altLang="zh-CN" dirty="0">
                <a:latin typeface="Consolas" panose="020B0609020204030204" pitchFamily="49" charset="0"/>
                <a:ea typeface="FangSong" panose="02010609060101010101" pitchFamily="49" charset="-122"/>
                <a:cs typeface="Consolas" panose="020B0609020204030204" pitchFamily="49" charset="0"/>
              </a:rPr>
              <a:t>cache</a:t>
            </a:r>
            <a:r>
              <a:rPr lang="zh-CN" altLang="en-US" dirty="0">
                <a:latin typeface="Consolas" panose="020B0609020204030204" pitchFamily="49" charset="0"/>
                <a:ea typeface="FangSong" panose="02010609060101010101" pitchFamily="49" charset="-122"/>
                <a:cs typeface="Consolas" panose="020B0609020204030204" pitchFamily="49" charset="0"/>
              </a:rPr>
              <a:t> 行</a:t>
            </a:r>
            <a:endParaRPr sz="1400" dirty="0">
              <a:latin typeface="Consolas" panose="020B0609020204030204" pitchFamily="49" charset="0"/>
              <a:ea typeface="FangSong" panose="02010609060101010101" pitchFamily="49" charset="-122"/>
              <a:cs typeface="Consolas" panose="020B0609020204030204" pitchFamily="49" charset="0"/>
            </a:endParaRPr>
          </a:p>
        </p:txBody>
      </p:sp>
      <p:sp>
        <p:nvSpPr>
          <p:cNvPr id="832" name="Text Box 297"/>
          <p:cNvSpPr txBox="1"/>
          <p:nvPr/>
        </p:nvSpPr>
        <p:spPr>
          <a:xfrm>
            <a:off x="1957070" y="5963722"/>
            <a:ext cx="472243" cy="369332"/>
          </a:xfrm>
          <a:prstGeom prst="rect">
            <a:avLst/>
          </a:prstGeom>
          <a:ln w="12700">
            <a:miter lim="400000"/>
          </a:ln>
        </p:spPr>
        <p:txBody>
          <a:bodyPr wrap="none" lIns="45719" rIns="45719" anchor="ctr">
            <a:spAutoFit/>
          </a:bodyPr>
          <a:lstStyle>
            <a:lvl1pPr>
              <a:defRPr sz="1800">
                <a:solidFill>
                  <a:srgbClr val="22228B"/>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L6:</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833" name="Text Box 229"/>
          <p:cNvSpPr txBox="1"/>
          <p:nvPr/>
        </p:nvSpPr>
        <p:spPr>
          <a:xfrm>
            <a:off x="7969407" y="4453842"/>
            <a:ext cx="2931473" cy="307777"/>
          </a:xfrm>
          <a:prstGeom prst="rect">
            <a:avLst/>
          </a:prstGeom>
          <a:ln w="12700">
            <a:miter lim="400000"/>
          </a:ln>
        </p:spPr>
        <p:txBody>
          <a:bodyPr wrap="square" lIns="45719" rIns="45719" anchor="ctr">
            <a:spAutoFit/>
          </a:bodyPr>
          <a:lstStyle>
            <a:lvl1pPr>
              <a:defRPr sz="1400">
                <a:solidFill>
                  <a:srgbClr val="C00000"/>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主存保存检索自</a:t>
            </a:r>
            <a:r>
              <a:rPr lang="zh-CN" altLang="en-US" dirty="0">
                <a:latin typeface="Consolas" panose="020B0609020204030204" pitchFamily="49" charset="0"/>
                <a:ea typeface="FangSong" panose="02010609060101010101" pitchFamily="49" charset="-122"/>
                <a:cs typeface="Consolas" panose="020B0609020204030204" pitchFamily="49" charset="0"/>
              </a:rPr>
              <a:t>本地磁盘的磁盘块</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 name="Rectangle 6"/>
          <p:cNvSpPr txBox="1">
            <a:spLocks noGrp="1"/>
          </p:cNvSpPr>
          <p:nvPr>
            <p:ph type="title"/>
          </p:nvPr>
        </p:nvSpPr>
        <p:spPr>
          <a:xfrm>
            <a:off x="1881018" y="435679"/>
            <a:ext cx="7592095" cy="762001"/>
          </a:xfrm>
          <a:prstGeom prst="rect">
            <a:avLst/>
          </a:prstGeom>
        </p:spPr>
        <p:txBody>
          <a:bodyPr/>
          <a:lstStyle/>
          <a:p>
            <a:r>
              <a:rPr lang="zh-CN" dirty="0">
                <a:latin typeface="Consolas" panose="020B0609020204030204" pitchFamily="49" charset="0"/>
                <a:ea typeface="FangSong" panose="02010609060101010101" pitchFamily="49" charset="-122"/>
                <a:cs typeface="Consolas" panose="020B0609020204030204" pitchFamily="49" charset="0"/>
              </a:rPr>
              <a:t>存储层次与</a:t>
            </a:r>
            <a:r>
              <a:rPr lang="zh-CN" dirty="0">
                <a:latin typeface="Consolas" panose="020B0609020204030204" pitchFamily="49" charset="0"/>
                <a:ea typeface="FangSong" panose="02010609060101010101" pitchFamily="49" charset="-122"/>
                <a:cs typeface="Consolas" panose="020B0609020204030204" pitchFamily="49" charset="0"/>
              </a:rPr>
              <a:t>局部性</a:t>
            </a:r>
            <a:endParaRPr lang="zh-CN" dirty="0">
              <a:latin typeface="Consolas" panose="020B0609020204030204" pitchFamily="49" charset="0"/>
              <a:ea typeface="FangSong" panose="02010609060101010101" pitchFamily="49" charset="-122"/>
              <a:cs typeface="Consolas" panose="020B0609020204030204" pitchFamily="49" charset="0"/>
            </a:endParaRPr>
          </a:p>
        </p:txBody>
      </p:sp>
      <p:sp>
        <p:nvSpPr>
          <p:cNvPr id="837" name="Rectangle 7"/>
          <p:cNvSpPr txBox="1">
            <a:spLocks noGrp="1"/>
          </p:cNvSpPr>
          <p:nvPr>
            <p:ph type="body" idx="1"/>
          </p:nvPr>
        </p:nvSpPr>
        <p:spPr>
          <a:xfrm>
            <a:off x="996315" y="1301750"/>
            <a:ext cx="10577195" cy="4972050"/>
          </a:xfrm>
          <a:prstGeom prst="rect">
            <a:avLst/>
          </a:prstGeom>
        </p:spPr>
        <p:txBody>
          <a:bodyPr>
            <a:normAutofit/>
          </a:bodyPr>
          <a:lstStyle/>
          <a:p>
            <a:pPr algn="just"/>
            <a:r>
              <a:rPr lang="zh-CN" altLang="en-US" sz="2000" dirty="0">
                <a:latin typeface="Consolas" panose="020B0609020204030204" pitchFamily="49" charset="0"/>
                <a:ea typeface="FangSong" panose="02010609060101010101" pitchFamily="49" charset="-122"/>
                <a:cs typeface="Consolas" panose="020B0609020204030204" pitchFamily="49" charset="0"/>
              </a:rPr>
              <a:t>存储层次结构的基本思想</a:t>
            </a:r>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2000" dirty="0">
                <a:latin typeface="Consolas" panose="020B0609020204030204" pitchFamily="49" charset="0"/>
                <a:ea typeface="FangSong" panose="02010609060101010101" pitchFamily="49" charset="-122"/>
                <a:cs typeface="Consolas" panose="020B0609020204030204" pitchFamily="49" charset="0"/>
              </a:rPr>
              <a:t>对于每一层</a:t>
            </a:r>
            <a:r>
              <a:rPr lang="en-US" sz="2000" dirty="0">
                <a:latin typeface="Consolas" panose="020B0609020204030204" pitchFamily="49" charset="0"/>
                <a:ea typeface="FangSong" panose="02010609060101010101" pitchFamily="49" charset="-122"/>
                <a:cs typeface="Consolas" panose="020B0609020204030204" pitchFamily="49" charset="0"/>
              </a:rPr>
              <a:t>k，</a:t>
            </a:r>
            <a:r>
              <a:rPr lang="zh-CN" altLang="en-US" sz="2000" dirty="0">
                <a:latin typeface="Consolas" panose="020B0609020204030204" pitchFamily="49" charset="0"/>
                <a:ea typeface="FangSong" panose="02010609060101010101" pitchFamily="49" charset="-122"/>
                <a:cs typeface="Consolas" panose="020B0609020204030204" pitchFamily="49" charset="0"/>
              </a:rPr>
              <a:t>第</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en-US" sz="2000" dirty="0">
                <a:latin typeface="Consolas" panose="020B0609020204030204" pitchFamily="49" charset="0"/>
                <a:ea typeface="FangSong" panose="02010609060101010101" pitchFamily="49" charset="-122"/>
                <a:cs typeface="Consolas" panose="020B0609020204030204" pitchFamily="49" charset="0"/>
              </a:rPr>
              <a:t>k)</a:t>
            </a:r>
            <a:r>
              <a:rPr lang="zh-CN" altLang="en-US" sz="2000" dirty="0">
                <a:latin typeface="Consolas" panose="020B0609020204030204" pitchFamily="49" charset="0"/>
                <a:ea typeface="FangSong" panose="02010609060101010101" pitchFamily="49" charset="-122"/>
                <a:cs typeface="Consolas" panose="020B0609020204030204" pitchFamily="49" charset="0"/>
              </a:rPr>
              <a:t>层上更快、更小的设备作为第</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en-US" sz="2000" dirty="0">
                <a:latin typeface="Consolas" panose="020B0609020204030204" pitchFamily="49" charset="0"/>
                <a:ea typeface="FangSong" panose="02010609060101010101" pitchFamily="49" charset="-122"/>
                <a:cs typeface="Consolas" panose="020B0609020204030204" pitchFamily="49" charset="0"/>
              </a:rPr>
              <a:t>k+1)</a:t>
            </a:r>
            <a:r>
              <a:rPr lang="zh-CN" altLang="en-US" sz="2000" dirty="0">
                <a:latin typeface="Consolas" panose="020B0609020204030204" pitchFamily="49" charset="0"/>
                <a:ea typeface="FangSong" panose="02010609060101010101" pitchFamily="49" charset="-122"/>
                <a:cs typeface="Consolas" panose="020B0609020204030204" pitchFamily="49" charset="0"/>
              </a:rPr>
              <a:t>层上更大、更慢设备的缓存</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2000" dirty="0">
                <a:latin typeface="Consolas" panose="020B0609020204030204" pitchFamily="49" charset="0"/>
                <a:ea typeface="FangSong" panose="02010609060101010101" pitchFamily="49" charset="-122"/>
                <a:cs typeface="Consolas" panose="020B0609020204030204" pitchFamily="49" charset="0"/>
              </a:rPr>
              <a:t>如果访问第</a:t>
            </a:r>
            <a:r>
              <a:rPr lang="en-US" altLang="zh-CN" sz="2000" dirty="0">
                <a:latin typeface="Consolas" panose="020B0609020204030204" pitchFamily="49" charset="0"/>
                <a:ea typeface="FangSong" panose="02010609060101010101" pitchFamily="49" charset="-122"/>
                <a:cs typeface="Consolas" panose="020B0609020204030204" pitchFamily="49" charset="0"/>
              </a:rPr>
              <a:t>k</a:t>
            </a:r>
            <a:r>
              <a:rPr lang="zh-CN" altLang="en-US" sz="2000" dirty="0">
                <a:latin typeface="Consolas" panose="020B0609020204030204" pitchFamily="49" charset="0"/>
                <a:ea typeface="FangSong" panose="02010609060101010101" pitchFamily="49" charset="-122"/>
                <a:cs typeface="Consolas" panose="020B0609020204030204" pitchFamily="49" charset="0"/>
              </a:rPr>
              <a:t>层时发现数据不在</a:t>
            </a:r>
            <a:r>
              <a:rPr lang="en-US" altLang="zh-CN" sz="2000" dirty="0">
                <a:latin typeface="Consolas" panose="020B0609020204030204" pitchFamily="49" charset="0"/>
                <a:ea typeface="FangSong" panose="02010609060101010101" pitchFamily="49" charset="-122"/>
                <a:cs typeface="Consolas" panose="020B0609020204030204" pitchFamily="49" charset="0"/>
              </a:rPr>
              <a:t>（miss），</a:t>
            </a:r>
            <a:r>
              <a:rPr lang="zh-CN" altLang="en-US" sz="2000" dirty="0">
                <a:latin typeface="Consolas" panose="020B0609020204030204" pitchFamily="49" charset="0"/>
                <a:ea typeface="FangSong" panose="02010609060101010101" pitchFamily="49" charset="-122"/>
                <a:cs typeface="Consolas" panose="020B0609020204030204" pitchFamily="49" charset="0"/>
              </a:rPr>
              <a:t>就从第</a:t>
            </a:r>
            <a:r>
              <a:rPr lang="en-US" altLang="zh-CN" sz="2000" dirty="0">
                <a:latin typeface="Consolas" panose="020B0609020204030204" pitchFamily="49" charset="0"/>
                <a:ea typeface="FangSong" panose="02010609060101010101" pitchFamily="49" charset="-122"/>
                <a:cs typeface="Consolas" panose="020B0609020204030204" pitchFamily="49" charset="0"/>
              </a:rPr>
              <a:t>k+1</a:t>
            </a:r>
            <a:r>
              <a:rPr lang="zh-CN" altLang="en-US" sz="2000" dirty="0">
                <a:latin typeface="Consolas" panose="020B0609020204030204" pitchFamily="49" charset="0"/>
                <a:ea typeface="FangSong" panose="02010609060101010101" pitchFamily="49" charset="-122"/>
                <a:cs typeface="Consolas" panose="020B0609020204030204" pitchFamily="49" charset="0"/>
              </a:rPr>
              <a:t>层读取一个数据块到第</a:t>
            </a:r>
            <a:r>
              <a:rPr lang="en-US" altLang="zh-CN" sz="2000" dirty="0">
                <a:latin typeface="Consolas" panose="020B0609020204030204" pitchFamily="49" charset="0"/>
                <a:ea typeface="FangSong" panose="02010609060101010101" pitchFamily="49" charset="-122"/>
                <a:cs typeface="Consolas" panose="020B0609020204030204" pitchFamily="49" charset="0"/>
              </a:rPr>
              <a:t>k</a:t>
            </a:r>
            <a:r>
              <a:rPr lang="zh-CN" altLang="en-US" sz="2000" dirty="0">
                <a:latin typeface="Consolas" panose="020B0609020204030204" pitchFamily="49" charset="0"/>
                <a:ea typeface="FangSong" panose="02010609060101010101" pitchFamily="49" charset="-122"/>
                <a:cs typeface="Consolas" panose="020B0609020204030204" pitchFamily="49" charset="0"/>
              </a:rPr>
              <a:t>层</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lvl="2" algn="just"/>
            <a:r>
              <a:rPr lang="zh-CN" altLang="en-US" sz="2000" dirty="0">
                <a:latin typeface="Consolas" panose="020B0609020204030204" pitchFamily="49" charset="0"/>
                <a:ea typeface="FangSong" panose="02010609060101010101" pitchFamily="49" charset="-122"/>
                <a:cs typeface="Consolas" panose="020B0609020204030204" pitchFamily="49" charset="0"/>
              </a:rPr>
              <a:t>一个数据块</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通常包括多个相邻地址的数据</a:t>
            </a:r>
            <a:r>
              <a:rPr lang="zh-CN" altLang="en-US" sz="2000" dirty="0">
                <a:latin typeface="Consolas" panose="020B0609020204030204" pitchFamily="49" charset="0"/>
                <a:ea typeface="FangSong" panose="02010609060101010101" pitchFamily="49" charset="-122"/>
                <a:cs typeface="Consolas" panose="020B0609020204030204" pitchFamily="49" charset="0"/>
              </a:rPr>
              <a:t>对象</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algn="just"/>
            <a:r>
              <a:rPr lang="zh-CN" altLang="en-US" sz="2000" dirty="0">
                <a:latin typeface="Consolas" panose="020B0609020204030204" pitchFamily="49" charset="0"/>
                <a:ea typeface="FangSong" panose="02010609060101010101" pitchFamily="49" charset="-122"/>
                <a:cs typeface="Consolas" panose="020B0609020204030204" pitchFamily="49" charset="0"/>
              </a:rPr>
              <a:t>为什么存储层次结构有效？</a:t>
            </a:r>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2000" dirty="0">
                <a:latin typeface="Consolas" panose="020B0609020204030204" pitchFamily="49" charset="0"/>
                <a:ea typeface="FangSong" panose="02010609060101010101" pitchFamily="49" charset="-122"/>
                <a:cs typeface="Consolas" panose="020B0609020204030204" pitchFamily="49" charset="0"/>
              </a:rPr>
              <a:t>局部性原理</a:t>
            </a:r>
            <a:r>
              <a:rPr lang="en-US"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程序倾向于更</a:t>
            </a:r>
            <a:r>
              <a:rPr lang="zh-CN" altLang="en-US" sz="2000" b="1" dirty="0">
                <a:solidFill>
                  <a:srgbClr val="FF0000"/>
                </a:solidFill>
                <a:latin typeface="Consolas" panose="020B0609020204030204" pitchFamily="49" charset="0"/>
                <a:ea typeface="FangSong" panose="02010609060101010101" pitchFamily="49" charset="-122"/>
                <a:cs typeface="Consolas" panose="020B0609020204030204" pitchFamily="49" charset="0"/>
              </a:rPr>
              <a:t>频繁地</a:t>
            </a:r>
            <a:r>
              <a:rPr lang="zh-CN" altLang="en-US" sz="2000" dirty="0">
                <a:latin typeface="Consolas" panose="020B0609020204030204" pitchFamily="49" charset="0"/>
                <a:ea typeface="FangSong" panose="02010609060101010101" pitchFamily="49" charset="-122"/>
                <a:cs typeface="Consolas" panose="020B0609020204030204" pitchFamily="49" charset="0"/>
              </a:rPr>
              <a:t>访问第</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en-US" sz="2000" dirty="0">
                <a:latin typeface="Consolas" panose="020B0609020204030204" pitchFamily="49" charset="0"/>
                <a:ea typeface="FangSong" panose="02010609060101010101" pitchFamily="49" charset="-122"/>
                <a:cs typeface="Consolas" panose="020B0609020204030204" pitchFamily="49" charset="0"/>
              </a:rPr>
              <a:t>k)</a:t>
            </a:r>
            <a:r>
              <a:rPr lang="zh-CN" altLang="en-US" sz="2000" dirty="0">
                <a:latin typeface="Consolas" panose="020B0609020204030204" pitchFamily="49" charset="0"/>
                <a:ea typeface="FangSong" panose="02010609060101010101" pitchFamily="49" charset="-122"/>
                <a:cs typeface="Consolas" panose="020B0609020204030204" pitchFamily="49" charset="0"/>
              </a:rPr>
              <a:t>层的数据，</a:t>
            </a:r>
            <a:r>
              <a:rPr lang="zh-CN" altLang="en-US" sz="2000" b="1" dirty="0">
                <a:solidFill>
                  <a:srgbClr val="FF0000"/>
                </a:solidFill>
                <a:latin typeface="Consolas" panose="020B0609020204030204" pitchFamily="49" charset="0"/>
                <a:ea typeface="FangSong" panose="02010609060101010101" pitchFamily="49" charset="-122"/>
                <a:cs typeface="Consolas" panose="020B0609020204030204" pitchFamily="49" charset="0"/>
              </a:rPr>
              <a:t>很少</a:t>
            </a:r>
            <a:r>
              <a:rPr lang="zh-CN" altLang="en-US" sz="2000" dirty="0">
                <a:latin typeface="Consolas" panose="020B0609020204030204" pitchFamily="49" charset="0"/>
                <a:ea typeface="FangSong" panose="02010609060101010101" pitchFamily="49" charset="-122"/>
                <a:cs typeface="Consolas" panose="020B0609020204030204" pitchFamily="49" charset="0"/>
              </a:rPr>
              <a:t>访问第</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en-US" sz="2000" dirty="0">
                <a:latin typeface="Consolas" panose="020B0609020204030204" pitchFamily="49" charset="0"/>
                <a:ea typeface="FangSong" panose="02010609060101010101" pitchFamily="49" charset="-122"/>
                <a:cs typeface="Consolas" panose="020B0609020204030204" pitchFamily="49" charset="0"/>
              </a:rPr>
              <a:t>k+1)</a:t>
            </a:r>
            <a:r>
              <a:rPr lang="zh-CN" altLang="en-US" sz="2000" dirty="0">
                <a:latin typeface="Consolas" panose="020B0609020204030204" pitchFamily="49" charset="0"/>
                <a:ea typeface="FangSong" panose="02010609060101010101" pitchFamily="49" charset="-122"/>
                <a:cs typeface="Consolas" panose="020B0609020204030204" pitchFamily="49" charset="0"/>
              </a:rPr>
              <a:t>层的数据</a:t>
            </a:r>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2000" dirty="0">
                <a:latin typeface="Consolas" panose="020B0609020204030204" pitchFamily="49" charset="0"/>
                <a:ea typeface="FangSong" panose="02010609060101010101" pitchFamily="49" charset="-122"/>
                <a:cs typeface="Consolas" panose="020B0609020204030204" pitchFamily="49" charset="0"/>
              </a:rPr>
              <a:t>第</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en-US" sz="2000" dirty="0">
                <a:latin typeface="Consolas" panose="020B0609020204030204" pitchFamily="49" charset="0"/>
                <a:ea typeface="FangSong" panose="02010609060101010101" pitchFamily="49" charset="-122"/>
                <a:cs typeface="Consolas" panose="020B0609020204030204" pitchFamily="49" charset="0"/>
              </a:rPr>
              <a:t>k+1)</a:t>
            </a:r>
            <a:r>
              <a:rPr lang="zh-CN" altLang="en-US" sz="2000" dirty="0">
                <a:latin typeface="Consolas" panose="020B0609020204030204" pitchFamily="49" charset="0"/>
                <a:ea typeface="FangSong" panose="02010609060101010101" pitchFamily="49" charset="-122"/>
                <a:cs typeface="Consolas" panose="020B0609020204030204" pitchFamily="49" charset="0"/>
              </a:rPr>
              <a:t>层的存储可以做得更慢，从而在单位比特成本更低的前提下实现更大的容量</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algn="just"/>
            <a:r>
              <a:rPr lang="zh-CN" altLang="en-US" sz="2000" dirty="0">
                <a:solidFill>
                  <a:srgbClr val="FF0000"/>
                </a:solidFill>
                <a:latin typeface="Consolas" panose="020B0609020204030204" pitchFamily="49" charset="0"/>
                <a:ea typeface="FangSong" panose="02010609060101010101" pitchFamily="49" charset="-122"/>
                <a:cs typeface="Consolas" panose="020B0609020204030204" pitchFamily="49" charset="0"/>
              </a:rPr>
              <a:t>核心理念（理想情况）</a:t>
            </a:r>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2000" dirty="0">
                <a:latin typeface="Consolas" panose="020B0609020204030204" pitchFamily="49" charset="0"/>
                <a:ea typeface="FangSong" panose="02010609060101010101" pitchFamily="49" charset="-122"/>
                <a:cs typeface="Consolas" panose="020B0609020204030204" pitchFamily="49" charset="0"/>
              </a:rPr>
              <a:t>存储层次结构构建了一个庞大的存储池</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其成本接近底层廉价存储，却能以顶层高速存储的速度向程序提供数据</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7">
                                            <p:txEl>
                                              <p:pRg st="7" end="7"/>
                                            </p:txEl>
                                          </p:spTgt>
                                        </p:tgtEl>
                                        <p:attrNameLst>
                                          <p:attrName>style.visibility</p:attrName>
                                        </p:attrNameLst>
                                      </p:cBhvr>
                                      <p:to>
                                        <p:strVal val="visible"/>
                                      </p:to>
                                    </p:set>
                                    <p:anim calcmode="lin" valueType="num">
                                      <p:cBhvr additive="base">
                                        <p:cTn id="7" dur="500" fill="hold"/>
                                        <p:tgtEl>
                                          <p:spTgt spid="837">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37">
                                            <p:txEl>
                                              <p:pRg st="8" end="8"/>
                                            </p:txEl>
                                          </p:spTgt>
                                        </p:tgtEl>
                                        <p:attrNameLst>
                                          <p:attrName>style.visibility</p:attrName>
                                        </p:attrNameLst>
                                      </p:cBhvr>
                                      <p:to>
                                        <p:strVal val="visible"/>
                                      </p:to>
                                    </p:set>
                                    <p:anim calcmode="lin" valueType="num">
                                      <p:cBhvr additive="base">
                                        <p:cTn id="13" dur="500" fill="hold"/>
                                        <p:tgtEl>
                                          <p:spTgt spid="837">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3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2"/>
          <p:cNvSpPr>
            <a:spLocks noGrp="1"/>
          </p:cNvSpPr>
          <p:nvPr>
            <p:ph type="sldNum" sz="quarter" idx="4294967295"/>
          </p:nvPr>
        </p:nvSpPr>
        <p:spPr bwMode="auto">
          <a:xfrm>
            <a:off x="9285193" y="5822157"/>
            <a:ext cx="239808" cy="2539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50" b="1">
                <a:solidFill>
                  <a:schemeClr val="tx1"/>
                </a:solidFill>
                <a:latin typeface="Comic Sans MS" panose="030F0902030302020204" pitchFamily="66" charset="0"/>
              </a:defRPr>
            </a:lvl1pPr>
            <a:lvl2pPr marL="557530" indent="-214630">
              <a:defRPr sz="1050" b="1">
                <a:solidFill>
                  <a:schemeClr val="tx1"/>
                </a:solidFill>
                <a:latin typeface="Comic Sans MS" panose="030F0902030302020204" pitchFamily="66" charset="0"/>
              </a:defRPr>
            </a:lvl2pPr>
            <a:lvl3pPr marL="857250" indent="-171450">
              <a:defRPr sz="1050" b="1">
                <a:solidFill>
                  <a:schemeClr val="tx1"/>
                </a:solidFill>
                <a:latin typeface="Comic Sans MS" panose="030F0902030302020204" pitchFamily="66" charset="0"/>
              </a:defRPr>
            </a:lvl3pPr>
            <a:lvl4pPr marL="1200150" indent="-171450">
              <a:defRPr sz="1050" b="1">
                <a:solidFill>
                  <a:schemeClr val="tx1"/>
                </a:solidFill>
                <a:latin typeface="Comic Sans MS" panose="030F0902030302020204" pitchFamily="66" charset="0"/>
              </a:defRPr>
            </a:lvl4pPr>
            <a:lvl5pPr marL="1543050" indent="-171450">
              <a:defRPr sz="1050" b="1">
                <a:solidFill>
                  <a:schemeClr val="tx1"/>
                </a:solidFill>
                <a:latin typeface="Comic Sans MS" panose="030F0902030302020204" pitchFamily="66" charset="0"/>
              </a:defRPr>
            </a:lvl5pPr>
            <a:lvl6pPr marL="1885950" indent="-171450" eaLnBrk="0" fontAlgn="base" hangingPunct="0">
              <a:spcBef>
                <a:spcPct val="0"/>
              </a:spcBef>
              <a:spcAft>
                <a:spcPct val="0"/>
              </a:spcAft>
              <a:defRPr sz="1050" b="1">
                <a:solidFill>
                  <a:schemeClr val="tx1"/>
                </a:solidFill>
                <a:latin typeface="Comic Sans MS" panose="030F0902030302020204" pitchFamily="66" charset="0"/>
              </a:defRPr>
            </a:lvl6pPr>
            <a:lvl7pPr marL="2228850" indent="-171450" eaLnBrk="0" fontAlgn="base" hangingPunct="0">
              <a:spcBef>
                <a:spcPct val="0"/>
              </a:spcBef>
              <a:spcAft>
                <a:spcPct val="0"/>
              </a:spcAft>
              <a:defRPr sz="1050" b="1">
                <a:solidFill>
                  <a:schemeClr val="tx1"/>
                </a:solidFill>
                <a:latin typeface="Comic Sans MS" panose="030F0902030302020204" pitchFamily="66" charset="0"/>
              </a:defRPr>
            </a:lvl7pPr>
            <a:lvl8pPr marL="2571750" indent="-171450" eaLnBrk="0" fontAlgn="base" hangingPunct="0">
              <a:spcBef>
                <a:spcPct val="0"/>
              </a:spcBef>
              <a:spcAft>
                <a:spcPct val="0"/>
              </a:spcAft>
              <a:defRPr sz="1050" b="1">
                <a:solidFill>
                  <a:schemeClr val="tx1"/>
                </a:solidFill>
                <a:latin typeface="Comic Sans MS" panose="030F0902030302020204" pitchFamily="66" charset="0"/>
              </a:defRPr>
            </a:lvl8pPr>
            <a:lvl9pPr marL="2914650" indent="-171450" eaLnBrk="0" fontAlgn="base" hangingPunct="0">
              <a:spcBef>
                <a:spcPct val="0"/>
              </a:spcBef>
              <a:spcAft>
                <a:spcPct val="0"/>
              </a:spcAft>
              <a:defRPr sz="1050" b="1">
                <a:solidFill>
                  <a:schemeClr val="tx1"/>
                </a:solidFill>
                <a:latin typeface="Comic Sans MS" panose="030F0902030302020204" pitchFamily="66" charset="0"/>
              </a:defRPr>
            </a:lvl9pPr>
          </a:lstStyle>
          <a:p>
            <a:pPr algn="r"/>
            <a:fld id="{27DB29C1-3DA0-4E67-9381-5023F2A40184}" type="slidenum">
              <a:rPr lang="en-US" altLang="en-US">
                <a:latin typeface="Consolas" panose="020B0609020204030204" pitchFamily="49" charset="0"/>
                <a:ea typeface="FangSong" panose="02010609060101010101" pitchFamily="49" charset="-122"/>
                <a:cs typeface="Consolas" panose="020B0609020204030204" pitchFamily="49" charset="0"/>
              </a:rPr>
            </a:fld>
            <a:endParaRPr lang="en-US" altLang="en-US">
              <a:latin typeface="Consolas" panose="020B0609020204030204" pitchFamily="49" charset="0"/>
              <a:ea typeface="FangSong" panose="02010609060101010101" pitchFamily="49" charset="-122"/>
              <a:cs typeface="Consolas" panose="020B0609020204030204" pitchFamily="49" charset="0"/>
            </a:endParaRPr>
          </a:p>
        </p:txBody>
      </p:sp>
      <p:grpSp>
        <p:nvGrpSpPr>
          <p:cNvPr id="10244" name="Group 16"/>
          <p:cNvGrpSpPr/>
          <p:nvPr/>
        </p:nvGrpSpPr>
        <p:grpSpPr bwMode="auto">
          <a:xfrm>
            <a:off x="5788599" y="2219214"/>
            <a:ext cx="1296035" cy="971550"/>
            <a:chOff x="433493" y="3124200"/>
            <a:chExt cx="1728047" cy="1295400"/>
          </a:xfrm>
        </p:grpSpPr>
        <p:sp>
          <p:nvSpPr>
            <p:cNvPr id="10250" name="Rectangle 3"/>
            <p:cNvSpPr>
              <a:spLocks noChangeArrowheads="1"/>
            </p:cNvSpPr>
            <p:nvPr/>
          </p:nvSpPr>
          <p:spPr bwMode="auto">
            <a:xfrm>
              <a:off x="433493" y="3124200"/>
              <a:ext cx="1728047" cy="1295400"/>
            </a:xfrm>
            <a:prstGeom prst="rect">
              <a:avLst/>
            </a:prstGeom>
            <a:solidFill>
              <a:schemeClr val="bg1"/>
            </a:solidFill>
            <a:ln w="38100" algn="ctr">
              <a:solidFill>
                <a:schemeClr val="tx1"/>
              </a:solidFill>
              <a:round/>
            </a:ln>
          </p:spPr>
          <p:txBody>
            <a:bodyPr anchor="ctr"/>
            <a:lstStyle>
              <a:lvl1pPr>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lgn="ctr">
                <a:spcBef>
                  <a:spcPct val="50000"/>
                </a:spcBef>
              </a:pPr>
              <a:r>
                <a:rPr lang="en-US" altLang="en-US" b="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小存储器</a:t>
              </a:r>
              <a:endParaRPr lang="en-US" altLang="en-US" b="0" dirty="0" err="1">
                <a:solidFill>
                  <a:srgbClr val="000000"/>
                </a:solidFill>
                <a:latin typeface="Consolas" panose="020B0609020204030204" pitchFamily="49" charset="0"/>
                <a:ea typeface="FangSong" panose="02010609060101010101" pitchFamily="49" charset="-122"/>
                <a:cs typeface="Consolas" panose="020B0609020204030204" pitchFamily="49" charset="0"/>
              </a:endParaRPr>
            </a:p>
            <a:p>
              <a:pPr algn="ctr">
                <a:spcBef>
                  <a:spcPct val="50000"/>
                </a:spcBef>
              </a:pPr>
              <a:r>
                <a:rPr lang="en-US" altLang="en-US" b="0" dirty="0">
                  <a:solidFill>
                    <a:srgbClr val="000000"/>
                  </a:solidFill>
                  <a:latin typeface="Consolas" panose="020B0609020204030204" pitchFamily="49" charset="0"/>
                  <a:ea typeface="FangSong" panose="02010609060101010101" pitchFamily="49" charset="-122"/>
                  <a:cs typeface="Consolas" panose="020B0609020204030204" pitchFamily="49" charset="0"/>
                </a:rPr>
                <a:t>（</a:t>
              </a:r>
              <a:r>
                <a:rPr lang="zh-CN" altLang="en-US" dirty="0">
                  <a:solidFill>
                    <a:srgbClr val="000000"/>
                  </a:solidFill>
                  <a:latin typeface="Consolas" panose="020B0609020204030204" pitchFamily="49" charset="0"/>
                  <a:ea typeface="FangSong" panose="02010609060101010101" pitchFamily="49" charset="-122"/>
                  <a:cs typeface="Consolas" panose="020B0609020204030204" pitchFamily="49" charset="0"/>
                </a:rPr>
                <a:t>频繁访问</a:t>
              </a:r>
              <a:r>
                <a:rPr lang="en-US" altLang="zh-CN" b="0" dirty="0">
                  <a:solidFill>
                    <a:srgbClr val="000000"/>
                  </a:solidFill>
                  <a:latin typeface="Consolas" panose="020B0609020204030204" pitchFamily="49" charset="0"/>
                  <a:ea typeface="FangSong" panose="02010609060101010101" pitchFamily="49" charset="-122"/>
                  <a:cs typeface="Consolas" panose="020B0609020204030204" pitchFamily="49" charset="0"/>
                </a:rPr>
                <a:t>）</a:t>
              </a:r>
              <a:endParaRPr lang="en-US" altLang="zh-CN" b="0"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cxnSp>
          <p:nvCxnSpPr>
            <p:cNvPr id="10251" name="Straight Arrow Connector 9"/>
            <p:cNvCxnSpPr>
              <a:cxnSpLocks noChangeShapeType="1"/>
              <a:endCxn id="10250" idx="0"/>
            </p:cNvCxnSpPr>
            <p:nvPr/>
          </p:nvCxnSpPr>
          <p:spPr bwMode="auto">
            <a:xfrm rot="5400000" flipH="1" flipV="1">
              <a:off x="326390" y="3448050"/>
              <a:ext cx="1295400" cy="647700"/>
            </a:xfrm>
            <a:prstGeom prst="straightConnector1">
              <a:avLst/>
            </a:prstGeom>
            <a:noFill/>
            <a:ln w="12700"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grpSp>
      <p:sp>
        <p:nvSpPr>
          <p:cNvPr id="10247" name="Rectangle 4"/>
          <p:cNvSpPr>
            <a:spLocks noChangeArrowheads="1"/>
          </p:cNvSpPr>
          <p:nvPr/>
        </p:nvSpPr>
        <p:spPr bwMode="auto">
          <a:xfrm>
            <a:off x="4601730" y="3120344"/>
            <a:ext cx="3657600" cy="3200400"/>
          </a:xfrm>
          <a:prstGeom prst="rect">
            <a:avLst/>
          </a:prstGeom>
          <a:solidFill>
            <a:schemeClr val="bg1"/>
          </a:solidFill>
          <a:ln w="38100" algn="ctr">
            <a:solidFill>
              <a:schemeClr val="tx1"/>
            </a:solidFill>
            <a:round/>
          </a:ln>
        </p:spPr>
        <p:txBody>
          <a:bodyPr anchor="ctr"/>
          <a:lstStyle>
            <a:lvl1pPr>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lgn="ctr">
              <a:spcBef>
                <a:spcPct val="50000"/>
              </a:spcBef>
            </a:pPr>
            <a:r>
              <a:rPr lang="en-US" altLang="en-US" sz="3000" b="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大存储器</a:t>
            </a:r>
            <a:br>
              <a:rPr lang="en-US" altLang="en-US" sz="3000" b="0" dirty="0">
                <a:solidFill>
                  <a:srgbClr val="000000"/>
                </a:solidFill>
                <a:latin typeface="Consolas" panose="020B0609020204030204" pitchFamily="49" charset="0"/>
                <a:ea typeface="FangSong" panose="02010609060101010101" pitchFamily="49" charset="-122"/>
                <a:cs typeface="Consolas" panose="020B0609020204030204" pitchFamily="49" charset="0"/>
              </a:rPr>
            </a:br>
            <a:r>
              <a:rPr lang="en-US" altLang="en-US" sz="3000" b="0" dirty="0">
                <a:solidFill>
                  <a:srgbClr val="000000"/>
                </a:solidFill>
                <a:latin typeface="Consolas" panose="020B0609020204030204" pitchFamily="49" charset="0"/>
                <a:ea typeface="FangSong" panose="02010609060101010101" pitchFamily="49" charset="-122"/>
                <a:cs typeface="Consolas" panose="020B0609020204030204" pitchFamily="49" charset="0"/>
              </a:rPr>
              <a:t>(</a:t>
            </a:r>
            <a:r>
              <a:rPr lang="en-US" altLang="en-US" sz="300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较少被访问</a:t>
            </a:r>
            <a:r>
              <a:rPr lang="en-US" altLang="en-US" sz="3000" b="0" dirty="0">
                <a:solidFill>
                  <a:srgbClr val="000000"/>
                </a:solidFill>
                <a:latin typeface="Consolas" panose="020B0609020204030204" pitchFamily="49" charset="0"/>
                <a:ea typeface="FangSong" panose="02010609060101010101" pitchFamily="49" charset="-122"/>
                <a:cs typeface="Consolas" panose="020B0609020204030204" pitchFamily="49" charset="0"/>
              </a:rPr>
              <a:t>)</a:t>
            </a:r>
            <a:endParaRPr lang="en-US" altLang="en-US" sz="3000" b="0"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cxnSp>
        <p:nvCxnSpPr>
          <p:cNvPr id="10248" name="Straight Arrow Connector 10"/>
          <p:cNvCxnSpPr>
            <a:cxnSpLocks noChangeShapeType="1"/>
          </p:cNvCxnSpPr>
          <p:nvPr/>
        </p:nvCxnSpPr>
        <p:spPr bwMode="auto">
          <a:xfrm rot="5400000" flipH="1" flipV="1">
            <a:off x="3887355" y="3834719"/>
            <a:ext cx="3200400" cy="1771650"/>
          </a:xfrm>
          <a:prstGeom prst="straightConnector1">
            <a:avLst/>
          </a:prstGeom>
          <a:noFill/>
          <a:ln w="12700" algn="ctr">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10249" name="Rectangle 13"/>
          <p:cNvSpPr>
            <a:spLocks noChangeArrowheads="1"/>
          </p:cNvSpPr>
          <p:nvPr/>
        </p:nvSpPr>
        <p:spPr bwMode="auto">
          <a:xfrm>
            <a:off x="6059055" y="1533414"/>
            <a:ext cx="742950" cy="685800"/>
          </a:xfrm>
          <a:prstGeom prst="rect">
            <a:avLst/>
          </a:prstGeom>
          <a:solidFill>
            <a:schemeClr val="bg1"/>
          </a:solidFill>
          <a:ln w="38100" algn="ctr">
            <a:solidFill>
              <a:schemeClr val="tx1"/>
            </a:solidFill>
            <a:round/>
          </a:ln>
        </p:spPr>
        <p:txBody>
          <a:bodyPr anchor="ctr"/>
          <a:lstStyle>
            <a:lvl1pPr>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lgn="ctr">
              <a:spcBef>
                <a:spcPct val="50000"/>
              </a:spcBef>
            </a:pPr>
            <a:r>
              <a:rPr lang="en-US" altLang="en-US" sz="1800" b="0">
                <a:solidFill>
                  <a:srgbClr val="000000"/>
                </a:solidFill>
                <a:latin typeface="Consolas" panose="020B0609020204030204" pitchFamily="49" charset="0"/>
                <a:ea typeface="FangSong" panose="02010609060101010101" pitchFamily="49" charset="-122"/>
                <a:cs typeface="Consolas" panose="020B0609020204030204" pitchFamily="49" charset="0"/>
              </a:rPr>
              <a:t>CPU</a:t>
            </a:r>
            <a:endParaRPr lang="en-US" altLang="en-US" sz="1800" b="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2" name="Rectangle 4"/>
          <p:cNvSpPr>
            <a:spLocks noChangeArrowheads="1"/>
          </p:cNvSpPr>
          <p:nvPr/>
        </p:nvSpPr>
        <p:spPr bwMode="auto">
          <a:xfrm>
            <a:off x="4451928" y="2219213"/>
            <a:ext cx="3959803" cy="4264714"/>
          </a:xfrm>
          <a:prstGeom prst="rect">
            <a:avLst/>
          </a:prstGeom>
          <a:noFill/>
          <a:ln w="38100" algn="ctr">
            <a:solidFill>
              <a:schemeClr val="tx1"/>
            </a:solidFill>
            <a:prstDash val="sysDash"/>
            <a:round/>
          </a:ln>
        </p:spPr>
        <p:txBody>
          <a:bodyPr anchor="t"/>
          <a:lstStyle>
            <a:lvl1pPr>
              <a:defRPr sz="1400" b="1">
                <a:solidFill>
                  <a:schemeClr val="tx1"/>
                </a:solidFill>
                <a:latin typeface="Comic Sans MS" panose="030F0902030302020204" pitchFamily="66" charset="0"/>
              </a:defRPr>
            </a:lvl1pPr>
            <a:lvl2pPr marL="742950" indent="-285750">
              <a:defRPr sz="1400" b="1">
                <a:solidFill>
                  <a:schemeClr val="tx1"/>
                </a:solidFill>
                <a:latin typeface="Comic Sans MS" panose="030F0902030302020204" pitchFamily="66" charset="0"/>
              </a:defRPr>
            </a:lvl2pPr>
            <a:lvl3pPr marL="1143000" indent="-228600">
              <a:defRPr sz="1400" b="1">
                <a:solidFill>
                  <a:schemeClr val="tx1"/>
                </a:solidFill>
                <a:latin typeface="Comic Sans MS" panose="030F0902030302020204" pitchFamily="66" charset="0"/>
              </a:defRPr>
            </a:lvl3pPr>
            <a:lvl4pPr marL="1600200" indent="-228600">
              <a:defRPr sz="1400" b="1">
                <a:solidFill>
                  <a:schemeClr val="tx1"/>
                </a:solidFill>
                <a:latin typeface="Comic Sans MS" panose="030F0902030302020204" pitchFamily="66" charset="0"/>
              </a:defRPr>
            </a:lvl4pPr>
            <a:lvl5pPr marL="2057400" indent="-228600">
              <a:defRPr sz="1400" b="1">
                <a:solidFill>
                  <a:schemeClr val="tx1"/>
                </a:solidFill>
                <a:latin typeface="Comic Sans MS" panose="030F0902030302020204" pitchFamily="66" charset="0"/>
              </a:defRPr>
            </a:lvl5pPr>
            <a:lvl6pPr marL="2514600" indent="-228600" eaLnBrk="0" fontAlgn="base" hangingPunct="0">
              <a:spcBef>
                <a:spcPct val="0"/>
              </a:spcBef>
              <a:spcAft>
                <a:spcPct val="0"/>
              </a:spcAft>
              <a:defRPr sz="1400" b="1">
                <a:solidFill>
                  <a:schemeClr val="tx1"/>
                </a:solidFill>
                <a:latin typeface="Comic Sans MS" panose="030F0902030302020204" pitchFamily="66" charset="0"/>
              </a:defRPr>
            </a:lvl6pPr>
            <a:lvl7pPr marL="2971800" indent="-228600" eaLnBrk="0" fontAlgn="base" hangingPunct="0">
              <a:spcBef>
                <a:spcPct val="0"/>
              </a:spcBef>
              <a:spcAft>
                <a:spcPct val="0"/>
              </a:spcAft>
              <a:defRPr sz="1400" b="1">
                <a:solidFill>
                  <a:schemeClr val="tx1"/>
                </a:solidFill>
                <a:latin typeface="Comic Sans MS" panose="030F0902030302020204" pitchFamily="66" charset="0"/>
              </a:defRPr>
            </a:lvl7pPr>
            <a:lvl8pPr marL="3429000" indent="-228600" eaLnBrk="0" fontAlgn="base" hangingPunct="0">
              <a:spcBef>
                <a:spcPct val="0"/>
              </a:spcBef>
              <a:spcAft>
                <a:spcPct val="0"/>
              </a:spcAft>
              <a:defRPr sz="1400" b="1">
                <a:solidFill>
                  <a:schemeClr val="tx1"/>
                </a:solidFill>
                <a:latin typeface="Comic Sans MS" panose="030F0902030302020204" pitchFamily="66" charset="0"/>
              </a:defRPr>
            </a:lvl8pPr>
            <a:lvl9pPr marL="3886200" indent="-228600" eaLnBrk="0" fontAlgn="base" hangingPunct="0">
              <a:spcBef>
                <a:spcPct val="0"/>
              </a:spcBef>
              <a:spcAft>
                <a:spcPct val="0"/>
              </a:spcAft>
              <a:defRPr sz="1400" b="1">
                <a:solidFill>
                  <a:schemeClr val="tx1"/>
                </a:solidFill>
                <a:latin typeface="Comic Sans MS" panose="030F0902030302020204" pitchFamily="66" charset="0"/>
              </a:defRPr>
            </a:lvl9pPr>
          </a:lstStyle>
          <a:p>
            <a:pPr>
              <a:spcBef>
                <a:spcPct val="50000"/>
              </a:spcBef>
            </a:pPr>
            <a:r>
              <a:rPr lang="en-US" altLang="en-US" sz="1800" b="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存储器</a:t>
            </a:r>
            <a:endParaRPr lang="en-US" altLang="en-US" sz="1800" b="0"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a:p>
            <a:pPr>
              <a:spcBef>
                <a:spcPct val="50000"/>
              </a:spcBef>
            </a:pPr>
            <a:r>
              <a:rPr lang="en-US" altLang="en-US" sz="1800" b="0" dirty="0" err="1">
                <a:solidFill>
                  <a:srgbClr val="000000"/>
                </a:solidFill>
                <a:latin typeface="Consolas" panose="020B0609020204030204" pitchFamily="49" charset="0"/>
                <a:ea typeface="FangSong" panose="02010609060101010101" pitchFamily="49" charset="-122"/>
                <a:cs typeface="Consolas" panose="020B0609020204030204" pitchFamily="49" charset="0"/>
              </a:rPr>
              <a:t>层次结构</a:t>
            </a:r>
            <a:endParaRPr lang="en-US" altLang="en-US" sz="1800" b="0"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3" name="Rectangle 6"/>
          <p:cNvSpPr txBox="1"/>
          <p:nvPr/>
        </p:nvSpPr>
        <p:spPr>
          <a:xfrm>
            <a:off x="1881018" y="435679"/>
            <a:ext cx="7592095" cy="762001"/>
          </a:xfrm>
          <a:prstGeom prst="rect">
            <a:avLst/>
          </a:prstGeom>
          <a:ln w="12700">
            <a:miter lim="400000"/>
          </a:ln>
        </p:spPr>
        <p:txBody>
          <a:bodyPr lIns="45719" rIns="45719" anchor="ctr">
            <a:normAutofit fontScale="85000" lnSpcReduction="10000"/>
          </a:bodyPr>
          <a:lstStyle>
            <a:lvl1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a:lstStyle>
          <a:p>
            <a:pPr hangingPunct="1"/>
            <a:r>
              <a:rPr lang="en-US" altLang="en-US" dirty="0" err="1">
                <a:latin typeface="Consolas" panose="020B0609020204030204" pitchFamily="49" charset="0"/>
                <a:ea typeface="FangSong" panose="02010609060101010101" pitchFamily="49" charset="-122"/>
                <a:cs typeface="Consolas" panose="020B0609020204030204" pitchFamily="49" charset="0"/>
              </a:rPr>
              <a:t>层次结构提供了大而快存储系统后的假象</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 name="Rectangle 5"/>
          <p:cNvSpPr txBox="1">
            <a:spLocks noGrp="1"/>
          </p:cNvSpPr>
          <p:nvPr>
            <p:ph type="sldNum" sz="quarter" idx="2"/>
          </p:nvPr>
        </p:nvSpPr>
        <p:spPr>
          <a:xfrm>
            <a:off x="10354844" y="6611779"/>
            <a:ext cx="233395" cy="246221"/>
          </a:xfrm>
          <a:prstGeom prst="rect">
            <a:avLst/>
          </a:prstGeom>
        </p:spPr>
        <p:txBody>
          <a:bodyPr/>
          <a:lstStyle/>
          <a:p>
            <a:fld id="{86CB4B4D-7CA3-9044-876B-883B54F8677D}" type="slidenum">
              <a:rPr>
                <a:latin typeface="Consolas" panose="020B0609020204030204" pitchFamily="49" charset="0"/>
                <a:ea typeface="FangSong" panose="02010609060101010101" pitchFamily="49" charset="-122"/>
                <a:cs typeface="Consolas" panose="020B0609020204030204" pitchFamily="49" charset="0"/>
              </a:rPr>
            </a:fld>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095" name="Rectangle 1"/>
          <p:cNvSpPr txBox="1">
            <a:spLocks noGrp="1"/>
          </p:cNvSpPr>
          <p:nvPr>
            <p:ph type="title"/>
          </p:nvPr>
        </p:nvSpPr>
        <p:spPr>
          <a:xfrm>
            <a:off x="1881017" y="435679"/>
            <a:ext cx="8659984" cy="762001"/>
          </a:xfrm>
          <a:prstGeom prst="rect">
            <a:avLst/>
          </a:prstGeom>
        </p:spPr>
        <p:txBody>
          <a:bodyPr>
            <a:normAutofit/>
          </a:bodyPr>
          <a:lstStyle>
            <a:lvl1pPr>
              <a:tabLst>
                <a:tab pos="914400" algn="l"/>
                <a:tab pos="1828800" algn="l"/>
                <a:tab pos="2743200" algn="l"/>
                <a:tab pos="3657600" algn="l"/>
                <a:tab pos="4572000" algn="l"/>
                <a:tab pos="5486400" algn="l"/>
                <a:tab pos="6400800" algn="l"/>
                <a:tab pos="7315200" algn="l"/>
                <a:tab pos="8229600" algn="l"/>
                <a:tab pos="9144000" algn="l"/>
                <a:tab pos="10058400" algn="l"/>
              </a:tabLst>
            </a:lvl1pPr>
          </a:lstStyle>
          <a:p>
            <a:r>
              <a:rPr lang="en-US" dirty="0" err="1">
                <a:latin typeface="Consolas" panose="020B0609020204030204" pitchFamily="49" charset="0"/>
                <a:ea typeface="FangSong" panose="02010609060101010101" pitchFamily="49" charset="-122"/>
                <a:cs typeface="Consolas" panose="020B0609020204030204" pitchFamily="49" charset="0"/>
              </a:rPr>
              <a:t>存储器层次结构中的示例</a:t>
            </a:r>
            <a:endParaRPr dirty="0">
              <a:latin typeface="Consolas" panose="020B0609020204030204" pitchFamily="49" charset="0"/>
              <a:ea typeface="FangSong" panose="02010609060101010101" pitchFamily="49" charset="-122"/>
              <a:cs typeface="Consolas" panose="020B0609020204030204" pitchFamily="49" charset="0"/>
            </a:endParaRPr>
          </a:p>
        </p:txBody>
      </p:sp>
      <p:grpSp>
        <p:nvGrpSpPr>
          <p:cNvPr id="1098" name="Rectangle 3"/>
          <p:cNvGrpSpPr/>
          <p:nvPr/>
        </p:nvGrpSpPr>
        <p:grpSpPr>
          <a:xfrm>
            <a:off x="9182100" y="2428876"/>
            <a:ext cx="1780426" cy="585789"/>
            <a:chOff x="0" y="0"/>
            <a:chExt cx="1780426" cy="585788"/>
          </a:xfrm>
        </p:grpSpPr>
        <p:sp>
          <p:nvSpPr>
            <p:cNvPr id="1096" name="Rectangle"/>
            <p:cNvSpPr/>
            <p:nvPr/>
          </p:nvSpPr>
          <p:spPr>
            <a:xfrm>
              <a:off x="0" y="0"/>
              <a:ext cx="1780426"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097" name="Hardware MMU"/>
            <p:cNvSpPr txBox="1"/>
            <p:nvPr/>
          </p:nvSpPr>
          <p:spPr>
            <a:xfrm>
              <a:off x="54263" y="128049"/>
              <a:ext cx="13518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22228B"/>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硬件</a:t>
              </a:r>
              <a:r>
                <a:rPr dirty="0">
                  <a:latin typeface="Consolas" panose="020B0609020204030204" pitchFamily="49" charset="0"/>
                  <a:ea typeface="FangSong" panose="02010609060101010101" pitchFamily="49" charset="-122"/>
                  <a:cs typeface="Consolas" panose="020B0609020204030204" pitchFamily="49" charset="0"/>
                </a:rPr>
                <a:t> MMU</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01" name="Rectangle 4"/>
          <p:cNvGrpSpPr/>
          <p:nvPr/>
        </p:nvGrpSpPr>
        <p:grpSpPr>
          <a:xfrm>
            <a:off x="7429500" y="2428876"/>
            <a:ext cx="1752600" cy="585789"/>
            <a:chOff x="0" y="0"/>
            <a:chExt cx="1752600" cy="585788"/>
          </a:xfrm>
        </p:grpSpPr>
        <p:sp>
          <p:nvSpPr>
            <p:cNvPr id="1099" name="Rectangle"/>
            <p:cNvSpPr/>
            <p:nvPr/>
          </p:nvSpPr>
          <p:spPr>
            <a:xfrm>
              <a:off x="0" y="0"/>
              <a:ext cx="17526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00" name="0"/>
            <p:cNvSpPr txBox="1"/>
            <p:nvPr/>
          </p:nvSpPr>
          <p:spPr>
            <a:xfrm>
              <a:off x="47962" y="117776"/>
              <a:ext cx="1656676" cy="335796"/>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0</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04" name="Rectangle 5"/>
          <p:cNvGrpSpPr/>
          <p:nvPr/>
        </p:nvGrpSpPr>
        <p:grpSpPr>
          <a:xfrm>
            <a:off x="5372100" y="2428876"/>
            <a:ext cx="2057400" cy="585789"/>
            <a:chOff x="0" y="0"/>
            <a:chExt cx="2057400" cy="585788"/>
          </a:xfrm>
        </p:grpSpPr>
        <p:sp>
          <p:nvSpPr>
            <p:cNvPr id="1102" name="Rectangle"/>
            <p:cNvSpPr/>
            <p:nvPr/>
          </p:nvSpPr>
          <p:spPr>
            <a:xfrm>
              <a:off x="0" y="0"/>
              <a:ext cx="20574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03" name="On-Chip TLB"/>
            <p:cNvSpPr txBox="1"/>
            <p:nvPr/>
          </p:nvSpPr>
          <p:spPr>
            <a:xfrm>
              <a:off x="47962" y="117776"/>
              <a:ext cx="19614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片上</a:t>
              </a:r>
              <a:r>
                <a:rPr lang="en-US" dirty="0">
                  <a:latin typeface="Consolas" panose="020B0609020204030204" pitchFamily="49" charset="0"/>
                  <a:ea typeface="FangSong" panose="02010609060101010101" pitchFamily="49" charset="-122"/>
                  <a:cs typeface="Consolas" panose="020B0609020204030204" pitchFamily="49" charset="0"/>
                </a:rPr>
                <a:t>(on-chip)</a:t>
              </a:r>
              <a:r>
                <a:rPr dirty="0">
                  <a:latin typeface="Consolas" panose="020B0609020204030204" pitchFamily="49" charset="0"/>
                  <a:ea typeface="FangSong" panose="02010609060101010101" pitchFamily="49" charset="-122"/>
                  <a:cs typeface="Consolas" panose="020B0609020204030204" pitchFamily="49" charset="0"/>
                </a:rPr>
                <a:t> TLB</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07" name="Rectangle 6"/>
          <p:cNvGrpSpPr/>
          <p:nvPr/>
        </p:nvGrpSpPr>
        <p:grpSpPr>
          <a:xfrm>
            <a:off x="3467100" y="2428876"/>
            <a:ext cx="1905000" cy="585789"/>
            <a:chOff x="0" y="0"/>
            <a:chExt cx="1905000" cy="585788"/>
          </a:xfrm>
        </p:grpSpPr>
        <p:sp>
          <p:nvSpPr>
            <p:cNvPr id="1105" name="Rectangle"/>
            <p:cNvSpPr/>
            <p:nvPr/>
          </p:nvSpPr>
          <p:spPr>
            <a:xfrm>
              <a:off x="0" y="0"/>
              <a:ext cx="19050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06" name="Address translations"/>
            <p:cNvSpPr txBox="1"/>
            <p:nvPr/>
          </p:nvSpPr>
          <p:spPr>
            <a:xfrm>
              <a:off x="37688" y="128052"/>
              <a:ext cx="18090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地址翻译</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10" name="Rectangle 7"/>
          <p:cNvGrpSpPr/>
          <p:nvPr/>
        </p:nvGrpSpPr>
        <p:grpSpPr>
          <a:xfrm>
            <a:off x="1638300" y="2428876"/>
            <a:ext cx="1828800" cy="585789"/>
            <a:chOff x="0" y="0"/>
            <a:chExt cx="1828800" cy="585788"/>
          </a:xfrm>
        </p:grpSpPr>
        <p:sp>
          <p:nvSpPr>
            <p:cNvPr id="1108" name="Rectangle"/>
            <p:cNvSpPr/>
            <p:nvPr/>
          </p:nvSpPr>
          <p:spPr>
            <a:xfrm>
              <a:off x="0" y="0"/>
              <a:ext cx="18288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09" name="TLB"/>
            <p:cNvSpPr txBox="1"/>
            <p:nvPr/>
          </p:nvSpPr>
          <p:spPr>
            <a:xfrm>
              <a:off x="41097" y="128052"/>
              <a:ext cx="17328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TLB</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13" name="Rectangle 8"/>
          <p:cNvGrpSpPr/>
          <p:nvPr/>
        </p:nvGrpSpPr>
        <p:grpSpPr>
          <a:xfrm>
            <a:off x="9182100" y="5338762"/>
            <a:ext cx="1780426" cy="585790"/>
            <a:chOff x="0" y="0"/>
            <a:chExt cx="1447800" cy="585788"/>
          </a:xfrm>
        </p:grpSpPr>
        <p:sp>
          <p:nvSpPr>
            <p:cNvPr id="1111" name="Rectangle"/>
            <p:cNvSpPr/>
            <p:nvPr/>
          </p:nvSpPr>
          <p:spPr>
            <a:xfrm>
              <a:off x="0" y="0"/>
              <a:ext cx="14478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12" name="Web browser"/>
            <p:cNvSpPr txBox="1"/>
            <p:nvPr/>
          </p:nvSpPr>
          <p:spPr>
            <a:xfrm>
              <a:off x="47962" y="117776"/>
              <a:ext cx="13518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Web </a:t>
              </a:r>
              <a:r>
                <a:rPr lang="en-US" dirty="0" err="1">
                  <a:latin typeface="Consolas" panose="020B0609020204030204" pitchFamily="49" charset="0"/>
                  <a:ea typeface="FangSong" panose="02010609060101010101" pitchFamily="49" charset="-122"/>
                  <a:cs typeface="Consolas" panose="020B0609020204030204" pitchFamily="49" charset="0"/>
                </a:rPr>
                <a:t>浏览器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16" name="Rectangle 9"/>
          <p:cNvGrpSpPr/>
          <p:nvPr/>
        </p:nvGrpSpPr>
        <p:grpSpPr>
          <a:xfrm>
            <a:off x="7429500" y="5338762"/>
            <a:ext cx="1752600" cy="585790"/>
            <a:chOff x="0" y="0"/>
            <a:chExt cx="1752600" cy="585788"/>
          </a:xfrm>
        </p:grpSpPr>
        <p:sp>
          <p:nvSpPr>
            <p:cNvPr id="1114" name="Rectangle"/>
            <p:cNvSpPr/>
            <p:nvPr/>
          </p:nvSpPr>
          <p:spPr>
            <a:xfrm>
              <a:off x="0" y="0"/>
              <a:ext cx="17526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15" name="10,000,000"/>
            <p:cNvSpPr txBox="1"/>
            <p:nvPr/>
          </p:nvSpPr>
          <p:spPr>
            <a:xfrm>
              <a:off x="47962" y="138324"/>
              <a:ext cx="1656676" cy="335796"/>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10,000,000</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19" name="Rectangle 10"/>
          <p:cNvGrpSpPr/>
          <p:nvPr/>
        </p:nvGrpSpPr>
        <p:grpSpPr>
          <a:xfrm>
            <a:off x="5372100" y="5338762"/>
            <a:ext cx="2057400" cy="585790"/>
            <a:chOff x="0" y="0"/>
            <a:chExt cx="2057400" cy="585788"/>
          </a:xfrm>
        </p:grpSpPr>
        <p:sp>
          <p:nvSpPr>
            <p:cNvPr id="1117" name="Rectangle"/>
            <p:cNvSpPr/>
            <p:nvPr/>
          </p:nvSpPr>
          <p:spPr>
            <a:xfrm>
              <a:off x="0" y="0"/>
              <a:ext cx="20574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18" name="Local disk"/>
            <p:cNvSpPr txBox="1"/>
            <p:nvPr/>
          </p:nvSpPr>
          <p:spPr>
            <a:xfrm>
              <a:off x="58236" y="128050"/>
              <a:ext cx="19614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本地磁盘</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22" name="Rectangle 11"/>
          <p:cNvGrpSpPr/>
          <p:nvPr/>
        </p:nvGrpSpPr>
        <p:grpSpPr>
          <a:xfrm>
            <a:off x="3467100" y="5338762"/>
            <a:ext cx="1905000" cy="585790"/>
            <a:chOff x="0" y="0"/>
            <a:chExt cx="1905000" cy="585788"/>
          </a:xfrm>
        </p:grpSpPr>
        <p:sp>
          <p:nvSpPr>
            <p:cNvPr id="1120" name="Rectangle"/>
            <p:cNvSpPr/>
            <p:nvPr/>
          </p:nvSpPr>
          <p:spPr>
            <a:xfrm>
              <a:off x="0" y="0"/>
              <a:ext cx="19050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21" name="Web pages"/>
            <p:cNvSpPr txBox="1"/>
            <p:nvPr/>
          </p:nvSpPr>
          <p:spPr>
            <a:xfrm>
              <a:off x="47962" y="128050"/>
              <a:ext cx="18090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a:latin typeface="Consolas" panose="020B0609020204030204" pitchFamily="49" charset="0"/>
                  <a:ea typeface="FangSong" panose="02010609060101010101" pitchFamily="49" charset="-122"/>
                  <a:cs typeface="Consolas" panose="020B0609020204030204" pitchFamily="49" charset="0"/>
                </a:rPr>
                <a:t>Web </a:t>
              </a:r>
              <a:r>
                <a:rPr lang="en-US" dirty="0" err="1">
                  <a:latin typeface="Consolas" panose="020B0609020204030204" pitchFamily="49" charset="0"/>
                  <a:ea typeface="FangSong" panose="02010609060101010101" pitchFamily="49" charset="-122"/>
                  <a:cs typeface="Consolas" panose="020B0609020204030204" pitchFamily="49" charset="0"/>
                </a:rPr>
                <a:t>页</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25" name="Rectangle 12"/>
          <p:cNvGrpSpPr/>
          <p:nvPr/>
        </p:nvGrpSpPr>
        <p:grpSpPr>
          <a:xfrm>
            <a:off x="1638300" y="5338762"/>
            <a:ext cx="1828800" cy="585790"/>
            <a:chOff x="0" y="0"/>
            <a:chExt cx="1828800" cy="585788"/>
          </a:xfrm>
        </p:grpSpPr>
        <p:sp>
          <p:nvSpPr>
            <p:cNvPr id="1123" name="Rectangle"/>
            <p:cNvSpPr/>
            <p:nvPr/>
          </p:nvSpPr>
          <p:spPr>
            <a:xfrm>
              <a:off x="0" y="0"/>
              <a:ext cx="18288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24" name="Browser cache"/>
            <p:cNvSpPr txBox="1"/>
            <p:nvPr/>
          </p:nvSpPr>
          <p:spPr>
            <a:xfrm>
              <a:off x="47962" y="117776"/>
              <a:ext cx="1732876" cy="333374"/>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浏览器</a:t>
              </a:r>
              <a:r>
                <a:rPr dirty="0">
                  <a:latin typeface="Consolas" panose="020B0609020204030204" pitchFamily="49" charset="0"/>
                  <a:ea typeface="FangSong" panose="02010609060101010101" pitchFamily="49" charset="-122"/>
                  <a:cs typeface="Consolas" panose="020B0609020204030204" pitchFamily="49" charset="0"/>
                </a:rPr>
                <a:t> </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28" name="Rectangle 13"/>
          <p:cNvGrpSpPr/>
          <p:nvPr/>
        </p:nvGrpSpPr>
        <p:grpSpPr>
          <a:xfrm>
            <a:off x="1638300" y="5924551"/>
            <a:ext cx="1828800" cy="585789"/>
            <a:chOff x="0" y="0"/>
            <a:chExt cx="1828800" cy="585788"/>
          </a:xfrm>
        </p:grpSpPr>
        <p:sp>
          <p:nvSpPr>
            <p:cNvPr id="1126" name="Rectangle"/>
            <p:cNvSpPr/>
            <p:nvPr/>
          </p:nvSpPr>
          <p:spPr>
            <a:xfrm>
              <a:off x="0" y="0"/>
              <a:ext cx="18288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27" name="Web cache"/>
            <p:cNvSpPr txBox="1"/>
            <p:nvPr/>
          </p:nvSpPr>
          <p:spPr>
            <a:xfrm>
              <a:off x="47962" y="107502"/>
              <a:ext cx="1732876" cy="333374"/>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Web </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31" name="Rectangle 14"/>
          <p:cNvGrpSpPr/>
          <p:nvPr/>
        </p:nvGrpSpPr>
        <p:grpSpPr>
          <a:xfrm>
            <a:off x="1638300" y="4752976"/>
            <a:ext cx="1828800" cy="585789"/>
            <a:chOff x="0" y="0"/>
            <a:chExt cx="1828800" cy="585788"/>
          </a:xfrm>
        </p:grpSpPr>
        <p:sp>
          <p:nvSpPr>
            <p:cNvPr id="1129" name="Rectangle"/>
            <p:cNvSpPr/>
            <p:nvPr/>
          </p:nvSpPr>
          <p:spPr>
            <a:xfrm>
              <a:off x="0" y="0"/>
              <a:ext cx="18288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30" name="Network buffer cache"/>
            <p:cNvSpPr txBox="1"/>
            <p:nvPr/>
          </p:nvSpPr>
          <p:spPr>
            <a:xfrm>
              <a:off x="41275" y="128270"/>
              <a:ext cx="1732915" cy="333374"/>
            </a:xfrm>
            <a:prstGeom prst="rect">
              <a:avLst/>
            </a:prstGeom>
            <a:noFill/>
            <a:ln w="12700" cap="flat">
              <a:noFill/>
              <a:miter lim="400000"/>
            </a:ln>
            <a:effectLst/>
          </p:spPr>
          <p:txBody>
            <a:bodyPr wrap="square" lIns="46799" tIns="46799" rIns="46799" bIns="46799" numCol="1" anchor="t">
              <a:no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网络缓存</a:t>
              </a:r>
              <a:r>
                <a:rPr lang="zh-CN" altLang="en-US" dirty="0">
                  <a:latin typeface="Consolas" panose="020B0609020204030204" pitchFamily="49" charset="0"/>
                  <a:ea typeface="FangSong" panose="02010609060101010101" pitchFamily="49" charset="-122"/>
                  <a:cs typeface="Consolas" panose="020B0609020204030204" pitchFamily="49" charset="0"/>
                </a:rPr>
                <a:t> </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34" name="Rectangle 15"/>
          <p:cNvGrpSpPr/>
          <p:nvPr/>
        </p:nvGrpSpPr>
        <p:grpSpPr>
          <a:xfrm>
            <a:off x="1638300" y="4029075"/>
            <a:ext cx="1828800" cy="361950"/>
            <a:chOff x="0" y="0"/>
            <a:chExt cx="1828800" cy="361950"/>
          </a:xfrm>
        </p:grpSpPr>
        <p:sp>
          <p:nvSpPr>
            <p:cNvPr id="1132" name="Rectangle"/>
            <p:cNvSpPr/>
            <p:nvPr/>
          </p:nvSpPr>
          <p:spPr>
            <a:xfrm>
              <a:off x="0" y="0"/>
              <a:ext cx="1828800"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33" name="Buffer cache"/>
            <p:cNvSpPr txBox="1"/>
            <p:nvPr/>
          </p:nvSpPr>
          <p:spPr>
            <a:xfrm>
              <a:off x="47962" y="4762"/>
              <a:ext cx="1732876" cy="333375"/>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Buffer </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37" name="Rectangle 16"/>
          <p:cNvGrpSpPr/>
          <p:nvPr/>
        </p:nvGrpSpPr>
        <p:grpSpPr>
          <a:xfrm>
            <a:off x="1638300" y="3690936"/>
            <a:ext cx="1828800" cy="340560"/>
            <a:chOff x="0" y="-1"/>
            <a:chExt cx="1828800" cy="340559"/>
          </a:xfrm>
        </p:grpSpPr>
        <p:sp>
          <p:nvSpPr>
            <p:cNvPr id="1135" name="Rectangle"/>
            <p:cNvSpPr/>
            <p:nvPr/>
          </p:nvSpPr>
          <p:spPr>
            <a:xfrm>
              <a:off x="0" y="-1"/>
              <a:ext cx="1828800" cy="338139"/>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36" name="Virtual Memory"/>
            <p:cNvSpPr txBox="1"/>
            <p:nvPr/>
          </p:nvSpPr>
          <p:spPr>
            <a:xfrm>
              <a:off x="47962" y="4762"/>
              <a:ext cx="17328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虚拟内存</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40" name="Rectangle 17"/>
          <p:cNvGrpSpPr/>
          <p:nvPr/>
        </p:nvGrpSpPr>
        <p:grpSpPr>
          <a:xfrm>
            <a:off x="1638300" y="3352798"/>
            <a:ext cx="1828800" cy="340560"/>
            <a:chOff x="0" y="-1"/>
            <a:chExt cx="1828800" cy="340558"/>
          </a:xfrm>
        </p:grpSpPr>
        <p:sp>
          <p:nvSpPr>
            <p:cNvPr id="1138" name="Rectangle"/>
            <p:cNvSpPr/>
            <p:nvPr/>
          </p:nvSpPr>
          <p:spPr>
            <a:xfrm>
              <a:off x="0" y="-1"/>
              <a:ext cx="1828800"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39" name="L2 cache"/>
            <p:cNvSpPr txBox="1"/>
            <p:nvPr/>
          </p:nvSpPr>
          <p:spPr>
            <a:xfrm>
              <a:off x="47962" y="4762"/>
              <a:ext cx="1732876" cy="335795"/>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L2 cache</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43" name="Rectangle 18"/>
          <p:cNvGrpSpPr/>
          <p:nvPr/>
        </p:nvGrpSpPr>
        <p:grpSpPr>
          <a:xfrm>
            <a:off x="1638300" y="3014662"/>
            <a:ext cx="1828800" cy="340560"/>
            <a:chOff x="0" y="-1"/>
            <a:chExt cx="1828800" cy="340559"/>
          </a:xfrm>
        </p:grpSpPr>
        <p:sp>
          <p:nvSpPr>
            <p:cNvPr id="1141" name="Rectangle"/>
            <p:cNvSpPr/>
            <p:nvPr/>
          </p:nvSpPr>
          <p:spPr>
            <a:xfrm>
              <a:off x="0" y="-1"/>
              <a:ext cx="1828800"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42" name="L1 cache"/>
            <p:cNvSpPr txBox="1"/>
            <p:nvPr/>
          </p:nvSpPr>
          <p:spPr>
            <a:xfrm>
              <a:off x="47962" y="4762"/>
              <a:ext cx="17328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L1 cache</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46" name="Rectangle 19"/>
          <p:cNvGrpSpPr/>
          <p:nvPr/>
        </p:nvGrpSpPr>
        <p:grpSpPr>
          <a:xfrm>
            <a:off x="1638300" y="2078038"/>
            <a:ext cx="1828800" cy="350841"/>
            <a:chOff x="0" y="-1"/>
            <a:chExt cx="1828800" cy="350840"/>
          </a:xfrm>
        </p:grpSpPr>
        <p:sp>
          <p:nvSpPr>
            <p:cNvPr id="1144" name="Rectangle"/>
            <p:cNvSpPr/>
            <p:nvPr/>
          </p:nvSpPr>
          <p:spPr>
            <a:xfrm>
              <a:off x="0" y="-1"/>
              <a:ext cx="1828800" cy="3508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45" name="Registers"/>
            <p:cNvSpPr txBox="1"/>
            <p:nvPr/>
          </p:nvSpPr>
          <p:spPr>
            <a:xfrm>
              <a:off x="47962" y="4762"/>
              <a:ext cx="17328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寄存器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49" name="Rectangle 20"/>
          <p:cNvGrpSpPr/>
          <p:nvPr/>
        </p:nvGrpSpPr>
        <p:grpSpPr>
          <a:xfrm>
            <a:off x="1638300" y="1438274"/>
            <a:ext cx="1828800" cy="639767"/>
            <a:chOff x="0" y="-1"/>
            <a:chExt cx="1828800" cy="639765"/>
          </a:xfrm>
        </p:grpSpPr>
        <p:sp>
          <p:nvSpPr>
            <p:cNvPr id="1147" name="Rectangle"/>
            <p:cNvSpPr/>
            <p:nvPr/>
          </p:nvSpPr>
          <p:spPr>
            <a:xfrm>
              <a:off x="0" y="-1"/>
              <a:ext cx="1828800" cy="639765"/>
            </a:xfrm>
            <a:prstGeom prst="rect">
              <a:avLst/>
            </a:prstGeom>
            <a:solidFill>
              <a:srgbClr val="E0E0E0"/>
            </a:solidFill>
            <a:ln w="9525" cap="flat">
              <a:solidFill>
                <a:srgbClr val="000066"/>
              </a:solidFill>
              <a:prstDash val="solid"/>
              <a:miter lim="800000"/>
            </a:ln>
            <a:effectLst/>
          </p:spPr>
          <p:txBody>
            <a:bodyPr wrap="square" lIns="45719" tIns="45719" rIns="45719" bIns="45719" numCol="1" anchor="ctr">
              <a:noAutofit/>
            </a:bodyPr>
            <a:lstStyle/>
            <a:p>
              <a:pPr algn="ct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48" name="Cache Type"/>
            <p:cNvSpPr txBox="1"/>
            <p:nvPr/>
          </p:nvSpPr>
          <p:spPr>
            <a:xfrm>
              <a:off x="47962" y="136884"/>
              <a:ext cx="1732876" cy="365996"/>
            </a:xfrm>
            <a:prstGeom prst="rect">
              <a:avLst/>
            </a:prstGeom>
            <a:noFill/>
            <a:ln w="12700" cap="flat">
              <a:noFill/>
              <a:miter lim="400000"/>
            </a:ln>
            <a:effectLst/>
          </p:spPr>
          <p:txBody>
            <a:bodyPr wrap="square" lIns="46799" tIns="46799" rIns="46799" bIns="46799" numCol="1" anchor="ctr">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800">
                  <a:latin typeface="Calibri"/>
                  <a:ea typeface="Calibri"/>
                  <a:cs typeface="Calibri"/>
                  <a:sym typeface="Calibri"/>
                </a:defRPr>
              </a:lvl1pPr>
            </a:lstStyle>
            <a:p>
              <a:pPr algn="ctr"/>
              <a:r>
                <a:rPr lang="en-US" dirty="0" err="1">
                  <a:latin typeface="Consolas" panose="020B0609020204030204" pitchFamily="49" charset="0"/>
                  <a:ea typeface="FangSong" panose="02010609060101010101" pitchFamily="49" charset="-122"/>
                  <a:cs typeface="Consolas" panose="020B0609020204030204" pitchFamily="49" charset="0"/>
                </a:rPr>
                <a:t>缓存类型</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52" name="Rectangle 21"/>
          <p:cNvGrpSpPr/>
          <p:nvPr/>
        </p:nvGrpSpPr>
        <p:grpSpPr>
          <a:xfrm>
            <a:off x="3467100" y="5924551"/>
            <a:ext cx="1905000" cy="585789"/>
            <a:chOff x="0" y="0"/>
            <a:chExt cx="1905000" cy="585788"/>
          </a:xfrm>
        </p:grpSpPr>
        <p:sp>
          <p:nvSpPr>
            <p:cNvPr id="1150" name="Rectangle"/>
            <p:cNvSpPr/>
            <p:nvPr/>
          </p:nvSpPr>
          <p:spPr>
            <a:xfrm>
              <a:off x="0" y="0"/>
              <a:ext cx="19050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51" name="Web pages"/>
            <p:cNvSpPr txBox="1"/>
            <p:nvPr/>
          </p:nvSpPr>
          <p:spPr>
            <a:xfrm>
              <a:off x="47962" y="107502"/>
              <a:ext cx="18090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Web </a:t>
              </a:r>
              <a:r>
                <a:rPr lang="en-US" dirty="0" err="1">
                  <a:latin typeface="Consolas" panose="020B0609020204030204" pitchFamily="49" charset="0"/>
                  <a:ea typeface="FangSong" panose="02010609060101010101" pitchFamily="49" charset="-122"/>
                  <a:cs typeface="Consolas" panose="020B0609020204030204" pitchFamily="49" charset="0"/>
                </a:rPr>
                <a:t>页</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55" name="Rectangle 22"/>
          <p:cNvGrpSpPr/>
          <p:nvPr/>
        </p:nvGrpSpPr>
        <p:grpSpPr>
          <a:xfrm>
            <a:off x="3467100" y="4752976"/>
            <a:ext cx="1905000" cy="585789"/>
            <a:chOff x="0" y="0"/>
            <a:chExt cx="1905000" cy="585788"/>
          </a:xfrm>
        </p:grpSpPr>
        <p:sp>
          <p:nvSpPr>
            <p:cNvPr id="1153" name="Rectangle"/>
            <p:cNvSpPr/>
            <p:nvPr/>
          </p:nvSpPr>
          <p:spPr>
            <a:xfrm>
              <a:off x="0" y="0"/>
              <a:ext cx="19050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54" name="Parts of files"/>
            <p:cNvSpPr txBox="1"/>
            <p:nvPr/>
          </p:nvSpPr>
          <p:spPr>
            <a:xfrm>
              <a:off x="37688" y="128050"/>
              <a:ext cx="18090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部分文件</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58" name="Rectangle 23"/>
          <p:cNvGrpSpPr/>
          <p:nvPr/>
        </p:nvGrpSpPr>
        <p:grpSpPr>
          <a:xfrm>
            <a:off x="3467100" y="4029075"/>
            <a:ext cx="1905000" cy="361950"/>
            <a:chOff x="0" y="0"/>
            <a:chExt cx="1905000" cy="361950"/>
          </a:xfrm>
        </p:grpSpPr>
        <p:sp>
          <p:nvSpPr>
            <p:cNvPr id="1156" name="Rectangle"/>
            <p:cNvSpPr/>
            <p:nvPr/>
          </p:nvSpPr>
          <p:spPr>
            <a:xfrm>
              <a:off x="0" y="0"/>
              <a:ext cx="1905000"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57" name="Parts of files"/>
            <p:cNvSpPr txBox="1"/>
            <p:nvPr/>
          </p:nvSpPr>
          <p:spPr>
            <a:xfrm>
              <a:off x="47962" y="4762"/>
              <a:ext cx="1809076" cy="335797"/>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部分文件</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61" name="Rectangle 24"/>
          <p:cNvGrpSpPr/>
          <p:nvPr/>
        </p:nvGrpSpPr>
        <p:grpSpPr>
          <a:xfrm>
            <a:off x="3467100" y="3690936"/>
            <a:ext cx="1905000" cy="340560"/>
            <a:chOff x="0" y="-1"/>
            <a:chExt cx="1905000" cy="340559"/>
          </a:xfrm>
        </p:grpSpPr>
        <p:sp>
          <p:nvSpPr>
            <p:cNvPr id="1159" name="Rectangle"/>
            <p:cNvSpPr/>
            <p:nvPr/>
          </p:nvSpPr>
          <p:spPr>
            <a:xfrm>
              <a:off x="0" y="-1"/>
              <a:ext cx="1905000" cy="338139"/>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60" name="4-KB pages"/>
            <p:cNvSpPr txBox="1"/>
            <p:nvPr/>
          </p:nvSpPr>
          <p:spPr>
            <a:xfrm>
              <a:off x="47962" y="4762"/>
              <a:ext cx="18090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4-KB </a:t>
              </a:r>
              <a:r>
                <a:rPr lang="en-US" dirty="0" err="1">
                  <a:latin typeface="Consolas" panose="020B0609020204030204" pitchFamily="49" charset="0"/>
                  <a:ea typeface="FangSong" panose="02010609060101010101" pitchFamily="49" charset="-122"/>
                  <a:cs typeface="Consolas" panose="020B0609020204030204" pitchFamily="49" charset="0"/>
                </a:rPr>
                <a:t>大小的页</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64" name="Rectangle 25"/>
          <p:cNvGrpSpPr/>
          <p:nvPr/>
        </p:nvGrpSpPr>
        <p:grpSpPr>
          <a:xfrm>
            <a:off x="3467100" y="3352798"/>
            <a:ext cx="1905000" cy="340560"/>
            <a:chOff x="0" y="-1"/>
            <a:chExt cx="1905000" cy="340558"/>
          </a:xfrm>
        </p:grpSpPr>
        <p:sp>
          <p:nvSpPr>
            <p:cNvPr id="1162" name="Rectangle"/>
            <p:cNvSpPr/>
            <p:nvPr/>
          </p:nvSpPr>
          <p:spPr>
            <a:xfrm>
              <a:off x="0" y="-1"/>
              <a:ext cx="1905000"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63" name="64-byte blocks"/>
            <p:cNvSpPr txBox="1"/>
            <p:nvPr/>
          </p:nvSpPr>
          <p:spPr>
            <a:xfrm>
              <a:off x="47962" y="4762"/>
              <a:ext cx="1809076" cy="335795"/>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64-</a:t>
              </a:r>
              <a:r>
                <a:rPr lang="en-US" dirty="0">
                  <a:latin typeface="Consolas" panose="020B0609020204030204" pitchFamily="49" charset="0"/>
                  <a:ea typeface="FangSong" panose="02010609060101010101" pitchFamily="49" charset="-122"/>
                  <a:cs typeface="Consolas" panose="020B0609020204030204" pitchFamily="49" charset="0"/>
                </a:rPr>
                <a:t>字节块</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67" name="Rectangle 26"/>
          <p:cNvGrpSpPr/>
          <p:nvPr/>
        </p:nvGrpSpPr>
        <p:grpSpPr>
          <a:xfrm>
            <a:off x="3467100" y="3014662"/>
            <a:ext cx="1905000" cy="340560"/>
            <a:chOff x="0" y="-1"/>
            <a:chExt cx="1905000" cy="340559"/>
          </a:xfrm>
        </p:grpSpPr>
        <p:sp>
          <p:nvSpPr>
            <p:cNvPr id="1165" name="Rectangle"/>
            <p:cNvSpPr/>
            <p:nvPr/>
          </p:nvSpPr>
          <p:spPr>
            <a:xfrm>
              <a:off x="0" y="-1"/>
              <a:ext cx="1905000"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66" name="64-byte blocks"/>
            <p:cNvSpPr txBox="1"/>
            <p:nvPr/>
          </p:nvSpPr>
          <p:spPr>
            <a:xfrm>
              <a:off x="47962" y="4762"/>
              <a:ext cx="18090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64-</a:t>
              </a:r>
              <a:r>
                <a:rPr lang="en-US" dirty="0">
                  <a:latin typeface="Consolas" panose="020B0609020204030204" pitchFamily="49" charset="0"/>
                  <a:ea typeface="FangSong" panose="02010609060101010101" pitchFamily="49" charset="-122"/>
                  <a:cs typeface="Consolas" panose="020B0609020204030204" pitchFamily="49" charset="0"/>
                </a:rPr>
                <a:t>字节块</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70" name="Rectangle 27"/>
          <p:cNvGrpSpPr/>
          <p:nvPr/>
        </p:nvGrpSpPr>
        <p:grpSpPr>
          <a:xfrm>
            <a:off x="3467100" y="2078038"/>
            <a:ext cx="1905000" cy="350841"/>
            <a:chOff x="0" y="-1"/>
            <a:chExt cx="1905000" cy="350840"/>
          </a:xfrm>
        </p:grpSpPr>
        <p:sp>
          <p:nvSpPr>
            <p:cNvPr id="1168" name="Rectangle"/>
            <p:cNvSpPr/>
            <p:nvPr/>
          </p:nvSpPr>
          <p:spPr>
            <a:xfrm>
              <a:off x="0" y="-1"/>
              <a:ext cx="1905000" cy="3508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69" name="4-8 byte words"/>
            <p:cNvSpPr txBox="1"/>
            <p:nvPr/>
          </p:nvSpPr>
          <p:spPr>
            <a:xfrm>
              <a:off x="47962" y="4762"/>
              <a:ext cx="18090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4-8 </a:t>
              </a:r>
              <a:r>
                <a:rPr lang="en-US" dirty="0" err="1">
                  <a:latin typeface="Consolas" panose="020B0609020204030204" pitchFamily="49" charset="0"/>
                  <a:ea typeface="FangSong" panose="02010609060101010101" pitchFamily="49" charset="-122"/>
                  <a:cs typeface="Consolas" panose="020B0609020204030204" pitchFamily="49" charset="0"/>
                </a:rPr>
                <a:t>字节的字</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73" name="Rectangle 28"/>
          <p:cNvGrpSpPr/>
          <p:nvPr/>
        </p:nvGrpSpPr>
        <p:grpSpPr>
          <a:xfrm>
            <a:off x="3467100" y="1438274"/>
            <a:ext cx="1905000" cy="639767"/>
            <a:chOff x="0" y="-1"/>
            <a:chExt cx="1905000" cy="639765"/>
          </a:xfrm>
        </p:grpSpPr>
        <p:sp>
          <p:nvSpPr>
            <p:cNvPr id="1171" name="Rectangle"/>
            <p:cNvSpPr/>
            <p:nvPr/>
          </p:nvSpPr>
          <p:spPr>
            <a:xfrm>
              <a:off x="0" y="-1"/>
              <a:ext cx="1905000" cy="639765"/>
            </a:xfrm>
            <a:prstGeom prst="rect">
              <a:avLst/>
            </a:prstGeom>
            <a:solidFill>
              <a:srgbClr val="E0E0E0"/>
            </a:solidFill>
            <a:ln w="9525" cap="flat">
              <a:solidFill>
                <a:srgbClr val="000066"/>
              </a:solidFill>
              <a:prstDash val="solid"/>
              <a:miter lim="800000"/>
            </a:ln>
            <a:effectLst/>
          </p:spPr>
          <p:txBody>
            <a:bodyPr wrap="square" lIns="45719" tIns="45719" rIns="45719" bIns="45719" numCol="1" anchor="ctr">
              <a:noAutofit/>
            </a:bodyPr>
            <a:lstStyle/>
            <a:p>
              <a:pPr algn="ct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72" name="What is Cached?"/>
            <p:cNvSpPr txBox="1"/>
            <p:nvPr/>
          </p:nvSpPr>
          <p:spPr>
            <a:xfrm>
              <a:off x="47962" y="137955"/>
              <a:ext cx="1809076" cy="363854"/>
            </a:xfrm>
            <a:prstGeom prst="rect">
              <a:avLst/>
            </a:prstGeom>
            <a:noFill/>
            <a:ln w="12700" cap="flat">
              <a:noFill/>
              <a:miter lim="400000"/>
            </a:ln>
            <a:effectLst/>
          </p:spPr>
          <p:txBody>
            <a:bodyPr wrap="square" lIns="46799" tIns="46799" rIns="46799" bIns="46799" numCol="1" anchor="ctr">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800">
                  <a:latin typeface="Calibri"/>
                  <a:ea typeface="Calibri"/>
                  <a:cs typeface="Calibri"/>
                  <a:sym typeface="Calibri"/>
                </a:defRPr>
              </a:lvl1pPr>
            </a:lstStyle>
            <a:p>
              <a:pPr algn="ctr"/>
              <a:r>
                <a:rPr lang="zh-CN" altLang="en-US" dirty="0" err="1">
                  <a:latin typeface="Consolas" panose="020B0609020204030204" pitchFamily="49" charset="0"/>
                  <a:ea typeface="FangSong" panose="02010609060101010101" pitchFamily="49" charset="-122"/>
                  <a:cs typeface="Consolas" panose="020B0609020204030204" pitchFamily="49" charset="0"/>
                </a:rPr>
                <a:t>数据块</a:t>
              </a:r>
              <a:r>
                <a:rPr lang="zh-CN" altLang="en-US" dirty="0" err="1">
                  <a:latin typeface="Consolas" panose="020B0609020204030204" pitchFamily="49" charset="0"/>
                  <a:ea typeface="FangSong" panose="02010609060101010101" pitchFamily="49" charset="-122"/>
                  <a:cs typeface="Consolas" panose="020B0609020204030204" pitchFamily="49" charset="0"/>
                </a:rPr>
                <a:t>内容</a:t>
              </a:r>
              <a:endParaRPr lang="zh-CN" altLang="en-US" dirty="0" err="1">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76" name="Rectangle 29"/>
          <p:cNvGrpSpPr/>
          <p:nvPr/>
        </p:nvGrpSpPr>
        <p:grpSpPr>
          <a:xfrm>
            <a:off x="9182100" y="5924551"/>
            <a:ext cx="1780426" cy="585789"/>
            <a:chOff x="0" y="0"/>
            <a:chExt cx="1447800" cy="585788"/>
          </a:xfrm>
        </p:grpSpPr>
        <p:sp>
          <p:nvSpPr>
            <p:cNvPr id="1174" name="Rectangle"/>
            <p:cNvSpPr/>
            <p:nvPr/>
          </p:nvSpPr>
          <p:spPr>
            <a:xfrm>
              <a:off x="0" y="0"/>
              <a:ext cx="14478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75" name="Web proxy server"/>
            <p:cNvSpPr txBox="1"/>
            <p:nvPr/>
          </p:nvSpPr>
          <p:spPr>
            <a:xfrm>
              <a:off x="47962" y="125403"/>
              <a:ext cx="1351876" cy="335796"/>
            </a:xfrm>
            <a:prstGeom prst="rect">
              <a:avLst/>
            </a:prstGeom>
            <a:noFill/>
            <a:ln w="12700" cap="flat">
              <a:noFill/>
              <a:miter lim="400000"/>
            </a:ln>
            <a:effectLst/>
          </p:spPr>
          <p:txBody>
            <a:bodyPr wrap="square" lIns="46799" tIns="46799" rIns="46799" bIns="46799" numCol="1" anchor="ctr">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Web </a:t>
              </a:r>
              <a:r>
                <a:rPr lang="en-US" dirty="0" err="1">
                  <a:latin typeface="Consolas" panose="020B0609020204030204" pitchFamily="49" charset="0"/>
                  <a:ea typeface="FangSong" panose="02010609060101010101" pitchFamily="49" charset="-122"/>
                  <a:cs typeface="Consolas" panose="020B0609020204030204" pitchFamily="49" charset="0"/>
                </a:rPr>
                <a:t>代理服务器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79" name="Rectangle 30"/>
          <p:cNvGrpSpPr/>
          <p:nvPr/>
        </p:nvGrpSpPr>
        <p:grpSpPr>
          <a:xfrm>
            <a:off x="7429500" y="5924551"/>
            <a:ext cx="1752600" cy="585789"/>
            <a:chOff x="0" y="0"/>
            <a:chExt cx="1752600" cy="585788"/>
          </a:xfrm>
        </p:grpSpPr>
        <p:sp>
          <p:nvSpPr>
            <p:cNvPr id="1177" name="Rectangle"/>
            <p:cNvSpPr/>
            <p:nvPr/>
          </p:nvSpPr>
          <p:spPr>
            <a:xfrm>
              <a:off x="0" y="0"/>
              <a:ext cx="17526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78" name="1,000,000,000"/>
            <p:cNvSpPr txBox="1"/>
            <p:nvPr/>
          </p:nvSpPr>
          <p:spPr>
            <a:xfrm>
              <a:off x="47962" y="128050"/>
              <a:ext cx="1656676" cy="335796"/>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1,000,000,000</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82" name="Rectangle 31"/>
          <p:cNvGrpSpPr/>
          <p:nvPr/>
        </p:nvGrpSpPr>
        <p:grpSpPr>
          <a:xfrm>
            <a:off x="5372100" y="5924551"/>
            <a:ext cx="2057400" cy="585789"/>
            <a:chOff x="0" y="0"/>
            <a:chExt cx="2057400" cy="585788"/>
          </a:xfrm>
        </p:grpSpPr>
        <p:sp>
          <p:nvSpPr>
            <p:cNvPr id="1180" name="Rectangle"/>
            <p:cNvSpPr/>
            <p:nvPr/>
          </p:nvSpPr>
          <p:spPr>
            <a:xfrm>
              <a:off x="0" y="0"/>
              <a:ext cx="20574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81" name="Remote server disks"/>
            <p:cNvSpPr txBox="1"/>
            <p:nvPr/>
          </p:nvSpPr>
          <p:spPr>
            <a:xfrm>
              <a:off x="47962" y="117776"/>
              <a:ext cx="19614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远程服务器磁盘</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85" name="Rectangle 32"/>
          <p:cNvGrpSpPr/>
          <p:nvPr/>
        </p:nvGrpSpPr>
        <p:grpSpPr>
          <a:xfrm>
            <a:off x="9182100" y="4029075"/>
            <a:ext cx="1780426" cy="361950"/>
            <a:chOff x="0" y="0"/>
            <a:chExt cx="1780426" cy="361950"/>
          </a:xfrm>
        </p:grpSpPr>
        <p:sp>
          <p:nvSpPr>
            <p:cNvPr id="1183" name="Rectangle"/>
            <p:cNvSpPr/>
            <p:nvPr/>
          </p:nvSpPr>
          <p:spPr>
            <a:xfrm>
              <a:off x="0" y="0"/>
              <a:ext cx="1780426"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84" name="OS"/>
            <p:cNvSpPr txBox="1"/>
            <p:nvPr/>
          </p:nvSpPr>
          <p:spPr>
            <a:xfrm>
              <a:off x="47962" y="4762"/>
              <a:ext cx="1351876" cy="335797"/>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OS</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88" name="Rectangle 33"/>
          <p:cNvGrpSpPr/>
          <p:nvPr/>
        </p:nvGrpSpPr>
        <p:grpSpPr>
          <a:xfrm>
            <a:off x="7429500" y="4029075"/>
            <a:ext cx="1752600" cy="361950"/>
            <a:chOff x="0" y="0"/>
            <a:chExt cx="1752600" cy="361950"/>
          </a:xfrm>
        </p:grpSpPr>
        <p:sp>
          <p:nvSpPr>
            <p:cNvPr id="1186" name="Rectangle"/>
            <p:cNvSpPr/>
            <p:nvPr/>
          </p:nvSpPr>
          <p:spPr>
            <a:xfrm>
              <a:off x="0" y="0"/>
              <a:ext cx="1752600"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87" name="100"/>
            <p:cNvSpPr txBox="1"/>
            <p:nvPr/>
          </p:nvSpPr>
          <p:spPr>
            <a:xfrm>
              <a:off x="47962" y="4762"/>
              <a:ext cx="1656676" cy="335797"/>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100</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91" name="Rectangle 34"/>
          <p:cNvGrpSpPr/>
          <p:nvPr/>
        </p:nvGrpSpPr>
        <p:grpSpPr>
          <a:xfrm>
            <a:off x="5372100" y="4029075"/>
            <a:ext cx="2057400" cy="361950"/>
            <a:chOff x="0" y="0"/>
            <a:chExt cx="2057400" cy="361950"/>
          </a:xfrm>
        </p:grpSpPr>
        <p:sp>
          <p:nvSpPr>
            <p:cNvPr id="1189" name="Rectangle"/>
            <p:cNvSpPr/>
            <p:nvPr/>
          </p:nvSpPr>
          <p:spPr>
            <a:xfrm>
              <a:off x="0" y="0"/>
              <a:ext cx="2057400"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90" name="Main memory"/>
            <p:cNvSpPr txBox="1"/>
            <p:nvPr/>
          </p:nvSpPr>
          <p:spPr>
            <a:xfrm>
              <a:off x="47962" y="4762"/>
              <a:ext cx="1961476" cy="335797"/>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94" name="Rectangle 35"/>
          <p:cNvGrpSpPr/>
          <p:nvPr/>
        </p:nvGrpSpPr>
        <p:grpSpPr>
          <a:xfrm>
            <a:off x="9182100" y="3014662"/>
            <a:ext cx="1780426" cy="340560"/>
            <a:chOff x="0" y="-1"/>
            <a:chExt cx="1780426" cy="340559"/>
          </a:xfrm>
        </p:grpSpPr>
        <p:sp>
          <p:nvSpPr>
            <p:cNvPr id="1192" name="Rectangle"/>
            <p:cNvSpPr/>
            <p:nvPr/>
          </p:nvSpPr>
          <p:spPr>
            <a:xfrm>
              <a:off x="0" y="-1"/>
              <a:ext cx="1780426"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93" name="Hardware"/>
            <p:cNvSpPr txBox="1"/>
            <p:nvPr/>
          </p:nvSpPr>
          <p:spPr>
            <a:xfrm>
              <a:off x="47962" y="4762"/>
              <a:ext cx="13518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硬件</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197" name="Rectangle 36"/>
          <p:cNvGrpSpPr/>
          <p:nvPr/>
        </p:nvGrpSpPr>
        <p:grpSpPr>
          <a:xfrm>
            <a:off x="7429500" y="3014662"/>
            <a:ext cx="1752600" cy="340560"/>
            <a:chOff x="0" y="-1"/>
            <a:chExt cx="1752600" cy="340559"/>
          </a:xfrm>
        </p:grpSpPr>
        <p:sp>
          <p:nvSpPr>
            <p:cNvPr id="1195" name="Rectangle"/>
            <p:cNvSpPr/>
            <p:nvPr/>
          </p:nvSpPr>
          <p:spPr>
            <a:xfrm>
              <a:off x="0" y="-1"/>
              <a:ext cx="1752600"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96" name="4"/>
            <p:cNvSpPr txBox="1"/>
            <p:nvPr/>
          </p:nvSpPr>
          <p:spPr>
            <a:xfrm>
              <a:off x="47962" y="4762"/>
              <a:ext cx="1656676" cy="335796"/>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4</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00" name="Rectangle 37"/>
          <p:cNvGrpSpPr/>
          <p:nvPr/>
        </p:nvGrpSpPr>
        <p:grpSpPr>
          <a:xfrm>
            <a:off x="5372100" y="3014662"/>
            <a:ext cx="2057400" cy="340560"/>
            <a:chOff x="0" y="-1"/>
            <a:chExt cx="2057400" cy="340559"/>
          </a:xfrm>
        </p:grpSpPr>
        <p:sp>
          <p:nvSpPr>
            <p:cNvPr id="1198" name="Rectangle"/>
            <p:cNvSpPr/>
            <p:nvPr/>
          </p:nvSpPr>
          <p:spPr>
            <a:xfrm>
              <a:off x="0" y="-1"/>
              <a:ext cx="2057400"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199" name="On-Chip L1"/>
            <p:cNvSpPr txBox="1"/>
            <p:nvPr/>
          </p:nvSpPr>
          <p:spPr>
            <a:xfrm>
              <a:off x="47962" y="4762"/>
              <a:ext cx="19614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On-Chip L1</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03" name="Rectangle 38"/>
          <p:cNvGrpSpPr/>
          <p:nvPr/>
        </p:nvGrpSpPr>
        <p:grpSpPr>
          <a:xfrm>
            <a:off x="9182100" y="3352798"/>
            <a:ext cx="1780426" cy="340560"/>
            <a:chOff x="0" y="-1"/>
            <a:chExt cx="1780426" cy="340558"/>
          </a:xfrm>
        </p:grpSpPr>
        <p:sp>
          <p:nvSpPr>
            <p:cNvPr id="1201" name="Rectangle"/>
            <p:cNvSpPr/>
            <p:nvPr/>
          </p:nvSpPr>
          <p:spPr>
            <a:xfrm>
              <a:off x="0" y="-1"/>
              <a:ext cx="1780426"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02" name="Hardware"/>
            <p:cNvSpPr txBox="1"/>
            <p:nvPr/>
          </p:nvSpPr>
          <p:spPr>
            <a:xfrm>
              <a:off x="47962" y="4762"/>
              <a:ext cx="1348559" cy="335795"/>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硬件</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06" name="Rectangle 39"/>
          <p:cNvGrpSpPr/>
          <p:nvPr/>
        </p:nvGrpSpPr>
        <p:grpSpPr>
          <a:xfrm>
            <a:off x="7429500" y="3352798"/>
            <a:ext cx="1752600" cy="340560"/>
            <a:chOff x="0" y="-1"/>
            <a:chExt cx="1752600" cy="340558"/>
          </a:xfrm>
        </p:grpSpPr>
        <p:sp>
          <p:nvSpPr>
            <p:cNvPr id="1204" name="Rectangle"/>
            <p:cNvSpPr/>
            <p:nvPr/>
          </p:nvSpPr>
          <p:spPr>
            <a:xfrm>
              <a:off x="0" y="-1"/>
              <a:ext cx="1752600"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05" name="10"/>
            <p:cNvSpPr txBox="1"/>
            <p:nvPr/>
          </p:nvSpPr>
          <p:spPr>
            <a:xfrm>
              <a:off x="47962" y="4762"/>
              <a:ext cx="1656676" cy="335795"/>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10</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09" name="Rectangle 40"/>
          <p:cNvGrpSpPr/>
          <p:nvPr/>
        </p:nvGrpSpPr>
        <p:grpSpPr>
          <a:xfrm>
            <a:off x="5372100" y="3352798"/>
            <a:ext cx="2057400" cy="340560"/>
            <a:chOff x="0" y="-1"/>
            <a:chExt cx="2057400" cy="340558"/>
          </a:xfrm>
        </p:grpSpPr>
        <p:sp>
          <p:nvSpPr>
            <p:cNvPr id="1207" name="Rectangle"/>
            <p:cNvSpPr/>
            <p:nvPr/>
          </p:nvSpPr>
          <p:spPr>
            <a:xfrm>
              <a:off x="0" y="-1"/>
              <a:ext cx="2057400" cy="3381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08" name="On-Chip L2"/>
            <p:cNvSpPr txBox="1"/>
            <p:nvPr/>
          </p:nvSpPr>
          <p:spPr>
            <a:xfrm>
              <a:off x="47962" y="4762"/>
              <a:ext cx="1961476" cy="335795"/>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On-Chip L2</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12" name="Rectangle 41"/>
          <p:cNvGrpSpPr/>
          <p:nvPr/>
        </p:nvGrpSpPr>
        <p:grpSpPr>
          <a:xfrm>
            <a:off x="9182100" y="4752976"/>
            <a:ext cx="1780426" cy="585789"/>
            <a:chOff x="0" y="0"/>
            <a:chExt cx="1447800" cy="585788"/>
          </a:xfrm>
        </p:grpSpPr>
        <p:sp>
          <p:nvSpPr>
            <p:cNvPr id="1210" name="Rectangle"/>
            <p:cNvSpPr/>
            <p:nvPr/>
          </p:nvSpPr>
          <p:spPr>
            <a:xfrm>
              <a:off x="0" y="0"/>
              <a:ext cx="14478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11" name="NFS client"/>
            <p:cNvSpPr txBox="1"/>
            <p:nvPr/>
          </p:nvSpPr>
          <p:spPr>
            <a:xfrm>
              <a:off x="47962" y="128050"/>
              <a:ext cx="13518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NFS </a:t>
              </a:r>
              <a:r>
                <a:rPr lang="en-US" dirty="0" err="1">
                  <a:latin typeface="Consolas" panose="020B0609020204030204" pitchFamily="49" charset="0"/>
                  <a:ea typeface="FangSong" panose="02010609060101010101" pitchFamily="49" charset="-122"/>
                  <a:cs typeface="Consolas" panose="020B0609020204030204" pitchFamily="49" charset="0"/>
                </a:rPr>
                <a:t>客户端</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15" name="Rectangle 42"/>
          <p:cNvGrpSpPr/>
          <p:nvPr/>
        </p:nvGrpSpPr>
        <p:grpSpPr>
          <a:xfrm>
            <a:off x="7429500" y="4752976"/>
            <a:ext cx="1752600" cy="585789"/>
            <a:chOff x="0" y="0"/>
            <a:chExt cx="1752600" cy="585788"/>
          </a:xfrm>
        </p:grpSpPr>
        <p:sp>
          <p:nvSpPr>
            <p:cNvPr id="1213" name="Rectangle"/>
            <p:cNvSpPr/>
            <p:nvPr/>
          </p:nvSpPr>
          <p:spPr>
            <a:xfrm>
              <a:off x="0" y="0"/>
              <a:ext cx="17526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14" name="10,000,000"/>
            <p:cNvSpPr txBox="1"/>
            <p:nvPr/>
          </p:nvSpPr>
          <p:spPr>
            <a:xfrm>
              <a:off x="47962" y="128050"/>
              <a:ext cx="1656676" cy="335796"/>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10,000,000</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18" name="Rectangle 43"/>
          <p:cNvGrpSpPr/>
          <p:nvPr/>
        </p:nvGrpSpPr>
        <p:grpSpPr>
          <a:xfrm>
            <a:off x="5372100" y="4752976"/>
            <a:ext cx="2057400" cy="585789"/>
            <a:chOff x="0" y="0"/>
            <a:chExt cx="2057400" cy="585788"/>
          </a:xfrm>
        </p:grpSpPr>
        <p:sp>
          <p:nvSpPr>
            <p:cNvPr id="1216" name="Rectangle"/>
            <p:cNvSpPr/>
            <p:nvPr/>
          </p:nvSpPr>
          <p:spPr>
            <a:xfrm>
              <a:off x="0" y="0"/>
              <a:ext cx="2057400" cy="585788"/>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17" name="Local disk"/>
            <p:cNvSpPr txBox="1"/>
            <p:nvPr/>
          </p:nvSpPr>
          <p:spPr>
            <a:xfrm>
              <a:off x="47962" y="117776"/>
              <a:ext cx="19614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本地磁盘</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21" name="Rectangle 44"/>
          <p:cNvGrpSpPr/>
          <p:nvPr/>
        </p:nvGrpSpPr>
        <p:grpSpPr>
          <a:xfrm>
            <a:off x="9182100" y="3685461"/>
            <a:ext cx="1780426" cy="343615"/>
            <a:chOff x="0" y="-5476"/>
            <a:chExt cx="1734776" cy="343614"/>
          </a:xfrm>
        </p:grpSpPr>
        <p:sp>
          <p:nvSpPr>
            <p:cNvPr id="1219" name="Rectangle"/>
            <p:cNvSpPr/>
            <p:nvPr/>
          </p:nvSpPr>
          <p:spPr>
            <a:xfrm>
              <a:off x="0" y="-1"/>
              <a:ext cx="1734776" cy="338139"/>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20" name="Hardware + OS"/>
            <p:cNvSpPr txBox="1"/>
            <p:nvPr/>
          </p:nvSpPr>
          <p:spPr>
            <a:xfrm>
              <a:off x="52584" y="-5476"/>
              <a:ext cx="1491987"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硬件</a:t>
              </a:r>
              <a:r>
                <a:rPr dirty="0">
                  <a:latin typeface="Consolas" panose="020B0609020204030204" pitchFamily="49" charset="0"/>
                  <a:ea typeface="FangSong" panose="02010609060101010101" pitchFamily="49" charset="-122"/>
                  <a:cs typeface="Consolas" panose="020B0609020204030204" pitchFamily="49" charset="0"/>
                </a:rPr>
                <a:t> + OS</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24" name="Rectangle 45"/>
          <p:cNvGrpSpPr/>
          <p:nvPr/>
        </p:nvGrpSpPr>
        <p:grpSpPr>
          <a:xfrm>
            <a:off x="7429500" y="3690936"/>
            <a:ext cx="1752600" cy="340560"/>
            <a:chOff x="0" y="-1"/>
            <a:chExt cx="1752600" cy="340559"/>
          </a:xfrm>
        </p:grpSpPr>
        <p:sp>
          <p:nvSpPr>
            <p:cNvPr id="1222" name="Rectangle"/>
            <p:cNvSpPr/>
            <p:nvPr/>
          </p:nvSpPr>
          <p:spPr>
            <a:xfrm>
              <a:off x="0" y="-1"/>
              <a:ext cx="1752600" cy="338139"/>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23" name="100"/>
            <p:cNvSpPr txBox="1"/>
            <p:nvPr/>
          </p:nvSpPr>
          <p:spPr>
            <a:xfrm>
              <a:off x="47962" y="4762"/>
              <a:ext cx="1656676" cy="335796"/>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100</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27" name="Rectangle 46"/>
          <p:cNvGrpSpPr/>
          <p:nvPr/>
        </p:nvGrpSpPr>
        <p:grpSpPr>
          <a:xfrm>
            <a:off x="5372100" y="3690936"/>
            <a:ext cx="2057400" cy="340560"/>
            <a:chOff x="0" y="-1"/>
            <a:chExt cx="2057400" cy="340559"/>
          </a:xfrm>
        </p:grpSpPr>
        <p:sp>
          <p:nvSpPr>
            <p:cNvPr id="1225" name="Rectangle"/>
            <p:cNvSpPr/>
            <p:nvPr/>
          </p:nvSpPr>
          <p:spPr>
            <a:xfrm>
              <a:off x="0" y="-1"/>
              <a:ext cx="2057400" cy="338139"/>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26" name="Main memory"/>
            <p:cNvSpPr txBox="1"/>
            <p:nvPr/>
          </p:nvSpPr>
          <p:spPr>
            <a:xfrm>
              <a:off x="47962" y="4762"/>
              <a:ext cx="19614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主存</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30" name="Rectangle 47"/>
          <p:cNvGrpSpPr/>
          <p:nvPr/>
        </p:nvGrpSpPr>
        <p:grpSpPr>
          <a:xfrm>
            <a:off x="9182099" y="2078038"/>
            <a:ext cx="1778837" cy="350841"/>
            <a:chOff x="-1" y="-1"/>
            <a:chExt cx="1778837" cy="350840"/>
          </a:xfrm>
        </p:grpSpPr>
        <p:sp>
          <p:nvSpPr>
            <p:cNvPr id="1228" name="Rectangle"/>
            <p:cNvSpPr/>
            <p:nvPr/>
          </p:nvSpPr>
          <p:spPr>
            <a:xfrm>
              <a:off x="-1" y="-1"/>
              <a:ext cx="1778837" cy="3508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29" name="Compiler"/>
            <p:cNvSpPr txBox="1"/>
            <p:nvPr/>
          </p:nvSpPr>
          <p:spPr>
            <a:xfrm>
              <a:off x="47962" y="4762"/>
              <a:ext cx="1224263"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编译器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33" name="Rectangle 48"/>
          <p:cNvGrpSpPr/>
          <p:nvPr/>
        </p:nvGrpSpPr>
        <p:grpSpPr>
          <a:xfrm>
            <a:off x="7429500" y="2078038"/>
            <a:ext cx="1752600" cy="350841"/>
            <a:chOff x="0" y="-1"/>
            <a:chExt cx="1752600" cy="350840"/>
          </a:xfrm>
        </p:grpSpPr>
        <p:sp>
          <p:nvSpPr>
            <p:cNvPr id="1231" name="Rectangle"/>
            <p:cNvSpPr/>
            <p:nvPr/>
          </p:nvSpPr>
          <p:spPr>
            <a:xfrm>
              <a:off x="0" y="-1"/>
              <a:ext cx="1752600" cy="3508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32" name="0"/>
            <p:cNvSpPr txBox="1"/>
            <p:nvPr/>
          </p:nvSpPr>
          <p:spPr>
            <a:xfrm>
              <a:off x="47962" y="4762"/>
              <a:ext cx="1656676" cy="335796"/>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0</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36" name="Rectangle 49"/>
          <p:cNvGrpSpPr/>
          <p:nvPr/>
        </p:nvGrpSpPr>
        <p:grpSpPr>
          <a:xfrm>
            <a:off x="5317322" y="2078038"/>
            <a:ext cx="2112178" cy="350841"/>
            <a:chOff x="-54778" y="-1"/>
            <a:chExt cx="2112178" cy="350840"/>
          </a:xfrm>
        </p:grpSpPr>
        <p:sp>
          <p:nvSpPr>
            <p:cNvPr id="1234" name="Rectangle"/>
            <p:cNvSpPr/>
            <p:nvPr/>
          </p:nvSpPr>
          <p:spPr>
            <a:xfrm>
              <a:off x="0" y="-1"/>
              <a:ext cx="2057400" cy="35084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35" name="CPU core"/>
            <p:cNvSpPr txBox="1"/>
            <p:nvPr/>
          </p:nvSpPr>
          <p:spPr>
            <a:xfrm>
              <a:off x="-54778" y="4762"/>
              <a:ext cx="1961476" cy="335796"/>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 CPU core</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39" name="Rectangle 50"/>
          <p:cNvGrpSpPr/>
          <p:nvPr/>
        </p:nvGrpSpPr>
        <p:grpSpPr>
          <a:xfrm>
            <a:off x="9182098" y="1438274"/>
            <a:ext cx="1783080" cy="639767"/>
            <a:chOff x="-2" y="-1"/>
            <a:chExt cx="1783080" cy="639765"/>
          </a:xfrm>
        </p:grpSpPr>
        <p:sp>
          <p:nvSpPr>
            <p:cNvPr id="1237" name="Rectangle"/>
            <p:cNvSpPr/>
            <p:nvPr/>
          </p:nvSpPr>
          <p:spPr>
            <a:xfrm>
              <a:off x="-2" y="-1"/>
              <a:ext cx="1783080" cy="639765"/>
            </a:xfrm>
            <a:prstGeom prst="rect">
              <a:avLst/>
            </a:prstGeom>
            <a:solidFill>
              <a:srgbClr val="E0E0E0"/>
            </a:solidFill>
            <a:ln w="9525" cap="flat">
              <a:solidFill>
                <a:srgbClr val="000066"/>
              </a:solidFill>
              <a:prstDash val="solid"/>
              <a:miter lim="800000"/>
            </a:ln>
            <a:effectLst/>
          </p:spPr>
          <p:txBody>
            <a:bodyPr wrap="square" lIns="45719" tIns="45719" rIns="45719" bIns="45719" numCol="1" anchor="ctr">
              <a:noAutofit/>
            </a:bodyPr>
            <a:lstStyle/>
            <a:p>
              <a:pPr algn="ct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38" name="Managed By"/>
            <p:cNvSpPr txBox="1"/>
            <p:nvPr/>
          </p:nvSpPr>
          <p:spPr>
            <a:xfrm>
              <a:off x="47961" y="136884"/>
              <a:ext cx="1605873" cy="365996"/>
            </a:xfrm>
            <a:prstGeom prst="rect">
              <a:avLst/>
            </a:prstGeom>
            <a:noFill/>
            <a:ln w="12700" cap="flat">
              <a:noFill/>
              <a:miter lim="400000"/>
            </a:ln>
            <a:effectLst/>
          </p:spPr>
          <p:txBody>
            <a:bodyPr wrap="square" lIns="46799" tIns="46799" rIns="46799" bIns="46799" numCol="1" anchor="ctr">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800">
                  <a:latin typeface="Calibri"/>
                  <a:ea typeface="Calibri"/>
                  <a:cs typeface="Calibri"/>
                  <a:sym typeface="Calibri"/>
                </a:defRPr>
              </a:lvl1pPr>
            </a:lstStyle>
            <a:p>
              <a:pPr algn="ctr"/>
              <a:r>
                <a:rPr lang="en-US" dirty="0" err="1">
                  <a:latin typeface="Consolas" panose="020B0609020204030204" pitchFamily="49" charset="0"/>
                  <a:ea typeface="FangSong" panose="02010609060101010101" pitchFamily="49" charset="-122"/>
                  <a:cs typeface="Consolas" panose="020B0609020204030204" pitchFamily="49" charset="0"/>
                </a:rPr>
                <a:t>由谁管理</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42" name="Rectangle 51"/>
          <p:cNvGrpSpPr/>
          <p:nvPr/>
        </p:nvGrpSpPr>
        <p:grpSpPr>
          <a:xfrm>
            <a:off x="7429500" y="1438274"/>
            <a:ext cx="1752600" cy="639767"/>
            <a:chOff x="0" y="-1"/>
            <a:chExt cx="1752600" cy="639765"/>
          </a:xfrm>
        </p:grpSpPr>
        <p:sp>
          <p:nvSpPr>
            <p:cNvPr id="1240" name="Rectangle"/>
            <p:cNvSpPr/>
            <p:nvPr/>
          </p:nvSpPr>
          <p:spPr>
            <a:xfrm>
              <a:off x="0" y="-1"/>
              <a:ext cx="1752600" cy="639765"/>
            </a:xfrm>
            <a:prstGeom prst="rect">
              <a:avLst/>
            </a:prstGeom>
            <a:solidFill>
              <a:srgbClr val="D9D9D9"/>
            </a:solidFill>
            <a:ln w="9525" cap="flat">
              <a:solidFill>
                <a:srgbClr val="000066"/>
              </a:solidFill>
              <a:prstDash val="solid"/>
              <a:miter lim="800000"/>
            </a:ln>
            <a:effectLst/>
          </p:spPr>
          <p:txBody>
            <a:bodyPr wrap="square" lIns="45719" tIns="45719" rIns="45719" bIns="45719" numCol="1" anchor="ctr">
              <a:noAutofit/>
            </a:bodyPr>
            <a:lstStyle/>
            <a:p>
              <a:pPr algn="ct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41" name="Latency (cycles)"/>
            <p:cNvSpPr txBox="1"/>
            <p:nvPr/>
          </p:nvSpPr>
          <p:spPr>
            <a:xfrm>
              <a:off x="47962" y="136884"/>
              <a:ext cx="1656676" cy="365996"/>
            </a:xfrm>
            <a:prstGeom prst="rect">
              <a:avLst/>
            </a:prstGeom>
            <a:noFill/>
            <a:ln w="12700" cap="flat">
              <a:noFill/>
              <a:miter lim="400000"/>
            </a:ln>
            <a:effectLst/>
          </p:spPr>
          <p:txBody>
            <a:bodyPr wrap="square" lIns="46799" tIns="46799" rIns="46799" bIns="46799" numCol="1" anchor="ctr">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800">
                  <a:latin typeface="Calibri"/>
                  <a:ea typeface="Calibri"/>
                  <a:cs typeface="Calibri"/>
                  <a:sym typeface="Calibri"/>
                </a:defRPr>
              </a:lvl1pPr>
            </a:lstStyle>
            <a:p>
              <a:pPr algn="ctr"/>
              <a:r>
                <a:rPr lang="en-US" dirty="0" err="1">
                  <a:latin typeface="Consolas" panose="020B0609020204030204" pitchFamily="49" charset="0"/>
                  <a:ea typeface="FangSong" panose="02010609060101010101" pitchFamily="49" charset="-122"/>
                  <a:cs typeface="Consolas" panose="020B0609020204030204" pitchFamily="49" charset="0"/>
                </a:rPr>
                <a:t>延迟</a:t>
              </a:r>
              <a:r>
                <a:rPr dirty="0">
                  <a:latin typeface="Consolas" panose="020B0609020204030204" pitchFamily="49" charset="0"/>
                  <a:ea typeface="FangSong" panose="02010609060101010101" pitchFamily="49" charset="-122"/>
                  <a:cs typeface="Consolas" panose="020B0609020204030204" pitchFamily="49" charset="0"/>
                </a:rPr>
                <a:t> (</a:t>
              </a:r>
              <a:r>
                <a:rPr lang="en-US" dirty="0" err="1">
                  <a:latin typeface="Consolas" panose="020B0609020204030204" pitchFamily="49" charset="0"/>
                  <a:ea typeface="FangSong" panose="02010609060101010101" pitchFamily="49" charset="-122"/>
                  <a:cs typeface="Consolas" panose="020B0609020204030204" pitchFamily="49" charset="0"/>
                </a:rPr>
                <a:t>周期</a:t>
              </a:r>
              <a:r>
                <a:rPr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45" name="Rectangle 52"/>
          <p:cNvGrpSpPr/>
          <p:nvPr/>
        </p:nvGrpSpPr>
        <p:grpSpPr>
          <a:xfrm>
            <a:off x="5372100" y="1438274"/>
            <a:ext cx="2057400" cy="639767"/>
            <a:chOff x="0" y="-1"/>
            <a:chExt cx="2057400" cy="639765"/>
          </a:xfrm>
        </p:grpSpPr>
        <p:sp>
          <p:nvSpPr>
            <p:cNvPr id="1243" name="Rectangle"/>
            <p:cNvSpPr/>
            <p:nvPr/>
          </p:nvSpPr>
          <p:spPr>
            <a:xfrm>
              <a:off x="0" y="-1"/>
              <a:ext cx="2057400" cy="639765"/>
            </a:xfrm>
            <a:prstGeom prst="rect">
              <a:avLst/>
            </a:prstGeom>
            <a:solidFill>
              <a:srgbClr val="E0E0E0"/>
            </a:solidFill>
            <a:ln w="9525" cap="flat">
              <a:solidFill>
                <a:srgbClr val="000066"/>
              </a:solidFill>
              <a:prstDash val="solid"/>
              <a:miter lim="800000"/>
            </a:ln>
            <a:effectLst/>
          </p:spPr>
          <p:txBody>
            <a:bodyPr wrap="square" lIns="45719" tIns="45719" rIns="45719" bIns="45719" numCol="1" anchor="ctr">
              <a:noAutofit/>
            </a:bodyPr>
            <a:lstStyle/>
            <a:p>
              <a:pPr algn="ct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44" name="Where is it Cached?"/>
            <p:cNvSpPr txBox="1"/>
            <p:nvPr/>
          </p:nvSpPr>
          <p:spPr>
            <a:xfrm>
              <a:off x="47962" y="137954"/>
              <a:ext cx="1961476" cy="363854"/>
            </a:xfrm>
            <a:prstGeom prst="rect">
              <a:avLst/>
            </a:prstGeom>
            <a:noFill/>
            <a:ln w="12700" cap="flat">
              <a:noFill/>
              <a:miter lim="400000"/>
            </a:ln>
            <a:effectLst/>
          </p:spPr>
          <p:txBody>
            <a:bodyPr wrap="square" lIns="46799" tIns="46799" rIns="46799" bIns="46799" numCol="1" anchor="ctr">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800">
                  <a:latin typeface="Calibri"/>
                  <a:ea typeface="Calibri"/>
                  <a:cs typeface="Calibri"/>
                  <a:sym typeface="Calibri"/>
                </a:defRPr>
              </a:lvl1pPr>
            </a:lstStyle>
            <a:p>
              <a:pPr algn="ctr"/>
              <a:r>
                <a:rPr lang="zh-CN" altLang="en-US" dirty="0" err="1">
                  <a:latin typeface="Consolas" panose="020B0609020204030204" pitchFamily="49" charset="0"/>
                  <a:ea typeface="FangSong" panose="02010609060101010101" pitchFamily="49" charset="-122"/>
                  <a:cs typeface="Consolas" panose="020B0609020204030204" pitchFamily="49" charset="0"/>
                </a:rPr>
                <a:t>位置</a:t>
              </a:r>
              <a:endParaRPr lang="zh-CN" altLang="en-US" dirty="0" err="1">
                <a:latin typeface="Consolas" panose="020B0609020204030204" pitchFamily="49" charset="0"/>
                <a:ea typeface="FangSong" panose="02010609060101010101" pitchFamily="49" charset="-122"/>
                <a:cs typeface="Consolas" panose="020B0609020204030204" pitchFamily="49" charset="0"/>
              </a:endParaRPr>
            </a:p>
          </p:txBody>
        </p:sp>
      </p:grpSp>
      <p:sp>
        <p:nvSpPr>
          <p:cNvPr id="1246" name="Line 58"/>
          <p:cNvSpPr/>
          <p:nvPr/>
        </p:nvSpPr>
        <p:spPr>
          <a:xfrm>
            <a:off x="1638301" y="1438274"/>
            <a:ext cx="1589" cy="639764"/>
          </a:xfrm>
          <a:prstGeom prst="line">
            <a:avLst/>
          </a:prstGeom>
          <a:ln>
            <a:solidFill>
              <a:srgbClr val="000066"/>
            </a:solidFill>
            <a:miter/>
          </a:ln>
        </p:spPr>
        <p:txBody>
          <a:bodyPr lIns="45719" rIns="45719"/>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1249" name="Rectangle 15"/>
          <p:cNvGrpSpPr/>
          <p:nvPr/>
        </p:nvGrpSpPr>
        <p:grpSpPr>
          <a:xfrm>
            <a:off x="1638300" y="4391025"/>
            <a:ext cx="2039848" cy="361950"/>
            <a:chOff x="0" y="0"/>
            <a:chExt cx="2039848" cy="361950"/>
          </a:xfrm>
        </p:grpSpPr>
        <p:sp>
          <p:nvSpPr>
            <p:cNvPr id="1247" name="Rectangle"/>
            <p:cNvSpPr/>
            <p:nvPr/>
          </p:nvSpPr>
          <p:spPr>
            <a:xfrm>
              <a:off x="0" y="0"/>
              <a:ext cx="1828800"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48" name="Disk cache"/>
            <p:cNvSpPr txBox="1"/>
            <p:nvPr/>
          </p:nvSpPr>
          <p:spPr>
            <a:xfrm>
              <a:off x="47962" y="15036"/>
              <a:ext cx="1991886" cy="333375"/>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磁盘</a:t>
              </a:r>
              <a:r>
                <a:rPr lang="zh-CN" altLang="en-US" dirty="0">
                  <a:latin typeface="Consolas" panose="020B0609020204030204" pitchFamily="49" charset="0"/>
                  <a:ea typeface="FangSong" panose="02010609060101010101" pitchFamily="49" charset="-122"/>
                  <a:cs typeface="Consolas" panose="020B0609020204030204" pitchFamily="49" charset="0"/>
                </a:rPr>
                <a:t> </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52" name="Rectangle 23"/>
          <p:cNvGrpSpPr/>
          <p:nvPr/>
        </p:nvGrpSpPr>
        <p:grpSpPr>
          <a:xfrm>
            <a:off x="3467100" y="4391025"/>
            <a:ext cx="1905000" cy="361950"/>
            <a:chOff x="0" y="0"/>
            <a:chExt cx="1905000" cy="361950"/>
          </a:xfrm>
        </p:grpSpPr>
        <p:sp>
          <p:nvSpPr>
            <p:cNvPr id="1250" name="Rectangle"/>
            <p:cNvSpPr/>
            <p:nvPr/>
          </p:nvSpPr>
          <p:spPr>
            <a:xfrm>
              <a:off x="0" y="0"/>
              <a:ext cx="1905000"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51" name="Disk sectors"/>
            <p:cNvSpPr txBox="1"/>
            <p:nvPr/>
          </p:nvSpPr>
          <p:spPr>
            <a:xfrm>
              <a:off x="47962" y="4762"/>
              <a:ext cx="1809076" cy="335797"/>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磁盘扇区</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55" name="Rectangle 34"/>
          <p:cNvGrpSpPr/>
          <p:nvPr/>
        </p:nvGrpSpPr>
        <p:grpSpPr>
          <a:xfrm>
            <a:off x="5372100" y="4391025"/>
            <a:ext cx="2057400" cy="361950"/>
            <a:chOff x="0" y="0"/>
            <a:chExt cx="2057400" cy="361950"/>
          </a:xfrm>
        </p:grpSpPr>
        <p:sp>
          <p:nvSpPr>
            <p:cNvPr id="1253" name="Rectangle"/>
            <p:cNvSpPr/>
            <p:nvPr/>
          </p:nvSpPr>
          <p:spPr>
            <a:xfrm>
              <a:off x="0" y="0"/>
              <a:ext cx="2057400"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54" name="Disk controller"/>
            <p:cNvSpPr txBox="1"/>
            <p:nvPr/>
          </p:nvSpPr>
          <p:spPr>
            <a:xfrm>
              <a:off x="47962" y="4762"/>
              <a:ext cx="1961476" cy="335797"/>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磁盘控制器</a:t>
              </a:r>
              <a:endParaRPr dirty="0">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58" name="Rectangle 33"/>
          <p:cNvGrpSpPr/>
          <p:nvPr/>
        </p:nvGrpSpPr>
        <p:grpSpPr>
          <a:xfrm>
            <a:off x="7429500" y="4391025"/>
            <a:ext cx="1752600" cy="361950"/>
            <a:chOff x="0" y="0"/>
            <a:chExt cx="1752600" cy="361950"/>
          </a:xfrm>
        </p:grpSpPr>
        <p:sp>
          <p:nvSpPr>
            <p:cNvPr id="1256" name="Rectangle"/>
            <p:cNvSpPr/>
            <p:nvPr/>
          </p:nvSpPr>
          <p:spPr>
            <a:xfrm>
              <a:off x="0" y="0"/>
              <a:ext cx="1752600"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57" name="100,000"/>
            <p:cNvSpPr txBox="1"/>
            <p:nvPr/>
          </p:nvSpPr>
          <p:spPr>
            <a:xfrm>
              <a:off x="47962" y="4762"/>
              <a:ext cx="1656676" cy="335797"/>
            </a:xfrm>
            <a:prstGeom prst="rect">
              <a:avLst/>
            </a:prstGeom>
            <a:noFill/>
            <a:ln w="12700" cap="flat">
              <a:noFill/>
              <a:miter lim="400000"/>
            </a:ln>
            <a:effectLst/>
          </p:spPr>
          <p:txBody>
            <a:bodyPr wrap="square" lIns="46799" tIns="46799" rIns="46799" bIns="46799" numCol="1" anchor="t">
              <a:spAutoFit/>
            </a:bodyPr>
            <a:lstStyle>
              <a:lvl1pPr algn="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100,000</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261" name="Rectangle 32"/>
          <p:cNvGrpSpPr/>
          <p:nvPr/>
        </p:nvGrpSpPr>
        <p:grpSpPr>
          <a:xfrm>
            <a:off x="9182099" y="4391025"/>
            <a:ext cx="1780427" cy="361950"/>
            <a:chOff x="0" y="0"/>
            <a:chExt cx="1423163" cy="361950"/>
          </a:xfrm>
        </p:grpSpPr>
        <p:sp>
          <p:nvSpPr>
            <p:cNvPr id="1259" name="Rectangle"/>
            <p:cNvSpPr/>
            <p:nvPr/>
          </p:nvSpPr>
          <p:spPr>
            <a:xfrm>
              <a:off x="0" y="0"/>
              <a:ext cx="1423163" cy="361950"/>
            </a:xfrm>
            <a:prstGeom prst="rect">
              <a:avLst/>
            </a:prstGeom>
            <a:noFill/>
            <a:ln w="9525" cap="flat">
              <a:solidFill>
                <a:srgbClr val="000066"/>
              </a:solidFill>
              <a:prstDash val="solid"/>
              <a:miter lim="800000"/>
            </a:ln>
            <a:effectLst/>
          </p:spPr>
          <p:txBody>
            <a:bodyPr wrap="square" lIns="45719" tIns="45719" rIns="45719" bIns="45719" numCol="1" anchor="t">
              <a:noAutofit/>
            </a:bodyPr>
            <a:lstStyle/>
            <a:p>
              <a: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60" name="Disk firmware"/>
            <p:cNvSpPr txBox="1"/>
            <p:nvPr/>
          </p:nvSpPr>
          <p:spPr>
            <a:xfrm>
              <a:off x="47962" y="4762"/>
              <a:ext cx="1351876" cy="335797"/>
            </a:xfrm>
            <a:prstGeom prst="rect">
              <a:avLst/>
            </a:prstGeom>
            <a:noFill/>
            <a:ln w="12700" cap="flat">
              <a:noFill/>
              <a:miter lim="400000"/>
            </a:ln>
            <a:effectLst/>
          </p:spPr>
          <p:txBody>
            <a:bodyPr wrap="square" lIns="46799" tIns="46799" rIns="46799" bIns="46799" numCol="1" anchor="t">
              <a:spAutoFit/>
            </a:bodyPr>
            <a:lstStyle>
              <a:lvl1pPr>
                <a:lnSpc>
                  <a:spcPct val="98000"/>
                </a:lnSpc>
                <a:tabLst>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66"/>
                  </a:solidFill>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磁盘固件</a:t>
              </a:r>
              <a:endParaRPr dirty="0">
                <a:latin typeface="Consolas" panose="020B0609020204030204" pitchFamily="49" charset="0"/>
                <a:ea typeface="FangSong" panose="02010609060101010101" pitchFamily="49" charset="-122"/>
                <a:cs typeface="Consolas" panose="020B0609020204030204" pitchFamily="49" charset="0"/>
              </a:endParaRPr>
            </a:p>
          </p:txBody>
        </p:sp>
      </p:gr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1018" y="435678"/>
            <a:ext cx="8710782" cy="762000"/>
          </a:xfrm>
        </p:spPr>
        <p:txBody>
          <a:bodyPr>
            <a:normAutofit/>
          </a:bodyPr>
          <a:lstStyle/>
          <a:p>
            <a:r>
              <a:rPr lang="en-US" dirty="0" err="1">
                <a:latin typeface="Consolas" panose="020B0609020204030204" pitchFamily="49" charset="0"/>
                <a:ea typeface="FangSong" panose="02010609060101010101" pitchFamily="49" charset="-122"/>
                <a:cs typeface="Consolas" panose="020B0609020204030204" pitchFamily="49" charset="0"/>
              </a:rPr>
              <a:t>工作集</a:t>
            </a:r>
            <a:r>
              <a:rPr lang="zh-CN" altLang="en-US" dirty="0" err="1">
                <a:latin typeface="Consolas" panose="020B0609020204030204" pitchFamily="49" charset="0"/>
                <a:ea typeface="FangSong" panose="02010609060101010101" pitchFamily="49" charset="-122"/>
                <a:cs typeface="Consolas" panose="020B0609020204030204" pitchFamily="49" charset="0"/>
              </a:rPr>
              <a:t>和</a:t>
            </a:r>
            <a:r>
              <a:rPr lang="zh-CN" altLang="en-US" dirty="0">
                <a:latin typeface="Consolas" panose="020B0609020204030204" pitchFamily="49" charset="0"/>
                <a:ea typeface="FangSong" panose="02010609060101010101" pitchFamily="49" charset="-122"/>
                <a:cs typeface="Consolas" panose="020B0609020204030204" pitchFamily="49" charset="0"/>
              </a:rPr>
              <a:t>局部性</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3" name="Content Placeholder 2"/>
          <p:cNvSpPr>
            <a:spLocks noGrp="1"/>
          </p:cNvSpPr>
          <p:nvPr>
            <p:ph idx="1"/>
          </p:nvPr>
        </p:nvSpPr>
        <p:spPr>
          <a:xfrm>
            <a:off x="996594" y="1362075"/>
            <a:ext cx="9747608" cy="5267325"/>
          </a:xfrm>
        </p:spPr>
        <p:txBody>
          <a:bodyPr>
            <a:normAutofit/>
          </a:bodyPr>
          <a:lstStyle/>
          <a:p>
            <a:r>
              <a:rPr lang="zh-CN" altLang="en-US" sz="2000" dirty="0">
                <a:solidFill>
                  <a:srgbClr val="FF0000"/>
                </a:solidFill>
                <a:latin typeface="Consolas" panose="020B0609020204030204" pitchFamily="49" charset="0"/>
                <a:ea typeface="FangSong" panose="02010609060101010101" pitchFamily="49" charset="-122"/>
                <a:cs typeface="Consolas" panose="020B0609020204030204" pitchFamily="49" charset="0"/>
              </a:rPr>
              <a:t>工作集</a:t>
            </a:r>
            <a:r>
              <a:rPr lang="zh-CN" altLang="en-US" sz="2000" dirty="0">
                <a:latin typeface="Consolas" panose="020B0609020204030204" pitchFamily="49" charset="0"/>
                <a:ea typeface="FangSong" panose="02010609060101010101" pitchFamily="49" charset="-122"/>
                <a:cs typeface="Consolas" panose="020B0609020204030204" pitchFamily="49" charset="0"/>
              </a:rPr>
              <a:t>：程序当前“正在使用”的数据集合</a:t>
            </a:r>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b="0" dirty="0">
                <a:latin typeface="Consolas" panose="020B0609020204030204" pitchFamily="49" charset="0"/>
                <a:ea typeface="FangSong" panose="02010609060101010101" pitchFamily="49" charset="-122"/>
                <a:cs typeface="Consolas" panose="020B0609020204030204" pitchFamily="49" charset="0"/>
              </a:rPr>
              <a:t>“当前”的具体定义取决于上下文，例如在某个循环中</a:t>
            </a:r>
            <a:endParaRPr lang="en-US" altLang="zh-CN" sz="2000" b="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b="0" dirty="0">
                <a:latin typeface="Consolas" panose="020B0609020204030204" pitchFamily="49" charset="0"/>
                <a:ea typeface="FangSong" panose="02010609060101010101" pitchFamily="49" charset="-122"/>
                <a:cs typeface="Consolas" panose="020B0609020204030204" pitchFamily="49" charset="0"/>
              </a:rPr>
              <a:t>工作集包括对数据和指令的访问</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a:p>
            <a:endParaRPr lang="en-US" altLang="zh-CN" sz="2000" dirty="0">
              <a:solidFill>
                <a:srgbClr val="FF0000"/>
              </a:solidFill>
              <a:latin typeface="Consolas" panose="020B0609020204030204" pitchFamily="49" charset="0"/>
              <a:ea typeface="FangSong" panose="02010609060101010101" pitchFamily="49" charset="-122"/>
              <a:cs typeface="Consolas" panose="020B0609020204030204" pitchFamily="49" charset="0"/>
            </a:endParaRPr>
          </a:p>
          <a:p>
            <a:r>
              <a:rPr lang="zh-CN" altLang="en-US" sz="2000" dirty="0">
                <a:solidFill>
                  <a:srgbClr val="FF0000"/>
                </a:solidFill>
                <a:latin typeface="Consolas" panose="020B0609020204030204" pitchFamily="49" charset="0"/>
                <a:ea typeface="FangSong" panose="02010609060101010101" pitchFamily="49" charset="-122"/>
                <a:cs typeface="Consolas" panose="020B0609020204030204" pitchFamily="49" charset="0"/>
              </a:rPr>
              <a:t>局部性原理</a:t>
            </a:r>
            <a:r>
              <a:rPr lang="zh-CN" altLang="en-US" sz="2000" dirty="0">
                <a:latin typeface="Consolas" panose="020B0609020204030204" pitchFamily="49" charset="0"/>
                <a:ea typeface="FangSong" panose="02010609060101010101" pitchFamily="49" charset="-122"/>
                <a:cs typeface="Consolas" panose="020B0609020204030204" pitchFamily="49" charset="0"/>
              </a:rPr>
              <a:t>：程序倾向于访问那些地址与近期已访问地址相近或相同的数据和指令</a:t>
            </a:r>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b="0" dirty="0">
                <a:solidFill>
                  <a:srgbClr val="FF0000"/>
                </a:solidFill>
                <a:latin typeface="Consolas" panose="020B0609020204030204" pitchFamily="49" charset="0"/>
                <a:ea typeface="FangSong" panose="02010609060101010101" pitchFamily="49" charset="-122"/>
                <a:cs typeface="Consolas" panose="020B0609020204030204" pitchFamily="49" charset="0"/>
              </a:rPr>
              <a:t>空间局部性</a:t>
            </a:r>
            <a:r>
              <a:rPr lang="zh-CN" altLang="en-US" sz="2000" b="0" dirty="0">
                <a:latin typeface="Consolas" panose="020B0609020204030204" pitchFamily="49" charset="0"/>
                <a:ea typeface="FangSong" panose="02010609060101010101" pitchFamily="49" charset="-122"/>
                <a:cs typeface="Consolas" panose="020B0609020204030204" pitchFamily="49" charset="0"/>
              </a:rPr>
              <a:t>：访问相邻地址的数据</a:t>
            </a:r>
            <a:endParaRPr lang="en-US" altLang="zh-CN" sz="2000" b="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b="0" dirty="0">
                <a:solidFill>
                  <a:srgbClr val="FF0000"/>
                </a:solidFill>
                <a:latin typeface="Consolas" panose="020B0609020204030204" pitchFamily="49" charset="0"/>
                <a:ea typeface="FangSong" panose="02010609060101010101" pitchFamily="49" charset="-122"/>
                <a:cs typeface="Consolas" panose="020B0609020204030204" pitchFamily="49" charset="0"/>
              </a:rPr>
              <a:t>时间局部性</a:t>
            </a:r>
            <a:r>
              <a:rPr lang="zh-CN" altLang="en-US" sz="2000" b="0" dirty="0">
                <a:latin typeface="Consolas" panose="020B0609020204030204" pitchFamily="49" charset="0"/>
                <a:ea typeface="FangSong" panose="02010609060101010101" pitchFamily="49" charset="-122"/>
                <a:cs typeface="Consolas" panose="020B0609020204030204" pitchFamily="49" charset="0"/>
              </a:rPr>
              <a:t>：重复访问相同地址的数据</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a:p>
            <a:endParaRPr lang="en-US" altLang="zh-CN" sz="2000" dirty="0">
              <a:solidFill>
                <a:srgbClr val="FF0000"/>
              </a:solidFill>
              <a:latin typeface="Consolas" panose="020B0609020204030204" pitchFamily="49" charset="0"/>
              <a:ea typeface="FangSong" panose="02010609060101010101" pitchFamily="49" charset="-122"/>
              <a:cs typeface="Consolas" panose="020B0609020204030204" pitchFamily="49" charset="0"/>
            </a:endParaRPr>
          </a:p>
          <a:p>
            <a:r>
              <a:rPr lang="zh-CN" altLang="en-US" sz="2000" dirty="0">
                <a:latin typeface="Consolas" panose="020B0609020204030204" pitchFamily="49" charset="0"/>
                <a:ea typeface="FangSong" panose="02010609060101010101" pitchFamily="49" charset="-122"/>
                <a:cs typeface="Consolas" panose="020B0609020204030204" pitchFamily="49" charset="0"/>
              </a:rPr>
              <a:t>利用</a:t>
            </a:r>
            <a:r>
              <a:rPr lang="zh-CN" altLang="en-US" sz="2000" b="1" dirty="0">
                <a:latin typeface="Consolas" panose="020B0609020204030204" pitchFamily="49" charset="0"/>
                <a:ea typeface="FangSong" panose="02010609060101010101" pitchFamily="49" charset="-122"/>
                <a:cs typeface="Consolas" panose="020B0609020204030204" pitchFamily="49" charset="0"/>
              </a:rPr>
              <a:t>时间局部性</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通过有效的替换策略</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尽量保存最近</a:t>
            </a:r>
            <a:r>
              <a:rPr lang="zh-CN" altLang="en-US" sz="2000" dirty="0">
                <a:latin typeface="Consolas" panose="020B0609020204030204" pitchFamily="49" charset="0"/>
                <a:ea typeface="FangSong" panose="02010609060101010101" pitchFamily="49" charset="-122"/>
                <a:cs typeface="Consolas" panose="020B0609020204030204" pitchFamily="49" charset="0"/>
              </a:rPr>
              <a:t>常使用的数据</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r>
              <a:rPr lang="zh-CN" altLang="en-US" sz="2000" dirty="0">
                <a:latin typeface="Consolas" panose="020B0609020204030204" pitchFamily="49" charset="0"/>
                <a:ea typeface="FangSong" panose="02010609060101010101" pitchFamily="49" charset="-122"/>
                <a:cs typeface="Consolas" panose="020B0609020204030204" pitchFamily="49" charset="0"/>
              </a:rPr>
              <a:t>利用</a:t>
            </a:r>
            <a:r>
              <a:rPr lang="zh-CN" altLang="en-US" sz="2000" b="1" dirty="0">
                <a:latin typeface="Consolas" panose="020B0609020204030204" pitchFamily="49" charset="0"/>
                <a:ea typeface="FangSong" panose="02010609060101010101" pitchFamily="49" charset="-122"/>
                <a:cs typeface="Consolas" panose="020B0609020204030204" pitchFamily="49" charset="0"/>
              </a:rPr>
              <a:t>空间局部性</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通过以</a:t>
            </a:r>
            <a:r>
              <a:rPr lang="zh-CN" altLang="en-US" sz="2000" b="1" dirty="0">
                <a:latin typeface="Consolas" panose="020B0609020204030204" pitchFamily="49" charset="0"/>
                <a:ea typeface="FangSong" panose="02010609060101010101" pitchFamily="49" charset="-122"/>
                <a:cs typeface="Consolas" panose="020B0609020204030204" pitchFamily="49" charset="0"/>
              </a:rPr>
              <a:t>缓存块</a:t>
            </a:r>
            <a:r>
              <a:rPr lang="zh-CN" altLang="en-US" sz="2000" dirty="0">
                <a:latin typeface="Consolas" panose="020B0609020204030204" pitchFamily="49" charset="0"/>
                <a:ea typeface="FangSong" panose="02010609060101010101" pitchFamily="49" charset="-122"/>
                <a:cs typeface="Consolas" panose="020B0609020204030204" pitchFamily="49" charset="0"/>
              </a:rPr>
              <a:t>为单位一次性传输数据</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从</a:t>
            </a:r>
            <a:r>
              <a:rPr lang="en-US" altLang="zh-CN" sz="2000" dirty="0">
                <a:latin typeface="Consolas" panose="020B0609020204030204" pitchFamily="49" charset="0"/>
                <a:ea typeface="FangSong" panose="02010609060101010101" pitchFamily="49" charset="-122"/>
                <a:cs typeface="Consolas" panose="020B0609020204030204" pitchFamily="49" charset="0"/>
              </a:rPr>
              <a:t>k+1</a:t>
            </a:r>
            <a:r>
              <a:rPr lang="zh-CN" altLang="en-US" sz="2000" dirty="0">
                <a:latin typeface="Consolas" panose="020B0609020204030204" pitchFamily="49" charset="0"/>
                <a:ea typeface="FangSong" panose="02010609060101010101" pitchFamily="49" charset="-122"/>
                <a:cs typeface="Consolas" panose="020B0609020204030204" pitchFamily="49" charset="0"/>
              </a:rPr>
              <a:t>层预取相邻位置的数据到</a:t>
            </a:r>
            <a:r>
              <a:rPr lang="en-US" altLang="zh-CN" sz="2000" dirty="0">
                <a:latin typeface="Consolas" panose="020B0609020204030204" pitchFamily="49" charset="0"/>
                <a:ea typeface="FangSong" panose="02010609060101010101" pitchFamily="49" charset="-122"/>
                <a:cs typeface="Consolas" panose="020B0609020204030204" pitchFamily="49" charset="0"/>
              </a:rPr>
              <a:t>k</a:t>
            </a:r>
            <a:r>
              <a:rPr lang="zh-CN" altLang="en-US" sz="2000" dirty="0">
                <a:latin typeface="Consolas" panose="020B0609020204030204" pitchFamily="49" charset="0"/>
                <a:ea typeface="FangSong" panose="02010609060101010101" pitchFamily="49" charset="-122"/>
                <a:cs typeface="Consolas" panose="020B0609020204030204" pitchFamily="49" charset="0"/>
              </a:rPr>
              <a:t>层</a:t>
            </a:r>
            <a:r>
              <a:rPr lang="zh-CN" altLang="en-US" sz="2000" dirty="0">
                <a:latin typeface="Consolas" panose="020B0609020204030204" pitchFamily="49" charset="0"/>
                <a:ea typeface="FangSong" panose="02010609060101010101" pitchFamily="49" charset="-122"/>
                <a:cs typeface="Consolas" panose="020B0609020204030204" pitchFamily="49" charset="0"/>
              </a:rPr>
              <a:t>缓存</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b="0" dirty="0">
                <a:latin typeface="Consolas" panose="020B0609020204030204" pitchFamily="49" charset="0"/>
                <a:ea typeface="FangSong" panose="02010609060101010101" pitchFamily="49" charset="-122"/>
                <a:cs typeface="Consolas" panose="020B0609020204030204" pitchFamily="49" charset="0"/>
              </a:rPr>
              <a:t>局部性有助于减小工作集的实际规模</a:t>
            </a:r>
            <a:endParaRPr lang="en-US" altLang="zh-CN" sz="2000" b="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b="0" dirty="0">
                <a:latin typeface="Consolas" panose="020B0609020204030204" pitchFamily="49" charset="0"/>
                <a:ea typeface="FangSong" panose="02010609060101010101" pitchFamily="49" charset="-122"/>
                <a:cs typeface="Consolas" panose="020B0609020204030204" pitchFamily="49" charset="0"/>
              </a:rPr>
              <a:t>当工作集能够完全容纳在快速存储中时，快速</a:t>
            </a:r>
            <a:r>
              <a:rPr lang="zh-CN" altLang="en-US" sz="2000" b="0" dirty="0">
                <a:latin typeface="Consolas" panose="020B0609020204030204" pitchFamily="49" charset="0"/>
                <a:ea typeface="FangSong" panose="02010609060101010101" pitchFamily="49" charset="-122"/>
                <a:cs typeface="Consolas" panose="020B0609020204030204" pitchFamily="49" charset="0"/>
              </a:rPr>
              <a:t>存储的效果最佳</a:t>
            </a:r>
            <a:endParaRPr lang="zh-CN" altLang="en-US" sz="2000" b="0" dirty="0">
              <a:latin typeface="Consolas" panose="020B0609020204030204" pitchFamily="49" charset="0"/>
              <a:ea typeface="FangSong" panose="02010609060101010101" pitchFamily="49" charset="-122"/>
              <a:cs typeface="Consolas" panose="020B0609020204030204" pitchFamily="49" charset="0"/>
            </a:endParaRPr>
          </a:p>
        </p:txBody>
      </p:sp>
      <p:grpSp>
        <p:nvGrpSpPr>
          <p:cNvPr id="4" name="Group 3"/>
          <p:cNvGrpSpPr/>
          <p:nvPr/>
        </p:nvGrpSpPr>
        <p:grpSpPr>
          <a:xfrm>
            <a:off x="7174402" y="3429000"/>
            <a:ext cx="1103713" cy="425940"/>
            <a:chOff x="6102261" y="4186571"/>
            <a:chExt cx="1905000" cy="735169"/>
          </a:xfrm>
        </p:grpSpPr>
        <p:sp>
          <p:nvSpPr>
            <p:cNvPr id="5" name="Rectangle 4"/>
            <p:cNvSpPr/>
            <p:nvPr/>
          </p:nvSpPr>
          <p:spPr bwMode="auto">
            <a:xfrm>
              <a:off x="6102261" y="4616940"/>
              <a:ext cx="1905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lstStyle/>
            <a:p>
              <a:pPr algn="ctr" eaLnBrk="0" fontAlgn="base">
                <a:spcBef>
                  <a:spcPct val="0"/>
                </a:spcBef>
                <a:spcAft>
                  <a:spcPct val="0"/>
                </a:spcAft>
              </a:pPr>
              <a:endParaRPr lang="en-US"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6" name="Rectangle 5"/>
            <p:cNvSpPr/>
            <p:nvPr/>
          </p:nvSpPr>
          <p:spPr bwMode="auto">
            <a:xfrm>
              <a:off x="6495961" y="461694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lstStyle/>
            <a:p>
              <a:pPr algn="ctr" eaLnBrk="0" fontAlgn="base">
                <a:spcBef>
                  <a:spcPct val="0"/>
                </a:spcBef>
                <a:spcAft>
                  <a:spcPct val="0"/>
                </a:spcAft>
              </a:pPr>
              <a:endParaRPr lang="en-US"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7" name="Rectangle 6"/>
            <p:cNvSpPr/>
            <p:nvPr/>
          </p:nvSpPr>
          <p:spPr bwMode="auto">
            <a:xfrm>
              <a:off x="6870700" y="461694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lstStyle/>
            <a:p>
              <a:pPr algn="ctr" eaLnBrk="0" fontAlgn="base">
                <a:spcBef>
                  <a:spcPct val="0"/>
                </a:spcBef>
                <a:spcAft>
                  <a:spcPct val="0"/>
                </a:spcAft>
              </a:pPr>
              <a:endParaRPr lang="en-US"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8" name="Freeform 10"/>
            <p:cNvSpPr/>
            <p:nvPr/>
          </p:nvSpPr>
          <p:spPr bwMode="auto">
            <a:xfrm>
              <a:off x="6416720" y="4186571"/>
              <a:ext cx="841420" cy="359535"/>
            </a:xfrm>
            <a:custGeom>
              <a:avLst/>
              <a:gdLst>
                <a:gd name="connsiteX0" fmla="*/ 200695 w 841420"/>
                <a:gd name="connsiteY0" fmla="*/ 353095 h 359535"/>
                <a:gd name="connsiteX1" fmla="*/ 91225 w 841420"/>
                <a:gd name="connsiteY1" fmla="*/ 56881 h 359535"/>
                <a:gd name="connsiteX2" fmla="*/ 748048 w 841420"/>
                <a:gd name="connsiteY2" fmla="*/ 50442 h 359535"/>
                <a:gd name="connsiteX3" fmla="*/ 651456 w 841420"/>
                <a:gd name="connsiteY3" fmla="*/ 359535 h 359535"/>
              </a:gdLst>
              <a:ahLst/>
              <a:cxnLst>
                <a:cxn ang="0">
                  <a:pos x="connsiteX0" y="connsiteY0"/>
                </a:cxn>
                <a:cxn ang="0">
                  <a:pos x="connsiteX1" y="connsiteY1"/>
                </a:cxn>
                <a:cxn ang="0">
                  <a:pos x="connsiteX2" y="connsiteY2"/>
                </a:cxn>
                <a:cxn ang="0">
                  <a:pos x="connsiteX3" y="connsiteY3"/>
                </a:cxn>
              </a:cxnLst>
              <a:rect l="l" t="t" r="r" b="b"/>
              <a:pathLst>
                <a:path w="841420" h="359535">
                  <a:moveTo>
                    <a:pt x="200695" y="353095"/>
                  </a:moveTo>
                  <a:cubicBezTo>
                    <a:pt x="100347" y="230209"/>
                    <a:pt x="0" y="107323"/>
                    <a:pt x="91225" y="56881"/>
                  </a:cubicBezTo>
                  <a:cubicBezTo>
                    <a:pt x="182450" y="6439"/>
                    <a:pt x="654676" y="0"/>
                    <a:pt x="748048" y="50442"/>
                  </a:cubicBezTo>
                  <a:cubicBezTo>
                    <a:pt x="841420" y="100884"/>
                    <a:pt x="746438" y="230209"/>
                    <a:pt x="651456" y="359535"/>
                  </a:cubicBezTo>
                </a:path>
              </a:pathLst>
            </a:custGeom>
            <a:noFill/>
            <a:ln w="25400" cap="flat" cmpd="sng" algn="ctr">
              <a:solidFill>
                <a:schemeClr val="tx1"/>
              </a:solidFill>
              <a:prstDash val="solid"/>
              <a:round/>
              <a:headEnd type="none" w="med" len="med"/>
              <a:tailEnd type="arrow"/>
            </a:ln>
            <a:effectLst/>
          </p:spPr>
          <p:txBody>
            <a:bodyPr rtlCol="0" anchor="ctr"/>
            <a:lstStyle/>
            <a:p>
              <a:pPr algn="ctr"/>
              <a:endParaRPr lang="en-US">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9" name="Group 8"/>
          <p:cNvGrpSpPr/>
          <p:nvPr/>
        </p:nvGrpSpPr>
        <p:grpSpPr>
          <a:xfrm>
            <a:off x="8833206" y="3400850"/>
            <a:ext cx="1066800" cy="456170"/>
            <a:chOff x="6096000" y="2614411"/>
            <a:chExt cx="1905000" cy="814589"/>
          </a:xfrm>
        </p:grpSpPr>
        <p:sp>
          <p:nvSpPr>
            <p:cNvPr id="10" name="Rectangle 9"/>
            <p:cNvSpPr/>
            <p:nvPr/>
          </p:nvSpPr>
          <p:spPr bwMode="auto">
            <a:xfrm>
              <a:off x="6096000" y="3124200"/>
              <a:ext cx="1905000" cy="304800"/>
            </a:xfrm>
            <a:prstGeom prst="rect">
              <a:avLst/>
            </a:prstGeom>
            <a:solidFill>
              <a:schemeClr val="bg1"/>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lstStyle/>
            <a:p>
              <a:pPr algn="ctr" eaLnBrk="0" fontAlgn="base">
                <a:spcBef>
                  <a:spcPct val="0"/>
                </a:spcBef>
                <a:spcAft>
                  <a:spcPct val="0"/>
                </a:spcAft>
              </a:pPr>
              <a:endParaRPr lang="en-US"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1" name="Rectangle 10"/>
            <p:cNvSpPr/>
            <p:nvPr/>
          </p:nvSpPr>
          <p:spPr bwMode="auto">
            <a:xfrm>
              <a:off x="6489700" y="3124200"/>
              <a:ext cx="381000" cy="304800"/>
            </a:xfrm>
            <a:prstGeom prst="rect">
              <a:avLst/>
            </a:prstGeom>
            <a:solidFill>
              <a:srgbClr val="FF9999"/>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lstStyle/>
            <a:p>
              <a:pPr algn="ctr" eaLnBrk="0" fontAlgn="base">
                <a:spcBef>
                  <a:spcPct val="0"/>
                </a:spcBef>
                <a:spcAft>
                  <a:spcPct val="0"/>
                </a:spcAft>
              </a:pPr>
              <a:endParaRPr lang="en-US"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2" name="Freeform 5"/>
            <p:cNvSpPr/>
            <p:nvPr/>
          </p:nvSpPr>
          <p:spPr bwMode="auto">
            <a:xfrm>
              <a:off x="6319056" y="2614411"/>
              <a:ext cx="627844" cy="433589"/>
            </a:xfrm>
            <a:custGeom>
              <a:avLst/>
              <a:gdLst>
                <a:gd name="connsiteX0" fmla="*/ 290847 w 627844"/>
                <a:gd name="connsiteY0" fmla="*/ 433589 h 433589"/>
                <a:gd name="connsiteX1" fmla="*/ 46149 w 627844"/>
                <a:gd name="connsiteY1" fmla="*/ 72980 h 433589"/>
                <a:gd name="connsiteX2" fmla="*/ 567743 w 627844"/>
                <a:gd name="connsiteY2" fmla="*/ 60101 h 433589"/>
                <a:gd name="connsiteX3" fmla="*/ 406757 w 627844"/>
                <a:gd name="connsiteY3" fmla="*/ 433589 h 433589"/>
              </a:gdLst>
              <a:ahLst/>
              <a:cxnLst>
                <a:cxn ang="0">
                  <a:pos x="connsiteX0" y="connsiteY0"/>
                </a:cxn>
                <a:cxn ang="0">
                  <a:pos x="connsiteX1" y="connsiteY1"/>
                </a:cxn>
                <a:cxn ang="0">
                  <a:pos x="connsiteX2" y="connsiteY2"/>
                </a:cxn>
                <a:cxn ang="0">
                  <a:pos x="connsiteX3" y="connsiteY3"/>
                </a:cxn>
              </a:cxnLst>
              <a:rect l="l" t="t" r="r" b="b"/>
              <a:pathLst>
                <a:path w="627844" h="433589">
                  <a:moveTo>
                    <a:pt x="290847" y="433589"/>
                  </a:moveTo>
                  <a:cubicBezTo>
                    <a:pt x="145423" y="284408"/>
                    <a:pt x="0" y="135228"/>
                    <a:pt x="46149" y="72980"/>
                  </a:cubicBezTo>
                  <a:cubicBezTo>
                    <a:pt x="92298" y="10732"/>
                    <a:pt x="507642" y="0"/>
                    <a:pt x="567743" y="60101"/>
                  </a:cubicBezTo>
                  <a:cubicBezTo>
                    <a:pt x="627844" y="120202"/>
                    <a:pt x="517300" y="276895"/>
                    <a:pt x="406757" y="433589"/>
                  </a:cubicBezTo>
                </a:path>
              </a:pathLst>
            </a:custGeom>
            <a:noFill/>
            <a:ln w="25400" cap="flat" cmpd="sng" algn="ctr">
              <a:solidFill>
                <a:schemeClr val="tx1"/>
              </a:solidFill>
              <a:prstDash val="solid"/>
              <a:round/>
              <a:headEnd type="none" w="med" len="med"/>
              <a:tailEnd type="arrow"/>
            </a:ln>
            <a:effectLst/>
          </p:spPr>
          <p:txBody>
            <a:bodyPr rtlCol="0" anchor="ctr"/>
            <a:lstStyle/>
            <a:p>
              <a:pPr algn="ctr"/>
              <a:endParaRPr lang="en-US">
                <a:latin typeface="Consolas" panose="020B0609020204030204" pitchFamily="49" charset="0"/>
                <a:ea typeface="FangSong" panose="02010609060101010101" pitchFamily="49" charset="-122"/>
                <a:cs typeface="Consolas" panose="020B0609020204030204" pitchFamily="49" charset="0"/>
              </a:endParaRPr>
            </a:p>
          </p:txBody>
        </p:sp>
      </p:grpSp>
      <p:sp>
        <p:nvSpPr>
          <p:cNvPr id="13" name="Slide Number Placeholder 12"/>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29166" y="1362075"/>
            <a:ext cx="11070357" cy="4972050"/>
          </a:xfrm>
        </p:spPr>
        <p:txBody>
          <a:bodyPr>
            <a:normAutofit/>
          </a:bodyPr>
          <a:lstStyle/>
          <a:p>
            <a:r>
              <a:rPr lang="zh-CN" altLang="en-US" dirty="0">
                <a:latin typeface="Consolas" panose="020B0609020204030204" pitchFamily="49" charset="0"/>
                <a:ea typeface="FangSong" panose="02010609060101010101" pitchFamily="49" charset="-122"/>
                <a:cs typeface="Consolas" panose="020B0609020204030204" pitchFamily="49" charset="0"/>
              </a:rPr>
              <a:t>缓存对软件是透明的（不可见的）</a:t>
            </a:r>
            <a:endParaRPr lang="en-US" altLang="zh-CN"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dirty="0">
                <a:latin typeface="Consolas" panose="020B0609020204030204" pitchFamily="49" charset="0"/>
                <a:ea typeface="FangSong" panose="02010609060101010101" pitchFamily="49" charset="-122"/>
                <a:cs typeface="Consolas" panose="020B0609020204030204" pitchFamily="49" charset="0"/>
              </a:rPr>
              <a:t>由硬件</a:t>
            </a:r>
            <a:r>
              <a:rPr lang="zh-CN" altLang="en-US" b="0" dirty="0">
                <a:latin typeface="Consolas" panose="020B0609020204030204" pitchFamily="49" charset="0"/>
                <a:ea typeface="FangSong" panose="02010609060101010101" pitchFamily="49" charset="-122"/>
                <a:cs typeface="Consolas" panose="020B0609020204030204" pitchFamily="49" charset="0"/>
              </a:rPr>
              <a:t>根据加载（</a:t>
            </a:r>
            <a:r>
              <a:rPr lang="en-US" b="0" dirty="0">
                <a:latin typeface="Consolas" panose="020B0609020204030204" pitchFamily="49" charset="0"/>
                <a:ea typeface="FangSong" panose="02010609060101010101" pitchFamily="49" charset="-122"/>
                <a:cs typeface="Consolas" panose="020B0609020204030204" pitchFamily="49" charset="0"/>
              </a:rPr>
              <a:t>load）</a:t>
            </a:r>
            <a:r>
              <a:rPr lang="zh-CN" altLang="en-US" b="0" dirty="0">
                <a:latin typeface="Consolas" panose="020B0609020204030204" pitchFamily="49" charset="0"/>
                <a:ea typeface="FangSong" panose="02010609060101010101" pitchFamily="49" charset="-122"/>
                <a:cs typeface="Consolas" panose="020B0609020204030204" pitchFamily="49" charset="0"/>
              </a:rPr>
              <a:t>和存储（</a:t>
            </a:r>
            <a:r>
              <a:rPr lang="en-US" b="0" dirty="0">
                <a:latin typeface="Consolas" panose="020B0609020204030204" pitchFamily="49" charset="0"/>
                <a:ea typeface="FangSong" panose="02010609060101010101" pitchFamily="49" charset="-122"/>
                <a:cs typeface="Consolas" panose="020B0609020204030204" pitchFamily="49" charset="0"/>
              </a:rPr>
              <a:t>store）</a:t>
            </a:r>
            <a:r>
              <a:rPr lang="zh-CN" altLang="en-US" b="0" dirty="0">
                <a:latin typeface="Consolas" panose="020B0609020204030204" pitchFamily="49" charset="0"/>
                <a:ea typeface="FangSong" panose="02010609060101010101" pitchFamily="49" charset="-122"/>
                <a:cs typeface="Consolas" panose="020B0609020204030204" pitchFamily="49" charset="0"/>
              </a:rPr>
              <a:t>操作</a:t>
            </a:r>
            <a:r>
              <a:rPr lang="zh-CN" altLang="en-US" dirty="0">
                <a:latin typeface="Consolas" panose="020B0609020204030204" pitchFamily="49" charset="0"/>
                <a:ea typeface="FangSong" panose="02010609060101010101" pitchFamily="49" charset="-122"/>
                <a:cs typeface="Consolas" panose="020B0609020204030204" pitchFamily="49" charset="0"/>
              </a:rPr>
              <a:t>管理</a:t>
            </a:r>
            <a:endParaRPr lang="en-US" altLang="zh-CN"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dirty="0">
                <a:latin typeface="Consolas" panose="020B0609020204030204" pitchFamily="49" charset="0"/>
                <a:ea typeface="FangSong" panose="02010609060101010101" pitchFamily="49" charset="-122"/>
                <a:cs typeface="Consolas" panose="020B0609020204030204" pitchFamily="49" charset="0"/>
              </a:rPr>
              <a:t>无需修改软件，即可提升性能并降低能耗</a:t>
            </a:r>
            <a:endParaRPr lang="zh-CN" altLang="en-US"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b="0" dirty="0">
                <a:latin typeface="Consolas" panose="020B0609020204030204" pitchFamily="49" charset="0"/>
                <a:ea typeface="FangSong" panose="02010609060101010101" pitchFamily="49" charset="-122"/>
                <a:cs typeface="Consolas" panose="020B0609020204030204" pitchFamily="49" charset="0"/>
              </a:rPr>
              <a:t>注意：现代 </a:t>
            </a:r>
            <a:r>
              <a:rPr lang="en-US" b="0" dirty="0">
                <a:latin typeface="Consolas" panose="020B0609020204030204" pitchFamily="49" charset="0"/>
                <a:ea typeface="FangSong" panose="02010609060101010101" pitchFamily="49" charset="-122"/>
                <a:cs typeface="Consolas" panose="020B0609020204030204" pitchFamily="49" charset="0"/>
              </a:rPr>
              <a:t>CPU </a:t>
            </a:r>
            <a:r>
              <a:rPr lang="zh-CN" altLang="en-US" b="0" dirty="0">
                <a:latin typeface="Consolas" panose="020B0609020204030204" pitchFamily="49" charset="0"/>
                <a:ea typeface="FangSong" panose="02010609060101010101" pitchFamily="49" charset="-122"/>
                <a:cs typeface="Consolas" panose="020B0609020204030204" pitchFamily="49" charset="0"/>
              </a:rPr>
              <a:t>提供了一些用于管理缓存的指令（例如预取 </a:t>
            </a:r>
            <a:r>
              <a:rPr lang="en-US" b="0" dirty="0" err="1">
                <a:latin typeface="Consolas" panose="020B0609020204030204" pitchFamily="49" charset="0"/>
                <a:ea typeface="FangSong" panose="02010609060101010101" pitchFamily="49" charset="-122"/>
                <a:cs typeface="Consolas" panose="020B0609020204030204" pitchFamily="49" charset="0"/>
              </a:rPr>
              <a:t>prefetch、冲刷</a:t>
            </a:r>
            <a:r>
              <a:rPr lang="en-US" altLang="zh-CN" b="0" dirty="0">
                <a:latin typeface="Consolas" panose="020B0609020204030204" pitchFamily="49" charset="0"/>
                <a:ea typeface="FangSong" panose="02010609060101010101" pitchFamily="49" charset="-122"/>
                <a:cs typeface="Consolas" panose="020B0609020204030204" pitchFamily="49" charset="0"/>
              </a:rPr>
              <a:t>/</a:t>
            </a:r>
            <a:r>
              <a:rPr lang="zh-CN" altLang="en-US" b="0" dirty="0">
                <a:latin typeface="Consolas" panose="020B0609020204030204" pitchFamily="49" charset="0"/>
                <a:ea typeface="FangSong" panose="02010609060101010101" pitchFamily="49" charset="-122"/>
                <a:cs typeface="Consolas" panose="020B0609020204030204" pitchFamily="49" charset="0"/>
              </a:rPr>
              <a:t>失效 </a:t>
            </a:r>
            <a:r>
              <a:rPr lang="en-US" altLang="zh-CN" b="0" dirty="0">
                <a:latin typeface="Consolas" panose="020B0609020204030204" pitchFamily="49" charset="0"/>
                <a:ea typeface="FangSong" panose="02010609060101010101" pitchFamily="49" charset="-122"/>
                <a:cs typeface="Consolas" panose="020B0609020204030204" pitchFamily="49" charset="0"/>
              </a:rPr>
              <a:t>flush/</a:t>
            </a:r>
            <a:r>
              <a:rPr lang="en-US" b="0" dirty="0">
                <a:latin typeface="Consolas" panose="020B0609020204030204" pitchFamily="49" charset="0"/>
                <a:ea typeface="FangSong" panose="02010609060101010101" pitchFamily="49" charset="-122"/>
                <a:cs typeface="Consolas" panose="020B0609020204030204" pitchFamily="49" charset="0"/>
              </a:rPr>
              <a:t>invalidate、</a:t>
            </a:r>
            <a:r>
              <a:rPr lang="zh-CN" altLang="en-US" b="0" dirty="0">
                <a:latin typeface="Consolas" panose="020B0609020204030204" pitchFamily="49" charset="0"/>
                <a:ea typeface="FangSong" panose="02010609060101010101" pitchFamily="49" charset="-122"/>
                <a:cs typeface="Consolas" panose="020B0609020204030204" pitchFamily="49" charset="0"/>
              </a:rPr>
              <a:t>分区 </a:t>
            </a:r>
            <a:r>
              <a:rPr lang="en-US" b="0" dirty="0">
                <a:latin typeface="Consolas" panose="020B0609020204030204" pitchFamily="49" charset="0"/>
                <a:ea typeface="FangSong" panose="02010609060101010101" pitchFamily="49" charset="-122"/>
                <a:cs typeface="Consolas" panose="020B0609020204030204" pitchFamily="49" charset="0"/>
              </a:rPr>
              <a:t>partition </a:t>
            </a:r>
            <a:r>
              <a:rPr lang="zh-CN" altLang="en-US" b="0" dirty="0">
                <a:latin typeface="Consolas" panose="020B0609020204030204" pitchFamily="49" charset="0"/>
                <a:ea typeface="FangSong" panose="02010609060101010101" pitchFamily="49" charset="-122"/>
                <a:cs typeface="Consolas" panose="020B0609020204030204" pitchFamily="49" charset="0"/>
              </a:rPr>
              <a:t>等）</a:t>
            </a:r>
            <a:endParaRPr lang="en-US" altLang="zh-CN" b="0" dirty="0">
              <a:latin typeface="Consolas" panose="020B0609020204030204" pitchFamily="49" charset="0"/>
              <a:ea typeface="FangSong" panose="02010609060101010101" pitchFamily="49" charset="-122"/>
              <a:cs typeface="Consolas" panose="020B0609020204030204" pitchFamily="49" charset="0"/>
            </a:endParaRPr>
          </a:p>
          <a:p>
            <a:pPr lvl="1"/>
            <a:endParaRPr lang="zh-CN" altLang="en-US" b="0" dirty="0">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内存对软件是可见的</a:t>
            </a:r>
            <a:endParaRPr lang="en-US" altLang="zh-CN"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b="0" dirty="0">
                <a:latin typeface="Consolas" panose="020B0609020204030204" pitchFamily="49" charset="0"/>
                <a:ea typeface="FangSong" panose="02010609060101010101" pitchFamily="49" charset="-122"/>
                <a:cs typeface="Consolas" panose="020B0609020204030204" pitchFamily="49" charset="0"/>
              </a:rPr>
              <a:t>即指令可直接通过内存地址（以及寄存器）对其进行寻址访问</a:t>
            </a:r>
            <a:endParaRPr lang="en-US" altLang="zh-CN" b="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dirty="0">
                <a:latin typeface="Consolas" panose="020B0609020204030204" pitchFamily="49" charset="0"/>
                <a:ea typeface="FangSong" panose="02010609060101010101" pitchFamily="49" charset="-122"/>
                <a:cs typeface="Consolas" panose="020B0609020204030204" pitchFamily="49" charset="0"/>
              </a:rPr>
              <a:t>虽然存在一些优化机会，但只有在修改软件的情况下才能加以利用</a:t>
            </a:r>
            <a:endParaRPr lang="zh-CN" alt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4" name="Rectangle 6"/>
          <p:cNvSpPr txBox="1"/>
          <p:nvPr/>
        </p:nvSpPr>
        <p:spPr>
          <a:xfrm>
            <a:off x="1881018" y="435679"/>
            <a:ext cx="7592095" cy="762001"/>
          </a:xfrm>
          <a:prstGeom prst="rect">
            <a:avLst/>
          </a:prstGeom>
          <a:ln w="12700">
            <a:miter lim="400000"/>
          </a:ln>
        </p:spPr>
        <p:txBody>
          <a:bodyPr lIns="45719" rIns="45719" anchor="ctr">
            <a:normAutofit/>
          </a:bodyPr>
          <a:lstStyle>
            <a:lvl1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a:lstStyle>
          <a:p>
            <a:pPr hangingPunct="1"/>
            <a:r>
              <a:rPr lang="en-US" altLang="en-US" dirty="0">
                <a:latin typeface="Consolas" panose="020B0609020204030204" pitchFamily="49" charset="0"/>
                <a:ea typeface="FangSong" panose="02010609060101010101" pitchFamily="49" charset="-122"/>
                <a:cs typeface="Consolas" panose="020B0609020204030204" pitchFamily="49" charset="0"/>
              </a:rPr>
              <a:t>Cache</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vs</a:t>
            </a:r>
            <a:r>
              <a:rPr lang="zh-CN" altLang="en-US" dirty="0">
                <a:latin typeface="Consolas" panose="020B0609020204030204" pitchFamily="49" charset="0"/>
                <a:ea typeface="FangSong" panose="02010609060101010101" pitchFamily="49" charset="-122"/>
                <a:cs typeface="Consolas" panose="020B0609020204030204" pitchFamily="49" charset="0"/>
              </a:rPr>
              <a:t> 内存</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 name="Title 4"/>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有多少冷</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cache</a:t>
            </a:r>
            <a:r>
              <a:rPr lang="zh-CN" altLang="en-US" dirty="0">
                <a:latin typeface="Consolas" panose="020B0609020204030204" pitchFamily="49" charset="0"/>
                <a:ea typeface="FangSong" panose="02010609060101010101" pitchFamily="49" charset="-122"/>
                <a:cs typeface="Consolas" panose="020B0609020204030204" pitchFamily="49" charset="0"/>
              </a:rPr>
              <a:t> 缺失</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696" name="Content Placeholder 2"/>
          <p:cNvSpPr txBox="1">
            <a:spLocks noGrp="1"/>
          </p:cNvSpPr>
          <p:nvPr>
            <p:ph type="body" sz="half" idx="1"/>
          </p:nvPr>
        </p:nvSpPr>
        <p:spPr>
          <a:xfrm>
            <a:off x="1202075" y="2644302"/>
            <a:ext cx="10346077" cy="3869006"/>
          </a:xfrm>
          <a:prstGeom prst="rect">
            <a:avLst/>
          </a:prstGeom>
        </p:spPr>
        <p:txBody>
          <a:bodyPr>
            <a:normAutofit fontScale="92500"/>
          </a:bodyPr>
          <a:lstStyle/>
          <a:p>
            <a:r>
              <a:rPr lang="zh-CN" altLang="en-US" sz="2000" dirty="0">
                <a:latin typeface="Consolas" panose="020B0609020204030204" pitchFamily="49" charset="0"/>
                <a:ea typeface="FangSong" panose="02010609060101010101" pitchFamily="49" charset="-122"/>
                <a:cs typeface="Consolas" panose="020B0609020204030204" pitchFamily="49" charset="0"/>
              </a:rPr>
              <a:t>依次访问数组元素（体现空间局部性）</a:t>
            </a:r>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r>
              <a:rPr lang="zh-CN" altLang="en-US" sz="2000" dirty="0">
                <a:latin typeface="Consolas" panose="020B0609020204030204" pitchFamily="49" charset="0"/>
                <a:ea typeface="FangSong" panose="02010609060101010101" pitchFamily="49" charset="-122"/>
                <a:cs typeface="Consolas" panose="020B0609020204030204" pitchFamily="49" charset="0"/>
              </a:rPr>
              <a:t>在每次迭代中都访问变量 </a:t>
            </a:r>
            <a:r>
              <a:rPr lang="en-US" sz="2000" dirty="0">
                <a:latin typeface="Consolas" panose="020B0609020204030204" pitchFamily="49" charset="0"/>
                <a:ea typeface="FangSong" panose="02010609060101010101" pitchFamily="49" charset="-122"/>
                <a:cs typeface="Consolas" panose="020B0609020204030204" pitchFamily="49" charset="0"/>
              </a:rPr>
              <a:t>sum </a:t>
            </a:r>
            <a:r>
              <a:rPr lang="zh-CN" altLang="en-US" sz="2000" dirty="0">
                <a:latin typeface="Consolas" panose="020B0609020204030204" pitchFamily="49" charset="0"/>
                <a:ea typeface="FangSong" panose="02010609060101010101" pitchFamily="49" charset="-122"/>
                <a:cs typeface="Consolas" panose="020B0609020204030204" pitchFamily="49" charset="0"/>
              </a:rPr>
              <a:t>和 </a:t>
            </a:r>
            <a:r>
              <a:rPr lang="en-US" sz="2000" dirty="0" err="1">
                <a:latin typeface="Consolas" panose="020B0609020204030204" pitchFamily="49" charset="0"/>
                <a:ea typeface="FangSong" panose="02010609060101010101" pitchFamily="49" charset="-122"/>
                <a:cs typeface="Consolas" panose="020B0609020204030204" pitchFamily="49" charset="0"/>
              </a:rPr>
              <a:t>i</a:t>
            </a:r>
            <a:r>
              <a:rPr lang="en-US"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体现时间局部性；通常会被编译器优化放入寄存器中）</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marL="0" indent="0">
              <a:buNone/>
            </a:pPr>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pPr marL="0" indent="0">
              <a:buNone/>
            </a:pP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r>
              <a:rPr lang="zh-CN" altLang="en-US" sz="2000" dirty="0">
                <a:latin typeface="Consolas" panose="020B0609020204030204" pitchFamily="49" charset="0"/>
                <a:ea typeface="FangSong" panose="02010609060101010101" pitchFamily="49" charset="-122"/>
                <a:cs typeface="Consolas" panose="020B0609020204030204" pitchFamily="49" charset="0"/>
              </a:rPr>
              <a:t>答案取决于以下因素： </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dirty="0">
                <a:latin typeface="Consolas" panose="020B0609020204030204" pitchFamily="49" charset="0"/>
                <a:ea typeface="FangSong" panose="02010609060101010101" pitchFamily="49" charset="-122"/>
                <a:cs typeface="Consolas" panose="020B0609020204030204" pitchFamily="49" charset="0"/>
              </a:rPr>
              <a:t>数组中是否有元素已经存在于缓存中？ </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dirty="0">
                <a:latin typeface="Consolas" panose="020B0609020204030204" pitchFamily="49" charset="0"/>
                <a:ea typeface="FangSong" panose="02010609060101010101" pitchFamily="49" charset="-122"/>
                <a:cs typeface="Consolas" panose="020B0609020204030204" pitchFamily="49" charset="0"/>
              </a:rPr>
              <a:t>一个缓存块能容纳多少个数组元素？ </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2000" dirty="0">
                <a:latin typeface="Consolas" panose="020B0609020204030204" pitchFamily="49" charset="0"/>
                <a:ea typeface="FangSong" panose="02010609060101010101" pitchFamily="49" charset="-122"/>
                <a:cs typeface="Consolas" panose="020B0609020204030204" pitchFamily="49" charset="0"/>
              </a:rPr>
              <a:t>数组的起始地址是否与缓存块的起始地址对齐？</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a:p>
            <a:endParaRPr lang="en-US" altLang="zh-CN" sz="2000" dirty="0">
              <a:latin typeface="Consolas" panose="020B0609020204030204" pitchFamily="49" charset="0"/>
              <a:ea typeface="FangSong" panose="02010609060101010101" pitchFamily="49" charset="-122"/>
              <a:cs typeface="Consolas" panose="020B0609020204030204" pitchFamily="49" charset="0"/>
            </a:endParaRPr>
          </a:p>
          <a:p>
            <a:r>
              <a:rPr lang="zh-CN" altLang="en-US" sz="2000" dirty="0">
                <a:latin typeface="Consolas" panose="020B0609020204030204" pitchFamily="49" charset="0"/>
                <a:ea typeface="FangSong" panose="02010609060101010101" pitchFamily="49" charset="-122"/>
                <a:cs typeface="Consolas" panose="020B0609020204030204" pitchFamily="49" charset="0"/>
              </a:rPr>
              <a:t>示例：如果缓存初始为空，每个缓存块恰好容纳 </a:t>
            </a:r>
            <a:r>
              <a:rPr lang="en-US" altLang="zh-CN" sz="2000" dirty="0">
                <a:latin typeface="Consolas" panose="020B0609020204030204" pitchFamily="49" charset="0"/>
                <a:ea typeface="FangSong" panose="02010609060101010101" pitchFamily="49" charset="-122"/>
                <a:cs typeface="Consolas" panose="020B0609020204030204" pitchFamily="49" charset="0"/>
              </a:rPr>
              <a:t>8 </a:t>
            </a:r>
            <a:r>
              <a:rPr lang="zh-CN" altLang="en-US" sz="2000" dirty="0">
                <a:latin typeface="Consolas" panose="020B0609020204030204" pitchFamily="49" charset="0"/>
                <a:ea typeface="FangSong" panose="02010609060101010101" pitchFamily="49" charset="-122"/>
                <a:cs typeface="Consolas" panose="020B0609020204030204" pitchFamily="49" charset="0"/>
              </a:rPr>
              <a:t>个数组元素，且数组起始地址与缓存块边界对齐，那么访问该数组将产生 </a:t>
            </a:r>
            <a:r>
              <a:rPr lang="en-US" altLang="zh-CN" sz="2000" dirty="0">
                <a:solidFill>
                  <a:srgbClr val="FF0000"/>
                </a:solidFill>
                <a:latin typeface="Consolas" panose="020B0609020204030204" pitchFamily="49" charset="0"/>
                <a:ea typeface="FangSong" panose="02010609060101010101" pitchFamily="49" charset="-122"/>
                <a:cs typeface="Consolas" panose="020B0609020204030204" pitchFamily="49" charset="0"/>
              </a:rPr>
              <a:t>2 </a:t>
            </a:r>
            <a:r>
              <a:rPr lang="zh-CN" altLang="en-US" sz="2000" dirty="0">
                <a:solidFill>
                  <a:srgbClr val="FF0000"/>
                </a:solidFill>
                <a:latin typeface="Consolas" panose="020B0609020204030204" pitchFamily="49" charset="0"/>
                <a:ea typeface="FangSong" panose="02010609060101010101" pitchFamily="49" charset="-122"/>
                <a:cs typeface="Consolas" panose="020B0609020204030204" pitchFamily="49" charset="0"/>
              </a:rPr>
              <a:t>次冷缺失</a:t>
            </a:r>
            <a:endParaRPr lang="en-US" sz="2000" dirty="0">
              <a:solidFill>
                <a:srgbClr val="FF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697" name="Rectangle 4"/>
          <p:cNvSpPr/>
          <p:nvPr/>
        </p:nvSpPr>
        <p:spPr>
          <a:xfrm>
            <a:off x="3778863" y="1330418"/>
            <a:ext cx="3725287" cy="1074653"/>
          </a:xfrm>
          <a:prstGeom prst="rect">
            <a:avLst/>
          </a:prstGeom>
          <a:solidFill>
            <a:srgbClr val="F7F5CD"/>
          </a:solidFill>
          <a:ln w="12700">
            <a:solidFill>
              <a:srgbClr val="000000"/>
            </a:solidFill>
            <a:miter/>
          </a:ln>
        </p:spPr>
        <p:txBody>
          <a:bodyPr wrap="square" lIns="44450" tIns="44450" rIns="44450" bIns="44450">
            <a:spAutoFit/>
          </a:bodyPr>
          <a:lstStyle/>
          <a:p>
            <a:pPr>
              <a:tabLst>
                <a:tab pos="457200" algn="l"/>
              </a:tabLst>
              <a:defRPr sz="1600">
                <a:latin typeface="Courier New" panose="02070609020205020404"/>
                <a:ea typeface="Courier New" panose="02070609020205020404"/>
                <a:cs typeface="Courier New" panose="02070609020205020404"/>
                <a:sym typeface="Courier New" panose="02070609020205020404"/>
              </a:defRPr>
            </a:pPr>
            <a:r>
              <a:rPr lang="en-US" sz="1600" dirty="0">
                <a:latin typeface="Consolas" panose="020B0609020204030204" pitchFamily="49" charset="0"/>
                <a:ea typeface="FangSong" panose="02010609060101010101" pitchFamily="49" charset="-122"/>
                <a:cs typeface="Consolas" panose="020B0609020204030204" pitchFamily="49" charset="0"/>
              </a:rPr>
              <a:t>long </a:t>
            </a:r>
            <a:r>
              <a:rPr sz="1600" dirty="0">
                <a:latin typeface="Consolas" panose="020B0609020204030204" pitchFamily="49" charset="0"/>
                <a:ea typeface="FangSong" panose="02010609060101010101" pitchFamily="49" charset="-122"/>
                <a:cs typeface="Consolas" panose="020B0609020204030204" pitchFamily="49" charset="0"/>
              </a:rPr>
              <a:t>sum = 0;</a:t>
            </a:r>
            <a:endParaRPr sz="1600" dirty="0">
              <a:latin typeface="Consolas" panose="020B0609020204030204" pitchFamily="49" charset="0"/>
              <a:ea typeface="FangSong" panose="02010609060101010101" pitchFamily="49" charset="-122"/>
              <a:cs typeface="Consolas" panose="020B0609020204030204" pitchFamily="49" charset="0"/>
            </a:endParaRPr>
          </a:p>
          <a:p>
            <a:pPr>
              <a:tabLst>
                <a:tab pos="457200" algn="l"/>
              </a:tabLst>
              <a:defRPr sz="1600">
                <a:latin typeface="Courier New" panose="02070609020205020404"/>
                <a:ea typeface="Courier New" panose="02070609020205020404"/>
                <a:cs typeface="Courier New" panose="02070609020205020404"/>
                <a:sym typeface="Courier New" panose="02070609020205020404"/>
              </a:defRPr>
            </a:pPr>
            <a:r>
              <a:rPr sz="1600" dirty="0">
                <a:latin typeface="Consolas" panose="020B0609020204030204" pitchFamily="49" charset="0"/>
                <a:ea typeface="FangSong" panose="02010609060101010101" pitchFamily="49" charset="-122"/>
                <a:cs typeface="Consolas" panose="020B0609020204030204" pitchFamily="49" charset="0"/>
              </a:rPr>
              <a:t>for (</a:t>
            </a:r>
            <a:r>
              <a:rPr lang="en-US" sz="1600" dirty="0">
                <a:latin typeface="Consolas" panose="020B0609020204030204" pitchFamily="49" charset="0"/>
                <a:ea typeface="FangSong" panose="02010609060101010101" pitchFamily="49" charset="-122"/>
                <a:cs typeface="Consolas" panose="020B0609020204030204" pitchFamily="49" charset="0"/>
              </a:rPr>
              <a:t>int </a:t>
            </a:r>
            <a:r>
              <a:rPr sz="1600" dirty="0">
                <a:latin typeface="Consolas" panose="020B0609020204030204" pitchFamily="49" charset="0"/>
                <a:ea typeface="FangSong" panose="02010609060101010101" pitchFamily="49" charset="-122"/>
                <a:cs typeface="Consolas" panose="020B0609020204030204" pitchFamily="49" charset="0"/>
              </a:rPr>
              <a:t>i = 0; i &lt; </a:t>
            </a:r>
            <a:r>
              <a:rPr lang="en-US" sz="1600" dirty="0">
                <a:latin typeface="Consolas" panose="020B0609020204030204" pitchFamily="49" charset="0"/>
                <a:ea typeface="FangSong" panose="02010609060101010101" pitchFamily="49" charset="-122"/>
                <a:cs typeface="Consolas" panose="020B0609020204030204" pitchFamily="49" charset="0"/>
              </a:rPr>
              <a:t>16</a:t>
            </a:r>
            <a:r>
              <a:rPr sz="1600" dirty="0">
                <a:latin typeface="Consolas" panose="020B0609020204030204" pitchFamily="49" charset="0"/>
                <a:ea typeface="FangSong" panose="02010609060101010101" pitchFamily="49" charset="-122"/>
                <a:cs typeface="Consolas" panose="020B0609020204030204" pitchFamily="49" charset="0"/>
              </a:rPr>
              <a:t>; i++)</a:t>
            </a:r>
            <a:endParaRPr sz="1600" dirty="0">
              <a:latin typeface="Consolas" panose="020B0609020204030204" pitchFamily="49" charset="0"/>
              <a:ea typeface="FangSong" panose="02010609060101010101" pitchFamily="49" charset="-122"/>
              <a:cs typeface="Consolas" panose="020B0609020204030204" pitchFamily="49" charset="0"/>
            </a:endParaRPr>
          </a:p>
          <a:p>
            <a:pPr>
              <a:tabLst>
                <a:tab pos="457200" algn="l"/>
              </a:tabLst>
              <a:defRPr sz="1600">
                <a:latin typeface="Courier New" panose="02070609020205020404"/>
                <a:ea typeface="Courier New" panose="02070609020205020404"/>
                <a:cs typeface="Courier New" panose="02070609020205020404"/>
                <a:sym typeface="Courier New" panose="02070609020205020404"/>
              </a:defRPr>
            </a:pPr>
            <a:r>
              <a:rPr sz="1600" dirty="0">
                <a:latin typeface="Consolas" panose="020B0609020204030204" pitchFamily="49" charset="0"/>
                <a:ea typeface="FangSong" panose="02010609060101010101" pitchFamily="49" charset="-122"/>
                <a:cs typeface="Consolas" panose="020B0609020204030204" pitchFamily="49" charset="0"/>
              </a:rPr>
              <a:t>	sum += a[i];</a:t>
            </a:r>
            <a:endParaRPr sz="1600" dirty="0">
              <a:latin typeface="Consolas" panose="020B0609020204030204" pitchFamily="49" charset="0"/>
              <a:ea typeface="FangSong" panose="02010609060101010101" pitchFamily="49" charset="-122"/>
              <a:cs typeface="Consolas" panose="020B0609020204030204" pitchFamily="49" charset="0"/>
            </a:endParaRPr>
          </a:p>
          <a:p>
            <a:pPr>
              <a:tabLst>
                <a:tab pos="457200" algn="l"/>
              </a:tabLst>
              <a:defRPr sz="1600">
                <a:latin typeface="Courier New" panose="02070609020205020404"/>
                <a:ea typeface="Courier New" panose="02070609020205020404"/>
                <a:cs typeface="Courier New" panose="02070609020205020404"/>
                <a:sym typeface="Courier New" panose="02070609020205020404"/>
              </a:defRPr>
            </a:pPr>
            <a:r>
              <a:rPr sz="1600" dirty="0">
                <a:latin typeface="Consolas" panose="020B0609020204030204" pitchFamily="49" charset="0"/>
                <a:ea typeface="FangSong" panose="02010609060101010101" pitchFamily="49" charset="-122"/>
                <a:cs typeface="Consolas" panose="020B0609020204030204" pitchFamily="49" charset="0"/>
              </a:rPr>
              <a:t>return sum;</a:t>
            </a:r>
            <a:endParaRPr sz="1600" dirty="0">
              <a:latin typeface="Consolas" panose="020B0609020204030204" pitchFamily="49" charset="0"/>
              <a:ea typeface="FangSong" panose="02010609060101010101" pitchFamily="49" charset="-122"/>
              <a:cs typeface="Consolas" panose="020B0609020204030204" pitchFamily="49" charset="0"/>
            </a:endParaRPr>
          </a:p>
        </p:txBody>
      </p:sp>
      <p:grpSp>
        <p:nvGrpSpPr>
          <p:cNvPr id="19" name="Group 18"/>
          <p:cNvGrpSpPr/>
          <p:nvPr/>
        </p:nvGrpSpPr>
        <p:grpSpPr>
          <a:xfrm>
            <a:off x="1688084" y="3639830"/>
            <a:ext cx="8642684" cy="429878"/>
            <a:chOff x="188221" y="5943582"/>
            <a:chExt cx="8642684" cy="429878"/>
          </a:xfrm>
        </p:grpSpPr>
        <p:sp>
          <p:nvSpPr>
            <p:cNvPr id="2" name="Rectangle"/>
            <p:cNvSpPr/>
            <p:nvPr/>
          </p:nvSpPr>
          <p:spPr>
            <a:xfrm>
              <a:off x="188221" y="5943596"/>
              <a:ext cx="8642621" cy="429861"/>
            </a:xfrm>
            <a:prstGeom prst="rect">
              <a:avLst/>
            </a:prstGeom>
            <a:solidFill>
              <a:srgbClr val="F1C7C7"/>
            </a:solidFill>
            <a:ln w="28575" cap="flat">
              <a:solidFill>
                <a:srgbClr val="000000"/>
              </a:solidFill>
              <a:prstDash val="solid"/>
              <a:miter lim="800000"/>
            </a:ln>
            <a:effectLst/>
          </p:spPr>
          <p:txBody>
            <a:bodyPr wrap="square" lIns="45719" tIns="45719" rIns="45719" bIns="45719" numCol="1" anchor="ctr">
              <a:noAutofit/>
            </a:bodyPr>
            <a:lstStyle/>
            <a:p>
              <a:pPr algn="ctr"/>
              <a:endParaRPr b="0">
                <a:latin typeface="Consolas" panose="020B0609020204030204" pitchFamily="49" charset="0"/>
                <a:ea typeface="FangSong" panose="02010609060101010101" pitchFamily="49" charset="-122"/>
                <a:cs typeface="Consolas" panose="020B0609020204030204" pitchFamily="49" charset="0"/>
              </a:endParaRPr>
            </a:p>
          </p:txBody>
        </p:sp>
        <p:sp>
          <p:nvSpPr>
            <p:cNvPr id="3" name="Rectangle"/>
            <p:cNvSpPr/>
            <p:nvPr/>
          </p:nvSpPr>
          <p:spPr>
            <a:xfrm>
              <a:off x="188222" y="5943599"/>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a[0]</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5" name="Rectangle"/>
            <p:cNvSpPr/>
            <p:nvPr/>
          </p:nvSpPr>
          <p:spPr>
            <a:xfrm>
              <a:off x="871976" y="5943599"/>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a[1]</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6" name="Rectangle"/>
            <p:cNvSpPr/>
            <p:nvPr/>
          </p:nvSpPr>
          <p:spPr>
            <a:xfrm>
              <a:off x="8034268" y="5943582"/>
              <a:ext cx="796637"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a[15]</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9" name="Rectangle"/>
            <p:cNvSpPr/>
            <p:nvPr/>
          </p:nvSpPr>
          <p:spPr>
            <a:xfrm>
              <a:off x="1555730" y="5943599"/>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a[2]</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0" name="Rectangle"/>
            <p:cNvSpPr/>
            <p:nvPr/>
          </p:nvSpPr>
          <p:spPr>
            <a:xfrm>
              <a:off x="2239484" y="5943599"/>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a[3]</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1" name="Rectangle"/>
            <p:cNvSpPr/>
            <p:nvPr/>
          </p:nvSpPr>
          <p:spPr>
            <a:xfrm>
              <a:off x="2923238" y="5943598"/>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a[4]</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2" name="Rectangle"/>
            <p:cNvSpPr/>
            <p:nvPr/>
          </p:nvSpPr>
          <p:spPr>
            <a:xfrm>
              <a:off x="3606993" y="5943597"/>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a[5]</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3" name="Rectangle"/>
            <p:cNvSpPr/>
            <p:nvPr/>
          </p:nvSpPr>
          <p:spPr>
            <a:xfrm>
              <a:off x="4290746" y="5943595"/>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a[6]</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4" name="Rectangle"/>
            <p:cNvSpPr/>
            <p:nvPr/>
          </p:nvSpPr>
          <p:spPr>
            <a:xfrm>
              <a:off x="4970337" y="5943591"/>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a[7]</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5" name="Rectangle"/>
            <p:cNvSpPr/>
            <p:nvPr/>
          </p:nvSpPr>
          <p:spPr>
            <a:xfrm>
              <a:off x="5649927" y="5943583"/>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a[8]</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6" name="Rectangle"/>
            <p:cNvSpPr/>
            <p:nvPr/>
          </p:nvSpPr>
          <p:spPr>
            <a:xfrm>
              <a:off x="6329518" y="5943583"/>
              <a:ext cx="683754" cy="429861"/>
            </a:xfrm>
            <a:prstGeom prst="rect">
              <a:avLst/>
            </a:prstGeom>
            <a:solidFill>
              <a:srgbClr val="F1C7C7"/>
            </a:solidFill>
            <a:ln w="12700" cap="flat">
              <a:solidFill>
                <a:srgbClr val="000000"/>
              </a:solidFill>
              <a:prstDash val="solid"/>
              <a:miter lim="800000"/>
            </a:ln>
            <a:effectLst/>
          </p:spPr>
          <p:txBody>
            <a:bodyPr wrap="square" lIns="45719" tIns="45719" rIns="45719" bIns="45719" numCol="1" anchor="ctr">
              <a:noAutofit/>
            </a:bodyPr>
            <a:lstStyle/>
            <a:p>
              <a:pPr algn="ctr"/>
              <a:r>
                <a:rPr lang="en-US" sz="1800" dirty="0">
                  <a:latin typeface="Consolas" panose="020B0609020204030204" pitchFamily="49" charset="0"/>
                  <a:ea typeface="FangSong" panose="02010609060101010101" pitchFamily="49" charset="-122"/>
                  <a:cs typeface="Consolas" panose="020B0609020204030204" pitchFamily="49" charset="0"/>
                </a:rPr>
                <a:t>a[9]</a:t>
              </a:r>
              <a:endParaRPr sz="1800" dirty="0">
                <a:latin typeface="Consolas" panose="020B0609020204030204" pitchFamily="49" charset="0"/>
                <a:ea typeface="FangSong" panose="02010609060101010101" pitchFamily="49" charset="-122"/>
                <a:cs typeface="Consolas" panose="020B0609020204030204" pitchFamily="49" charset="0"/>
              </a:endParaRPr>
            </a:p>
          </p:txBody>
        </p:sp>
        <p:sp>
          <p:nvSpPr>
            <p:cNvPr id="17" name="• • •"/>
            <p:cNvSpPr txBox="1"/>
            <p:nvPr/>
          </p:nvSpPr>
          <p:spPr>
            <a:xfrm>
              <a:off x="7229138" y="6004625"/>
              <a:ext cx="589262" cy="307775"/>
            </a:xfrm>
            <a:prstGeom prst="rect">
              <a:avLst/>
            </a:prstGeom>
            <a:noFill/>
            <a:ln w="12700" cap="flat">
              <a:noFill/>
              <a:miter lim="400000"/>
            </a:ln>
            <a:effectLst/>
          </p:spPr>
          <p:txBody>
            <a:bodyPr wrap="none" lIns="45719" tIns="45719" rIns="45719" bIns="45719" numCol="1" anchor="ctr">
              <a:spAutoFit/>
            </a:bodyPr>
            <a:lstStyle>
              <a:lvl1pPr algn="ctr">
                <a:defRPr sz="1400" b="0">
                  <a:latin typeface="Courier New" panose="02070609020205020404"/>
                  <a:ea typeface="Courier New" panose="02070609020205020404"/>
                  <a:cs typeface="Courier New" panose="02070609020205020404"/>
                  <a:sym typeface="Courier New" panose="02070609020205020404"/>
                </a:defRPr>
              </a:lvl1pPr>
            </a:lstStyle>
            <a:p>
              <a:r>
                <a:rPr dirty="0">
                  <a:latin typeface="Consolas" panose="020B0609020204030204" pitchFamily="49" charset="0"/>
                  <a:ea typeface="FangSong" panose="02010609060101010101" pitchFamily="49" charset="-122"/>
                  <a:cs typeface="Consolas" panose="020B0609020204030204" pitchFamily="49" charset="0"/>
                </a:rPr>
                <a:t>• • •</a:t>
              </a:r>
              <a:endParaRPr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18" name="TextBox 17"/>
          <p:cNvSpPr txBox="1"/>
          <p:nvPr/>
        </p:nvSpPr>
        <p:spPr>
          <a:xfrm>
            <a:off x="8585299" y="3273535"/>
            <a:ext cx="1898916"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r>
              <a:rPr lang="en-US" sz="2000" dirty="0" err="1">
                <a:solidFill>
                  <a:srgbClr val="FF0000"/>
                </a:solidFill>
                <a:latin typeface="Consolas" panose="020B0609020204030204" pitchFamily="49" charset="0"/>
                <a:ea typeface="FangSong" panose="02010609060101010101" pitchFamily="49" charset="-122"/>
                <a:cs typeface="Consolas" panose="020B0609020204030204" pitchFamily="49" charset="0"/>
              </a:rPr>
              <a:t>在内存中的布局</a:t>
            </a:r>
            <a:endParaRPr lang="en-US" sz="2000" dirty="0">
              <a:solidFill>
                <a:srgbClr val="FF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4" name="Slide Number Placeholder 3"/>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20875" y="1362075"/>
            <a:ext cx="8335342" cy="4972050"/>
          </a:xfrm>
        </p:spPr>
        <p:txBody>
          <a:bodyPr/>
          <a:lstStyle/>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存储器抽象</a:t>
            </a:r>
            <a:r>
              <a:rPr lang="en-US" b="0"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6.1.1</a:t>
            </a:r>
            <a:endParaRPr lang="en-US" dirty="0">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访问的局部性</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6.2</a:t>
            </a: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solidFill>
                  <a:schemeClr val="tx2"/>
                </a:solidFill>
                <a:latin typeface="Consolas" panose="020B0609020204030204" pitchFamily="49" charset="0"/>
                <a:ea typeface="FangSong" panose="02010609060101010101" pitchFamily="49" charset="-122"/>
                <a:cs typeface="Consolas" panose="020B0609020204030204" pitchFamily="49" charset="0"/>
              </a:rPr>
              <a:t>存储器层次结构</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6.3</a:t>
            </a:r>
            <a:endPar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endParaRPr>
          </a:p>
          <a:p>
            <a:pPr>
              <a:lnSpc>
                <a:spcPct val="80000"/>
              </a:lnSpc>
            </a:pPr>
            <a:r>
              <a:rPr lang="en-US" dirty="0" err="1">
                <a:latin typeface="Consolas" panose="020B0609020204030204" pitchFamily="49" charset="0"/>
                <a:ea typeface="FangSong" panose="02010609060101010101" pitchFamily="49" charset="-122"/>
                <a:cs typeface="Consolas" panose="020B0609020204030204" pitchFamily="49" charset="0"/>
              </a:rPr>
              <a:t>存储技术与趋势</a:t>
            </a:r>
            <a:r>
              <a:rPr lang="en-US" dirty="0">
                <a:latin typeface="Consolas" panose="020B0609020204030204" pitchFamily="49" charset="0"/>
                <a:ea typeface="FangSong" panose="02010609060101010101" pitchFamily="49" charset="-122"/>
                <a:cs typeface="Consolas" panose="020B0609020204030204" pitchFamily="49" charset="0"/>
              </a:rPr>
              <a:t>			   </a:t>
            </a:r>
            <a:r>
              <a:rPr lang="en-US" dirty="0">
                <a:solidFill>
                  <a:srgbClr val="7F7F7F"/>
                </a:solidFill>
                <a:latin typeface="Consolas" panose="020B0609020204030204" pitchFamily="49" charset="0"/>
                <a:ea typeface="FangSong" panose="02010609060101010101" pitchFamily="49" charset="-122"/>
                <a:cs typeface="Consolas" panose="020B0609020204030204" pitchFamily="49" charset="0"/>
              </a:rPr>
              <a:t>CSAPP 6.1.2-6.1.4</a:t>
            </a:r>
            <a:endParaRPr lang="en-US" dirty="0">
              <a:latin typeface="Consolas" panose="020B0609020204030204" pitchFamily="49" charset="0"/>
              <a:ea typeface="FangSong" panose="02010609060101010101" pitchFamily="49" charset="-122"/>
              <a:cs typeface="Consolas" panose="020B0609020204030204" pitchFamily="49" charset="0"/>
            </a:endParaRPr>
          </a:p>
          <a:p>
            <a:pPr>
              <a:lnSpc>
                <a:spcPct val="80000"/>
              </a:lnSpc>
            </a:pPr>
            <a:endParaRPr lang="en-US" dirty="0">
              <a:solidFill>
                <a:schemeClr val="tx2"/>
              </a:solidFill>
              <a:latin typeface="Consolas" panose="020B0609020204030204" pitchFamily="49" charset="0"/>
              <a:ea typeface="FangSong" panose="02010609060101010101" pitchFamily="49" charset="-122"/>
              <a:cs typeface="Consolas" panose="020B0609020204030204" pitchFamily="49" charset="0"/>
            </a:endParaRPr>
          </a:p>
        </p:txBody>
      </p:sp>
      <p:sp>
        <p:nvSpPr>
          <p:cNvPr id="6" name="Title 1"/>
          <p:cNvSpPr txBox="1">
            <a:spLocks noGrp="1"/>
          </p:cNvSpPr>
          <p:nvPr>
            <p:ph type="title"/>
          </p:nvPr>
        </p:nvSpPr>
        <p:spPr>
          <a:xfrm>
            <a:off x="1881018" y="435679"/>
            <a:ext cx="7592095" cy="762001"/>
          </a:xfrm>
          <a:prstGeom prst="rect">
            <a:avLst/>
          </a:prstGeom>
        </p:spPr>
        <p:txBody>
          <a:bodyPr/>
          <a:lstStyle/>
          <a:p>
            <a:r>
              <a:rPr dirty="0"/>
              <a:t>Today</a:t>
            </a:r>
            <a:endParaRPr dirty="0"/>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Rectangle 1028"/>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随机访问存储器</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dirty="0">
                <a:latin typeface="Consolas" panose="020B0609020204030204" pitchFamily="49" charset="0"/>
                <a:ea typeface="FangSong" panose="02010609060101010101" pitchFamily="49" charset="-122"/>
                <a:cs typeface="Consolas" panose="020B0609020204030204" pitchFamily="49" charset="0"/>
              </a:rPr>
              <a:t>RAM</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58" name="Rectangle 1029"/>
          <p:cNvSpPr txBox="1">
            <a:spLocks noGrp="1"/>
          </p:cNvSpPr>
          <p:nvPr>
            <p:ph type="body" idx="1"/>
          </p:nvPr>
        </p:nvSpPr>
        <p:spPr>
          <a:xfrm>
            <a:off x="1920876" y="1362075"/>
            <a:ext cx="8442325" cy="4972050"/>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关键特征</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solidFill>
                  <a:srgbClr val="C00000"/>
                </a:solidFill>
              </a:defRPr>
            </a:pPr>
            <a:r>
              <a:rPr lang="en-US" dirty="0" err="1">
                <a:latin typeface="Consolas" panose="020B0609020204030204" pitchFamily="49" charset="0"/>
                <a:ea typeface="FangSong" panose="02010609060101010101" pitchFamily="49" charset="-122"/>
                <a:cs typeface="Consolas" panose="020B0609020204030204" pitchFamily="49" charset="0"/>
              </a:rPr>
              <a:t>传统上</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dirty="0">
                <a:latin typeface="Consolas" panose="020B0609020204030204" pitchFamily="49" charset="0"/>
                <a:ea typeface="FangSong" panose="02010609060101010101" pitchFamily="49" charset="-122"/>
                <a:cs typeface="Consolas" panose="020B0609020204030204" pitchFamily="49" charset="0"/>
              </a:rPr>
              <a:t>RAM </a:t>
            </a:r>
            <a:r>
              <a:rPr lang="en-US" dirty="0" err="1">
                <a:latin typeface="Consolas" panose="020B0609020204030204" pitchFamily="49" charset="0"/>
                <a:ea typeface="FangSong" panose="02010609060101010101" pitchFamily="49" charset="-122"/>
                <a:cs typeface="Consolas" panose="020B0609020204030204" pitchFamily="49" charset="0"/>
              </a:rPr>
              <a:t>被封装为一个芯片</a:t>
            </a:r>
            <a:endParaRPr dirty="0">
              <a:solidFill>
                <a:srgbClr val="000000"/>
              </a:solidFill>
              <a:latin typeface="Consolas" panose="020B0609020204030204" pitchFamily="49" charset="0"/>
              <a:ea typeface="FangSong" panose="02010609060101010101" pitchFamily="49" charset="-122"/>
              <a:cs typeface="Consolas" panose="020B0609020204030204" pitchFamily="49" charset="0"/>
            </a:endParaRPr>
          </a:p>
          <a:p>
            <a:pPr marL="1143000" lvl="2" indent="-228600">
              <a:spcBef>
                <a:spcPts val="400"/>
              </a:spcBef>
              <a:buClrTx/>
              <a:defRPr sz="2000" b="0"/>
            </a:pPr>
            <a:r>
              <a:rPr lang="en-US" dirty="0" err="1">
                <a:latin typeface="Consolas" panose="020B0609020204030204" pitchFamily="49" charset="0"/>
                <a:ea typeface="FangSong" panose="02010609060101010101" pitchFamily="49" charset="-122"/>
                <a:cs typeface="Consolas" panose="020B0609020204030204" pitchFamily="49" charset="0"/>
              </a:rPr>
              <a:t>或者作为一部分嵌入处理器芯片中</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pPr>
            <a:r>
              <a:rPr lang="en-US" dirty="0" err="1">
                <a:latin typeface="Consolas" panose="020B0609020204030204" pitchFamily="49" charset="0"/>
                <a:ea typeface="FangSong" panose="02010609060101010101" pitchFamily="49" charset="-122"/>
                <a:cs typeface="Consolas" panose="020B0609020204030204" pitchFamily="49" charset="0"/>
              </a:rPr>
              <a:t>基本的存储单元通常称为</a:t>
            </a:r>
            <a:r>
              <a:rPr dirty="0">
                <a:latin typeface="Consolas" panose="020B0609020204030204" pitchFamily="49" charset="0"/>
                <a:ea typeface="FangSong" panose="02010609060101010101" pitchFamily="49" charset="-122"/>
                <a:cs typeface="Consolas" panose="020B0609020204030204" pitchFamily="49" charset="0"/>
              </a:rPr>
              <a:t> </a:t>
            </a:r>
            <a:r>
              <a:rPr dirty="0">
                <a:solidFill>
                  <a:srgbClr val="C00000"/>
                </a:solidFill>
                <a:latin typeface="Consolas" panose="020B0609020204030204" pitchFamily="49" charset="0"/>
                <a:ea typeface="FangSong" panose="02010609060101010101" pitchFamily="49" charset="-122"/>
                <a:cs typeface="Consolas" panose="020B0609020204030204" pitchFamily="49" charset="0"/>
              </a:rPr>
              <a:t>cell </a:t>
            </a:r>
            <a:r>
              <a:rPr dirty="0">
                <a:latin typeface="Consolas" panose="020B0609020204030204" pitchFamily="49" charset="0"/>
                <a:ea typeface="FangSong" panose="02010609060101010101" pitchFamily="49" charset="-122"/>
                <a:cs typeface="Consolas" panose="020B0609020204030204" pitchFamily="49" charset="0"/>
              </a:rPr>
              <a:t>(</a:t>
            </a:r>
            <a:r>
              <a:rPr lang="en-US" dirty="0" err="1">
                <a:latin typeface="Consolas" panose="020B0609020204030204" pitchFamily="49" charset="0"/>
                <a:ea typeface="FangSong" panose="02010609060101010101" pitchFamily="49" charset="-122"/>
                <a:cs typeface="Consolas" panose="020B0609020204030204" pitchFamily="49" charset="0"/>
              </a:rPr>
              <a:t>每个</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dirty="0">
                <a:latin typeface="Consolas" panose="020B0609020204030204" pitchFamily="49" charset="0"/>
                <a:ea typeface="FangSong" panose="02010609060101010101" pitchFamily="49" charset="-122"/>
                <a:cs typeface="Consolas" panose="020B0609020204030204" pitchFamily="49" charset="0"/>
              </a:rPr>
              <a:t>cell</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dirty="0" err="1">
                <a:latin typeface="Consolas" panose="020B0609020204030204" pitchFamily="49" charset="0"/>
                <a:ea typeface="FangSong" panose="02010609060101010101" pitchFamily="49" charset="-122"/>
                <a:cs typeface="Consolas" panose="020B0609020204030204" pitchFamily="49" charset="0"/>
              </a:rPr>
              <a:t>存储一个</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dirty="0">
                <a:latin typeface="Consolas" panose="020B0609020204030204" pitchFamily="49" charset="0"/>
                <a:ea typeface="FangSong" panose="02010609060101010101" pitchFamily="49" charset="-122"/>
                <a:cs typeface="Consolas" panose="020B0609020204030204" pitchFamily="49" charset="0"/>
              </a:rPr>
              <a:t>bit</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pPr>
            <a:r>
              <a:rPr lang="en-US" dirty="0" err="1">
                <a:latin typeface="Consolas" panose="020B0609020204030204" pitchFamily="49" charset="0"/>
                <a:ea typeface="FangSong" panose="02010609060101010101" pitchFamily="49" charset="-122"/>
                <a:cs typeface="Consolas" panose="020B0609020204030204" pitchFamily="49" charset="0"/>
              </a:rPr>
              <a:t>多个</a:t>
            </a:r>
            <a:r>
              <a:rPr lang="zh-CN" altLang="en-US" dirty="0">
                <a:latin typeface="Consolas" panose="020B0609020204030204" pitchFamily="49" charset="0"/>
                <a:ea typeface="FangSong" panose="02010609060101010101" pitchFamily="49" charset="-122"/>
                <a:cs typeface="Consolas" panose="020B0609020204030204" pitchFamily="49" charset="0"/>
              </a:rPr>
              <a:t> </a:t>
            </a:r>
            <a:r>
              <a:rPr lang="en-US" altLang="zh-CN" dirty="0">
                <a:latin typeface="Consolas" panose="020B0609020204030204" pitchFamily="49" charset="0"/>
                <a:ea typeface="FangSong" panose="02010609060101010101" pitchFamily="49" charset="-122"/>
                <a:cs typeface="Consolas" panose="020B0609020204030204" pitchFamily="49" charset="0"/>
              </a:rPr>
              <a:t>RAM</a:t>
            </a:r>
            <a:r>
              <a:rPr lang="zh-CN" altLang="en-US" dirty="0">
                <a:latin typeface="Consolas" panose="020B0609020204030204" pitchFamily="49" charset="0"/>
                <a:ea typeface="FangSong" panose="02010609060101010101" pitchFamily="49" charset="-122"/>
                <a:cs typeface="Consolas" panose="020B0609020204030204" pitchFamily="49" charset="0"/>
              </a:rPr>
              <a:t> 芯片构成内存</a:t>
            </a:r>
            <a:endParaRPr dirty="0">
              <a:latin typeface="Consolas" panose="020B0609020204030204" pitchFamily="49" charset="0"/>
              <a:ea typeface="FangSong" panose="02010609060101010101" pitchFamily="49" charset="-122"/>
              <a:cs typeface="Consolas" panose="020B0609020204030204" pitchFamily="49" charset="0"/>
            </a:endParaRPr>
          </a:p>
          <a:p>
            <a:endParaRPr sz="2000" b="0" dirty="0">
              <a:latin typeface="Consolas" panose="020B0609020204030204" pitchFamily="49" charset="0"/>
              <a:ea typeface="FangSong" panose="02010609060101010101" pitchFamily="49" charset="-122"/>
              <a:cs typeface="Consolas" panose="020B0609020204030204" pitchFamily="49" charset="0"/>
            </a:endParaRPr>
          </a:p>
          <a:p>
            <a:r>
              <a:rPr dirty="0">
                <a:latin typeface="Consolas" panose="020B0609020204030204" pitchFamily="49" charset="0"/>
                <a:ea typeface="FangSong" panose="02010609060101010101" pitchFamily="49" charset="-122"/>
                <a:cs typeface="Consolas" panose="020B0609020204030204" pitchFamily="49" charset="0"/>
              </a:rPr>
              <a:t>RAM </a:t>
            </a:r>
            <a:r>
              <a:rPr lang="en-US" dirty="0" err="1">
                <a:latin typeface="Consolas" panose="020B0609020204030204" pitchFamily="49" charset="0"/>
                <a:ea typeface="FangSong" panose="02010609060101010101" pitchFamily="49" charset="-122"/>
                <a:cs typeface="Consolas" panose="020B0609020204030204" pitchFamily="49" charset="0"/>
              </a:rPr>
              <a:t>有两种</a:t>
            </a:r>
            <a:r>
              <a:rPr lang="zh-CN" altLang="en-US" dirty="0">
                <a:latin typeface="Consolas" panose="020B0609020204030204" pitchFamily="49" charset="0"/>
                <a:ea typeface="FangSong" panose="02010609060101010101" pitchFamily="49" charset="-122"/>
                <a:cs typeface="Consolas" panose="020B0609020204030204" pitchFamily="49" charset="0"/>
              </a:rPr>
              <a:t>：</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pPr>
            <a:r>
              <a:rPr dirty="0">
                <a:latin typeface="Consolas" panose="020B0609020204030204" pitchFamily="49" charset="0"/>
                <a:ea typeface="FangSong" panose="02010609060101010101" pitchFamily="49" charset="-122"/>
                <a:cs typeface="Consolas" panose="020B0609020204030204" pitchFamily="49" charset="0"/>
              </a:rPr>
              <a:t>SRAM (Static RAM)</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pPr>
            <a:r>
              <a:rPr dirty="0">
                <a:latin typeface="Consolas" panose="020B0609020204030204" pitchFamily="49" charset="0"/>
                <a:ea typeface="FangSong" panose="02010609060101010101" pitchFamily="49" charset="-122"/>
                <a:cs typeface="Consolas" panose="020B0609020204030204" pitchFamily="49" charset="0"/>
              </a:rPr>
              <a:t>DRAM (Dynamic RAM)</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Content Placeholder 4"/>
          <p:cNvSpPr txBox="1">
            <a:spLocks noGrp="1"/>
          </p:cNvSpPr>
          <p:nvPr>
            <p:ph type="body" sz="half" idx="1"/>
          </p:nvPr>
        </p:nvSpPr>
        <p:spPr>
          <a:prstGeom prst="rect">
            <a:avLst/>
          </a:prstGeom>
        </p:spPr>
        <p:txBody>
          <a:bodyPr/>
          <a:lstStyle/>
          <a:p>
            <a:r>
              <a:t>DRAM</a:t>
            </a:r>
            <a:endParaRPr lang="en-US"/>
          </a:p>
          <a:p>
            <a:endParaRPr lang="en-US"/>
          </a:p>
          <a:p>
            <a:endParaRPr lang="en-US"/>
          </a:p>
          <a:p>
            <a:endParaRPr lang="en-US"/>
          </a:p>
          <a:p/>
          <a:p>
            <a:r>
              <a:t>1 </a:t>
            </a:r>
            <a:r>
              <a:rPr lang="en-US"/>
              <a:t>个晶体管</a:t>
            </a:r>
            <a:r>
              <a:t> + 1 </a:t>
            </a:r>
            <a:r>
              <a:rPr lang="en-US"/>
              <a:t>个电容</a:t>
            </a:r>
            <a:r>
              <a:t> / </a:t>
            </a:r>
            <a:r>
              <a:rPr lang="en-US"/>
              <a:t>bit</a:t>
            </a:r>
            <a:endParaRPr lang="en-US"/>
          </a:p>
          <a:p>
            <a:pPr lvl="0"/>
            <a:r>
              <a:rPr lang="en-US"/>
              <a:t>电容垂直排列</a:t>
            </a:r>
            <a:endParaRPr lang="en-US"/>
          </a:p>
          <a:p>
            <a:r>
              <a:rPr lang="en-US"/>
              <a:t>必须周期性刷新状态</a:t>
            </a:r>
            <a:endParaRPr lang="en-US"/>
          </a:p>
        </p:txBody>
      </p:sp>
      <p:sp>
        <p:nvSpPr>
          <p:cNvPr id="363" name="Content Placeholder 5"/>
          <p:cNvSpPr txBox="1"/>
          <p:nvPr/>
        </p:nvSpPr>
        <p:spPr>
          <a:xfrm>
            <a:off x="6795736" y="1359195"/>
            <a:ext cx="3780473" cy="4972050"/>
          </a:xfrm>
          <a:prstGeom prst="rect">
            <a:avLst/>
          </a:prstGeom>
          <a:ln w="12700">
            <a:miter lim="400000"/>
          </a:ln>
        </p:spPr>
        <p:txBody>
          <a:bodyPr lIns="45719" rIns="45719">
            <a:normAutofit/>
          </a:bodyPr>
          <a:lstStyle/>
          <a:p>
            <a:pPr marL="342900" indent="-342900">
              <a:buClr>
                <a:srgbClr val="990000"/>
              </a:buClr>
              <a:buSzPct val="60000"/>
              <a:buFontTx/>
              <a:buChar char="⬛"/>
              <a:defRPr sz="2800">
                <a:latin typeface="Calibri"/>
                <a:ea typeface="Calibri"/>
                <a:cs typeface="Calibri"/>
                <a:sym typeface="Calibri"/>
              </a:defRPr>
            </a:pPr>
            <a:r>
              <a:rPr sz="2800" dirty="0">
                <a:latin typeface="Consolas" panose="020B0609020204030204" pitchFamily="49" charset="0"/>
                <a:ea typeface="FangSong" panose="02010609060101010101" pitchFamily="49" charset="-122"/>
                <a:cs typeface="Consolas" panose="020B0609020204030204" pitchFamily="49" charset="0"/>
                <a:sym typeface="Calibri"/>
              </a:rPr>
              <a:t>SRAM</a:t>
            </a:r>
            <a:endParaRPr lang="en-US"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342900" indent="-342900">
              <a:buClr>
                <a:srgbClr val="990000"/>
              </a:buClr>
              <a:buSzPct val="60000"/>
              <a:buFontTx/>
              <a:buChar char="⬛"/>
              <a:defRPr sz="2800">
                <a:latin typeface="Calibri"/>
                <a:ea typeface="Calibri"/>
                <a:cs typeface="Calibri"/>
                <a:sym typeface="Calibri"/>
              </a:defRPr>
            </a:pPr>
            <a:endParaRPr lang="en-US"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342900" indent="-342900">
              <a:buClr>
                <a:srgbClr val="990000"/>
              </a:buClr>
              <a:buSzPct val="60000"/>
              <a:buFontTx/>
              <a:buChar char="⬛"/>
              <a:defRPr sz="2800">
                <a:latin typeface="Calibri"/>
                <a:ea typeface="Calibri"/>
                <a:cs typeface="Calibri"/>
                <a:sym typeface="Calibri"/>
              </a:defRPr>
            </a:pPr>
            <a:endParaRPr lang="en-US"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342900" indent="-342900">
              <a:buClr>
                <a:srgbClr val="990000"/>
              </a:buClr>
              <a:buSzPct val="60000"/>
              <a:buFontTx/>
              <a:buChar char="⬛"/>
              <a:defRPr sz="2800">
                <a:latin typeface="Calibri"/>
                <a:ea typeface="Calibri"/>
                <a:cs typeface="Calibri"/>
                <a:sym typeface="Calibri"/>
              </a:defRPr>
            </a:pPr>
            <a:endParaRPr lang="en-US"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342900" indent="-342900">
              <a:buClr>
                <a:srgbClr val="990000"/>
              </a:buClr>
              <a:buSzPct val="60000"/>
              <a:buFontTx/>
              <a:buChar char="⬛"/>
              <a:defRPr sz="2800">
                <a:latin typeface="Calibri"/>
                <a:ea typeface="Calibri"/>
                <a:cs typeface="Calibri"/>
                <a:sym typeface="Calibri"/>
              </a:defRPr>
            </a:pPr>
            <a:endParaRPr lang="en-US"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342900" indent="-342900">
              <a:buClr>
                <a:srgbClr val="990000"/>
              </a:buClr>
              <a:buSzPct val="60000"/>
              <a:buFontTx/>
              <a:buChar char="⬛"/>
              <a:defRPr sz="2800">
                <a:latin typeface="Calibri"/>
                <a:ea typeface="Calibri"/>
                <a:cs typeface="Calibri"/>
                <a:sym typeface="Calibri"/>
              </a:defRPr>
            </a:pPr>
            <a:r>
              <a:rPr sz="2800" dirty="0">
                <a:latin typeface="Consolas" panose="020B0609020204030204" pitchFamily="49" charset="0"/>
                <a:ea typeface="FangSong" panose="02010609060101010101" pitchFamily="49" charset="-122"/>
                <a:cs typeface="Consolas" panose="020B0609020204030204" pitchFamily="49" charset="0"/>
                <a:sym typeface="Calibri"/>
              </a:rPr>
              <a:t>6 </a:t>
            </a:r>
            <a:r>
              <a:rPr lang="en-US" sz="2800" dirty="0" err="1">
                <a:latin typeface="Consolas" panose="020B0609020204030204" pitchFamily="49" charset="0"/>
                <a:ea typeface="FangSong" panose="02010609060101010101" pitchFamily="49" charset="-122"/>
                <a:cs typeface="Consolas" panose="020B0609020204030204" pitchFamily="49" charset="0"/>
                <a:sym typeface="Calibri"/>
              </a:rPr>
              <a:t>个晶体管</a:t>
            </a:r>
            <a:r>
              <a:rPr sz="2800" dirty="0">
                <a:latin typeface="Consolas" panose="020B0609020204030204" pitchFamily="49" charset="0"/>
                <a:ea typeface="FangSong" panose="02010609060101010101" pitchFamily="49" charset="-122"/>
                <a:cs typeface="Consolas" panose="020B0609020204030204" pitchFamily="49" charset="0"/>
                <a:sym typeface="Calibri"/>
              </a:rPr>
              <a:t> / bit</a:t>
            </a:r>
            <a:endParaRPr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342900" indent="-342900">
              <a:buClr>
                <a:srgbClr val="990000"/>
              </a:buClr>
              <a:buSzPct val="60000"/>
              <a:buFontTx/>
              <a:buChar char="⬛"/>
              <a:defRPr sz="2800">
                <a:latin typeface="Calibri"/>
                <a:ea typeface="Calibri"/>
                <a:cs typeface="Calibri"/>
                <a:sym typeface="Calibri"/>
              </a:defRPr>
            </a:pPr>
            <a:r>
              <a:rPr lang="en-US" sz="2800" dirty="0" err="1">
                <a:latin typeface="Consolas" panose="020B0609020204030204" pitchFamily="49" charset="0"/>
                <a:ea typeface="FangSong" panose="02010609060101010101" pitchFamily="49" charset="-122"/>
                <a:cs typeface="Consolas" panose="020B0609020204030204" pitchFamily="49" charset="0"/>
                <a:sym typeface="Calibri"/>
              </a:rPr>
              <a:t>可以持续保持状态</a:t>
            </a:r>
            <a:endParaRPr sz="2800" dirty="0">
              <a:latin typeface="Consolas" panose="020B0609020204030204" pitchFamily="49" charset="0"/>
              <a:ea typeface="FangSong" panose="02010609060101010101" pitchFamily="49" charset="-122"/>
              <a:cs typeface="Consolas" panose="020B0609020204030204" pitchFamily="49" charset="0"/>
              <a:sym typeface="Calibri"/>
            </a:endParaRPr>
          </a:p>
        </p:txBody>
      </p:sp>
      <p:pic>
        <p:nvPicPr>
          <p:cNvPr id="364" name="Picture 2" descr="Picture 2"/>
          <p:cNvPicPr>
            <a:picLocks noChangeAspect="1"/>
          </p:cNvPicPr>
          <p:nvPr/>
        </p:nvPicPr>
        <p:blipFill>
          <a:blip r:embed="rId1"/>
          <a:stretch>
            <a:fillRect/>
          </a:stretch>
        </p:blipFill>
        <p:spPr>
          <a:xfrm>
            <a:off x="2624390" y="1654491"/>
            <a:ext cx="2562340" cy="1774509"/>
          </a:xfrm>
          <a:prstGeom prst="rect">
            <a:avLst/>
          </a:prstGeom>
          <a:ln w="12700">
            <a:miter lim="400000"/>
            <a:headEnd/>
            <a:tailEnd/>
          </a:ln>
        </p:spPr>
      </p:pic>
      <p:pic>
        <p:nvPicPr>
          <p:cNvPr id="365" name="Picture 6" descr="Picture 6"/>
          <p:cNvPicPr>
            <a:picLocks noChangeAspect="1"/>
          </p:cNvPicPr>
          <p:nvPr/>
        </p:nvPicPr>
        <p:blipFill>
          <a:blip r:embed="rId2"/>
          <a:stretch>
            <a:fillRect/>
          </a:stretch>
        </p:blipFill>
        <p:spPr>
          <a:xfrm>
            <a:off x="7786671" y="2086145"/>
            <a:ext cx="1550819" cy="1342855"/>
          </a:xfrm>
          <a:prstGeom prst="rect">
            <a:avLst/>
          </a:prstGeom>
          <a:ln w="12700">
            <a:miter lim="400000"/>
            <a:headEnd/>
            <a:tailEnd/>
          </a:ln>
        </p:spPr>
      </p:pic>
      <p:sp>
        <p:nvSpPr>
          <p:cNvPr id="2" name="Rectangle 1028"/>
          <p:cNvSpPr txBox="1"/>
          <p:nvPr/>
        </p:nvSpPr>
        <p:spPr>
          <a:xfrm>
            <a:off x="1881018" y="435679"/>
            <a:ext cx="7592095" cy="762001"/>
          </a:xfrm>
          <a:prstGeom prst="rect">
            <a:avLst/>
          </a:prstGeom>
          <a:ln w="12700">
            <a:miter lim="400000"/>
          </a:ln>
        </p:spPr>
        <p:txBody>
          <a:bodyPr lIns="45719" rIns="45719" anchor="ctr">
            <a:normAutofit/>
          </a:bodyPr>
          <a:lstStyle>
            <a:lvl1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a:lstStyle>
          <a:p>
            <a:pPr hangingPunct="1"/>
            <a:r>
              <a:rPr lang="en-US" dirty="0">
                <a:latin typeface="Consolas" panose="020B0609020204030204" pitchFamily="49" charset="0"/>
                <a:ea typeface="FangSong" panose="02010609060101010101" pitchFamily="49" charset="-122"/>
                <a:cs typeface="Consolas" panose="020B0609020204030204" pitchFamily="49" charset="0"/>
              </a:rPr>
              <a:t>RAM</a:t>
            </a:r>
            <a:r>
              <a:rPr lang="zh-CN" altLang="en-US" dirty="0">
                <a:latin typeface="Consolas" panose="020B0609020204030204" pitchFamily="49" charset="0"/>
                <a:ea typeface="FangSong" panose="02010609060101010101" pitchFamily="49" charset="-122"/>
                <a:cs typeface="Consolas" panose="020B0609020204030204" pitchFamily="49" charset="0"/>
              </a:rPr>
              <a:t> 技术</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3" name="Slide Number Placeholder 2"/>
          <p:cNvSpPr>
            <a:spLocks noGrp="1"/>
          </p:cNvSpPr>
          <p:nvPr>
            <p:ph type="sldNum" sz="quarter" idx="2"/>
          </p:nvPr>
        </p:nvSpPr>
        <p:spPr>
          <a:xfrm>
            <a:off x="11573163" y="6458109"/>
            <a:ext cx="288290" cy="306705"/>
          </a:xfrm>
        </p:spPr>
        <p:txBody>
          <a:bodyPr/>
          <a:p>
            <a:r>
              <a:t>*</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Rectangle 1030"/>
          <p:cNvSpPr txBox="1">
            <a:spLocks noGrp="1"/>
          </p:cNvSpPr>
          <p:nvPr>
            <p:ph type="title"/>
          </p:nvPr>
        </p:nvSpPr>
        <p:spPr>
          <a:xfrm>
            <a:off x="1881018" y="435679"/>
            <a:ext cx="7592095" cy="762001"/>
          </a:xfrm>
          <a:prstGeom prst="rect">
            <a:avLst/>
          </a:prstGeom>
        </p:spPr>
        <p:txBody>
          <a:bodyPr/>
          <a:lstStyle/>
          <a:p>
            <a:r>
              <a:rPr dirty="0">
                <a:latin typeface="Consolas" panose="020B0609020204030204" pitchFamily="49" charset="0"/>
                <a:ea typeface="FangSong" panose="02010609060101010101" pitchFamily="49" charset="-122"/>
                <a:cs typeface="Consolas" panose="020B0609020204030204" pitchFamily="49" charset="0"/>
              </a:rPr>
              <a:t>SRAM vs DRAM </a:t>
            </a:r>
            <a:r>
              <a:rPr lang="en-US" dirty="0" err="1">
                <a:latin typeface="Consolas" panose="020B0609020204030204" pitchFamily="49" charset="0"/>
                <a:ea typeface="FangSong" panose="02010609060101010101" pitchFamily="49" charset="-122"/>
                <a:cs typeface="Consolas" panose="020B0609020204030204" pitchFamily="49" charset="0"/>
              </a:rPr>
              <a:t>小结</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69" name="Content Placeholder 2"/>
          <p:cNvSpPr txBox="1">
            <a:spLocks noGrp="1"/>
          </p:cNvSpPr>
          <p:nvPr>
            <p:ph type="body" sz="half" idx="1"/>
          </p:nvPr>
        </p:nvSpPr>
        <p:spPr>
          <a:xfrm>
            <a:off x="1920876" y="4012708"/>
            <a:ext cx="7896225" cy="2321419"/>
          </a:xfrm>
          <a:prstGeom prst="rect">
            <a:avLst/>
          </a:prstGeom>
        </p:spPr>
        <p:txBody>
          <a:bodyPr>
            <a:normAutofit/>
          </a:bodyPr>
          <a:lstStyle/>
          <a:p>
            <a:r>
              <a:rPr lang="en-US" dirty="0" err="1">
                <a:latin typeface="Consolas" panose="020B0609020204030204" pitchFamily="49" charset="0"/>
                <a:ea typeface="FangSong" panose="02010609060101010101" pitchFamily="49" charset="-122"/>
                <a:cs typeface="Consolas" panose="020B0609020204030204" pitchFamily="49" charset="0"/>
              </a:rPr>
              <a:t>趋势</a:t>
            </a:r>
            <a:endParaRPr lang="en-US"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pPr>
            <a:r>
              <a:rPr lang="en-US" dirty="0">
                <a:latin typeface="Consolas" panose="020B0609020204030204" pitchFamily="49" charset="0"/>
                <a:ea typeface="FangSong" panose="02010609060101010101" pitchFamily="49" charset="-122"/>
                <a:cs typeface="Consolas" panose="020B0609020204030204" pitchFamily="49" charset="0"/>
              </a:rPr>
              <a:t>SRAM </a:t>
            </a:r>
            <a:r>
              <a:rPr lang="en-US" dirty="0" err="1">
                <a:latin typeface="Consolas" panose="020B0609020204030204" pitchFamily="49" charset="0"/>
                <a:ea typeface="FangSong" panose="02010609060101010101" pitchFamily="49" charset="-122"/>
                <a:cs typeface="Consolas" panose="020B0609020204030204" pitchFamily="49" charset="0"/>
              </a:rPr>
              <a:t>的尺寸</a:t>
            </a:r>
            <a:r>
              <a:rPr lang="zh-CN" altLang="en-US" sz="2000" b="0" dirty="0">
                <a:latin typeface="Consolas" panose="020B0609020204030204" pitchFamily="49" charset="0"/>
                <a:ea typeface="FangSong" panose="02010609060101010101" pitchFamily="49" charset="-122"/>
                <a:cs typeface="Consolas" panose="020B0609020204030204" pitchFamily="49" charset="0"/>
              </a:rPr>
              <a:t>随半导体工艺技术的发展而变小</a:t>
            </a:r>
            <a:endParaRPr lang="en-US" dirty="0">
              <a:latin typeface="Consolas" panose="020B0609020204030204" pitchFamily="49" charset="0"/>
              <a:ea typeface="FangSong" panose="02010609060101010101" pitchFamily="49" charset="-122"/>
              <a:cs typeface="Consolas" panose="020B0609020204030204" pitchFamily="49" charset="0"/>
            </a:endParaRPr>
          </a:p>
          <a:p>
            <a:pPr marL="1143000" lvl="2" indent="-228600">
              <a:spcBef>
                <a:spcPts val="400"/>
              </a:spcBef>
              <a:buClrTx/>
              <a:defRPr sz="2000" b="0"/>
            </a:pPr>
            <a:r>
              <a:rPr lang="en-US" dirty="0" err="1">
                <a:latin typeface="Consolas" panose="020B0609020204030204" pitchFamily="49" charset="0"/>
                <a:ea typeface="FangSong" panose="02010609060101010101" pitchFamily="49" charset="-122"/>
                <a:cs typeface="Consolas" panose="020B0609020204030204" pitchFamily="49" charset="0"/>
              </a:rPr>
              <a:t>正在接近极限</a:t>
            </a:r>
            <a:endParaRPr dirty="0">
              <a:latin typeface="Consolas" panose="020B0609020204030204" pitchFamily="49" charset="0"/>
              <a:ea typeface="FangSong" panose="02010609060101010101" pitchFamily="49" charset="-122"/>
              <a:cs typeface="Consolas" panose="020B0609020204030204" pitchFamily="49" charset="0"/>
            </a:endParaRPr>
          </a:p>
          <a:p>
            <a:pPr marL="742950" lvl="1" indent="-285750">
              <a:spcBef>
                <a:spcPts val="400"/>
              </a:spcBef>
              <a:defRPr sz="2000" b="0"/>
            </a:pPr>
            <a:r>
              <a:rPr dirty="0">
                <a:latin typeface="Consolas" panose="020B0609020204030204" pitchFamily="49" charset="0"/>
                <a:ea typeface="FangSong" panose="02010609060101010101" pitchFamily="49" charset="-122"/>
                <a:cs typeface="Consolas" panose="020B0609020204030204" pitchFamily="49" charset="0"/>
              </a:rPr>
              <a:t>DRAM </a:t>
            </a:r>
            <a:r>
              <a:rPr lang="zh-CN" altLang="en-US" sz="2000" b="0" dirty="0">
                <a:latin typeface="Consolas" panose="020B0609020204030204" pitchFamily="49" charset="0"/>
                <a:ea typeface="FangSong" panose="02010609060101010101" pitchFamily="49" charset="-122"/>
                <a:cs typeface="Consolas" panose="020B0609020204030204" pitchFamily="49" charset="0"/>
              </a:rPr>
              <a:t>的尺寸受限于对最小电容值的需求。</a:t>
            </a:r>
            <a:endParaRPr dirty="0">
              <a:latin typeface="Consolas" panose="020B0609020204030204" pitchFamily="49" charset="0"/>
              <a:ea typeface="FangSong" panose="02010609060101010101" pitchFamily="49" charset="-122"/>
              <a:cs typeface="Consolas" panose="020B0609020204030204" pitchFamily="49" charset="0"/>
            </a:endParaRPr>
          </a:p>
          <a:p>
            <a:pPr marL="1143000" lvl="2" indent="-228600">
              <a:spcBef>
                <a:spcPts val="400"/>
              </a:spcBef>
              <a:buClrTx/>
              <a:defRPr sz="2000" b="0"/>
            </a:pPr>
            <a:r>
              <a:rPr lang="zh-CN" altLang="en-US" sz="2000" b="0" dirty="0">
                <a:latin typeface="Consolas" panose="020B0609020204030204" pitchFamily="49" charset="0"/>
                <a:ea typeface="FangSong" panose="02010609060101010101" pitchFamily="49" charset="-122"/>
                <a:cs typeface="Consolas" panose="020B0609020204030204" pitchFamily="49" charset="0"/>
              </a:rPr>
              <a:t>深宽比（</a:t>
            </a:r>
            <a:r>
              <a:rPr lang="en-US" sz="2000" dirty="0">
                <a:latin typeface="Consolas" panose="020B0609020204030204" pitchFamily="49" charset="0"/>
                <a:ea typeface="FangSong" panose="02010609060101010101" pitchFamily="49" charset="-122"/>
                <a:cs typeface="Consolas" panose="020B0609020204030204" pitchFamily="49" charset="0"/>
              </a:rPr>
              <a:t>Aspect Ratio</a:t>
            </a:r>
            <a:r>
              <a:rPr lang="zh-CN" altLang="en-US" sz="2000" b="0" dirty="0">
                <a:latin typeface="Consolas" panose="020B0609020204030204" pitchFamily="49" charset="0"/>
                <a:ea typeface="FangSong" panose="02010609060101010101" pitchFamily="49" charset="-122"/>
                <a:cs typeface="Consolas" panose="020B0609020204030204" pitchFamily="49" charset="0"/>
              </a:rPr>
              <a:t>）限制了电容所能制作的深度</a:t>
            </a:r>
            <a:endParaRPr dirty="0">
              <a:latin typeface="Consolas" panose="020B0609020204030204" pitchFamily="49" charset="0"/>
              <a:ea typeface="FangSong" panose="02010609060101010101" pitchFamily="49" charset="-122"/>
              <a:cs typeface="Consolas" panose="020B0609020204030204" pitchFamily="49" charset="0"/>
            </a:endParaRPr>
          </a:p>
          <a:p>
            <a:pPr marL="1143000" lvl="2" indent="-228600">
              <a:spcBef>
                <a:spcPts val="400"/>
              </a:spcBef>
              <a:buClrTx/>
              <a:defRPr sz="2000" b="0"/>
            </a:pPr>
            <a:r>
              <a:rPr lang="zh-CN" altLang="en-US" sz="2000" b="0" dirty="0">
                <a:latin typeface="Consolas" panose="020B0609020204030204" pitchFamily="49" charset="0"/>
                <a:ea typeface="FangSong" panose="02010609060101010101" pitchFamily="49" charset="-122"/>
                <a:cs typeface="Consolas" panose="020B0609020204030204" pitchFamily="49" charset="0"/>
              </a:rPr>
              <a:t>这一方法也正逼近其极限</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370" name="Text Box 1028"/>
          <p:cNvSpPr txBox="1"/>
          <p:nvPr/>
        </p:nvSpPr>
        <p:spPr>
          <a:xfrm>
            <a:off x="1263502" y="1197679"/>
            <a:ext cx="9664995" cy="1938020"/>
          </a:xfrm>
          <a:prstGeom prst="rect">
            <a:avLst/>
          </a:prstGeom>
          <a:ln w="25400">
            <a:solidFill>
              <a:srgbClr val="000000"/>
            </a:solidFill>
            <a:miter/>
          </a:ln>
        </p:spPr>
        <p:txBody>
          <a:bodyPr wrap="square" lIns="45719" rIns="45719">
            <a:spAutoFit/>
          </a:bodyPr>
          <a:lstStyle/>
          <a:p>
            <a:pPr>
              <a:defRPr sz="2000" b="0">
                <a:latin typeface="Calibri"/>
                <a:ea typeface="Calibri"/>
                <a:cs typeface="Calibri"/>
                <a:sym typeface="Calibri"/>
              </a:defRPr>
            </a:pPr>
            <a:r>
              <a:rPr sz="2000" dirty="0">
                <a:latin typeface="Consolas" panose="020B0609020204030204" pitchFamily="49" charset="0"/>
                <a:ea typeface="FangSong" panose="02010609060101010101" pitchFamily="49" charset="-122"/>
                <a:cs typeface="Consolas" panose="020B0609020204030204" pitchFamily="49" charset="0"/>
              </a:rPr>
              <a:t>	Trans.	</a:t>
            </a:r>
            <a:r>
              <a:rPr lang="en-US" sz="2000" dirty="0">
                <a:latin typeface="Consolas" panose="020B0609020204030204" pitchFamily="49" charset="0"/>
                <a:ea typeface="FangSong" panose="02010609060101010101" pitchFamily="49" charset="-122"/>
                <a:cs typeface="Consolas" panose="020B0609020204030204" pitchFamily="49" charset="0"/>
              </a:rPr>
              <a:t>	</a:t>
            </a:r>
            <a:r>
              <a:rPr sz="2000" dirty="0">
                <a:latin typeface="Consolas" panose="020B0609020204030204" pitchFamily="49" charset="0"/>
                <a:ea typeface="FangSong" panose="02010609060101010101" pitchFamily="49" charset="-122"/>
                <a:cs typeface="Consolas" panose="020B0609020204030204" pitchFamily="49" charset="0"/>
              </a:rPr>
              <a:t>Access	Needs	</a:t>
            </a:r>
            <a:r>
              <a:rPr lang="en-US" sz="2000" dirty="0">
                <a:latin typeface="Consolas" panose="020B0609020204030204" pitchFamily="49" charset="0"/>
                <a:ea typeface="FangSong" panose="02010609060101010101" pitchFamily="49" charset="-122"/>
                <a:cs typeface="Consolas" panose="020B0609020204030204" pitchFamily="49" charset="0"/>
              </a:rPr>
              <a:t>	</a:t>
            </a:r>
            <a:r>
              <a:rPr sz="2000" dirty="0">
                <a:latin typeface="Consolas" panose="020B0609020204030204" pitchFamily="49" charset="0"/>
                <a:ea typeface="FangSong" panose="02010609060101010101" pitchFamily="49" charset="-122"/>
                <a:cs typeface="Consolas" panose="020B0609020204030204" pitchFamily="49" charset="0"/>
              </a:rPr>
              <a:t>Needs		</a:t>
            </a:r>
            <a:endParaRPr sz="2000" dirty="0">
              <a:latin typeface="Consolas" panose="020B0609020204030204" pitchFamily="49" charset="0"/>
              <a:ea typeface="FangSong" panose="02010609060101010101" pitchFamily="49" charset="-122"/>
              <a:cs typeface="Consolas" panose="020B0609020204030204" pitchFamily="49" charset="0"/>
            </a:endParaRPr>
          </a:p>
          <a:p>
            <a:pPr>
              <a:defRPr sz="2000">
                <a:latin typeface="Calibri"/>
                <a:ea typeface="Calibri"/>
                <a:cs typeface="Calibri"/>
                <a:sym typeface="Calibri"/>
              </a:defRPr>
            </a:pPr>
            <a:r>
              <a:rPr sz="2000" dirty="0">
                <a:latin typeface="Consolas" panose="020B0609020204030204" pitchFamily="49" charset="0"/>
                <a:ea typeface="FangSong" panose="02010609060101010101" pitchFamily="49" charset="-122"/>
                <a:cs typeface="Consolas" panose="020B0609020204030204" pitchFamily="49" charset="0"/>
              </a:rPr>
              <a:t>	per bit</a:t>
            </a:r>
            <a:r>
              <a:rPr lang="en-US" sz="2000" dirty="0">
                <a:latin typeface="Consolas" panose="020B0609020204030204" pitchFamily="49" charset="0"/>
                <a:ea typeface="FangSong" panose="02010609060101010101" pitchFamily="49" charset="-122"/>
                <a:cs typeface="Consolas" panose="020B0609020204030204" pitchFamily="49" charset="0"/>
              </a:rPr>
              <a:t>		</a:t>
            </a:r>
            <a:r>
              <a:rPr sz="2000" dirty="0">
                <a:latin typeface="Consolas" panose="020B0609020204030204" pitchFamily="49" charset="0"/>
                <a:ea typeface="FangSong" panose="02010609060101010101" pitchFamily="49" charset="-122"/>
                <a:cs typeface="Consolas" panose="020B0609020204030204" pitchFamily="49" charset="0"/>
              </a:rPr>
              <a:t>time	refresh?	EDC?	Cost	</a:t>
            </a:r>
            <a:r>
              <a:rPr lang="zh-CN" sz="2000" dirty="0">
                <a:latin typeface="Consolas" panose="020B0609020204030204" pitchFamily="49" charset="0"/>
                <a:ea typeface="FangSong" panose="02010609060101010101" pitchFamily="49" charset="-122"/>
                <a:cs typeface="Consolas" panose="020B0609020204030204" pitchFamily="49" charset="0"/>
              </a:rPr>
              <a:t>应用领域</a:t>
            </a:r>
            <a:endParaRPr sz="2000" dirty="0">
              <a:latin typeface="Consolas" panose="020B0609020204030204" pitchFamily="49" charset="0"/>
              <a:ea typeface="FangSong" panose="02010609060101010101" pitchFamily="49" charset="-122"/>
              <a:cs typeface="Consolas" panose="020B0609020204030204" pitchFamily="49" charset="0"/>
            </a:endParaRPr>
          </a:p>
          <a:p>
            <a:pPr>
              <a:defRPr sz="2000" b="0">
                <a:latin typeface="Calibri"/>
                <a:ea typeface="Calibri"/>
                <a:cs typeface="Calibri"/>
                <a:sym typeface="Calibri"/>
              </a:defRPr>
            </a:pPr>
            <a:endParaRPr sz="2000" dirty="0">
              <a:latin typeface="Consolas" panose="020B0609020204030204" pitchFamily="49" charset="0"/>
              <a:ea typeface="FangSong" panose="02010609060101010101" pitchFamily="49" charset="-122"/>
              <a:cs typeface="Consolas" panose="020B0609020204030204" pitchFamily="49" charset="0"/>
            </a:endParaRPr>
          </a:p>
          <a:p>
            <a:pPr>
              <a:defRPr sz="2000" b="0">
                <a:latin typeface="Calibri"/>
                <a:ea typeface="Calibri"/>
                <a:cs typeface="Calibri"/>
                <a:sym typeface="Calibri"/>
              </a:defRPr>
            </a:pPr>
            <a:r>
              <a:rPr sz="2000" dirty="0">
                <a:latin typeface="Consolas" panose="020B0609020204030204" pitchFamily="49" charset="0"/>
                <a:ea typeface="FangSong" panose="02010609060101010101" pitchFamily="49" charset="-122"/>
                <a:cs typeface="Consolas" panose="020B0609020204030204" pitchFamily="49" charset="0"/>
              </a:rPr>
              <a:t>SRAM	6 or 8	</a:t>
            </a:r>
            <a:r>
              <a:rPr lang="en-US" sz="2000" dirty="0">
                <a:latin typeface="Consolas" panose="020B0609020204030204" pitchFamily="49" charset="0"/>
                <a:ea typeface="FangSong" panose="02010609060101010101" pitchFamily="49" charset="-122"/>
                <a:cs typeface="Consolas" panose="020B0609020204030204" pitchFamily="49" charset="0"/>
              </a:rPr>
              <a:t>	</a:t>
            </a:r>
            <a:r>
              <a:rPr sz="2000" dirty="0">
                <a:latin typeface="Consolas" panose="020B0609020204030204" pitchFamily="49" charset="0"/>
                <a:ea typeface="FangSong" panose="02010609060101010101" pitchFamily="49" charset="-122"/>
                <a:cs typeface="Consolas" panose="020B0609020204030204" pitchFamily="49" charset="0"/>
              </a:rPr>
              <a:t>1x	No	</a:t>
            </a:r>
            <a:r>
              <a:rPr lang="en-US" sz="2000" dirty="0">
                <a:latin typeface="Consolas" panose="020B0609020204030204" pitchFamily="49" charset="0"/>
                <a:ea typeface="FangSong" panose="02010609060101010101" pitchFamily="49" charset="-122"/>
                <a:cs typeface="Consolas" panose="020B0609020204030204" pitchFamily="49" charset="0"/>
              </a:rPr>
              <a:t>	</a:t>
            </a:r>
            <a:r>
              <a:rPr sz="2000" dirty="0">
                <a:latin typeface="Consolas" panose="020B0609020204030204" pitchFamily="49" charset="0"/>
                <a:ea typeface="FangSong" panose="02010609060101010101" pitchFamily="49" charset="-122"/>
                <a:cs typeface="Consolas" panose="020B0609020204030204" pitchFamily="49" charset="0"/>
              </a:rPr>
              <a:t>Maybe	100x	</a:t>
            </a:r>
            <a:r>
              <a:rPr lang="zh-CN" sz="2000" dirty="0">
                <a:latin typeface="Consolas" panose="020B0609020204030204" pitchFamily="49" charset="0"/>
                <a:ea typeface="FangSong" panose="02010609060101010101" pitchFamily="49" charset="-122"/>
                <a:cs typeface="Consolas" panose="020B0609020204030204" pitchFamily="49" charset="0"/>
              </a:rPr>
              <a:t>缓存</a:t>
            </a:r>
            <a:endParaRPr sz="2000" dirty="0">
              <a:latin typeface="Consolas" panose="020B0609020204030204" pitchFamily="49" charset="0"/>
              <a:ea typeface="FangSong" panose="02010609060101010101" pitchFamily="49" charset="-122"/>
              <a:cs typeface="Consolas" panose="020B0609020204030204" pitchFamily="49" charset="0"/>
            </a:endParaRPr>
          </a:p>
          <a:p>
            <a:pPr>
              <a:defRPr sz="2000" b="0">
                <a:latin typeface="Calibri"/>
                <a:ea typeface="Calibri"/>
                <a:cs typeface="Calibri"/>
                <a:sym typeface="Calibri"/>
              </a:defRPr>
            </a:pPr>
            <a:endParaRPr sz="2000" dirty="0">
              <a:latin typeface="Consolas" panose="020B0609020204030204" pitchFamily="49" charset="0"/>
              <a:ea typeface="FangSong" panose="02010609060101010101" pitchFamily="49" charset="-122"/>
              <a:cs typeface="Consolas" panose="020B0609020204030204" pitchFamily="49" charset="0"/>
            </a:endParaRPr>
          </a:p>
          <a:p>
            <a:pPr>
              <a:defRPr sz="2000" b="0">
                <a:latin typeface="Calibri"/>
                <a:ea typeface="Calibri"/>
                <a:cs typeface="Calibri"/>
                <a:sym typeface="Calibri"/>
              </a:defRPr>
            </a:pPr>
            <a:r>
              <a:rPr sz="2000" dirty="0">
                <a:latin typeface="Consolas" panose="020B0609020204030204" pitchFamily="49" charset="0"/>
                <a:ea typeface="FangSong" panose="02010609060101010101" pitchFamily="49" charset="-122"/>
                <a:cs typeface="Consolas" panose="020B0609020204030204" pitchFamily="49" charset="0"/>
              </a:rPr>
              <a:t>DRAM	1	</a:t>
            </a:r>
            <a:r>
              <a:rPr lang="en-US" sz="2000" dirty="0">
                <a:latin typeface="Consolas" panose="020B0609020204030204" pitchFamily="49" charset="0"/>
                <a:ea typeface="FangSong" panose="02010609060101010101" pitchFamily="49" charset="-122"/>
                <a:cs typeface="Consolas" panose="020B0609020204030204" pitchFamily="49" charset="0"/>
              </a:rPr>
              <a:t>	</a:t>
            </a:r>
            <a:r>
              <a:rPr sz="2000" dirty="0">
                <a:latin typeface="Consolas" panose="020B0609020204030204" pitchFamily="49" charset="0"/>
                <a:ea typeface="FangSong" panose="02010609060101010101" pitchFamily="49" charset="-122"/>
                <a:cs typeface="Consolas" panose="020B0609020204030204" pitchFamily="49" charset="0"/>
              </a:rPr>
              <a:t>10x	Yes	</a:t>
            </a:r>
            <a:r>
              <a:rPr lang="en-US" sz="2000" dirty="0">
                <a:latin typeface="Consolas" panose="020B0609020204030204" pitchFamily="49" charset="0"/>
                <a:ea typeface="FangSong" panose="02010609060101010101" pitchFamily="49" charset="-122"/>
                <a:cs typeface="Consolas" panose="020B0609020204030204" pitchFamily="49" charset="0"/>
              </a:rPr>
              <a:t>	</a:t>
            </a:r>
            <a:r>
              <a:rPr sz="2000" dirty="0">
                <a:latin typeface="Consolas" panose="020B0609020204030204" pitchFamily="49" charset="0"/>
                <a:ea typeface="FangSong" panose="02010609060101010101" pitchFamily="49" charset="-122"/>
                <a:cs typeface="Consolas" panose="020B0609020204030204" pitchFamily="49" charset="0"/>
              </a:rPr>
              <a:t>Yes	1x	</a:t>
            </a:r>
            <a:r>
              <a:rPr lang="zh-CN" sz="2000" dirty="0">
                <a:latin typeface="Consolas" panose="020B0609020204030204" pitchFamily="49" charset="0"/>
                <a:ea typeface="FangSong" panose="02010609060101010101" pitchFamily="49" charset="-122"/>
                <a:cs typeface="Consolas" panose="020B0609020204030204" pitchFamily="49" charset="0"/>
              </a:rPr>
              <a:t>内存</a:t>
            </a:r>
            <a:r>
              <a:rPr lang="en-US" altLang="zh-CN" sz="2000" dirty="0">
                <a:latin typeface="Consolas" panose="020B0609020204030204" pitchFamily="49" charset="0"/>
                <a:ea typeface="FangSong" panose="02010609060101010101" pitchFamily="49" charset="-122"/>
                <a:cs typeface="Consolas" panose="020B0609020204030204" pitchFamily="49" charset="0"/>
              </a:rPr>
              <a:t>、</a:t>
            </a:r>
            <a:r>
              <a:rPr lang="zh-CN" altLang="en-US" sz="2000" dirty="0">
                <a:latin typeface="Consolas" panose="020B0609020204030204" pitchFamily="49" charset="0"/>
                <a:ea typeface="FangSong" panose="02010609060101010101" pitchFamily="49" charset="-122"/>
                <a:cs typeface="Consolas" panose="020B0609020204030204" pitchFamily="49" charset="0"/>
              </a:rPr>
              <a:t>帧缓冲区</a:t>
            </a:r>
            <a:endParaRPr sz="2000" dirty="0">
              <a:latin typeface="Consolas" panose="020B0609020204030204" pitchFamily="49" charset="0"/>
              <a:ea typeface="FangSong" panose="02010609060101010101" pitchFamily="49" charset="-122"/>
              <a:cs typeface="Consolas" panose="020B0609020204030204" pitchFamily="49" charset="0"/>
            </a:endParaRPr>
          </a:p>
        </p:txBody>
      </p:sp>
      <p:sp>
        <p:nvSpPr>
          <p:cNvPr id="371" name="TextBox 1"/>
          <p:cNvSpPr txBox="1"/>
          <p:nvPr/>
        </p:nvSpPr>
        <p:spPr>
          <a:xfrm>
            <a:off x="1926739" y="3444447"/>
            <a:ext cx="2341345" cy="369332"/>
          </a:xfrm>
          <a:prstGeom prst="rect">
            <a:avLst/>
          </a:prstGeom>
          <a:ln w="12700">
            <a:miter lim="400000"/>
          </a:ln>
        </p:spPr>
        <p:txBody>
          <a:bodyPr wrap="none" lIns="45719" rIns="45719">
            <a:spAutoFit/>
          </a:bodyPr>
          <a:lstStyle>
            <a:lvl1pPr>
              <a:defRPr sz="1800" b="0">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EDC: </a:t>
            </a:r>
            <a:r>
              <a:rPr lang="en-US" dirty="0" err="1">
                <a:latin typeface="Consolas" panose="020B0609020204030204" pitchFamily="49" charset="0"/>
                <a:ea typeface="FangSong" panose="02010609060101010101" pitchFamily="49" charset="-122"/>
                <a:cs typeface="Consolas" panose="020B0609020204030204" pitchFamily="49" charset="0"/>
              </a:rPr>
              <a:t>错误检测与纠正</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3" name="Content Placeholder 3"/>
          <p:cNvSpPr txBox="1">
            <a:spLocks noGrp="1"/>
          </p:cNvSpPr>
          <p:nvPr>
            <p:ph type="body" sz="half" idx="1"/>
          </p:nvPr>
        </p:nvSpPr>
        <p:spPr>
          <a:xfrm>
            <a:off x="1874503" y="1133181"/>
            <a:ext cx="3871913" cy="5200944"/>
          </a:xfrm>
          <a:prstGeom prst="rect">
            <a:avLst/>
          </a:prstGeom>
        </p:spPr>
        <p:txBody>
          <a:bodyPr>
            <a:normAutofit/>
          </a:bodyPr>
          <a:lstStyle/>
          <a:p>
            <a:pPr>
              <a:buFont typeface="Wingdings" panose="05000000000000000000" pitchFamily="2" charset="2"/>
              <a:buChar char="q"/>
            </a:pPr>
            <a:r>
              <a:rPr lang="en-US" dirty="0" err="1">
                <a:latin typeface="Consolas" panose="020B0609020204030204" pitchFamily="49" charset="0"/>
                <a:ea typeface="FangSong" panose="02010609060101010101" pitchFamily="49" charset="-122"/>
                <a:cs typeface="Consolas" panose="020B0609020204030204" pitchFamily="49" charset="0"/>
              </a:rPr>
              <a:t>磁盘</a:t>
            </a:r>
            <a:endParaRPr lang="en-US" dirty="0">
              <a:latin typeface="Consolas" panose="020B0609020204030204" pitchFamily="49" charset="0"/>
              <a:ea typeface="FangSong" panose="02010609060101010101" pitchFamily="49" charset="-122"/>
              <a:cs typeface="Consolas" panose="020B0609020204030204" pitchFamily="49" charset="0"/>
            </a:endParaRPr>
          </a:p>
          <a:p>
            <a:pPr>
              <a:buFont typeface="Wingdings" panose="05000000000000000000" pitchFamily="2" charset="2"/>
              <a:buChar char="q"/>
            </a:pPr>
            <a:endParaRPr lang="en-US" dirty="0">
              <a:latin typeface="Consolas" panose="020B0609020204030204" pitchFamily="49" charset="0"/>
              <a:ea typeface="FangSong" panose="02010609060101010101" pitchFamily="49" charset="-122"/>
              <a:cs typeface="Consolas" panose="020B0609020204030204" pitchFamily="49" charset="0"/>
            </a:endParaRPr>
          </a:p>
          <a:p>
            <a:pPr>
              <a:buFont typeface="Wingdings" panose="05000000000000000000" pitchFamily="2" charset="2"/>
              <a:buChar char="q"/>
            </a:pPr>
            <a:endParaRPr dirty="0">
              <a:latin typeface="Consolas" panose="020B0609020204030204" pitchFamily="49" charset="0"/>
              <a:ea typeface="FangSong" panose="02010609060101010101" pitchFamily="49" charset="-122"/>
              <a:cs typeface="Consolas" panose="020B0609020204030204" pitchFamily="49" charset="0"/>
            </a:endParaRPr>
          </a:p>
          <a:p>
            <a:pPr>
              <a:buFont typeface="Wingdings" panose="05000000000000000000" pitchFamily="2" charset="2"/>
              <a:buChar char="q"/>
            </a:pPr>
            <a:endParaRPr dirty="0">
              <a:latin typeface="Consolas" panose="020B0609020204030204" pitchFamily="49" charset="0"/>
              <a:ea typeface="FangSong" panose="02010609060101010101" pitchFamily="49" charset="-122"/>
              <a:cs typeface="Consolas" panose="020B0609020204030204" pitchFamily="49" charset="0"/>
            </a:endParaRPr>
          </a:p>
          <a:p>
            <a:pPr>
              <a:buFont typeface="Wingdings" panose="05000000000000000000" pitchFamily="2" charset="2"/>
              <a:buChar char="q"/>
            </a:pPr>
            <a:endParaRPr dirty="0">
              <a:latin typeface="Consolas" panose="020B0609020204030204" pitchFamily="49" charset="0"/>
              <a:ea typeface="FangSong" panose="02010609060101010101" pitchFamily="49" charset="-122"/>
              <a:cs typeface="Consolas" panose="020B0609020204030204" pitchFamily="49" charset="0"/>
            </a:endParaRPr>
          </a:p>
          <a:p>
            <a:pPr>
              <a:buFont typeface="Wingdings" panose="05000000000000000000" pitchFamily="2" charset="2"/>
              <a:buChar char="q"/>
            </a:pPr>
            <a:endParaRPr dirty="0">
              <a:latin typeface="Consolas" panose="020B0609020204030204" pitchFamily="49" charset="0"/>
              <a:ea typeface="FangSong" panose="02010609060101010101" pitchFamily="49" charset="-122"/>
              <a:cs typeface="Consolas" panose="020B0609020204030204" pitchFamily="49" charset="0"/>
            </a:endParaRPr>
          </a:p>
          <a:p>
            <a:pPr>
              <a:buFont typeface="Wingdings" panose="05000000000000000000" pitchFamily="2" charset="2"/>
              <a:buChar char="q"/>
            </a:pPr>
            <a:endParaRPr dirty="0">
              <a:latin typeface="Consolas" panose="020B0609020204030204" pitchFamily="49" charset="0"/>
              <a:ea typeface="FangSong" panose="02010609060101010101" pitchFamily="49" charset="-122"/>
              <a:cs typeface="Consolas" panose="020B0609020204030204" pitchFamily="49" charset="0"/>
            </a:endParaRPr>
          </a:p>
          <a:p>
            <a:pPr>
              <a:buFont typeface="Wingdings" panose="05000000000000000000" pitchFamily="2" charset="2"/>
              <a:buChar char="q"/>
            </a:pPr>
            <a:r>
              <a:rPr lang="en-US" dirty="0" err="1">
                <a:latin typeface="Consolas" panose="020B0609020204030204" pitchFamily="49" charset="0"/>
                <a:ea typeface="FangSong" panose="02010609060101010101" pitchFamily="49" charset="-122"/>
                <a:cs typeface="Consolas" panose="020B0609020204030204" pitchFamily="49" charset="0"/>
              </a:rPr>
              <a:t>存储在磁性介质上</a:t>
            </a:r>
            <a:endParaRPr dirty="0">
              <a:latin typeface="Consolas" panose="020B0609020204030204" pitchFamily="49" charset="0"/>
              <a:ea typeface="FangSong" panose="02010609060101010101" pitchFamily="49" charset="-122"/>
              <a:cs typeface="Consolas" panose="020B0609020204030204" pitchFamily="49" charset="0"/>
            </a:endParaRPr>
          </a:p>
          <a:p>
            <a:pPr>
              <a:buFont typeface="Wingdings" panose="05000000000000000000" pitchFamily="2" charset="2"/>
              <a:buChar char="q"/>
            </a:pPr>
            <a:r>
              <a:rPr lang="en-US" dirty="0" err="1">
                <a:latin typeface="Consolas" panose="020B0609020204030204" pitchFamily="49" charset="0"/>
                <a:ea typeface="FangSong" panose="02010609060101010101" pitchFamily="49" charset="-122"/>
                <a:cs typeface="Consolas" panose="020B0609020204030204" pitchFamily="49" charset="0"/>
              </a:rPr>
              <a:t>机电式访问</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274" name="Content Placeholder 4"/>
          <p:cNvSpPr txBox="1"/>
          <p:nvPr/>
        </p:nvSpPr>
        <p:spPr>
          <a:xfrm>
            <a:off x="5944535" y="1065320"/>
            <a:ext cx="5069365" cy="5268807"/>
          </a:xfrm>
          <a:prstGeom prst="rect">
            <a:avLst/>
          </a:prstGeom>
          <a:ln w="12700">
            <a:miter lim="400000"/>
          </a:ln>
        </p:spPr>
        <p:txBody>
          <a:bodyPr lIns="45719" rIns="45719">
            <a:normAutofit fontScale="92500"/>
          </a:bodyPr>
          <a:lstStyle/>
          <a:p>
            <a:pPr marL="457200"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r>
              <a:rPr lang="en-US" sz="2800" dirty="0" err="1">
                <a:latin typeface="Consolas" panose="020B0609020204030204" pitchFamily="49" charset="0"/>
                <a:ea typeface="FangSong" panose="02010609060101010101" pitchFamily="49" charset="-122"/>
                <a:cs typeface="Consolas" panose="020B0609020204030204" pitchFamily="49" charset="0"/>
                <a:sym typeface="Calibri"/>
              </a:rPr>
              <a:t>非易失</a:t>
            </a:r>
            <a:r>
              <a:rPr sz="2800" dirty="0">
                <a:latin typeface="Consolas" panose="020B0609020204030204" pitchFamily="49" charset="0"/>
                <a:ea typeface="FangSong" panose="02010609060101010101" pitchFamily="49" charset="-122"/>
                <a:cs typeface="Consolas" panose="020B0609020204030204" pitchFamily="49" charset="0"/>
                <a:sym typeface="Calibri"/>
              </a:rPr>
              <a:t> (Flash) </a:t>
            </a:r>
            <a:r>
              <a:rPr lang="en-US" sz="2800" dirty="0" err="1">
                <a:latin typeface="Consolas" panose="020B0609020204030204" pitchFamily="49" charset="0"/>
                <a:ea typeface="FangSong" panose="02010609060101010101" pitchFamily="49" charset="-122"/>
                <a:cs typeface="Consolas" panose="020B0609020204030204" pitchFamily="49" charset="0"/>
                <a:sym typeface="Calibri"/>
              </a:rPr>
              <a:t>存储器</a:t>
            </a:r>
            <a:endParaRPr lang="en-US"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r>
              <a:rPr lang="zh-CN" altLang="en-US" sz="2800" dirty="0">
                <a:latin typeface="Consolas" panose="020B0609020204030204" pitchFamily="49" charset="0"/>
                <a:ea typeface="FangSong" panose="02010609060101010101" pitchFamily="49" charset="-122"/>
                <a:cs typeface="Consolas" panose="020B0609020204030204" pitchFamily="49" charset="0"/>
                <a:sym typeface="Calibri"/>
              </a:rPr>
              <a:t>以持久性电荷形式存储</a:t>
            </a: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lvl="8"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r>
              <a:rPr lang="zh-CN" altLang="en-US" sz="2800" dirty="0">
                <a:latin typeface="Consolas" panose="020B0609020204030204" pitchFamily="49" charset="0"/>
                <a:ea typeface="FangSong" panose="02010609060101010101" pitchFamily="49" charset="-122"/>
                <a:cs typeface="Consolas" panose="020B0609020204030204" pitchFamily="49" charset="0"/>
                <a:sym typeface="Calibri"/>
              </a:rPr>
              <a:t>采用 </a:t>
            </a:r>
            <a:r>
              <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rPr>
              <a:t>3</a:t>
            </a:r>
            <a:r>
              <a:rPr lang="en-US" sz="2800" dirty="0">
                <a:latin typeface="Consolas" panose="020B0609020204030204" pitchFamily="49" charset="0"/>
                <a:ea typeface="FangSong" panose="02010609060101010101" pitchFamily="49" charset="-122"/>
                <a:cs typeface="Consolas" panose="020B0609020204030204" pitchFamily="49" charset="0"/>
                <a:sym typeface="Calibri"/>
              </a:rPr>
              <a:t>D</a:t>
            </a:r>
            <a:r>
              <a:rPr lang="zh-CN" altLang="en-US" sz="2800" dirty="0">
                <a:latin typeface="Consolas" panose="020B0609020204030204" pitchFamily="49" charset="0"/>
                <a:ea typeface="FangSong" panose="02010609060101010101" pitchFamily="49" charset="-122"/>
                <a:cs typeface="Consolas" panose="020B0609020204030204" pitchFamily="49" charset="0"/>
                <a:sym typeface="Calibri"/>
              </a:rPr>
              <a:t> 结构实现</a:t>
            </a: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lvl="8"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r>
              <a:rPr lang="zh-CN" altLang="en-US" sz="2800" dirty="0">
                <a:latin typeface="Consolas" panose="020B0609020204030204" pitchFamily="49" charset="0"/>
                <a:ea typeface="FangSong" panose="02010609060101010101" pitchFamily="49" charset="-122"/>
                <a:cs typeface="Consolas" panose="020B0609020204030204" pitchFamily="49" charset="0"/>
                <a:sym typeface="Calibri"/>
              </a:rPr>
              <a:t>包含</a:t>
            </a:r>
            <a:r>
              <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rPr>
              <a:t>100</a:t>
            </a:r>
            <a:r>
              <a:rPr lang="zh-CN" altLang="en-US" sz="2800" dirty="0">
                <a:latin typeface="Consolas" panose="020B0609020204030204" pitchFamily="49" charset="0"/>
                <a:ea typeface="FangSong" panose="02010609060101010101" pitchFamily="49" charset="-122"/>
                <a:cs typeface="Consolas" panose="020B0609020204030204" pitchFamily="49" charset="0"/>
                <a:sym typeface="Calibri"/>
              </a:rPr>
              <a:t>多层存储单元</a:t>
            </a:r>
            <a:endPar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endParaRPr>
          </a:p>
          <a:p>
            <a:pPr marL="457200" lvl="8" indent="-457200">
              <a:spcBef>
                <a:spcPts val="600"/>
              </a:spcBef>
              <a:buClr>
                <a:srgbClr val="990000"/>
              </a:buClr>
              <a:buSzPct val="60000"/>
              <a:buFont typeface="Wingdings" panose="05000000000000000000" pitchFamily="2" charset="2"/>
              <a:buChar char="q"/>
              <a:defRPr sz="2550">
                <a:latin typeface="Calibri"/>
                <a:ea typeface="Calibri"/>
                <a:cs typeface="Calibri"/>
                <a:sym typeface="Calibri"/>
              </a:defRPr>
            </a:pPr>
            <a:r>
              <a:rPr lang="zh-CN" altLang="en-US" sz="2800" dirty="0">
                <a:latin typeface="Consolas" panose="020B0609020204030204" pitchFamily="49" charset="0"/>
                <a:ea typeface="FangSong" panose="02010609060101010101" pitchFamily="49" charset="-122"/>
                <a:cs typeface="Consolas" panose="020B0609020204030204" pitchFamily="49" charset="0"/>
                <a:sym typeface="Calibri"/>
              </a:rPr>
              <a:t>每单元存储 </a:t>
            </a:r>
            <a:r>
              <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rPr>
              <a:t>3</a:t>
            </a:r>
            <a:r>
              <a:rPr lang="zh-CN" altLang="en-US" sz="2800" dirty="0">
                <a:latin typeface="Consolas" panose="020B0609020204030204" pitchFamily="49" charset="0"/>
                <a:ea typeface="FangSong" panose="02010609060101010101" pitchFamily="49" charset="-122"/>
                <a:cs typeface="Consolas" panose="020B0609020204030204" pitchFamily="49" charset="0"/>
                <a:sym typeface="Calibri"/>
              </a:rPr>
              <a:t> 至 </a:t>
            </a:r>
            <a:r>
              <a:rPr lang="en-US" altLang="zh-CN" sz="2800" dirty="0">
                <a:latin typeface="Consolas" panose="020B0609020204030204" pitchFamily="49" charset="0"/>
                <a:ea typeface="FangSong" panose="02010609060101010101" pitchFamily="49" charset="-122"/>
                <a:cs typeface="Consolas" panose="020B0609020204030204" pitchFamily="49" charset="0"/>
                <a:sym typeface="Calibri"/>
              </a:rPr>
              <a:t>4</a:t>
            </a:r>
            <a:r>
              <a:rPr lang="zh-CN" altLang="en-US" sz="2800" dirty="0">
                <a:latin typeface="Consolas" panose="020B0609020204030204" pitchFamily="49" charset="0"/>
                <a:ea typeface="FangSong" panose="02010609060101010101" pitchFamily="49" charset="-122"/>
                <a:cs typeface="Consolas" panose="020B0609020204030204" pitchFamily="49" charset="0"/>
                <a:sym typeface="Calibri"/>
              </a:rPr>
              <a:t> 比特数据</a:t>
            </a:r>
            <a:endParaRPr sz="2800" dirty="0">
              <a:latin typeface="Consolas" panose="020B0609020204030204" pitchFamily="49" charset="0"/>
              <a:ea typeface="FangSong" panose="02010609060101010101" pitchFamily="49" charset="-122"/>
              <a:cs typeface="Consolas" panose="020B0609020204030204" pitchFamily="49" charset="0"/>
              <a:sym typeface="Calibri"/>
            </a:endParaRPr>
          </a:p>
        </p:txBody>
      </p:sp>
      <p:pic>
        <p:nvPicPr>
          <p:cNvPr id="1275" name="Picture 2" descr="Picture 2"/>
          <p:cNvPicPr>
            <a:picLocks noChangeAspect="1"/>
          </p:cNvPicPr>
          <p:nvPr/>
        </p:nvPicPr>
        <p:blipFill>
          <a:blip r:embed="rId1"/>
          <a:srcRect l="11427" t="11632" b="8240"/>
          <a:stretch>
            <a:fillRect/>
          </a:stretch>
        </p:blipFill>
        <p:spPr>
          <a:xfrm>
            <a:off x="2083810" y="1981773"/>
            <a:ext cx="3118837" cy="2016579"/>
          </a:xfrm>
          <a:prstGeom prst="rect">
            <a:avLst/>
          </a:prstGeom>
          <a:ln w="12700">
            <a:miter lim="400000"/>
            <a:headEnd/>
            <a:tailEnd/>
          </a:ln>
        </p:spPr>
      </p:pic>
      <p:pic>
        <p:nvPicPr>
          <p:cNvPr id="1276" name="Picture 2" descr="Picture 2"/>
          <p:cNvPicPr>
            <a:picLocks noChangeAspect="1"/>
          </p:cNvPicPr>
          <p:nvPr/>
        </p:nvPicPr>
        <p:blipFill>
          <a:blip r:embed="rId2"/>
          <a:stretch>
            <a:fillRect/>
          </a:stretch>
        </p:blipFill>
        <p:spPr>
          <a:xfrm>
            <a:off x="6252212" y="1981773"/>
            <a:ext cx="2730390" cy="1885366"/>
          </a:xfrm>
          <a:prstGeom prst="rect">
            <a:avLst/>
          </a:prstGeom>
          <a:ln w="12700">
            <a:miter lim="400000"/>
            <a:headEnd/>
            <a:tailEnd/>
          </a:ln>
        </p:spPr>
      </p:pic>
      <p:sp>
        <p:nvSpPr>
          <p:cNvPr id="2" name="Title 4"/>
          <p:cNvSpPr txBox="1"/>
          <p:nvPr/>
        </p:nvSpPr>
        <p:spPr>
          <a:xfrm>
            <a:off x="1881018" y="435679"/>
            <a:ext cx="7592095" cy="762001"/>
          </a:xfrm>
          <a:prstGeom prst="rect">
            <a:avLst/>
          </a:prstGeom>
          <a:ln w="12700">
            <a:miter lim="400000"/>
          </a:ln>
        </p:spPr>
        <p:txBody>
          <a:bodyPr lIns="45719" rIns="45719" anchor="ctr">
            <a:normAutofit/>
          </a:bodyPr>
          <a:lstStyle>
            <a:lvl1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a:lstStyle>
          <a:p>
            <a:pPr hangingPunct="1"/>
            <a:r>
              <a:rPr lang="zh-CN" altLang="en-US" dirty="0">
                <a:latin typeface="Consolas" panose="020B0609020204030204" pitchFamily="49" charset="0"/>
                <a:ea typeface="FangSong" panose="02010609060101010101" pitchFamily="49" charset="-122"/>
                <a:cs typeface="Consolas" panose="020B0609020204030204" pitchFamily="49" charset="0"/>
              </a:rPr>
              <a:t>存储技术</a:t>
            </a:r>
            <a:endParaRPr lang="zh-CN" alt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3" name="Slide Number Placeholder 2"/>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9" name="Picture 2" descr="Picture 2"/>
          <p:cNvPicPr>
            <a:picLocks noChangeAspect="1"/>
          </p:cNvPicPr>
          <p:nvPr/>
        </p:nvPicPr>
        <p:blipFill>
          <a:blip r:embed="rId1"/>
          <a:srcRect l="11427" t="11632" b="8240"/>
          <a:stretch>
            <a:fillRect/>
          </a:stretch>
        </p:blipFill>
        <p:spPr>
          <a:xfrm>
            <a:off x="2376759" y="1250022"/>
            <a:ext cx="6496050" cy="4724400"/>
          </a:xfrm>
          <a:prstGeom prst="rect">
            <a:avLst/>
          </a:prstGeom>
          <a:ln w="12700">
            <a:miter lim="400000"/>
            <a:headEnd/>
            <a:tailEnd/>
          </a:ln>
        </p:spPr>
      </p:pic>
      <p:sp>
        <p:nvSpPr>
          <p:cNvPr id="1281" name="Text Box 4"/>
          <p:cNvSpPr txBox="1"/>
          <p:nvPr/>
        </p:nvSpPr>
        <p:spPr>
          <a:xfrm>
            <a:off x="4327479" y="1250023"/>
            <a:ext cx="707884"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主轴</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282" name="Line 5"/>
          <p:cNvSpPr/>
          <p:nvPr/>
        </p:nvSpPr>
        <p:spPr>
          <a:xfrm>
            <a:off x="3138760" y="1783421"/>
            <a:ext cx="1828801" cy="1600202"/>
          </a:xfrm>
          <a:prstGeom prst="line">
            <a:avLst/>
          </a:prstGeom>
          <a:ln w="38100">
            <a:solidFill>
              <a:schemeClr val="accent1"/>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83" name="Text Box 6"/>
          <p:cNvSpPr txBox="1"/>
          <p:nvPr/>
        </p:nvSpPr>
        <p:spPr>
          <a:xfrm>
            <a:off x="2879678" y="1402423"/>
            <a:ext cx="1015661"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机械臂</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286" name="Line 9"/>
          <p:cNvSpPr/>
          <p:nvPr/>
        </p:nvSpPr>
        <p:spPr>
          <a:xfrm flipH="1">
            <a:off x="7177359" y="2012023"/>
            <a:ext cx="914401" cy="609601"/>
          </a:xfrm>
          <a:prstGeom prst="line">
            <a:avLst/>
          </a:prstGeom>
          <a:ln w="38100">
            <a:solidFill>
              <a:schemeClr val="accent1"/>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87" name="Text Box 10"/>
          <p:cNvSpPr txBox="1"/>
          <p:nvPr/>
        </p:nvSpPr>
        <p:spPr>
          <a:xfrm>
            <a:off x="7908880" y="1554823"/>
            <a:ext cx="707884"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盘片</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288" name="Line 11"/>
          <p:cNvSpPr/>
          <p:nvPr/>
        </p:nvSpPr>
        <p:spPr>
          <a:xfrm flipV="1">
            <a:off x="2833960" y="4602822"/>
            <a:ext cx="228601" cy="609601"/>
          </a:xfrm>
          <a:prstGeom prst="line">
            <a:avLst/>
          </a:prstGeom>
          <a:ln w="38100">
            <a:solidFill>
              <a:schemeClr val="accent1"/>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1292" name="AutoShape 12"/>
          <p:cNvGrpSpPr/>
          <p:nvPr/>
        </p:nvGrpSpPr>
        <p:grpSpPr>
          <a:xfrm>
            <a:off x="6207494" y="4755221"/>
            <a:ext cx="1179764" cy="609768"/>
            <a:chOff x="0" y="0"/>
            <a:chExt cx="1179763" cy="609766"/>
          </a:xfrm>
        </p:grpSpPr>
        <p:sp>
          <p:nvSpPr>
            <p:cNvPr id="1289" name="Shape"/>
            <p:cNvSpPr/>
            <p:nvPr/>
          </p:nvSpPr>
          <p:spPr>
            <a:xfrm flipH="1">
              <a:off x="0" y="0"/>
              <a:ext cx="1179764" cy="609767"/>
            </a:xfrm>
            <a:custGeom>
              <a:avLst/>
              <a:gdLst/>
              <a:ahLst/>
              <a:cxnLst>
                <a:cxn ang="0">
                  <a:pos x="wd2" y="hd2"/>
                </a:cxn>
                <a:cxn ang="5400000">
                  <a:pos x="wd2" y="hd2"/>
                </a:cxn>
                <a:cxn ang="10800000">
                  <a:pos x="wd2" y="hd2"/>
                </a:cxn>
                <a:cxn ang="16200000">
                  <a:pos x="wd2" y="hd2"/>
                </a:cxn>
              </a:cxnLst>
              <a:rect l="0" t="0" r="r" b="b"/>
              <a:pathLst>
                <a:path w="21600" h="19173" extrusionOk="0">
                  <a:moveTo>
                    <a:pt x="16485" y="0"/>
                  </a:moveTo>
                  <a:lnTo>
                    <a:pt x="21600" y="6389"/>
                  </a:lnTo>
                  <a:lnTo>
                    <a:pt x="19314" y="6389"/>
                  </a:lnTo>
                  <a:cubicBezTo>
                    <a:pt x="18092" y="16370"/>
                    <a:pt x="14299" y="21600"/>
                    <a:pt x="10843" y="18071"/>
                  </a:cubicBezTo>
                  <a:cubicBezTo>
                    <a:pt x="10499" y="17720"/>
                    <a:pt x="10166" y="17288"/>
                    <a:pt x="9847" y="16779"/>
                  </a:cubicBezTo>
                  <a:cubicBezTo>
                    <a:pt x="11269" y="14511"/>
                    <a:pt x="12355" y="10814"/>
                    <a:pt x="12896" y="6389"/>
                  </a:cubicBezTo>
                  <a:lnTo>
                    <a:pt x="10610" y="6389"/>
                  </a:lnTo>
                  <a:close/>
                  <a:moveTo>
                    <a:pt x="6638" y="19168"/>
                  </a:moveTo>
                  <a:cubicBezTo>
                    <a:pt x="2972" y="19168"/>
                    <a:pt x="0" y="10586"/>
                    <a:pt x="0" y="0"/>
                  </a:cubicBezTo>
                  <a:lnTo>
                    <a:pt x="6418" y="0"/>
                  </a:lnTo>
                  <a:cubicBezTo>
                    <a:pt x="6418" y="10586"/>
                    <a:pt x="9390" y="19168"/>
                    <a:pt x="13056" y="19168"/>
                  </a:cubicBezTo>
                  <a:close/>
                </a:path>
              </a:pathLst>
            </a:custGeom>
            <a:solidFill>
              <a:srgbClr val="CCFFCC"/>
            </a:solidFill>
            <a:ln w="12700" cap="flat">
              <a:noFill/>
              <a:miter lim="400000"/>
            </a:ln>
            <a:effectLst/>
          </p:spPr>
          <p:txBody>
            <a:bodyPr wrap="square" lIns="45719" tIns="45719" rIns="45719" bIns="45719" numCol="1" anchor="ctr">
              <a:noAutofit/>
            </a:bodyP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90" name="Shape"/>
            <p:cNvSpPr/>
            <p:nvPr/>
          </p:nvSpPr>
          <p:spPr>
            <a:xfrm flipH="1">
              <a:off x="466686" y="0"/>
              <a:ext cx="713078" cy="609601"/>
            </a:xfrm>
            <a:custGeom>
              <a:avLst/>
              <a:gdLst/>
              <a:ahLst/>
              <a:cxnLst>
                <a:cxn ang="0">
                  <a:pos x="wd2" y="hd2"/>
                </a:cxn>
                <a:cxn ang="5400000">
                  <a:pos x="wd2" y="hd2"/>
                </a:cxn>
                <a:cxn ang="10800000">
                  <a:pos x="wd2" y="hd2"/>
                </a:cxn>
                <a:cxn ang="16200000">
                  <a:pos x="wd2" y="hd2"/>
                </a:cxn>
              </a:cxnLst>
              <a:rect l="0" t="0" r="r" b="b"/>
              <a:pathLst>
                <a:path w="21600" h="21600" extrusionOk="0">
                  <a:moveTo>
                    <a:pt x="10982" y="21600"/>
                  </a:moveTo>
                  <a:cubicBezTo>
                    <a:pt x="4917" y="21600"/>
                    <a:pt x="0" y="11929"/>
                    <a:pt x="0" y="0"/>
                  </a:cubicBezTo>
                  <a:lnTo>
                    <a:pt x="10618" y="0"/>
                  </a:lnTo>
                  <a:cubicBezTo>
                    <a:pt x="10618" y="11929"/>
                    <a:pt x="15535" y="21600"/>
                    <a:pt x="21600" y="2160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91" name="Line"/>
            <p:cNvSpPr/>
            <p:nvPr/>
          </p:nvSpPr>
          <p:spPr>
            <a:xfrm flipH="1">
              <a:off x="0" y="0"/>
              <a:ext cx="1179764" cy="609601"/>
            </a:xfrm>
            <a:custGeom>
              <a:avLst/>
              <a:gdLst/>
              <a:ahLst/>
              <a:cxnLst>
                <a:cxn ang="0">
                  <a:pos x="wd2" y="hd2"/>
                </a:cxn>
                <a:cxn ang="5400000">
                  <a:pos x="wd2" y="hd2"/>
                </a:cxn>
                <a:cxn ang="10800000">
                  <a:pos x="wd2" y="hd2"/>
                </a:cxn>
                <a:cxn ang="16200000">
                  <a:pos x="wd2" y="hd2"/>
                </a:cxn>
              </a:cxnLst>
              <a:rect l="0" t="0" r="r" b="b"/>
              <a:pathLst>
                <a:path w="21600" h="21600" extrusionOk="0">
                  <a:moveTo>
                    <a:pt x="9847" y="18909"/>
                  </a:moveTo>
                  <a:cubicBezTo>
                    <a:pt x="11270" y="16352"/>
                    <a:pt x="12355" y="12186"/>
                    <a:pt x="12896" y="7200"/>
                  </a:cubicBezTo>
                  <a:lnTo>
                    <a:pt x="10610" y="7200"/>
                  </a:lnTo>
                  <a:lnTo>
                    <a:pt x="16485" y="0"/>
                  </a:lnTo>
                  <a:lnTo>
                    <a:pt x="21600" y="7200"/>
                  </a:lnTo>
                  <a:lnTo>
                    <a:pt x="19314" y="7200"/>
                  </a:lnTo>
                  <a:cubicBezTo>
                    <a:pt x="18376" y="15830"/>
                    <a:pt x="15869" y="21600"/>
                    <a:pt x="13056" y="21600"/>
                  </a:cubicBezTo>
                  <a:lnTo>
                    <a:pt x="6638" y="21600"/>
                  </a:lnTo>
                  <a:cubicBezTo>
                    <a:pt x="2972" y="21600"/>
                    <a:pt x="0" y="11929"/>
                    <a:pt x="0" y="0"/>
                  </a:cubicBezTo>
                  <a:lnTo>
                    <a:pt x="6418" y="0"/>
                  </a:lnTo>
                  <a:cubicBezTo>
                    <a:pt x="6418" y="11929"/>
                    <a:pt x="9390" y="21600"/>
                    <a:pt x="13056" y="21600"/>
                  </a:cubicBezTo>
                </a:path>
              </a:pathLst>
            </a:custGeom>
            <a:noFill/>
            <a:ln w="12700" cap="flat">
              <a:solidFill>
                <a:srgbClr val="000000"/>
              </a:solidFill>
              <a:prstDash val="solid"/>
              <a:miter lim="800000"/>
            </a:ln>
            <a:effectLst/>
          </p:spPr>
          <p:txBody>
            <a:bodyPr wrap="square" lIns="45719" tIns="45719" rIns="45719" bIns="45719" numCol="1" anchor="ctr">
              <a:noAutofit/>
            </a:bodyPr>
            <a:lstStyle/>
            <a:p>
              <a:pPr>
                <a:defRPr>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293" name="Text Box 13"/>
          <p:cNvSpPr txBox="1"/>
          <p:nvPr/>
        </p:nvSpPr>
        <p:spPr>
          <a:xfrm>
            <a:off x="7535122" y="4644523"/>
            <a:ext cx="3477873" cy="830997"/>
          </a:xfrm>
          <a:prstGeom prst="rect">
            <a:avLst/>
          </a:prstGeom>
          <a:ln w="12700">
            <a:miter lim="400000"/>
          </a:ln>
        </p:spPr>
        <p:txBody>
          <a:bodyPr wrap="none" lIns="45719" rIns="45719">
            <a:spAutoFit/>
          </a:bodyPr>
          <a:lstStyle/>
          <a:p>
            <a:pPr algn="ctr">
              <a:defRPr>
                <a:latin typeface="Calibri"/>
                <a:ea typeface="Calibri"/>
                <a:cs typeface="Calibri"/>
                <a:sym typeface="Calibri"/>
              </a:defRPr>
            </a:pPr>
            <a:r>
              <a:rPr lang="zh-CN" altLang="en-US" b="0" dirty="0">
                <a:latin typeface="Consolas" panose="020B0609020204030204" pitchFamily="49" charset="0"/>
                <a:ea typeface="FangSong" panose="02010609060101010101" pitchFamily="49" charset="-122"/>
                <a:cs typeface="Consolas" panose="020B0609020204030204" pitchFamily="49" charset="0"/>
                <a:sym typeface="Calibri"/>
              </a:rPr>
              <a:t>电子器件</a:t>
            </a:r>
            <a:br>
              <a:rPr lang="zh-CN" altLang="en-US" dirty="0">
                <a:latin typeface="Consolas" panose="020B0609020204030204" pitchFamily="49" charset="0"/>
                <a:ea typeface="FangSong" panose="02010609060101010101" pitchFamily="49" charset="-122"/>
                <a:cs typeface="Consolas" panose="020B0609020204030204" pitchFamily="49" charset="0"/>
                <a:sym typeface="Calibri"/>
              </a:rPr>
            </a:br>
            <a:r>
              <a:rPr lang="zh-CN" altLang="en-US" b="0" dirty="0">
                <a:latin typeface="Consolas" panose="020B0609020204030204" pitchFamily="49" charset="0"/>
                <a:ea typeface="FangSong" panose="02010609060101010101" pitchFamily="49" charset="-122"/>
                <a:cs typeface="Consolas" panose="020B0609020204030204" pitchFamily="49" charset="0"/>
                <a:sym typeface="Calibri"/>
              </a:rPr>
              <a:t>（包括处理器和内存！）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294" name="Line 14"/>
          <p:cNvSpPr/>
          <p:nvPr/>
        </p:nvSpPr>
        <p:spPr>
          <a:xfrm>
            <a:off x="4967560" y="1707221"/>
            <a:ext cx="1219201" cy="1066802"/>
          </a:xfrm>
          <a:prstGeom prst="line">
            <a:avLst/>
          </a:prstGeom>
          <a:ln w="38100">
            <a:solidFill>
              <a:schemeClr val="accent1"/>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295" name="Text Box 15"/>
          <p:cNvSpPr txBox="1"/>
          <p:nvPr/>
        </p:nvSpPr>
        <p:spPr>
          <a:xfrm>
            <a:off x="2326131" y="5212422"/>
            <a:ext cx="1015661" cy="830997"/>
          </a:xfrm>
          <a:prstGeom prst="rect">
            <a:avLst/>
          </a:prstGeom>
          <a:ln w="12700">
            <a:miter lim="400000"/>
          </a:ln>
        </p:spPr>
        <p:txBody>
          <a:bodyPr wrap="none" lIns="45719" rIns="45719">
            <a:spAutoFit/>
          </a:bodyPr>
          <a:lstStyle/>
          <a:p>
            <a:pPr algn="ctr">
              <a:defRPr>
                <a:latin typeface="Calibri"/>
                <a:ea typeface="Calibri"/>
                <a:cs typeface="Calibri"/>
                <a:sym typeface="Calibri"/>
              </a:defRPr>
            </a:pPr>
            <a:r>
              <a:rPr dirty="0">
                <a:latin typeface="Consolas" panose="020B0609020204030204" pitchFamily="49" charset="0"/>
                <a:ea typeface="FangSong" panose="02010609060101010101" pitchFamily="49" charset="-122"/>
                <a:cs typeface="Consolas" panose="020B0609020204030204" pitchFamily="49" charset="0"/>
              </a:rPr>
              <a:t>SCSI</a:t>
            </a:r>
            <a:endParaRPr dirty="0">
              <a:latin typeface="Consolas" panose="020B0609020204030204" pitchFamily="49" charset="0"/>
              <a:ea typeface="FangSong" panose="02010609060101010101" pitchFamily="49" charset="-122"/>
              <a:cs typeface="Consolas" panose="020B0609020204030204" pitchFamily="49" charset="0"/>
            </a:endParaRPr>
          </a:p>
          <a:p>
            <a:pPr algn="ctr">
              <a:defRPr>
                <a:latin typeface="Calibri"/>
                <a:ea typeface="Calibri"/>
                <a:cs typeface="Calibri"/>
                <a:sym typeface="Calibri"/>
              </a:defRPr>
            </a:pPr>
            <a:r>
              <a:rPr lang="en-US" dirty="0" err="1">
                <a:latin typeface="Consolas" panose="020B0609020204030204" pitchFamily="49" charset="0"/>
                <a:ea typeface="FangSong" panose="02010609060101010101" pitchFamily="49" charset="-122"/>
                <a:cs typeface="Consolas" panose="020B0609020204030204" pitchFamily="49" charset="0"/>
              </a:rPr>
              <a:t>连接器</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296" name="Text Box 16"/>
          <p:cNvSpPr txBox="1"/>
          <p:nvPr/>
        </p:nvSpPr>
        <p:spPr>
          <a:xfrm>
            <a:off x="6003879" y="6216650"/>
            <a:ext cx="4131898" cy="338554"/>
          </a:xfrm>
          <a:prstGeom prst="rect">
            <a:avLst/>
          </a:prstGeom>
          <a:ln w="12700">
            <a:miter lim="400000"/>
          </a:ln>
        </p:spPr>
        <p:txBody>
          <a:bodyPr wrap="none" lIns="45719" rIns="45719">
            <a:spAutoFit/>
          </a:bodyPr>
          <a:lstStyle>
            <a:lvl1pPr>
              <a:defRPr sz="1600" i="1">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Image courtesy of Seagate Technology</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Rectangle 45"/>
          <p:cNvSpPr txBox="1"/>
          <p:nvPr/>
        </p:nvSpPr>
        <p:spPr>
          <a:xfrm>
            <a:off x="1881018" y="435679"/>
            <a:ext cx="7592095" cy="762001"/>
          </a:xfrm>
          <a:prstGeom prst="rect">
            <a:avLst/>
          </a:prstGeom>
          <a:ln w="12700">
            <a:miter lim="400000"/>
          </a:ln>
        </p:spPr>
        <p:txBody>
          <a:bodyPr lIns="45719" rIns="45719" anchor="ctr">
            <a:normAutofit/>
          </a:bodyPr>
          <a:lstStyle>
            <a:lvl1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a:lstStyle>
          <a:p>
            <a:pPr hangingPunct="1"/>
            <a:r>
              <a:rPr lang="en-US" dirty="0" err="1">
                <a:latin typeface="Consolas" panose="020B0609020204030204" pitchFamily="49" charset="0"/>
                <a:ea typeface="FangSong" panose="02010609060101010101" pitchFamily="49" charset="-122"/>
                <a:cs typeface="Consolas" panose="020B0609020204030204" pitchFamily="49" charset="0"/>
              </a:rPr>
              <a:t>磁盘驱动器内部结构</a:t>
            </a:r>
            <a:endParaRPr lang="en-US" dirty="0"/>
          </a:p>
        </p:txBody>
      </p:sp>
      <p:sp>
        <p:nvSpPr>
          <p:cNvPr id="3" name="Slide Number Placeholder 2"/>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 name="Rectangle 45"/>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磁盘几何结构</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300" name="Rectangle 46"/>
          <p:cNvSpPr txBox="1">
            <a:spLocks noGrp="1"/>
          </p:cNvSpPr>
          <p:nvPr>
            <p:ph type="body" idx="1"/>
          </p:nvPr>
        </p:nvSpPr>
        <p:spPr>
          <a:xfrm>
            <a:off x="986319" y="1371600"/>
            <a:ext cx="10037852" cy="4972050"/>
          </a:xfrm>
          <a:prstGeom prst="rect">
            <a:avLst/>
          </a:prstGeom>
        </p:spPr>
        <p:txBody>
          <a:bodyPr/>
          <a:lstStyle/>
          <a:p>
            <a:r>
              <a:rPr lang="zh-CN" altLang="en-US" dirty="0">
                <a:latin typeface="Consolas" panose="020B0609020204030204" pitchFamily="49" charset="0"/>
                <a:ea typeface="FangSong" panose="02010609060101010101" pitchFamily="49" charset="-122"/>
                <a:cs typeface="Consolas" panose="020B0609020204030204" pitchFamily="49" charset="0"/>
              </a:rPr>
              <a:t>磁盘由多个</a:t>
            </a:r>
            <a:r>
              <a:rPr lang="zh-CN" altLang="en-US" dirty="0">
                <a:solidFill>
                  <a:srgbClr val="FF0000"/>
                </a:solidFill>
                <a:latin typeface="Consolas" panose="020B0609020204030204" pitchFamily="49" charset="0"/>
                <a:ea typeface="FangSong" panose="02010609060101010101" pitchFamily="49" charset="-122"/>
                <a:cs typeface="Consolas" panose="020B0609020204030204" pitchFamily="49" charset="0"/>
              </a:rPr>
              <a:t>盘片</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lang="en-US" dirty="0">
                <a:latin typeface="Consolas" panose="020B0609020204030204" pitchFamily="49" charset="0"/>
                <a:ea typeface="FangSong" panose="02010609060101010101" pitchFamily="49" charset="-122"/>
                <a:cs typeface="Consolas" panose="020B0609020204030204" pitchFamily="49" charset="0"/>
              </a:rPr>
              <a:t>platters）</a:t>
            </a:r>
            <a:r>
              <a:rPr lang="zh-CN" altLang="en-US" dirty="0">
                <a:latin typeface="Consolas" panose="020B0609020204030204" pitchFamily="49" charset="0"/>
                <a:ea typeface="FangSong" panose="02010609060101010101" pitchFamily="49" charset="-122"/>
                <a:cs typeface="Consolas" panose="020B0609020204030204" pitchFamily="49" charset="0"/>
              </a:rPr>
              <a:t>组成，每个盘片有两个</a:t>
            </a:r>
            <a:r>
              <a:rPr lang="zh-CN" altLang="en-US" dirty="0">
                <a:solidFill>
                  <a:srgbClr val="FF0000"/>
                </a:solidFill>
                <a:latin typeface="Consolas" panose="020B0609020204030204" pitchFamily="49" charset="0"/>
                <a:ea typeface="FangSong" panose="02010609060101010101" pitchFamily="49" charset="-122"/>
                <a:cs typeface="Consolas" panose="020B0609020204030204" pitchFamily="49" charset="0"/>
              </a:rPr>
              <a:t>表面</a:t>
            </a:r>
            <a:r>
              <a:rPr lang="zh-CN" altLang="en-US" dirty="0">
                <a:solidFill>
                  <a:schemeClr val="tx1"/>
                </a:solidFill>
                <a:latin typeface="Consolas" panose="020B0609020204030204" pitchFamily="49" charset="0"/>
                <a:ea typeface="FangSong" panose="02010609060101010101" pitchFamily="49" charset="-122"/>
                <a:cs typeface="Consolas" panose="020B0609020204030204" pitchFamily="49" charset="0"/>
              </a:rPr>
              <a:t>（</a:t>
            </a:r>
            <a:r>
              <a:rPr lang="en-US" dirty="0">
                <a:solidFill>
                  <a:schemeClr val="tx1"/>
                </a:solidFill>
                <a:latin typeface="Consolas" panose="020B0609020204030204" pitchFamily="49" charset="0"/>
                <a:ea typeface="FangSong" panose="02010609060101010101" pitchFamily="49" charset="-122"/>
                <a:cs typeface="Consolas" panose="020B0609020204030204" pitchFamily="49" charset="0"/>
              </a:rPr>
              <a:t>surfaces</a:t>
            </a:r>
            <a:r>
              <a:rPr lang="zh-CN" altLang="en-US" dirty="0">
                <a:solidFill>
                  <a:schemeClr val="tx1"/>
                </a:solidFill>
                <a:latin typeface="Consolas" panose="020B0609020204030204" pitchFamily="49" charset="0"/>
                <a:ea typeface="FangSong" panose="02010609060101010101" pitchFamily="49" charset="-122"/>
                <a:cs typeface="Consolas" panose="020B0609020204030204" pitchFamily="49" charset="0"/>
              </a:rPr>
              <a:t>）</a:t>
            </a:r>
            <a:endParaRPr lang="en-US" altLang="zh-CN" dirty="0">
              <a:solidFill>
                <a:schemeClr val="tx1"/>
              </a:solidFill>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每个表面包含若干同心圆环，称为</a:t>
            </a:r>
            <a:r>
              <a:rPr lang="zh-CN" altLang="en-US" dirty="0">
                <a:solidFill>
                  <a:srgbClr val="FF0000"/>
                </a:solidFill>
                <a:latin typeface="Consolas" panose="020B0609020204030204" pitchFamily="49" charset="0"/>
                <a:ea typeface="FangSong" panose="02010609060101010101" pitchFamily="49" charset="-122"/>
                <a:cs typeface="Consolas" panose="020B0609020204030204" pitchFamily="49" charset="0"/>
              </a:rPr>
              <a:t>磁道</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lang="en-US" dirty="0">
                <a:latin typeface="Consolas" panose="020B0609020204030204" pitchFamily="49" charset="0"/>
                <a:ea typeface="FangSong" panose="02010609060101010101" pitchFamily="49" charset="-122"/>
                <a:cs typeface="Consolas" panose="020B0609020204030204" pitchFamily="49" charset="0"/>
              </a:rPr>
              <a:t>tracks）</a:t>
            </a:r>
            <a:endParaRPr lang="en-US" dirty="0">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每条磁道由多个</a:t>
            </a:r>
            <a:r>
              <a:rPr lang="zh-CN" altLang="en-US" dirty="0">
                <a:solidFill>
                  <a:srgbClr val="FF0000"/>
                </a:solidFill>
                <a:latin typeface="Consolas" panose="020B0609020204030204" pitchFamily="49" charset="0"/>
                <a:ea typeface="FangSong" panose="02010609060101010101" pitchFamily="49" charset="-122"/>
                <a:cs typeface="Consolas" panose="020B0609020204030204" pitchFamily="49" charset="0"/>
              </a:rPr>
              <a:t>扇区</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lang="en-US" dirty="0">
                <a:latin typeface="Consolas" panose="020B0609020204030204" pitchFamily="49" charset="0"/>
                <a:ea typeface="FangSong" panose="02010609060101010101" pitchFamily="49" charset="-122"/>
                <a:cs typeface="Consolas" panose="020B0609020204030204" pitchFamily="49" charset="0"/>
              </a:rPr>
              <a:t>sectors）</a:t>
            </a:r>
            <a:r>
              <a:rPr lang="zh-CN" altLang="en-US" dirty="0">
                <a:latin typeface="Consolas" panose="020B0609020204030204" pitchFamily="49" charset="0"/>
                <a:ea typeface="FangSong" panose="02010609060101010101" pitchFamily="49" charset="-122"/>
                <a:cs typeface="Consolas" panose="020B0609020204030204" pitchFamily="49" charset="0"/>
              </a:rPr>
              <a:t>组成，扇区间以</a:t>
            </a:r>
            <a:r>
              <a:rPr lang="zh-CN" altLang="en-US" dirty="0">
                <a:solidFill>
                  <a:srgbClr val="FF0000"/>
                </a:solidFill>
                <a:latin typeface="Consolas" panose="020B0609020204030204" pitchFamily="49" charset="0"/>
                <a:ea typeface="FangSong" panose="02010609060101010101" pitchFamily="49" charset="-122"/>
                <a:cs typeface="Consolas" panose="020B0609020204030204" pitchFamily="49" charset="0"/>
              </a:rPr>
              <a:t>间隙</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lang="en-US" dirty="0">
                <a:latin typeface="Consolas" panose="020B0609020204030204" pitchFamily="49" charset="0"/>
                <a:ea typeface="FangSong" panose="02010609060101010101" pitchFamily="49" charset="-122"/>
                <a:cs typeface="Consolas" panose="020B0609020204030204" pitchFamily="49" charset="0"/>
              </a:rPr>
              <a:t>gaps）</a:t>
            </a:r>
            <a:r>
              <a:rPr lang="zh-CN" altLang="en-US" dirty="0">
                <a:latin typeface="Consolas" panose="020B0609020204030204" pitchFamily="49" charset="0"/>
                <a:ea typeface="FangSong" panose="02010609060101010101" pitchFamily="49" charset="-122"/>
                <a:cs typeface="Consolas" panose="020B0609020204030204" pitchFamily="49" charset="0"/>
              </a:rPr>
              <a:t>分隔。</a:t>
            </a:r>
            <a:endParaRPr lang="zh-CN" alt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1301" name="Oval 4"/>
          <p:cNvSpPr/>
          <p:nvPr/>
        </p:nvSpPr>
        <p:spPr>
          <a:xfrm>
            <a:off x="3560764" y="3715735"/>
            <a:ext cx="1851027" cy="1812927"/>
          </a:xfrm>
          <a:prstGeom prst="ellipse">
            <a:avLst/>
          </a:prstGeom>
          <a:ln w="12700">
            <a:solidFill>
              <a:srgbClr val="000000"/>
            </a:solidFill>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02" name="Oval 5"/>
          <p:cNvSpPr/>
          <p:nvPr/>
        </p:nvSpPr>
        <p:spPr>
          <a:xfrm>
            <a:off x="2590800" y="2766409"/>
            <a:ext cx="3790950" cy="3713165"/>
          </a:xfrm>
          <a:prstGeom prst="ellipse">
            <a:avLst/>
          </a:prstGeom>
          <a:ln w="38100">
            <a:solidFill>
              <a:srgbClr val="000000"/>
            </a:solidFill>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03" name="Oval 6"/>
          <p:cNvSpPr/>
          <p:nvPr/>
        </p:nvSpPr>
        <p:spPr>
          <a:xfrm>
            <a:off x="2781300" y="2952147"/>
            <a:ext cx="3409950" cy="3340101"/>
          </a:xfrm>
          <a:prstGeom prst="ellipse">
            <a:avLst/>
          </a:prstGeom>
          <a:ln w="12700">
            <a:solidFill>
              <a:srgbClr val="000000"/>
            </a:solidFill>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04" name="Oval 7"/>
          <p:cNvSpPr/>
          <p:nvPr/>
        </p:nvSpPr>
        <p:spPr>
          <a:xfrm>
            <a:off x="2971799" y="3137885"/>
            <a:ext cx="3030540" cy="2968627"/>
          </a:xfrm>
          <a:prstGeom prst="ellipse">
            <a:avLst/>
          </a:prstGeom>
          <a:ln w="12700">
            <a:solidFill>
              <a:srgbClr val="000000"/>
            </a:solidFill>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05" name="Oval 8"/>
          <p:cNvSpPr/>
          <p:nvPr/>
        </p:nvSpPr>
        <p:spPr>
          <a:xfrm>
            <a:off x="3162299" y="3325210"/>
            <a:ext cx="2649540" cy="2595565"/>
          </a:xfrm>
          <a:prstGeom prst="ellipse">
            <a:avLst/>
          </a:prstGeom>
          <a:ln w="12700">
            <a:solidFill>
              <a:srgbClr val="000000"/>
            </a:solidFill>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06" name="Oval 9"/>
          <p:cNvSpPr/>
          <p:nvPr/>
        </p:nvSpPr>
        <p:spPr>
          <a:xfrm>
            <a:off x="3351214" y="3510947"/>
            <a:ext cx="2270127" cy="2222500"/>
          </a:xfrm>
          <a:prstGeom prst="ellipse">
            <a:avLst/>
          </a:prstGeom>
          <a:ln w="38100">
            <a:solidFill>
              <a:srgbClr val="000000"/>
            </a:solidFill>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07" name="Oval 10"/>
          <p:cNvSpPr/>
          <p:nvPr/>
        </p:nvSpPr>
        <p:spPr>
          <a:xfrm>
            <a:off x="3732214" y="3884010"/>
            <a:ext cx="1508127" cy="1477965"/>
          </a:xfrm>
          <a:prstGeom prst="ellipse">
            <a:avLst/>
          </a:prstGeom>
          <a:ln w="12700">
            <a:solidFill>
              <a:srgbClr val="000000"/>
            </a:solidFill>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nvGrpSpPr>
          <p:cNvPr id="1310" name="Oval 11"/>
          <p:cNvGrpSpPr/>
          <p:nvPr/>
        </p:nvGrpSpPr>
        <p:grpSpPr>
          <a:xfrm>
            <a:off x="3932238" y="4049110"/>
            <a:ext cx="1128715" cy="1104901"/>
            <a:chOff x="-1" y="0"/>
            <a:chExt cx="1128714" cy="1104900"/>
          </a:xfrm>
        </p:grpSpPr>
        <p:sp>
          <p:nvSpPr>
            <p:cNvPr id="1308" name="Oval"/>
            <p:cNvSpPr/>
            <p:nvPr/>
          </p:nvSpPr>
          <p:spPr>
            <a:xfrm>
              <a:off x="-1" y="0"/>
              <a:ext cx="1128714" cy="1104900"/>
            </a:xfrm>
            <a:prstGeom prst="ellipse">
              <a:avLst/>
            </a:prstGeom>
            <a:solidFill>
              <a:srgbClr val="00FFFF"/>
            </a:solidFill>
            <a:ln w="38100"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09" name="Spindle"/>
            <p:cNvSpPr txBox="1"/>
            <p:nvPr/>
          </p:nvSpPr>
          <p:spPr>
            <a:xfrm>
              <a:off x="230065" y="383174"/>
              <a:ext cx="877801" cy="338552"/>
            </a:xfrm>
            <a:prstGeom prst="rect">
              <a:avLst/>
            </a:prstGeom>
            <a:noFill/>
            <a:ln w="12700" cap="flat">
              <a:noFill/>
              <a:miter lim="400000"/>
            </a:ln>
            <a:effectLst/>
          </p:spPr>
          <p:txBody>
            <a:bodyPr wrap="none" lIns="45719" tIns="45719" rIns="45719" bIns="45719" numCol="1"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Spindle</a:t>
              </a:r>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311" name="Text Box 12"/>
          <p:cNvSpPr txBox="1"/>
          <p:nvPr/>
        </p:nvSpPr>
        <p:spPr>
          <a:xfrm>
            <a:off x="4059238" y="3093434"/>
            <a:ext cx="877802" cy="338554"/>
          </a:xfrm>
          <a:prstGeom prst="rect">
            <a:avLst/>
          </a:prstGeom>
          <a:solidFill>
            <a:schemeClr val="accent3">
              <a:lumOff val="44000"/>
            </a:schemeClr>
          </a:solidFill>
          <a:ln w="12700">
            <a:miter lim="400000"/>
          </a:ln>
        </p:spPr>
        <p:txBody>
          <a:bodyPr wrap="none" lIns="45719" rIns="45719">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Surface</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12" name="Line 13"/>
          <p:cNvSpPr/>
          <p:nvPr/>
        </p:nvSpPr>
        <p:spPr>
          <a:xfrm>
            <a:off x="2687638" y="3174397"/>
            <a:ext cx="990601" cy="676277"/>
          </a:xfrm>
          <a:prstGeom prst="line">
            <a:avLst/>
          </a:prstGeom>
          <a:ln w="127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13" name="Line 14"/>
          <p:cNvSpPr/>
          <p:nvPr/>
        </p:nvSpPr>
        <p:spPr>
          <a:xfrm>
            <a:off x="2960688" y="3174398"/>
            <a:ext cx="673101" cy="444501"/>
          </a:xfrm>
          <a:prstGeom prst="line">
            <a:avLst/>
          </a:prstGeom>
          <a:ln w="127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14" name="Text Box 15"/>
          <p:cNvSpPr txBox="1"/>
          <p:nvPr/>
        </p:nvSpPr>
        <p:spPr>
          <a:xfrm>
            <a:off x="2363470" y="2884470"/>
            <a:ext cx="765592"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Tracks</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15" name="Oval 16"/>
          <p:cNvSpPr/>
          <p:nvPr/>
        </p:nvSpPr>
        <p:spPr>
          <a:xfrm>
            <a:off x="7199313" y="3744310"/>
            <a:ext cx="1851027" cy="1812927"/>
          </a:xfrm>
          <a:prstGeom prst="ellipse">
            <a:avLst/>
          </a:prstGeom>
          <a:ln w="57150">
            <a:solidFill>
              <a:srgbClr val="000000"/>
            </a:solidFill>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16" name="Text Box 17"/>
          <p:cNvSpPr txBox="1"/>
          <p:nvPr/>
        </p:nvSpPr>
        <p:spPr>
          <a:xfrm>
            <a:off x="7794307" y="3322034"/>
            <a:ext cx="877802" cy="338554"/>
          </a:xfrm>
          <a:prstGeom prst="rect">
            <a:avLst/>
          </a:prstGeom>
          <a:ln w="12700">
            <a:miter lim="400000"/>
          </a:ln>
        </p:spPr>
        <p:txBody>
          <a:bodyPr wrap="none" lIns="45719" rIns="45719">
            <a:spAutoFit/>
          </a:bodyPr>
          <a:lstStyle/>
          <a:p>
            <a:pPr>
              <a:defRPr sz="1600">
                <a:latin typeface="Calibri"/>
                <a:ea typeface="Calibri"/>
                <a:cs typeface="Calibri"/>
                <a:sym typeface="Calibri"/>
              </a:defRPr>
            </a:pPr>
            <a:r>
              <a:rPr sz="1600">
                <a:latin typeface="Consolas" panose="020B0609020204030204" pitchFamily="49" charset="0"/>
                <a:ea typeface="FangSong" panose="02010609060101010101" pitchFamily="49" charset="-122"/>
                <a:cs typeface="Consolas" panose="020B0609020204030204" pitchFamily="49" charset="0"/>
              </a:rPr>
              <a:t>Track </a:t>
            </a:r>
            <a:r>
              <a:rPr sz="1600" i="1">
                <a:latin typeface="Consolas" panose="020B0609020204030204" pitchFamily="49" charset="0"/>
                <a:ea typeface="FangSong" panose="02010609060101010101" pitchFamily="49" charset="-122"/>
                <a:cs typeface="Consolas" panose="020B0609020204030204" pitchFamily="49" charset="0"/>
              </a:rPr>
              <a:t>k</a:t>
            </a:r>
            <a:endParaRPr sz="1600" i="1">
              <a:latin typeface="Consolas" panose="020B0609020204030204" pitchFamily="49" charset="0"/>
              <a:ea typeface="FangSong" panose="02010609060101010101" pitchFamily="49" charset="-122"/>
              <a:cs typeface="Consolas" panose="020B0609020204030204" pitchFamily="49" charset="0"/>
            </a:endParaRPr>
          </a:p>
        </p:txBody>
      </p:sp>
      <p:grpSp>
        <p:nvGrpSpPr>
          <p:cNvPr id="1321" name="Group 18"/>
          <p:cNvGrpSpPr/>
          <p:nvPr/>
        </p:nvGrpSpPr>
        <p:grpSpPr>
          <a:xfrm>
            <a:off x="8135939" y="3688747"/>
            <a:ext cx="1066801" cy="990601"/>
            <a:chOff x="0" y="0"/>
            <a:chExt cx="1066800" cy="990600"/>
          </a:xfrm>
        </p:grpSpPr>
        <p:sp>
          <p:nvSpPr>
            <p:cNvPr id="1317" name="Line 19"/>
            <p:cNvSpPr/>
            <p:nvPr/>
          </p:nvSpPr>
          <p:spPr>
            <a:xfrm flipV="1">
              <a:off x="-1" y="-1"/>
              <a:ext cx="2" cy="99060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18" name="Line 20"/>
            <p:cNvSpPr/>
            <p:nvPr/>
          </p:nvSpPr>
          <p:spPr>
            <a:xfrm flipV="1">
              <a:off x="-1" y="47624"/>
              <a:ext cx="533402" cy="904876"/>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19" name="Line 21"/>
            <p:cNvSpPr/>
            <p:nvPr/>
          </p:nvSpPr>
          <p:spPr>
            <a:xfrm>
              <a:off x="0" y="963295"/>
              <a:ext cx="1066801" cy="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20" name="Line 22"/>
            <p:cNvSpPr/>
            <p:nvPr/>
          </p:nvSpPr>
          <p:spPr>
            <a:xfrm flipV="1">
              <a:off x="0" y="428624"/>
              <a:ext cx="914401" cy="53340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326" name="Group 23"/>
          <p:cNvGrpSpPr/>
          <p:nvPr/>
        </p:nvGrpSpPr>
        <p:grpSpPr>
          <a:xfrm>
            <a:off x="8135939" y="4622198"/>
            <a:ext cx="1066801" cy="990601"/>
            <a:chOff x="0" y="0"/>
            <a:chExt cx="1066800" cy="990600"/>
          </a:xfrm>
        </p:grpSpPr>
        <p:sp>
          <p:nvSpPr>
            <p:cNvPr id="1322" name="Line 24"/>
            <p:cNvSpPr/>
            <p:nvPr/>
          </p:nvSpPr>
          <p:spPr>
            <a:xfrm flipH="1">
              <a:off x="0" y="0"/>
              <a:ext cx="1" cy="99060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23" name="Line 25"/>
            <p:cNvSpPr/>
            <p:nvPr/>
          </p:nvSpPr>
          <p:spPr>
            <a:xfrm>
              <a:off x="0" y="38099"/>
              <a:ext cx="533401" cy="904877"/>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24" name="Line 26"/>
            <p:cNvSpPr/>
            <p:nvPr/>
          </p:nvSpPr>
          <p:spPr>
            <a:xfrm>
              <a:off x="0" y="28575"/>
              <a:ext cx="1066801" cy="0"/>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25" name="Line 27"/>
            <p:cNvSpPr/>
            <p:nvPr/>
          </p:nvSpPr>
          <p:spPr>
            <a:xfrm>
              <a:off x="0" y="28575"/>
              <a:ext cx="914401" cy="53340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331" name="Group 28"/>
          <p:cNvGrpSpPr/>
          <p:nvPr/>
        </p:nvGrpSpPr>
        <p:grpSpPr>
          <a:xfrm>
            <a:off x="7069138" y="4622198"/>
            <a:ext cx="1068071" cy="990601"/>
            <a:chOff x="0" y="0"/>
            <a:chExt cx="1068070" cy="990600"/>
          </a:xfrm>
        </p:grpSpPr>
        <p:sp>
          <p:nvSpPr>
            <p:cNvPr id="1327" name="Line 29"/>
            <p:cNvSpPr/>
            <p:nvPr/>
          </p:nvSpPr>
          <p:spPr>
            <a:xfrm flipH="1">
              <a:off x="1068070" y="0"/>
              <a:ext cx="1" cy="99060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28" name="Line 30"/>
            <p:cNvSpPr/>
            <p:nvPr/>
          </p:nvSpPr>
          <p:spPr>
            <a:xfrm flipH="1">
              <a:off x="533400" y="38100"/>
              <a:ext cx="533401" cy="904876"/>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29" name="Line 31"/>
            <p:cNvSpPr/>
            <p:nvPr/>
          </p:nvSpPr>
          <p:spPr>
            <a:xfrm flipH="1" flipV="1">
              <a:off x="0" y="28574"/>
              <a:ext cx="1066801" cy="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30" name="Line 32"/>
            <p:cNvSpPr/>
            <p:nvPr/>
          </p:nvSpPr>
          <p:spPr>
            <a:xfrm flipH="1">
              <a:off x="152400" y="28575"/>
              <a:ext cx="914401" cy="53340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336" name="Group 33"/>
          <p:cNvGrpSpPr/>
          <p:nvPr/>
        </p:nvGrpSpPr>
        <p:grpSpPr>
          <a:xfrm>
            <a:off x="7069138" y="3688747"/>
            <a:ext cx="1068071" cy="990601"/>
            <a:chOff x="0" y="0"/>
            <a:chExt cx="1068070" cy="990600"/>
          </a:xfrm>
        </p:grpSpPr>
        <p:sp>
          <p:nvSpPr>
            <p:cNvPr id="1332" name="Line 34"/>
            <p:cNvSpPr/>
            <p:nvPr/>
          </p:nvSpPr>
          <p:spPr>
            <a:xfrm flipV="1">
              <a:off x="1068070" y="0"/>
              <a:ext cx="1" cy="99060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33" name="Line 35"/>
            <p:cNvSpPr/>
            <p:nvPr/>
          </p:nvSpPr>
          <p:spPr>
            <a:xfrm flipH="1" flipV="1">
              <a:off x="533400" y="47625"/>
              <a:ext cx="533401" cy="904876"/>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34" name="Line 36"/>
            <p:cNvSpPr/>
            <p:nvPr/>
          </p:nvSpPr>
          <p:spPr>
            <a:xfrm flipH="1" flipV="1">
              <a:off x="0" y="963295"/>
              <a:ext cx="1066801" cy="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35" name="Line 37"/>
            <p:cNvSpPr/>
            <p:nvPr/>
          </p:nvSpPr>
          <p:spPr>
            <a:xfrm flipH="1" flipV="1">
              <a:off x="152400" y="428625"/>
              <a:ext cx="914401" cy="533401"/>
            </a:xfrm>
            <a:prstGeom prst="line">
              <a:avLst/>
            </a:prstGeom>
            <a:noFill/>
            <a:ln w="76200" cap="flat">
              <a:solidFill>
                <a:schemeClr val="accent3">
                  <a:lumOff val="44000"/>
                </a:schemeClr>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337" name="Text Box 38"/>
          <p:cNvSpPr txBox="1"/>
          <p:nvPr/>
        </p:nvSpPr>
        <p:spPr>
          <a:xfrm>
            <a:off x="7719695" y="6021370"/>
            <a:ext cx="877802"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Sectors</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38" name="Line 39"/>
          <p:cNvSpPr/>
          <p:nvPr/>
        </p:nvSpPr>
        <p:spPr>
          <a:xfrm flipV="1">
            <a:off x="7907338" y="5565172"/>
            <a:ext cx="1" cy="457201"/>
          </a:xfrm>
          <a:prstGeom prst="line">
            <a:avLst/>
          </a:prstGeom>
          <a:ln w="127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39" name="Line 40"/>
          <p:cNvSpPr/>
          <p:nvPr/>
        </p:nvSpPr>
        <p:spPr>
          <a:xfrm flipV="1">
            <a:off x="8364539" y="5565172"/>
            <a:ext cx="1" cy="457201"/>
          </a:xfrm>
          <a:prstGeom prst="line">
            <a:avLst/>
          </a:prstGeom>
          <a:ln w="127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40" name="AutoShape 41"/>
          <p:cNvSpPr/>
          <p:nvPr/>
        </p:nvSpPr>
        <p:spPr>
          <a:xfrm>
            <a:off x="5621338" y="4498372"/>
            <a:ext cx="1524001" cy="304800"/>
          </a:xfrm>
          <a:prstGeom prst="rightArrow">
            <a:avLst>
              <a:gd name="adj1" fmla="val 50000"/>
              <a:gd name="adj2" fmla="val 125000"/>
            </a:avLst>
          </a:prstGeom>
          <a:solidFill>
            <a:schemeClr val="accent3">
              <a:lumOff val="44000"/>
            </a:schemeClr>
          </a:solidFill>
          <a:ln w="12700">
            <a:solidFill>
              <a:srgbClr val="000000"/>
            </a:solidFill>
            <a:miter/>
          </a:ln>
        </p:spPr>
        <p:txBody>
          <a:bodyPr lIns="45719" rIns="45719" anchor="ct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41" name="Text Box 42"/>
          <p:cNvSpPr txBox="1"/>
          <p:nvPr/>
        </p:nvSpPr>
        <p:spPr>
          <a:xfrm>
            <a:off x="8856346" y="3325795"/>
            <a:ext cx="541172"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Gaps</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42" name="Line 43"/>
          <p:cNvSpPr/>
          <p:nvPr/>
        </p:nvSpPr>
        <p:spPr>
          <a:xfrm flipH="1">
            <a:off x="8621714" y="3631597"/>
            <a:ext cx="247651" cy="219076"/>
          </a:xfrm>
          <a:prstGeom prst="line">
            <a:avLst/>
          </a:prstGeom>
          <a:ln w="127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343" name="Line 44"/>
          <p:cNvSpPr/>
          <p:nvPr/>
        </p:nvSpPr>
        <p:spPr>
          <a:xfrm flipV="1">
            <a:off x="8945564" y="3679222"/>
            <a:ext cx="190501" cy="514351"/>
          </a:xfrm>
          <a:prstGeom prst="line">
            <a:avLst/>
          </a:prstGeom>
          <a:ln w="12700">
            <a:solidFill>
              <a:srgbClr val="000000"/>
            </a:solidFill>
            <a:head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 name="Rectangle 2"/>
          <p:cNvSpPr txBox="1">
            <a:spLocks noGrp="1"/>
          </p:cNvSpPr>
          <p:nvPr>
            <p:ph type="title"/>
          </p:nvPr>
        </p:nvSpPr>
        <p:spPr>
          <a:xfrm>
            <a:off x="1881018" y="435679"/>
            <a:ext cx="8092662" cy="762001"/>
          </a:xfrm>
          <a:prstGeom prst="rect">
            <a:avLst/>
          </a:prstGeom>
        </p:spPr>
        <p:txBody>
          <a:bodyPr>
            <a:normAutofit/>
          </a:bodyPr>
          <a:lstStyle/>
          <a:p>
            <a:r>
              <a:rPr lang="en-US" dirty="0" err="1">
                <a:latin typeface="Consolas" panose="020B0609020204030204" pitchFamily="49" charset="0"/>
                <a:ea typeface="FangSong" panose="02010609060101010101" pitchFamily="49" charset="-122"/>
                <a:cs typeface="Consolas" panose="020B0609020204030204" pitchFamily="49" charset="0"/>
              </a:rPr>
              <a:t>磁盘访问</a:t>
            </a:r>
            <a:r>
              <a:rPr lang="en-US" altLang="zh-CN" dirty="0">
                <a:latin typeface="Consolas" panose="020B0609020204030204" pitchFamily="49" charset="0"/>
                <a:ea typeface="FangSong" panose="02010609060101010101" pitchFamily="49" charset="-122"/>
                <a:cs typeface="Consolas" panose="020B0609020204030204" pitchFamily="49" charset="0"/>
              </a:rPr>
              <a:t>——</a:t>
            </a:r>
            <a:r>
              <a:rPr lang="zh-CN" altLang="en-US" dirty="0">
                <a:latin typeface="Consolas" panose="020B0609020204030204" pitchFamily="49" charset="0"/>
                <a:ea typeface="FangSong" panose="02010609060101010101" pitchFamily="49" charset="-122"/>
                <a:cs typeface="Consolas" panose="020B0609020204030204" pitchFamily="49" charset="0"/>
              </a:rPr>
              <a:t>服务时间的组成</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477" name="Text Box 3"/>
          <p:cNvSpPr txBox="1"/>
          <p:nvPr/>
        </p:nvSpPr>
        <p:spPr>
          <a:xfrm>
            <a:off x="2103119" y="3915703"/>
            <a:ext cx="2042162" cy="706755"/>
          </a:xfrm>
          <a:prstGeom prst="rect">
            <a:avLst/>
          </a:prstGeom>
          <a:ln w="12700">
            <a:miter lim="400000"/>
          </a:ln>
        </p:spPr>
        <p:txBody>
          <a:bodyPr lIns="45719" rIns="45719">
            <a:spAutoFit/>
          </a:bodyPr>
          <a:lstStyle/>
          <a:p>
            <a:pPr algn="ctr">
              <a:spcBef>
                <a:spcPts val="1200"/>
              </a:spcBef>
              <a:defRPr sz="2000">
                <a:latin typeface="Calibri"/>
                <a:ea typeface="Calibri"/>
                <a:cs typeface="Calibri"/>
                <a:sym typeface="Calibri"/>
              </a:defRPr>
            </a:pPr>
            <a:r>
              <a:rPr lang="zh-CN" sz="2000" b="0">
                <a:latin typeface="Consolas" panose="020B0609020204030204" pitchFamily="49" charset="0"/>
                <a:ea typeface="FangSong" panose="02010609060101010101" pitchFamily="49" charset="-122"/>
                <a:cs typeface="Consolas" panose="020B0609020204030204" pitchFamily="49" charset="0"/>
              </a:rPr>
              <a:t>假设之前读取</a:t>
            </a:r>
            <a:r>
              <a:rPr lang="zh-CN" sz="2000" b="0">
                <a:solidFill>
                  <a:srgbClr val="0000FF"/>
                </a:solidFill>
                <a:latin typeface="Consolas" panose="020B0609020204030204" pitchFamily="49" charset="0"/>
                <a:ea typeface="FangSong" panose="02010609060101010101" pitchFamily="49" charset="-122"/>
                <a:cs typeface="Consolas" panose="020B0609020204030204" pitchFamily="49" charset="0"/>
              </a:rPr>
              <a:t>蓝色</a:t>
            </a:r>
            <a:r>
              <a:rPr sz="2000" b="0">
                <a:solidFill>
                  <a:schemeClr val="accent2"/>
                </a:solidFill>
                <a:latin typeface="Consolas" panose="020B0609020204030204" pitchFamily="49" charset="0"/>
                <a:ea typeface="FangSong" panose="02010609060101010101" pitchFamily="49" charset="-122"/>
                <a:cs typeface="Consolas" panose="020B0609020204030204" pitchFamily="49" charset="0"/>
              </a:rPr>
              <a:t> </a:t>
            </a:r>
            <a:r>
              <a:rPr lang="zh-CN" sz="2000" b="0">
                <a:solidFill>
                  <a:schemeClr val="tx1"/>
                </a:solidFill>
                <a:latin typeface="Consolas" panose="020B0609020204030204" pitchFamily="49" charset="0"/>
                <a:ea typeface="FangSong" panose="02010609060101010101" pitchFamily="49" charset="-122"/>
                <a:cs typeface="Consolas" panose="020B0609020204030204" pitchFamily="49" charset="0"/>
              </a:rPr>
              <a:t>扇区</a:t>
            </a:r>
            <a:endParaRPr lang="zh-CN" sz="2000" b="0">
              <a:solidFill>
                <a:schemeClr val="tx1"/>
              </a:solidFill>
              <a:latin typeface="Consolas" panose="020B0609020204030204" pitchFamily="49" charset="0"/>
              <a:ea typeface="FangSong" panose="02010609060101010101" pitchFamily="49" charset="-122"/>
              <a:cs typeface="Consolas" panose="020B0609020204030204" pitchFamily="49" charset="0"/>
            </a:endParaRPr>
          </a:p>
        </p:txBody>
      </p:sp>
      <p:sp>
        <p:nvSpPr>
          <p:cNvPr id="1478" name="Text Box 4"/>
          <p:cNvSpPr txBox="1"/>
          <p:nvPr/>
        </p:nvSpPr>
        <p:spPr>
          <a:xfrm>
            <a:off x="4312919" y="3915703"/>
            <a:ext cx="1737362" cy="707886"/>
          </a:xfrm>
          <a:prstGeom prst="rect">
            <a:avLst/>
          </a:prstGeom>
          <a:ln w="12700">
            <a:miter lim="400000"/>
          </a:ln>
        </p:spPr>
        <p:txBody>
          <a:bodyPr lIns="45719" rIns="45719">
            <a:spAutoFit/>
          </a:bodyPr>
          <a:lstStyle/>
          <a:p>
            <a:pPr algn="ctr">
              <a:spcBef>
                <a:spcPts val="1200"/>
              </a:spcBef>
              <a:defRPr sz="2000">
                <a:latin typeface="Calibri"/>
                <a:ea typeface="Calibri"/>
                <a:cs typeface="Calibri"/>
                <a:sym typeface="Calibri"/>
              </a:defRPr>
            </a:pPr>
            <a:r>
              <a:rPr sz="2000">
                <a:latin typeface="Consolas" panose="020B0609020204030204" pitchFamily="49" charset="0"/>
                <a:ea typeface="FangSong" panose="02010609060101010101" pitchFamily="49" charset="-122"/>
                <a:cs typeface="Consolas" panose="020B0609020204030204" pitchFamily="49" charset="0"/>
              </a:rPr>
              <a:t>Seek for </a:t>
            </a:r>
            <a:r>
              <a:rPr sz="2000">
                <a:solidFill>
                  <a:srgbClr val="FF0000"/>
                </a:solidFill>
                <a:latin typeface="Consolas" panose="020B0609020204030204" pitchFamily="49" charset="0"/>
                <a:ea typeface="FangSong" panose="02010609060101010101" pitchFamily="49" charset="-122"/>
                <a:cs typeface="Consolas" panose="020B0609020204030204" pitchFamily="49" charset="0"/>
              </a:rPr>
              <a:t>RED</a:t>
            </a:r>
            <a:endParaRPr sz="2000">
              <a:solidFill>
                <a:srgbClr val="FF0000"/>
              </a:solidFill>
              <a:latin typeface="Consolas" panose="020B0609020204030204" pitchFamily="49" charset="0"/>
              <a:ea typeface="FangSong" panose="02010609060101010101" pitchFamily="49" charset="-122"/>
              <a:cs typeface="Consolas" panose="020B0609020204030204" pitchFamily="49" charset="0"/>
            </a:endParaRPr>
          </a:p>
        </p:txBody>
      </p:sp>
      <p:sp>
        <p:nvSpPr>
          <p:cNvPr id="1479" name="Text Box 5"/>
          <p:cNvSpPr txBox="1"/>
          <p:nvPr/>
        </p:nvSpPr>
        <p:spPr>
          <a:xfrm>
            <a:off x="6065519" y="3915703"/>
            <a:ext cx="2346962" cy="707886"/>
          </a:xfrm>
          <a:prstGeom prst="rect">
            <a:avLst/>
          </a:prstGeom>
          <a:ln w="12700">
            <a:miter lim="400000"/>
          </a:ln>
        </p:spPr>
        <p:txBody>
          <a:bodyPr lIns="45719" rIns="45719">
            <a:spAutoFit/>
          </a:bodyPr>
          <a:lstStyle>
            <a:lvl1pPr algn="ctr">
              <a:spcBef>
                <a:spcPts val="1200"/>
              </a:spcBef>
              <a:defRPr sz="200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Rotational latency</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0" name="Text Box 6"/>
          <p:cNvSpPr txBox="1"/>
          <p:nvPr/>
        </p:nvSpPr>
        <p:spPr>
          <a:xfrm>
            <a:off x="8275320" y="3915410"/>
            <a:ext cx="2209165" cy="398780"/>
          </a:xfrm>
          <a:prstGeom prst="rect">
            <a:avLst/>
          </a:prstGeom>
          <a:ln w="12700">
            <a:miter lim="400000"/>
          </a:ln>
        </p:spPr>
        <p:txBody>
          <a:bodyPr wrap="square" lIns="45719" rIns="45719">
            <a:spAutoFit/>
          </a:bodyPr>
          <a:lstStyle/>
          <a:p>
            <a:pPr algn="ctr">
              <a:spcBef>
                <a:spcPts val="1200"/>
              </a:spcBef>
              <a:defRPr sz="2000">
                <a:latin typeface="Calibri"/>
                <a:ea typeface="Calibri"/>
                <a:cs typeface="Calibri"/>
                <a:sym typeface="Calibri"/>
              </a:defRPr>
            </a:pPr>
            <a:r>
              <a:rPr lang="zh-CN" sz="2000" b="0">
                <a:solidFill>
                  <a:schemeClr val="tx1"/>
                </a:solidFill>
                <a:latin typeface="Consolas" panose="020B0609020204030204" pitchFamily="49" charset="0"/>
                <a:ea typeface="FangSong" panose="02010609060101010101" pitchFamily="49" charset="-122"/>
                <a:cs typeface="Consolas" panose="020B0609020204030204" pitchFamily="49" charset="0"/>
              </a:rPr>
              <a:t>完成读取</a:t>
            </a:r>
            <a:r>
              <a:rPr lang="zh-CN" sz="2000" b="0">
                <a:solidFill>
                  <a:srgbClr val="FF0000"/>
                </a:solidFill>
                <a:latin typeface="Consolas" panose="020B0609020204030204" pitchFamily="49" charset="0"/>
                <a:ea typeface="FangSong" panose="02010609060101010101" pitchFamily="49" charset="-122"/>
                <a:cs typeface="Consolas" panose="020B0609020204030204" pitchFamily="49" charset="0"/>
              </a:rPr>
              <a:t>红色</a:t>
            </a:r>
            <a:r>
              <a:rPr lang="zh-CN" sz="2000" b="0">
                <a:latin typeface="Consolas" panose="020B0609020204030204" pitchFamily="49" charset="0"/>
                <a:ea typeface="FangSong" panose="02010609060101010101" pitchFamily="49" charset="-122"/>
                <a:cs typeface="Consolas" panose="020B0609020204030204" pitchFamily="49" charset="0"/>
              </a:rPr>
              <a:t>扇区</a:t>
            </a:r>
            <a:endParaRPr lang="zh-CN" sz="2000" b="0">
              <a:latin typeface="Consolas" panose="020B0609020204030204" pitchFamily="49" charset="0"/>
              <a:ea typeface="FangSong" panose="02010609060101010101" pitchFamily="49" charset="-122"/>
              <a:cs typeface="Consolas" panose="020B0609020204030204" pitchFamily="49" charset="0"/>
            </a:endParaRPr>
          </a:p>
        </p:txBody>
      </p:sp>
      <p:grpSp>
        <p:nvGrpSpPr>
          <p:cNvPr id="1497" name="Group 7"/>
          <p:cNvGrpSpPr/>
          <p:nvPr/>
        </p:nvGrpSpPr>
        <p:grpSpPr>
          <a:xfrm>
            <a:off x="2259648" y="1931329"/>
            <a:ext cx="1719415" cy="1944757"/>
            <a:chOff x="0" y="0"/>
            <a:chExt cx="1719413" cy="1944756"/>
          </a:xfrm>
        </p:grpSpPr>
        <p:grpSp>
          <p:nvGrpSpPr>
            <p:cNvPr id="1495" name="Group 8"/>
            <p:cNvGrpSpPr/>
            <p:nvPr/>
          </p:nvGrpSpPr>
          <p:grpSpPr>
            <a:xfrm>
              <a:off x="-1" y="129059"/>
              <a:ext cx="1719415" cy="1815698"/>
              <a:chOff x="0" y="0"/>
              <a:chExt cx="1719413" cy="1815697"/>
            </a:xfrm>
          </p:grpSpPr>
          <p:grpSp>
            <p:nvGrpSpPr>
              <p:cNvPr id="1492" name="Group 9"/>
              <p:cNvGrpSpPr/>
              <p:nvPr/>
            </p:nvGrpSpPr>
            <p:grpSpPr>
              <a:xfrm>
                <a:off x="-1" y="0"/>
                <a:ext cx="1719415" cy="1715131"/>
                <a:chOff x="0" y="0"/>
                <a:chExt cx="1719413" cy="1715131"/>
              </a:xfrm>
            </p:grpSpPr>
            <p:sp>
              <p:nvSpPr>
                <p:cNvPr id="1481" name="Oval 10"/>
                <p:cNvSpPr/>
                <p:nvPr/>
              </p:nvSpPr>
              <p:spPr>
                <a:xfrm>
                  <a:off x="2941" y="0"/>
                  <a:ext cx="1716473" cy="1713940"/>
                </a:xfrm>
                <a:prstGeom prst="ellipse">
                  <a:avLst/>
                </a:prstGeom>
                <a:solidFill>
                  <a:schemeClr val="accent3">
                    <a:lumOff val="44000"/>
                  </a:schemeClr>
                </a:solidFill>
                <a:ln w="9525" cap="flat">
                  <a:solidFill>
                    <a:srgbClr val="000000"/>
                  </a:solidFill>
                  <a:prstDash val="solid"/>
                  <a:round/>
                </a:ln>
                <a:effectLst>
                  <a:outerShdw blurRad="63500" dist="107762" dir="2700000" rotWithShape="0">
                    <a:srgbClr val="808080">
                      <a:alpha val="74998"/>
                    </a:srgbClr>
                  </a:outerShdw>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2" name="Oval 11"/>
                <p:cNvSpPr/>
                <p:nvPr/>
              </p:nvSpPr>
              <p:spPr>
                <a:xfrm>
                  <a:off x="192468" y="178659"/>
                  <a:ext cx="1373179" cy="1372107"/>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3" name="Oval 12"/>
                <p:cNvSpPr/>
                <p:nvPr/>
              </p:nvSpPr>
              <p:spPr>
                <a:xfrm>
                  <a:off x="364115" y="350172"/>
                  <a:ext cx="1029885" cy="1029081"/>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4" name="Oval 13"/>
                <p:cNvSpPr/>
                <p:nvPr/>
              </p:nvSpPr>
              <p:spPr>
                <a:xfrm>
                  <a:off x="521458" y="539551"/>
                  <a:ext cx="686589" cy="686053"/>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5" name="Line 14"/>
                <p:cNvSpPr/>
                <p:nvPr/>
              </p:nvSpPr>
              <p:spPr>
                <a:xfrm flipH="1">
                  <a:off x="861177" y="0"/>
                  <a:ext cx="1" cy="1715132"/>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6" name="Line 15"/>
                <p:cNvSpPr/>
                <p:nvPr/>
              </p:nvSpPr>
              <p:spPr>
                <a:xfrm flipH="1">
                  <a:off x="436055" y="118147"/>
                  <a:ext cx="857567" cy="1485348"/>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7" name="Line 16"/>
                <p:cNvSpPr/>
                <p:nvPr/>
              </p:nvSpPr>
              <p:spPr>
                <a:xfrm flipH="1">
                  <a:off x="114664" y="435044"/>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8" name="Line 17"/>
                <p:cNvSpPr/>
                <p:nvPr/>
              </p:nvSpPr>
              <p:spPr>
                <a:xfrm flipH="1" flipV="1">
                  <a:off x="0" y="842638"/>
                  <a:ext cx="1716473" cy="1"/>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89" name="Line 18"/>
                <p:cNvSpPr/>
                <p:nvPr/>
              </p:nvSpPr>
              <p:spPr>
                <a:xfrm flipH="1" flipV="1">
                  <a:off x="126027" y="402885"/>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90" name="Line 19"/>
                <p:cNvSpPr/>
                <p:nvPr/>
              </p:nvSpPr>
              <p:spPr>
                <a:xfrm flipH="1" flipV="1">
                  <a:off x="451459" y="121721"/>
                  <a:ext cx="857566" cy="1485348"/>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91" name="Oval 20"/>
                <p:cNvSpPr/>
                <p:nvPr/>
              </p:nvSpPr>
              <p:spPr>
                <a:xfrm>
                  <a:off x="693105" y="711065"/>
                  <a:ext cx="343295" cy="343027"/>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493" name="Freeform 21"/>
              <p:cNvSpPr/>
              <p:nvPr/>
            </p:nvSpPr>
            <p:spPr>
              <a:xfrm>
                <a:off x="623117" y="347125"/>
                <a:ext cx="243561" cy="229935"/>
              </a:xfrm>
              <a:custGeom>
                <a:avLst/>
                <a:gdLst/>
                <a:ahLst/>
                <a:cxnLst>
                  <a:cxn ang="0">
                    <a:pos x="wd2" y="hd2"/>
                  </a:cxn>
                  <a:cxn ang="5400000">
                    <a:pos x="wd2" y="hd2"/>
                  </a:cxn>
                  <a:cxn ang="10800000">
                    <a:pos x="wd2" y="hd2"/>
                  </a:cxn>
                  <a:cxn ang="16200000">
                    <a:pos x="wd2" y="hd2"/>
                  </a:cxn>
                </a:cxnLst>
                <a:rect l="0" t="0" r="r" b="b"/>
                <a:pathLst>
                  <a:path w="21600" h="21600" extrusionOk="0">
                    <a:moveTo>
                      <a:pt x="8166" y="21600"/>
                    </a:moveTo>
                    <a:lnTo>
                      <a:pt x="0" y="6689"/>
                    </a:lnTo>
                    <a:lnTo>
                      <a:pt x="2766" y="5295"/>
                    </a:lnTo>
                    <a:lnTo>
                      <a:pt x="5927" y="3623"/>
                    </a:lnTo>
                    <a:lnTo>
                      <a:pt x="8166" y="2926"/>
                    </a:lnTo>
                    <a:lnTo>
                      <a:pt x="10537" y="1951"/>
                    </a:lnTo>
                    <a:lnTo>
                      <a:pt x="13434" y="1254"/>
                    </a:lnTo>
                    <a:lnTo>
                      <a:pt x="16068" y="697"/>
                    </a:lnTo>
                    <a:lnTo>
                      <a:pt x="20020" y="279"/>
                    </a:lnTo>
                    <a:lnTo>
                      <a:pt x="21600" y="0"/>
                    </a:lnTo>
                    <a:lnTo>
                      <a:pt x="21600" y="17977"/>
                    </a:lnTo>
                    <a:lnTo>
                      <a:pt x="19624" y="18255"/>
                    </a:lnTo>
                    <a:lnTo>
                      <a:pt x="18044" y="18255"/>
                    </a:lnTo>
                    <a:lnTo>
                      <a:pt x="16595" y="18395"/>
                    </a:lnTo>
                    <a:lnTo>
                      <a:pt x="14093" y="19231"/>
                    </a:lnTo>
                    <a:lnTo>
                      <a:pt x="11722" y="19928"/>
                    </a:lnTo>
                    <a:lnTo>
                      <a:pt x="9351" y="20903"/>
                    </a:lnTo>
                    <a:lnTo>
                      <a:pt x="8166" y="21600"/>
                    </a:lnTo>
                    <a:close/>
                  </a:path>
                </a:pathLst>
              </a:custGeom>
              <a:solidFill>
                <a:srgbClr val="0000FF"/>
              </a:solid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94" name="Freeform 22"/>
              <p:cNvSpPr/>
              <p:nvPr/>
            </p:nvSpPr>
            <p:spPr>
              <a:xfrm rot="19800000">
                <a:off x="832519" y="1464158"/>
                <a:ext cx="426232" cy="262571"/>
              </a:xfrm>
              <a:custGeom>
                <a:avLst/>
                <a:gdLst/>
                <a:ahLst/>
                <a:cxnLst>
                  <a:cxn ang="0">
                    <a:pos x="wd2" y="hd2"/>
                  </a:cxn>
                  <a:cxn ang="5400000">
                    <a:pos x="wd2" y="hd2"/>
                  </a:cxn>
                  <a:cxn ang="10800000">
                    <a:pos x="wd2" y="hd2"/>
                  </a:cxn>
                  <a:cxn ang="16200000">
                    <a:pos x="wd2" y="hd2"/>
                  </a:cxn>
                </a:cxnLst>
                <a:rect l="0" t="0" r="r" b="b"/>
                <a:pathLst>
                  <a:path w="21600" h="21600" extrusionOk="0">
                    <a:moveTo>
                      <a:pt x="0" y="12447"/>
                    </a:moveTo>
                    <a:lnTo>
                      <a:pt x="4440" y="0"/>
                    </a:lnTo>
                    <a:lnTo>
                      <a:pt x="6698" y="2075"/>
                    </a:lnTo>
                    <a:lnTo>
                      <a:pt x="8806" y="3661"/>
                    </a:lnTo>
                    <a:lnTo>
                      <a:pt x="11063" y="5125"/>
                    </a:lnTo>
                    <a:lnTo>
                      <a:pt x="12644" y="5858"/>
                    </a:lnTo>
                    <a:lnTo>
                      <a:pt x="14676" y="6834"/>
                    </a:lnTo>
                    <a:lnTo>
                      <a:pt x="16708" y="7322"/>
                    </a:lnTo>
                    <a:lnTo>
                      <a:pt x="18514" y="7932"/>
                    </a:lnTo>
                    <a:lnTo>
                      <a:pt x="19869" y="8054"/>
                    </a:lnTo>
                    <a:lnTo>
                      <a:pt x="21600" y="8054"/>
                    </a:lnTo>
                    <a:lnTo>
                      <a:pt x="21600" y="21600"/>
                    </a:lnTo>
                    <a:lnTo>
                      <a:pt x="18966" y="21600"/>
                    </a:lnTo>
                    <a:lnTo>
                      <a:pt x="17160" y="21478"/>
                    </a:lnTo>
                    <a:lnTo>
                      <a:pt x="15052" y="21112"/>
                    </a:lnTo>
                    <a:lnTo>
                      <a:pt x="12794" y="20380"/>
                    </a:lnTo>
                    <a:lnTo>
                      <a:pt x="10838" y="19647"/>
                    </a:lnTo>
                    <a:lnTo>
                      <a:pt x="8279" y="18549"/>
                    </a:lnTo>
                    <a:lnTo>
                      <a:pt x="5193" y="16841"/>
                    </a:lnTo>
                    <a:lnTo>
                      <a:pt x="3161" y="15376"/>
                    </a:lnTo>
                    <a:lnTo>
                      <a:pt x="1731" y="14156"/>
                    </a:lnTo>
                    <a:lnTo>
                      <a:pt x="0" y="12447"/>
                    </a:lnTo>
                    <a:close/>
                  </a:path>
                </a:pathLst>
              </a:custGeom>
              <a:solidFill>
                <a:srgbClr val="FF0000"/>
              </a:solid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496" name="AutoShape 23"/>
            <p:cNvSpPr/>
            <p:nvPr/>
          </p:nvSpPr>
          <p:spPr>
            <a:xfrm>
              <a:off x="725590" y="0"/>
              <a:ext cx="289600" cy="556292"/>
            </a:xfrm>
            <a:custGeom>
              <a:avLst/>
              <a:gdLst/>
              <a:ahLst/>
              <a:cxnLst>
                <a:cxn ang="0">
                  <a:pos x="wd2" y="hd2"/>
                </a:cxn>
                <a:cxn ang="5400000">
                  <a:pos x="wd2" y="hd2"/>
                </a:cxn>
                <a:cxn ang="10800000">
                  <a:pos x="wd2" y="hd2"/>
                </a:cxn>
                <a:cxn ang="16200000">
                  <a:pos x="wd2" y="hd2"/>
                </a:cxn>
              </a:cxnLst>
              <a:rect l="0" t="0" r="r" b="b"/>
              <a:pathLst>
                <a:path w="21600" h="21600" extrusionOk="0">
                  <a:moveTo>
                    <a:pt x="0" y="16194"/>
                  </a:moveTo>
                  <a:lnTo>
                    <a:pt x="5400" y="16194"/>
                  </a:lnTo>
                  <a:lnTo>
                    <a:pt x="5400" y="0"/>
                  </a:lnTo>
                  <a:lnTo>
                    <a:pt x="16200" y="0"/>
                  </a:lnTo>
                  <a:lnTo>
                    <a:pt x="16200" y="16194"/>
                  </a:lnTo>
                  <a:lnTo>
                    <a:pt x="21600" y="16194"/>
                  </a:lnTo>
                  <a:lnTo>
                    <a:pt x="10800" y="21600"/>
                  </a:lnTo>
                  <a:close/>
                </a:path>
              </a:pathLst>
            </a:custGeom>
            <a:solidFill>
              <a:srgbClr val="000000"/>
            </a:solidFill>
            <a:ln w="9525"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514" name="Group 24"/>
          <p:cNvGrpSpPr/>
          <p:nvPr/>
        </p:nvGrpSpPr>
        <p:grpSpPr>
          <a:xfrm>
            <a:off x="4309110" y="1569377"/>
            <a:ext cx="1719415" cy="2210588"/>
            <a:chOff x="0" y="0"/>
            <a:chExt cx="1719413" cy="2210586"/>
          </a:xfrm>
        </p:grpSpPr>
        <p:grpSp>
          <p:nvGrpSpPr>
            <p:cNvPr id="1512" name="Group 25"/>
            <p:cNvGrpSpPr/>
            <p:nvPr/>
          </p:nvGrpSpPr>
          <p:grpSpPr>
            <a:xfrm>
              <a:off x="-1" y="493123"/>
              <a:ext cx="1719415" cy="1717464"/>
              <a:chOff x="0" y="0"/>
              <a:chExt cx="1719413" cy="1717462"/>
            </a:xfrm>
          </p:grpSpPr>
          <p:grpSp>
            <p:nvGrpSpPr>
              <p:cNvPr id="1509" name="Group 26"/>
              <p:cNvGrpSpPr/>
              <p:nvPr/>
            </p:nvGrpSpPr>
            <p:grpSpPr>
              <a:xfrm>
                <a:off x="-1" y="0"/>
                <a:ext cx="1719415" cy="1717463"/>
                <a:chOff x="0" y="0"/>
                <a:chExt cx="1719413" cy="1717462"/>
              </a:xfrm>
            </p:grpSpPr>
            <p:sp>
              <p:nvSpPr>
                <p:cNvPr id="1498" name="Oval 27"/>
                <p:cNvSpPr/>
                <p:nvPr/>
              </p:nvSpPr>
              <p:spPr>
                <a:xfrm>
                  <a:off x="2941" y="0"/>
                  <a:ext cx="1716473" cy="1716272"/>
                </a:xfrm>
                <a:prstGeom prst="ellipse">
                  <a:avLst/>
                </a:prstGeom>
                <a:solidFill>
                  <a:schemeClr val="accent3">
                    <a:lumOff val="44000"/>
                  </a:schemeClr>
                </a:solidFill>
                <a:ln w="9525" cap="flat">
                  <a:solidFill>
                    <a:srgbClr val="000000"/>
                  </a:solidFill>
                  <a:prstDash val="solid"/>
                  <a:round/>
                </a:ln>
                <a:effectLst>
                  <a:outerShdw blurRad="63500" dist="107762" dir="2700000" rotWithShape="0">
                    <a:srgbClr val="808080">
                      <a:alpha val="74998"/>
                    </a:srgbClr>
                  </a:outerShdw>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499" name="Oval 28"/>
                <p:cNvSpPr/>
                <p:nvPr/>
              </p:nvSpPr>
              <p:spPr>
                <a:xfrm>
                  <a:off x="192468" y="179970"/>
                  <a:ext cx="1373179" cy="1373019"/>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0" name="Oval 29"/>
                <p:cNvSpPr/>
                <p:nvPr/>
              </p:nvSpPr>
              <p:spPr>
                <a:xfrm>
                  <a:off x="364115" y="351597"/>
                  <a:ext cx="1029885" cy="1029765"/>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1" name="Oval 30"/>
                <p:cNvSpPr/>
                <p:nvPr/>
              </p:nvSpPr>
              <p:spPr>
                <a:xfrm>
                  <a:off x="521458" y="541102"/>
                  <a:ext cx="686589" cy="686509"/>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2" name="Line 31"/>
                <p:cNvSpPr/>
                <p:nvPr/>
              </p:nvSpPr>
              <p:spPr>
                <a:xfrm flipH="1">
                  <a:off x="861177" y="1191"/>
                  <a:ext cx="1" cy="1716272"/>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3" name="Line 32"/>
                <p:cNvSpPr/>
                <p:nvPr/>
              </p:nvSpPr>
              <p:spPr>
                <a:xfrm flipH="1">
                  <a:off x="435770" y="119418"/>
                  <a:ext cx="858137" cy="1486335"/>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4" name="Line 33"/>
                <p:cNvSpPr/>
                <p:nvPr/>
              </p:nvSpPr>
              <p:spPr>
                <a:xfrm flipH="1">
                  <a:off x="114664" y="436810"/>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5" name="Line 34"/>
                <p:cNvSpPr/>
                <p:nvPr/>
              </p:nvSpPr>
              <p:spPr>
                <a:xfrm flipH="1" flipV="1">
                  <a:off x="0" y="844390"/>
                  <a:ext cx="1716473" cy="1"/>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6" name="Line 35"/>
                <p:cNvSpPr/>
                <p:nvPr/>
              </p:nvSpPr>
              <p:spPr>
                <a:xfrm flipH="1" flipV="1">
                  <a:off x="126027" y="404630"/>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7" name="Line 36"/>
                <p:cNvSpPr/>
                <p:nvPr/>
              </p:nvSpPr>
              <p:spPr>
                <a:xfrm flipH="1" flipV="1">
                  <a:off x="451174" y="122994"/>
                  <a:ext cx="858136" cy="1486335"/>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08" name="Oval 37"/>
                <p:cNvSpPr/>
                <p:nvPr/>
              </p:nvSpPr>
              <p:spPr>
                <a:xfrm>
                  <a:off x="693105" y="712729"/>
                  <a:ext cx="343295" cy="343255"/>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510" name="Freeform 38"/>
              <p:cNvSpPr/>
              <p:nvPr/>
            </p:nvSpPr>
            <p:spPr>
              <a:xfrm rot="18000000">
                <a:off x="1181627" y="1267348"/>
                <a:ext cx="439392" cy="262868"/>
              </a:xfrm>
              <a:custGeom>
                <a:avLst/>
                <a:gdLst/>
                <a:ahLst/>
                <a:cxnLst>
                  <a:cxn ang="0">
                    <a:pos x="wd2" y="hd2"/>
                  </a:cxn>
                  <a:cxn ang="5400000">
                    <a:pos x="wd2" y="hd2"/>
                  </a:cxn>
                  <a:cxn ang="10800000">
                    <a:pos x="wd2" y="hd2"/>
                  </a:cxn>
                  <a:cxn ang="16200000">
                    <a:pos x="wd2" y="hd2"/>
                  </a:cxn>
                </a:cxnLst>
                <a:rect l="0" t="0" r="r" b="b"/>
                <a:pathLst>
                  <a:path w="21600" h="21600" extrusionOk="0">
                    <a:moveTo>
                      <a:pt x="0" y="12447"/>
                    </a:moveTo>
                    <a:lnTo>
                      <a:pt x="4440" y="0"/>
                    </a:lnTo>
                    <a:lnTo>
                      <a:pt x="6698" y="2075"/>
                    </a:lnTo>
                    <a:lnTo>
                      <a:pt x="8806" y="3661"/>
                    </a:lnTo>
                    <a:lnTo>
                      <a:pt x="11063" y="5125"/>
                    </a:lnTo>
                    <a:lnTo>
                      <a:pt x="12644" y="5858"/>
                    </a:lnTo>
                    <a:lnTo>
                      <a:pt x="14676" y="6834"/>
                    </a:lnTo>
                    <a:lnTo>
                      <a:pt x="16708" y="7322"/>
                    </a:lnTo>
                    <a:lnTo>
                      <a:pt x="18514" y="7932"/>
                    </a:lnTo>
                    <a:lnTo>
                      <a:pt x="19869" y="8054"/>
                    </a:lnTo>
                    <a:lnTo>
                      <a:pt x="21600" y="8054"/>
                    </a:lnTo>
                    <a:lnTo>
                      <a:pt x="21600" y="21600"/>
                    </a:lnTo>
                    <a:lnTo>
                      <a:pt x="18966" y="21600"/>
                    </a:lnTo>
                    <a:lnTo>
                      <a:pt x="17160" y="21478"/>
                    </a:lnTo>
                    <a:lnTo>
                      <a:pt x="15052" y="21112"/>
                    </a:lnTo>
                    <a:lnTo>
                      <a:pt x="12794" y="20380"/>
                    </a:lnTo>
                    <a:lnTo>
                      <a:pt x="10838" y="19647"/>
                    </a:lnTo>
                    <a:lnTo>
                      <a:pt x="8279" y="18549"/>
                    </a:lnTo>
                    <a:lnTo>
                      <a:pt x="5193" y="16841"/>
                    </a:lnTo>
                    <a:lnTo>
                      <a:pt x="3161" y="15376"/>
                    </a:lnTo>
                    <a:lnTo>
                      <a:pt x="1731" y="14156"/>
                    </a:lnTo>
                    <a:lnTo>
                      <a:pt x="0" y="12447"/>
                    </a:lnTo>
                    <a:close/>
                  </a:path>
                </a:pathLst>
              </a:custGeom>
              <a:solidFill>
                <a:srgbClr val="FF0000"/>
              </a:solid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11" name="Freeform 39"/>
              <p:cNvSpPr/>
              <p:nvPr/>
            </p:nvSpPr>
            <p:spPr>
              <a:xfrm rot="19800000">
                <a:off x="444902" y="459880"/>
                <a:ext cx="243561" cy="230088"/>
              </a:xfrm>
              <a:custGeom>
                <a:avLst/>
                <a:gdLst/>
                <a:ahLst/>
                <a:cxnLst>
                  <a:cxn ang="0">
                    <a:pos x="wd2" y="hd2"/>
                  </a:cxn>
                  <a:cxn ang="5400000">
                    <a:pos x="wd2" y="hd2"/>
                  </a:cxn>
                  <a:cxn ang="10800000">
                    <a:pos x="wd2" y="hd2"/>
                  </a:cxn>
                  <a:cxn ang="16200000">
                    <a:pos x="wd2" y="hd2"/>
                  </a:cxn>
                </a:cxnLst>
                <a:rect l="0" t="0" r="r" b="b"/>
                <a:pathLst>
                  <a:path w="21600" h="21600" extrusionOk="0">
                    <a:moveTo>
                      <a:pt x="8166" y="21600"/>
                    </a:moveTo>
                    <a:lnTo>
                      <a:pt x="0" y="6689"/>
                    </a:lnTo>
                    <a:lnTo>
                      <a:pt x="2766" y="5295"/>
                    </a:lnTo>
                    <a:lnTo>
                      <a:pt x="5927" y="3623"/>
                    </a:lnTo>
                    <a:lnTo>
                      <a:pt x="8166" y="2926"/>
                    </a:lnTo>
                    <a:lnTo>
                      <a:pt x="10537" y="1951"/>
                    </a:lnTo>
                    <a:lnTo>
                      <a:pt x="13434" y="1254"/>
                    </a:lnTo>
                    <a:lnTo>
                      <a:pt x="16068" y="697"/>
                    </a:lnTo>
                    <a:lnTo>
                      <a:pt x="20020" y="279"/>
                    </a:lnTo>
                    <a:lnTo>
                      <a:pt x="21600" y="0"/>
                    </a:lnTo>
                    <a:lnTo>
                      <a:pt x="21600" y="17977"/>
                    </a:lnTo>
                    <a:lnTo>
                      <a:pt x="19624" y="18255"/>
                    </a:lnTo>
                    <a:lnTo>
                      <a:pt x="18044" y="18255"/>
                    </a:lnTo>
                    <a:lnTo>
                      <a:pt x="16595" y="18395"/>
                    </a:lnTo>
                    <a:lnTo>
                      <a:pt x="14093" y="19231"/>
                    </a:lnTo>
                    <a:lnTo>
                      <a:pt x="11722" y="19928"/>
                    </a:lnTo>
                    <a:lnTo>
                      <a:pt x="9351" y="20903"/>
                    </a:lnTo>
                    <a:lnTo>
                      <a:pt x="8166" y="21600"/>
                    </a:lnTo>
                    <a:close/>
                  </a:path>
                </a:pathLst>
              </a:custGeom>
              <a:solidFill>
                <a:srgbClr val="0000FF"/>
              </a:solid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513" name="AutoShape 40"/>
            <p:cNvSpPr/>
            <p:nvPr/>
          </p:nvSpPr>
          <p:spPr>
            <a:xfrm>
              <a:off x="721135" y="0"/>
              <a:ext cx="289600" cy="556662"/>
            </a:xfrm>
            <a:custGeom>
              <a:avLst/>
              <a:gdLst/>
              <a:ahLst/>
              <a:cxnLst>
                <a:cxn ang="0">
                  <a:pos x="wd2" y="hd2"/>
                </a:cxn>
                <a:cxn ang="5400000">
                  <a:pos x="wd2" y="hd2"/>
                </a:cxn>
                <a:cxn ang="10800000">
                  <a:pos x="wd2" y="hd2"/>
                </a:cxn>
                <a:cxn ang="16200000">
                  <a:pos x="wd2" y="hd2"/>
                </a:cxn>
              </a:cxnLst>
              <a:rect l="0" t="0" r="r" b="b"/>
              <a:pathLst>
                <a:path w="21600" h="21600" extrusionOk="0">
                  <a:moveTo>
                    <a:pt x="0" y="16197"/>
                  </a:moveTo>
                  <a:lnTo>
                    <a:pt x="5400" y="16197"/>
                  </a:lnTo>
                  <a:lnTo>
                    <a:pt x="5400" y="0"/>
                  </a:lnTo>
                  <a:lnTo>
                    <a:pt x="16200" y="0"/>
                  </a:lnTo>
                  <a:lnTo>
                    <a:pt x="16200" y="16197"/>
                  </a:lnTo>
                  <a:lnTo>
                    <a:pt x="21600" y="16197"/>
                  </a:lnTo>
                  <a:lnTo>
                    <a:pt x="10800" y="21600"/>
                  </a:lnTo>
                  <a:close/>
                </a:path>
              </a:pathLst>
            </a:custGeom>
            <a:solidFill>
              <a:srgbClr val="000000"/>
            </a:solidFill>
            <a:ln w="9525"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532" name="Group 41"/>
          <p:cNvGrpSpPr/>
          <p:nvPr/>
        </p:nvGrpSpPr>
        <p:grpSpPr>
          <a:xfrm>
            <a:off x="6357938" y="1594777"/>
            <a:ext cx="1720049" cy="2185184"/>
            <a:chOff x="0" y="0"/>
            <a:chExt cx="1720048" cy="2185182"/>
          </a:xfrm>
        </p:grpSpPr>
        <p:grpSp>
          <p:nvGrpSpPr>
            <p:cNvPr id="1530" name="Group 42"/>
            <p:cNvGrpSpPr/>
            <p:nvPr/>
          </p:nvGrpSpPr>
          <p:grpSpPr>
            <a:xfrm>
              <a:off x="-1" y="463421"/>
              <a:ext cx="1720050" cy="1721762"/>
              <a:chOff x="0" y="0"/>
              <a:chExt cx="1720048" cy="1721761"/>
            </a:xfrm>
          </p:grpSpPr>
          <p:grpSp>
            <p:nvGrpSpPr>
              <p:cNvPr id="1526" name="Group 43"/>
              <p:cNvGrpSpPr/>
              <p:nvPr/>
            </p:nvGrpSpPr>
            <p:grpSpPr>
              <a:xfrm>
                <a:off x="634" y="4456"/>
                <a:ext cx="1719415" cy="1717306"/>
                <a:chOff x="0" y="0"/>
                <a:chExt cx="1719413" cy="1717305"/>
              </a:xfrm>
            </p:grpSpPr>
            <p:sp>
              <p:nvSpPr>
                <p:cNvPr id="1515" name="Oval 44"/>
                <p:cNvSpPr/>
                <p:nvPr/>
              </p:nvSpPr>
              <p:spPr>
                <a:xfrm>
                  <a:off x="2941" y="0"/>
                  <a:ext cx="1716473" cy="1716113"/>
                </a:xfrm>
                <a:prstGeom prst="ellipse">
                  <a:avLst/>
                </a:prstGeom>
                <a:solidFill>
                  <a:schemeClr val="accent3">
                    <a:lumOff val="44000"/>
                  </a:schemeClr>
                </a:solidFill>
                <a:ln w="9525" cap="flat">
                  <a:solidFill>
                    <a:srgbClr val="000000"/>
                  </a:solidFill>
                  <a:prstDash val="solid"/>
                  <a:round/>
                </a:ln>
                <a:effectLst>
                  <a:outerShdw blurRad="63500" dist="107762" dir="2700000" rotWithShape="0">
                    <a:srgbClr val="808080">
                      <a:alpha val="74998"/>
                    </a:srgbClr>
                  </a:outerShdw>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16" name="Oval 45"/>
                <p:cNvSpPr/>
                <p:nvPr/>
              </p:nvSpPr>
              <p:spPr>
                <a:xfrm>
                  <a:off x="192468" y="178885"/>
                  <a:ext cx="1373179" cy="1373846"/>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17" name="Oval 46"/>
                <p:cNvSpPr/>
                <p:nvPr/>
              </p:nvSpPr>
              <p:spPr>
                <a:xfrm>
                  <a:off x="364115" y="350616"/>
                  <a:ext cx="1029885" cy="1030385"/>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18" name="Oval 47"/>
                <p:cNvSpPr/>
                <p:nvPr/>
              </p:nvSpPr>
              <p:spPr>
                <a:xfrm>
                  <a:off x="521458" y="540235"/>
                  <a:ext cx="686589" cy="686923"/>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19" name="Line 48"/>
                <p:cNvSpPr/>
                <p:nvPr/>
              </p:nvSpPr>
              <p:spPr>
                <a:xfrm flipH="1">
                  <a:off x="861177" y="0"/>
                  <a:ext cx="1" cy="1717306"/>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20" name="Line 49"/>
                <p:cNvSpPr/>
                <p:nvPr/>
              </p:nvSpPr>
              <p:spPr>
                <a:xfrm flipH="1">
                  <a:off x="435511" y="118297"/>
                  <a:ext cx="858654" cy="1487231"/>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21" name="Line 50"/>
                <p:cNvSpPr/>
                <p:nvPr/>
              </p:nvSpPr>
              <p:spPr>
                <a:xfrm flipH="1">
                  <a:off x="114664" y="436140"/>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22" name="Line 51"/>
                <p:cNvSpPr/>
                <p:nvPr/>
              </p:nvSpPr>
              <p:spPr>
                <a:xfrm flipH="1" flipV="1">
                  <a:off x="0" y="843706"/>
                  <a:ext cx="1716473" cy="1"/>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23" name="Line 52"/>
                <p:cNvSpPr/>
                <p:nvPr/>
              </p:nvSpPr>
              <p:spPr>
                <a:xfrm flipH="1" flipV="1">
                  <a:off x="126027" y="403940"/>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24" name="Line 53"/>
                <p:cNvSpPr/>
                <p:nvPr/>
              </p:nvSpPr>
              <p:spPr>
                <a:xfrm flipH="1" flipV="1">
                  <a:off x="450915" y="121876"/>
                  <a:ext cx="858654" cy="1487230"/>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25" name="Oval 54"/>
                <p:cNvSpPr/>
                <p:nvPr/>
              </p:nvSpPr>
              <p:spPr>
                <a:xfrm>
                  <a:off x="693105" y="711966"/>
                  <a:ext cx="343295" cy="343463"/>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527" name="Freeform 55"/>
              <p:cNvSpPr/>
              <p:nvPr/>
            </p:nvSpPr>
            <p:spPr>
              <a:xfrm rot="10800000">
                <a:off x="859887" y="8911"/>
                <a:ext cx="435142" cy="280728"/>
              </a:xfrm>
              <a:custGeom>
                <a:avLst/>
                <a:gdLst/>
                <a:ahLst/>
                <a:cxnLst>
                  <a:cxn ang="0">
                    <a:pos x="wd2" y="hd2"/>
                  </a:cxn>
                  <a:cxn ang="5400000">
                    <a:pos x="wd2" y="hd2"/>
                  </a:cxn>
                  <a:cxn ang="10800000">
                    <a:pos x="wd2" y="hd2"/>
                  </a:cxn>
                  <a:cxn ang="16200000">
                    <a:pos x="wd2" y="hd2"/>
                  </a:cxn>
                </a:cxnLst>
                <a:rect l="0" t="0" r="r" b="b"/>
                <a:pathLst>
                  <a:path w="21600" h="21600" extrusionOk="0">
                    <a:moveTo>
                      <a:pt x="0" y="12447"/>
                    </a:moveTo>
                    <a:lnTo>
                      <a:pt x="4440" y="0"/>
                    </a:lnTo>
                    <a:lnTo>
                      <a:pt x="6698" y="2075"/>
                    </a:lnTo>
                    <a:lnTo>
                      <a:pt x="8806" y="3661"/>
                    </a:lnTo>
                    <a:lnTo>
                      <a:pt x="11063" y="5125"/>
                    </a:lnTo>
                    <a:lnTo>
                      <a:pt x="12644" y="5858"/>
                    </a:lnTo>
                    <a:lnTo>
                      <a:pt x="14676" y="6834"/>
                    </a:lnTo>
                    <a:lnTo>
                      <a:pt x="16708" y="7322"/>
                    </a:lnTo>
                    <a:lnTo>
                      <a:pt x="18514" y="7932"/>
                    </a:lnTo>
                    <a:lnTo>
                      <a:pt x="19869" y="8054"/>
                    </a:lnTo>
                    <a:lnTo>
                      <a:pt x="21600" y="8054"/>
                    </a:lnTo>
                    <a:lnTo>
                      <a:pt x="21600" y="21600"/>
                    </a:lnTo>
                    <a:lnTo>
                      <a:pt x="18966" y="21600"/>
                    </a:lnTo>
                    <a:lnTo>
                      <a:pt x="17160" y="21478"/>
                    </a:lnTo>
                    <a:lnTo>
                      <a:pt x="15052" y="21112"/>
                    </a:lnTo>
                    <a:lnTo>
                      <a:pt x="12794" y="20380"/>
                    </a:lnTo>
                    <a:lnTo>
                      <a:pt x="10838" y="19647"/>
                    </a:lnTo>
                    <a:lnTo>
                      <a:pt x="8279" y="18549"/>
                    </a:lnTo>
                    <a:lnTo>
                      <a:pt x="5193" y="16841"/>
                    </a:lnTo>
                    <a:lnTo>
                      <a:pt x="3161" y="15376"/>
                    </a:lnTo>
                    <a:lnTo>
                      <a:pt x="1731" y="14156"/>
                    </a:lnTo>
                    <a:lnTo>
                      <a:pt x="0" y="12447"/>
                    </a:lnTo>
                    <a:close/>
                  </a:path>
                </a:pathLst>
              </a:custGeom>
              <a:solidFill>
                <a:srgbClr val="FF0000"/>
              </a:solid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28" name="Freeform 56"/>
              <p:cNvSpPr/>
              <p:nvPr/>
            </p:nvSpPr>
            <p:spPr>
              <a:xfrm>
                <a:off x="610386" y="1179347"/>
                <a:ext cx="252472" cy="206461"/>
              </a:xfrm>
              <a:custGeom>
                <a:avLst/>
                <a:gdLst/>
                <a:ahLst/>
                <a:cxnLst>
                  <a:cxn ang="0">
                    <a:pos x="wd2" y="hd2"/>
                  </a:cxn>
                  <a:cxn ang="5400000">
                    <a:pos x="wd2" y="hd2"/>
                  </a:cxn>
                  <a:cxn ang="10800000">
                    <a:pos x="wd2" y="hd2"/>
                  </a:cxn>
                  <a:cxn ang="16200000">
                    <a:pos x="wd2" y="hd2"/>
                  </a:cxn>
                </a:cxnLst>
                <a:rect l="0" t="0" r="r" b="b"/>
                <a:pathLst>
                  <a:path w="21600" h="21600" extrusionOk="0">
                    <a:moveTo>
                      <a:pt x="0" y="13209"/>
                    </a:moveTo>
                    <a:lnTo>
                      <a:pt x="6353" y="0"/>
                    </a:lnTo>
                    <a:lnTo>
                      <a:pt x="9529" y="2331"/>
                    </a:lnTo>
                    <a:lnTo>
                      <a:pt x="12960" y="3729"/>
                    </a:lnTo>
                    <a:lnTo>
                      <a:pt x="16264" y="4817"/>
                    </a:lnTo>
                    <a:lnTo>
                      <a:pt x="21600" y="5594"/>
                    </a:lnTo>
                    <a:lnTo>
                      <a:pt x="21600" y="21600"/>
                    </a:lnTo>
                    <a:lnTo>
                      <a:pt x="17915" y="21134"/>
                    </a:lnTo>
                    <a:lnTo>
                      <a:pt x="13341" y="20201"/>
                    </a:lnTo>
                    <a:lnTo>
                      <a:pt x="9402" y="18803"/>
                    </a:lnTo>
                    <a:lnTo>
                      <a:pt x="4828" y="16783"/>
                    </a:lnTo>
                    <a:lnTo>
                      <a:pt x="2922" y="15850"/>
                    </a:lnTo>
                    <a:lnTo>
                      <a:pt x="0" y="13209"/>
                    </a:lnTo>
                    <a:close/>
                  </a:path>
                </a:pathLst>
              </a:custGeom>
              <a:solidFill>
                <a:srgbClr val="0000FF"/>
              </a:solid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29" name="Freeform 57"/>
              <p:cNvSpPr/>
              <p:nvPr/>
            </p:nvSpPr>
            <p:spPr>
              <a:xfrm>
                <a:off x="0" y="0"/>
                <a:ext cx="859888" cy="1296688"/>
              </a:xfrm>
              <a:custGeom>
                <a:avLst/>
                <a:gdLst/>
                <a:ahLst/>
                <a:cxnLst>
                  <a:cxn ang="0">
                    <a:pos x="wd2" y="hd2"/>
                  </a:cxn>
                  <a:cxn ang="5400000">
                    <a:pos x="wd2" y="hd2"/>
                  </a:cxn>
                  <a:cxn ang="10800000">
                    <a:pos x="wd2" y="hd2"/>
                  </a:cxn>
                  <a:cxn ang="16200000">
                    <a:pos x="wd2" y="hd2"/>
                  </a:cxn>
                </a:cxnLst>
                <a:rect l="0" t="0" r="r" b="b"/>
                <a:pathLst>
                  <a:path w="21600" h="21600" extrusionOk="0">
                    <a:moveTo>
                      <a:pt x="2984" y="21600"/>
                    </a:moveTo>
                    <a:lnTo>
                      <a:pt x="7013" y="20041"/>
                    </a:lnTo>
                    <a:lnTo>
                      <a:pt x="6790" y="19794"/>
                    </a:lnTo>
                    <a:lnTo>
                      <a:pt x="6230" y="19052"/>
                    </a:lnTo>
                    <a:lnTo>
                      <a:pt x="5820" y="18334"/>
                    </a:lnTo>
                    <a:lnTo>
                      <a:pt x="5484" y="17592"/>
                    </a:lnTo>
                    <a:lnTo>
                      <a:pt x="5223" y="16998"/>
                    </a:lnTo>
                    <a:lnTo>
                      <a:pt x="5036" y="16181"/>
                    </a:lnTo>
                    <a:lnTo>
                      <a:pt x="4887" y="15192"/>
                    </a:lnTo>
                    <a:lnTo>
                      <a:pt x="4812" y="13955"/>
                    </a:lnTo>
                    <a:lnTo>
                      <a:pt x="4999" y="12990"/>
                    </a:lnTo>
                    <a:lnTo>
                      <a:pt x="5223" y="12099"/>
                    </a:lnTo>
                    <a:lnTo>
                      <a:pt x="5782" y="10738"/>
                    </a:lnTo>
                    <a:lnTo>
                      <a:pt x="6678" y="9328"/>
                    </a:lnTo>
                    <a:lnTo>
                      <a:pt x="7498" y="8363"/>
                    </a:lnTo>
                    <a:lnTo>
                      <a:pt x="8692" y="7274"/>
                    </a:lnTo>
                    <a:lnTo>
                      <a:pt x="9849" y="6384"/>
                    </a:lnTo>
                    <a:lnTo>
                      <a:pt x="11378" y="5493"/>
                    </a:lnTo>
                    <a:lnTo>
                      <a:pt x="12609" y="4899"/>
                    </a:lnTo>
                    <a:lnTo>
                      <a:pt x="14213" y="4280"/>
                    </a:lnTo>
                    <a:lnTo>
                      <a:pt x="16191" y="3687"/>
                    </a:lnTo>
                    <a:lnTo>
                      <a:pt x="18093" y="3340"/>
                    </a:lnTo>
                    <a:lnTo>
                      <a:pt x="20332" y="3093"/>
                    </a:lnTo>
                    <a:lnTo>
                      <a:pt x="21600" y="3043"/>
                    </a:lnTo>
                    <a:lnTo>
                      <a:pt x="21600" y="0"/>
                    </a:lnTo>
                    <a:lnTo>
                      <a:pt x="19996" y="0"/>
                    </a:lnTo>
                    <a:lnTo>
                      <a:pt x="18914" y="148"/>
                    </a:lnTo>
                    <a:lnTo>
                      <a:pt x="17907" y="272"/>
                    </a:lnTo>
                    <a:lnTo>
                      <a:pt x="16526" y="421"/>
                    </a:lnTo>
                    <a:lnTo>
                      <a:pt x="14400" y="816"/>
                    </a:lnTo>
                    <a:lnTo>
                      <a:pt x="13206" y="1188"/>
                    </a:lnTo>
                    <a:lnTo>
                      <a:pt x="11938" y="1534"/>
                    </a:lnTo>
                    <a:lnTo>
                      <a:pt x="10520" y="2128"/>
                    </a:lnTo>
                    <a:lnTo>
                      <a:pt x="9289" y="2598"/>
                    </a:lnTo>
                    <a:lnTo>
                      <a:pt x="8170" y="3167"/>
                    </a:lnTo>
                    <a:lnTo>
                      <a:pt x="7051" y="3786"/>
                    </a:lnTo>
                    <a:lnTo>
                      <a:pt x="6230" y="4305"/>
                    </a:lnTo>
                    <a:lnTo>
                      <a:pt x="5447" y="4874"/>
                    </a:lnTo>
                    <a:lnTo>
                      <a:pt x="4701" y="5493"/>
                    </a:lnTo>
                    <a:lnTo>
                      <a:pt x="3880" y="6210"/>
                    </a:lnTo>
                    <a:lnTo>
                      <a:pt x="3096" y="6977"/>
                    </a:lnTo>
                    <a:lnTo>
                      <a:pt x="2350" y="7868"/>
                    </a:lnTo>
                    <a:lnTo>
                      <a:pt x="1679" y="8833"/>
                    </a:lnTo>
                    <a:lnTo>
                      <a:pt x="783" y="10614"/>
                    </a:lnTo>
                    <a:lnTo>
                      <a:pt x="336" y="11926"/>
                    </a:lnTo>
                    <a:lnTo>
                      <a:pt x="187" y="12816"/>
                    </a:lnTo>
                    <a:lnTo>
                      <a:pt x="0" y="14029"/>
                    </a:lnTo>
                    <a:lnTo>
                      <a:pt x="0" y="15118"/>
                    </a:lnTo>
                    <a:lnTo>
                      <a:pt x="224" y="16454"/>
                    </a:lnTo>
                    <a:lnTo>
                      <a:pt x="634" y="17740"/>
                    </a:lnTo>
                    <a:lnTo>
                      <a:pt x="895" y="18458"/>
                    </a:lnTo>
                    <a:lnTo>
                      <a:pt x="1567" y="19670"/>
                    </a:lnTo>
                    <a:lnTo>
                      <a:pt x="2126" y="20561"/>
                    </a:lnTo>
                    <a:lnTo>
                      <a:pt x="2686" y="21229"/>
                    </a:lnTo>
                    <a:lnTo>
                      <a:pt x="2984" y="21600"/>
                    </a:lnTo>
                    <a:close/>
                  </a:path>
                </a:pathLst>
              </a:custGeom>
              <a:solidFill>
                <a:srgbClr val="808080"/>
              </a:solidFill>
              <a:ln w="9525" cap="flat">
                <a:solidFill>
                  <a:srgbClr val="000000"/>
                </a:solidFill>
                <a:prstDash val="solid"/>
                <a:miter lim="800000"/>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531" name="AutoShape 58"/>
            <p:cNvSpPr/>
            <p:nvPr/>
          </p:nvSpPr>
          <p:spPr>
            <a:xfrm>
              <a:off x="726225" y="0"/>
              <a:ext cx="289600" cy="556996"/>
            </a:xfrm>
            <a:custGeom>
              <a:avLst/>
              <a:gdLst/>
              <a:ahLst/>
              <a:cxnLst>
                <a:cxn ang="0">
                  <a:pos x="wd2" y="hd2"/>
                </a:cxn>
                <a:cxn ang="5400000">
                  <a:pos x="wd2" y="hd2"/>
                </a:cxn>
                <a:cxn ang="10800000">
                  <a:pos x="wd2" y="hd2"/>
                </a:cxn>
                <a:cxn ang="16200000">
                  <a:pos x="wd2" y="hd2"/>
                </a:cxn>
              </a:cxnLst>
              <a:rect l="0" t="0" r="r" b="b"/>
              <a:pathLst>
                <a:path w="21600" h="21600" extrusionOk="0">
                  <a:moveTo>
                    <a:pt x="0" y="16201"/>
                  </a:moveTo>
                  <a:lnTo>
                    <a:pt x="5400" y="16201"/>
                  </a:lnTo>
                  <a:lnTo>
                    <a:pt x="5400" y="0"/>
                  </a:lnTo>
                  <a:lnTo>
                    <a:pt x="16200" y="0"/>
                  </a:lnTo>
                  <a:lnTo>
                    <a:pt x="16200" y="16201"/>
                  </a:lnTo>
                  <a:lnTo>
                    <a:pt x="21600" y="16201"/>
                  </a:lnTo>
                  <a:lnTo>
                    <a:pt x="10800" y="21600"/>
                  </a:lnTo>
                  <a:close/>
                </a:path>
              </a:pathLst>
            </a:custGeom>
            <a:solidFill>
              <a:srgbClr val="000000"/>
            </a:solidFill>
            <a:ln w="9525"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549" name="Group 59"/>
          <p:cNvGrpSpPr/>
          <p:nvPr/>
        </p:nvGrpSpPr>
        <p:grpSpPr>
          <a:xfrm>
            <a:off x="8408035" y="1618592"/>
            <a:ext cx="1719415" cy="2161375"/>
            <a:chOff x="0" y="0"/>
            <a:chExt cx="1719413" cy="2161374"/>
          </a:xfrm>
        </p:grpSpPr>
        <p:grpSp>
          <p:nvGrpSpPr>
            <p:cNvPr id="1547" name="Group 60"/>
            <p:cNvGrpSpPr/>
            <p:nvPr/>
          </p:nvGrpSpPr>
          <p:grpSpPr>
            <a:xfrm>
              <a:off x="-1" y="443798"/>
              <a:ext cx="1719415" cy="1717577"/>
              <a:chOff x="0" y="0"/>
              <a:chExt cx="1719413" cy="1717576"/>
            </a:xfrm>
          </p:grpSpPr>
          <p:grpSp>
            <p:nvGrpSpPr>
              <p:cNvPr id="1544" name="Group 61"/>
              <p:cNvGrpSpPr/>
              <p:nvPr/>
            </p:nvGrpSpPr>
            <p:grpSpPr>
              <a:xfrm>
                <a:off x="-1" y="1484"/>
                <a:ext cx="1719415" cy="1716093"/>
                <a:chOff x="0" y="0"/>
                <a:chExt cx="1719413" cy="1716091"/>
              </a:xfrm>
            </p:grpSpPr>
            <p:sp>
              <p:nvSpPr>
                <p:cNvPr id="1533" name="Oval 62"/>
                <p:cNvSpPr/>
                <p:nvPr/>
              </p:nvSpPr>
              <p:spPr>
                <a:xfrm>
                  <a:off x="2941" y="1191"/>
                  <a:ext cx="1716473" cy="1714901"/>
                </a:xfrm>
                <a:prstGeom prst="ellipse">
                  <a:avLst/>
                </a:prstGeom>
                <a:solidFill>
                  <a:schemeClr val="accent3">
                    <a:lumOff val="44000"/>
                  </a:schemeClr>
                </a:solidFill>
                <a:ln w="9525" cap="flat">
                  <a:solidFill>
                    <a:srgbClr val="000000"/>
                  </a:solidFill>
                  <a:prstDash val="solid"/>
                  <a:round/>
                </a:ln>
                <a:effectLst>
                  <a:outerShdw blurRad="63500" dist="107762" dir="2700000" rotWithShape="0">
                    <a:srgbClr val="808080">
                      <a:alpha val="74998"/>
                    </a:srgbClr>
                  </a:outerShdw>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34" name="Oval 63"/>
                <p:cNvSpPr/>
                <p:nvPr/>
              </p:nvSpPr>
              <p:spPr>
                <a:xfrm>
                  <a:off x="192468" y="178759"/>
                  <a:ext cx="1373179" cy="1372875"/>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35" name="Oval 64"/>
                <p:cNvSpPr/>
                <p:nvPr/>
              </p:nvSpPr>
              <p:spPr>
                <a:xfrm>
                  <a:off x="364115" y="350368"/>
                  <a:ext cx="1029885" cy="1029657"/>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36" name="Oval 65"/>
                <p:cNvSpPr/>
                <p:nvPr/>
              </p:nvSpPr>
              <p:spPr>
                <a:xfrm>
                  <a:off x="521458" y="539854"/>
                  <a:ext cx="686589" cy="686437"/>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37" name="Line 66"/>
                <p:cNvSpPr/>
                <p:nvPr/>
              </p:nvSpPr>
              <p:spPr>
                <a:xfrm flipH="1">
                  <a:off x="861177" y="0"/>
                  <a:ext cx="1" cy="1716093"/>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38" name="Line 67"/>
                <p:cNvSpPr/>
                <p:nvPr/>
              </p:nvSpPr>
              <p:spPr>
                <a:xfrm flipH="1">
                  <a:off x="435815" y="118214"/>
                  <a:ext cx="858047" cy="1486180"/>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39" name="Line 68"/>
                <p:cNvSpPr/>
                <p:nvPr/>
              </p:nvSpPr>
              <p:spPr>
                <a:xfrm flipH="1">
                  <a:off x="114664" y="435528"/>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40" name="Line 69"/>
                <p:cNvSpPr/>
                <p:nvPr/>
              </p:nvSpPr>
              <p:spPr>
                <a:xfrm flipH="1" flipV="1">
                  <a:off x="0" y="843110"/>
                  <a:ext cx="1716473" cy="1"/>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41" name="Line 70"/>
                <p:cNvSpPr/>
                <p:nvPr/>
              </p:nvSpPr>
              <p:spPr>
                <a:xfrm flipH="1" flipV="1">
                  <a:off x="126027" y="403351"/>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42" name="Line 71"/>
                <p:cNvSpPr/>
                <p:nvPr/>
              </p:nvSpPr>
              <p:spPr>
                <a:xfrm flipH="1" flipV="1">
                  <a:off x="451218" y="121789"/>
                  <a:ext cx="858047" cy="1486180"/>
                </a:xfrm>
                <a:prstGeom prst="line">
                  <a:avLst/>
                </a:prstGeom>
                <a:no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43" name="Oval 72"/>
                <p:cNvSpPr/>
                <p:nvPr/>
              </p:nvSpPr>
              <p:spPr>
                <a:xfrm>
                  <a:off x="693105" y="711463"/>
                  <a:ext cx="343295" cy="343219"/>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545" name="Freeform 73"/>
              <p:cNvSpPr/>
              <p:nvPr/>
            </p:nvSpPr>
            <p:spPr>
              <a:xfrm>
                <a:off x="440447" y="0"/>
                <a:ext cx="421776" cy="271623"/>
              </a:xfrm>
              <a:custGeom>
                <a:avLst/>
                <a:gdLst/>
                <a:ahLst/>
                <a:cxnLst>
                  <a:cxn ang="0">
                    <a:pos x="wd2" y="hd2"/>
                  </a:cxn>
                  <a:cxn ang="5400000">
                    <a:pos x="wd2" y="hd2"/>
                  </a:cxn>
                  <a:cxn ang="10800000">
                    <a:pos x="wd2" y="hd2"/>
                  </a:cxn>
                  <a:cxn ang="16200000">
                    <a:pos x="wd2" y="hd2"/>
                  </a:cxn>
                </a:cxnLst>
                <a:rect l="0" t="0" r="r" b="b"/>
                <a:pathLst>
                  <a:path w="21600" h="21600" extrusionOk="0">
                    <a:moveTo>
                      <a:pt x="21600" y="14164"/>
                    </a:moveTo>
                    <a:lnTo>
                      <a:pt x="21600" y="0"/>
                    </a:lnTo>
                    <a:lnTo>
                      <a:pt x="19090" y="118"/>
                    </a:lnTo>
                    <a:lnTo>
                      <a:pt x="16656" y="354"/>
                    </a:lnTo>
                    <a:lnTo>
                      <a:pt x="13918" y="1062"/>
                    </a:lnTo>
                    <a:lnTo>
                      <a:pt x="10420" y="2243"/>
                    </a:lnTo>
                    <a:lnTo>
                      <a:pt x="6997" y="3659"/>
                    </a:lnTo>
                    <a:lnTo>
                      <a:pt x="4944" y="4957"/>
                    </a:lnTo>
                    <a:lnTo>
                      <a:pt x="2738" y="6374"/>
                    </a:lnTo>
                    <a:lnTo>
                      <a:pt x="0" y="8852"/>
                    </a:lnTo>
                    <a:lnTo>
                      <a:pt x="4792" y="21600"/>
                    </a:lnTo>
                    <a:lnTo>
                      <a:pt x="7454" y="19475"/>
                    </a:lnTo>
                    <a:lnTo>
                      <a:pt x="10039" y="17705"/>
                    </a:lnTo>
                    <a:lnTo>
                      <a:pt x="13006" y="16289"/>
                    </a:lnTo>
                    <a:lnTo>
                      <a:pt x="15059" y="15344"/>
                    </a:lnTo>
                    <a:lnTo>
                      <a:pt x="18406" y="14518"/>
                    </a:lnTo>
                    <a:lnTo>
                      <a:pt x="21600" y="14164"/>
                    </a:lnTo>
                    <a:close/>
                  </a:path>
                </a:pathLst>
              </a:custGeom>
              <a:solidFill>
                <a:srgbClr val="FF0000"/>
              </a:solid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46" name="Freeform 74"/>
              <p:cNvSpPr/>
              <p:nvPr/>
            </p:nvSpPr>
            <p:spPr>
              <a:xfrm>
                <a:off x="1050833" y="1012275"/>
                <a:ext cx="285145" cy="298340"/>
              </a:xfrm>
              <a:custGeom>
                <a:avLst/>
                <a:gdLst/>
                <a:ahLst/>
                <a:cxnLst>
                  <a:cxn ang="0">
                    <a:pos x="wd2" y="hd2"/>
                  </a:cxn>
                  <a:cxn ang="5400000">
                    <a:pos x="wd2" y="hd2"/>
                  </a:cxn>
                  <a:cxn ang="10800000">
                    <a:pos x="wd2" y="hd2"/>
                  </a:cxn>
                  <a:cxn ang="16200000">
                    <a:pos x="wd2" y="hd2"/>
                  </a:cxn>
                </a:cxnLst>
                <a:rect l="0" t="0" r="r" b="b"/>
                <a:pathLst>
                  <a:path w="21600" h="21600" extrusionOk="0">
                    <a:moveTo>
                      <a:pt x="0" y="11284"/>
                    </a:moveTo>
                    <a:lnTo>
                      <a:pt x="6412" y="21600"/>
                    </a:lnTo>
                    <a:lnTo>
                      <a:pt x="10462" y="19666"/>
                    </a:lnTo>
                    <a:lnTo>
                      <a:pt x="13838" y="16442"/>
                    </a:lnTo>
                    <a:lnTo>
                      <a:pt x="17550" y="12573"/>
                    </a:lnTo>
                    <a:lnTo>
                      <a:pt x="20588" y="8060"/>
                    </a:lnTo>
                    <a:lnTo>
                      <a:pt x="21600" y="6125"/>
                    </a:lnTo>
                    <a:lnTo>
                      <a:pt x="9787" y="0"/>
                    </a:lnTo>
                    <a:lnTo>
                      <a:pt x="8437" y="2579"/>
                    </a:lnTo>
                    <a:lnTo>
                      <a:pt x="6075" y="5481"/>
                    </a:lnTo>
                    <a:lnTo>
                      <a:pt x="3037" y="8704"/>
                    </a:lnTo>
                    <a:lnTo>
                      <a:pt x="0" y="11284"/>
                    </a:lnTo>
                    <a:close/>
                  </a:path>
                </a:pathLst>
              </a:custGeom>
              <a:solidFill>
                <a:srgbClr val="0000FF"/>
              </a:solidFill>
              <a:ln w="9525" cap="flat">
                <a:solidFill>
                  <a:srgbClr val="000000"/>
                </a:solidFill>
                <a:prstDash val="solid"/>
                <a:round/>
              </a:ln>
              <a:effectLst/>
            </p:spPr>
            <p:txBody>
              <a:bodyPr wrap="square" lIns="45719" tIns="45719" rIns="45719" bIns="45719" numCol="1" anchor="t">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548" name="AutoShape 75"/>
            <p:cNvSpPr/>
            <p:nvPr/>
          </p:nvSpPr>
          <p:spPr>
            <a:xfrm>
              <a:off x="716680" y="0"/>
              <a:ext cx="289600" cy="556603"/>
            </a:xfrm>
            <a:custGeom>
              <a:avLst/>
              <a:gdLst/>
              <a:ahLst/>
              <a:cxnLst>
                <a:cxn ang="0">
                  <a:pos x="wd2" y="hd2"/>
                </a:cxn>
                <a:cxn ang="5400000">
                  <a:pos x="wd2" y="hd2"/>
                </a:cxn>
                <a:cxn ang="10800000">
                  <a:pos x="wd2" y="hd2"/>
                </a:cxn>
                <a:cxn ang="16200000">
                  <a:pos x="wd2" y="hd2"/>
                </a:cxn>
              </a:cxnLst>
              <a:rect l="0" t="0" r="r" b="b"/>
              <a:pathLst>
                <a:path w="21600" h="21600" extrusionOk="0">
                  <a:moveTo>
                    <a:pt x="0" y="16197"/>
                  </a:moveTo>
                  <a:lnTo>
                    <a:pt x="5400" y="16197"/>
                  </a:lnTo>
                  <a:lnTo>
                    <a:pt x="5400" y="0"/>
                  </a:lnTo>
                  <a:lnTo>
                    <a:pt x="16200" y="0"/>
                  </a:lnTo>
                  <a:lnTo>
                    <a:pt x="16200" y="16197"/>
                  </a:lnTo>
                  <a:lnTo>
                    <a:pt x="21600" y="16197"/>
                  </a:lnTo>
                  <a:lnTo>
                    <a:pt x="10800" y="21600"/>
                  </a:lnTo>
                  <a:close/>
                </a:path>
              </a:pathLst>
            </a:custGeom>
            <a:solidFill>
              <a:srgbClr val="000000"/>
            </a:solidFill>
            <a:ln w="9525"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553" name="AutoShape 76"/>
          <p:cNvGrpSpPr/>
          <p:nvPr/>
        </p:nvGrpSpPr>
        <p:grpSpPr>
          <a:xfrm>
            <a:off x="1904919" y="2034516"/>
            <a:ext cx="304882" cy="1717520"/>
            <a:chOff x="0" y="0"/>
            <a:chExt cx="304880" cy="1717519"/>
          </a:xfrm>
        </p:grpSpPr>
        <p:sp>
          <p:nvSpPr>
            <p:cNvPr id="1550" name="Shape"/>
            <p:cNvSpPr/>
            <p:nvPr/>
          </p:nvSpPr>
          <p:spPr>
            <a:xfrm>
              <a:off x="0" y="0"/>
              <a:ext cx="304881" cy="1717519"/>
            </a:xfrm>
            <a:custGeom>
              <a:avLst/>
              <a:gdLst/>
              <a:ahLst/>
              <a:cxnLst>
                <a:cxn ang="0">
                  <a:pos x="wd2" y="hd2"/>
                </a:cxn>
                <a:cxn ang="5400000">
                  <a:pos x="wd2" y="hd2"/>
                </a:cxn>
                <a:cxn ang="10800000">
                  <a:pos x="wd2" y="hd2"/>
                </a:cxn>
                <a:cxn ang="16200000">
                  <a:pos x="wd2" y="hd2"/>
                </a:cxn>
              </a:cxnLst>
              <a:rect l="0" t="0" r="r" b="b"/>
              <a:pathLst>
                <a:path w="19358" h="21600" extrusionOk="0">
                  <a:moveTo>
                    <a:pt x="5" y="7714"/>
                  </a:moveTo>
                  <a:cubicBezTo>
                    <a:pt x="5" y="10984"/>
                    <a:pt x="5175" y="13898"/>
                    <a:pt x="12907" y="14988"/>
                  </a:cubicBezTo>
                  <a:lnTo>
                    <a:pt x="12907" y="12784"/>
                  </a:lnTo>
                  <a:lnTo>
                    <a:pt x="19358" y="17633"/>
                  </a:lnTo>
                  <a:lnTo>
                    <a:pt x="12907" y="21600"/>
                  </a:lnTo>
                  <a:lnTo>
                    <a:pt x="12907" y="19396"/>
                  </a:lnTo>
                  <a:cubicBezTo>
                    <a:pt x="5175" y="18306"/>
                    <a:pt x="5" y="15392"/>
                    <a:pt x="5" y="12123"/>
                  </a:cubicBezTo>
                  <a:close/>
                  <a:moveTo>
                    <a:pt x="19358" y="4408"/>
                  </a:moveTo>
                  <a:cubicBezTo>
                    <a:pt x="10799" y="4408"/>
                    <a:pt x="3257" y="6649"/>
                    <a:pt x="812" y="9919"/>
                  </a:cubicBezTo>
                  <a:lnTo>
                    <a:pt x="812" y="9919"/>
                  </a:lnTo>
                  <a:cubicBezTo>
                    <a:pt x="-2242" y="5836"/>
                    <a:pt x="3586" y="1539"/>
                    <a:pt x="13829" y="322"/>
                  </a:cubicBezTo>
                  <a:cubicBezTo>
                    <a:pt x="15623" y="108"/>
                    <a:pt x="17486" y="0"/>
                    <a:pt x="19358" y="0"/>
                  </a:cubicBezTo>
                  <a:close/>
                </a:path>
              </a:pathLst>
            </a:custGeom>
            <a:solidFill>
              <a:srgbClr val="F7F5CD"/>
            </a:solidFill>
            <a:ln w="12700" cap="flat">
              <a:noFill/>
              <a:miter lim="4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51" name="Shape"/>
            <p:cNvSpPr/>
            <p:nvPr/>
          </p:nvSpPr>
          <p:spPr>
            <a:xfrm>
              <a:off x="0" y="0"/>
              <a:ext cx="304881" cy="788671"/>
            </a:xfrm>
            <a:custGeom>
              <a:avLst/>
              <a:gdLst/>
              <a:ahLst/>
              <a:cxnLst>
                <a:cxn ang="0">
                  <a:pos x="wd2" y="hd2"/>
                </a:cxn>
                <a:cxn ang="5400000">
                  <a:pos x="wd2" y="hd2"/>
                </a:cxn>
                <a:cxn ang="10800000">
                  <a:pos x="wd2" y="hd2"/>
                </a:cxn>
                <a:cxn ang="16200000">
                  <a:pos x="wd2" y="hd2"/>
                </a:cxn>
              </a:cxnLst>
              <a:rect l="0" t="0" r="r" b="b"/>
              <a:pathLst>
                <a:path w="19358" h="21600" extrusionOk="0">
                  <a:moveTo>
                    <a:pt x="19358" y="9600"/>
                  </a:moveTo>
                  <a:cubicBezTo>
                    <a:pt x="10799" y="9600"/>
                    <a:pt x="3257" y="14480"/>
                    <a:pt x="812" y="21600"/>
                  </a:cubicBezTo>
                  <a:lnTo>
                    <a:pt x="812" y="21600"/>
                  </a:lnTo>
                  <a:cubicBezTo>
                    <a:pt x="-2242" y="12708"/>
                    <a:pt x="3586" y="3351"/>
                    <a:pt x="13829" y="700"/>
                  </a:cubicBezTo>
                  <a:cubicBezTo>
                    <a:pt x="15623" y="236"/>
                    <a:pt x="17486" y="0"/>
                    <a:pt x="19358" y="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52" name="Line"/>
            <p:cNvSpPr/>
            <p:nvPr/>
          </p:nvSpPr>
          <p:spPr>
            <a:xfrm>
              <a:off x="80" y="0"/>
              <a:ext cx="304801" cy="1717520"/>
            </a:xfrm>
            <a:custGeom>
              <a:avLst/>
              <a:gdLst/>
              <a:ahLst/>
              <a:cxnLst>
                <a:cxn ang="0">
                  <a:pos x="wd2" y="hd2"/>
                </a:cxn>
                <a:cxn ang="5400000">
                  <a:pos x="wd2" y="hd2"/>
                </a:cxn>
                <a:cxn ang="10800000">
                  <a:pos x="wd2" y="hd2"/>
                </a:cxn>
                <a:cxn ang="16200000">
                  <a:pos x="wd2" y="hd2"/>
                </a:cxn>
              </a:cxnLst>
              <a:rect l="0" t="0" r="r" b="b"/>
              <a:pathLst>
                <a:path w="21600" h="21600" extrusionOk="0">
                  <a:moveTo>
                    <a:pt x="0" y="7714"/>
                  </a:moveTo>
                  <a:cubicBezTo>
                    <a:pt x="0" y="10984"/>
                    <a:pt x="5770" y="13898"/>
                    <a:pt x="14400" y="14988"/>
                  </a:cubicBezTo>
                  <a:lnTo>
                    <a:pt x="14400" y="12784"/>
                  </a:lnTo>
                  <a:lnTo>
                    <a:pt x="21600" y="17633"/>
                  </a:lnTo>
                  <a:lnTo>
                    <a:pt x="14400" y="21600"/>
                  </a:lnTo>
                  <a:lnTo>
                    <a:pt x="14400" y="19396"/>
                  </a:lnTo>
                  <a:cubicBezTo>
                    <a:pt x="5770" y="18306"/>
                    <a:pt x="0" y="15392"/>
                    <a:pt x="0" y="12123"/>
                  </a:cubicBezTo>
                  <a:lnTo>
                    <a:pt x="0" y="7714"/>
                  </a:lnTo>
                  <a:cubicBezTo>
                    <a:pt x="0" y="3454"/>
                    <a:pt x="9671" y="0"/>
                    <a:pt x="21600" y="0"/>
                  </a:cubicBezTo>
                  <a:lnTo>
                    <a:pt x="21600" y="4408"/>
                  </a:lnTo>
                  <a:cubicBezTo>
                    <a:pt x="12048" y="4408"/>
                    <a:pt x="3630" y="6649"/>
                    <a:pt x="900" y="9919"/>
                  </a:cubicBezTo>
                </a:path>
              </a:pathLst>
            </a:custGeom>
            <a:noFill/>
            <a:ln w="9525"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grpSp>
      <p:sp>
        <p:nvSpPr>
          <p:cNvPr id="1554" name="TextBox 83"/>
          <p:cNvSpPr txBox="1"/>
          <p:nvPr/>
        </p:nvSpPr>
        <p:spPr>
          <a:xfrm>
            <a:off x="2462481" y="5022163"/>
            <a:ext cx="1323437"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数据传输</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555" name="TextBox 84"/>
          <p:cNvSpPr txBox="1"/>
          <p:nvPr/>
        </p:nvSpPr>
        <p:spPr>
          <a:xfrm>
            <a:off x="4820574" y="5011932"/>
            <a:ext cx="707884"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寻道</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556" name="TextBox 85"/>
          <p:cNvSpPr txBox="1"/>
          <p:nvPr/>
        </p:nvSpPr>
        <p:spPr>
          <a:xfrm>
            <a:off x="6446519" y="5011932"/>
            <a:ext cx="1565132" cy="461665"/>
          </a:xfrm>
          <a:prstGeom prst="rect">
            <a:avLst/>
          </a:prstGeom>
          <a:ln w="12700">
            <a:miter lim="400000"/>
          </a:ln>
        </p:spPr>
        <p:txBody>
          <a:bodyPr lIns="45719" rIns="45719">
            <a:spAutoFit/>
          </a:bodyPr>
          <a:lstStyle/>
          <a:p>
            <a:pPr algn="ctr">
              <a:defRPr>
                <a:latin typeface="Calibri"/>
                <a:ea typeface="Calibri"/>
                <a:cs typeface="Calibri"/>
                <a:sym typeface="Calibri"/>
              </a:defRPr>
            </a:pPr>
            <a:r>
              <a:rPr lang="en-US" dirty="0" err="1">
                <a:latin typeface="Consolas" panose="020B0609020204030204" pitchFamily="49" charset="0"/>
                <a:ea typeface="FangSong" panose="02010609060101010101" pitchFamily="49" charset="-122"/>
                <a:cs typeface="Consolas" panose="020B0609020204030204" pitchFamily="49" charset="0"/>
              </a:rPr>
              <a:t>旋转延迟</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557" name="TextBox 86"/>
          <p:cNvSpPr txBox="1"/>
          <p:nvPr/>
        </p:nvSpPr>
        <p:spPr>
          <a:xfrm>
            <a:off x="8623602" y="5011932"/>
            <a:ext cx="1323437"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数据传输</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558" name="Straight Arrow Connector 88"/>
          <p:cNvSpPr/>
          <p:nvPr/>
        </p:nvSpPr>
        <p:spPr>
          <a:xfrm flipV="1">
            <a:off x="3120826" y="4543182"/>
            <a:ext cx="4865" cy="444548"/>
          </a:xfrm>
          <a:prstGeom prst="line">
            <a:avLst/>
          </a:prstGeom>
          <a:ln w="254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59" name="Straight Arrow Connector 89"/>
          <p:cNvSpPr/>
          <p:nvPr/>
        </p:nvSpPr>
        <p:spPr>
          <a:xfrm flipV="1">
            <a:off x="5180486" y="4601879"/>
            <a:ext cx="4865" cy="392470"/>
          </a:xfrm>
          <a:prstGeom prst="line">
            <a:avLst/>
          </a:prstGeom>
          <a:ln w="254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60" name="Straight Arrow Connector 90"/>
          <p:cNvSpPr/>
          <p:nvPr/>
        </p:nvSpPr>
        <p:spPr>
          <a:xfrm flipV="1">
            <a:off x="7235859" y="4601879"/>
            <a:ext cx="1" cy="424692"/>
          </a:xfrm>
          <a:prstGeom prst="line">
            <a:avLst/>
          </a:prstGeom>
          <a:ln w="254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561" name="Straight Arrow Connector 91"/>
          <p:cNvSpPr/>
          <p:nvPr/>
        </p:nvSpPr>
        <p:spPr>
          <a:xfrm flipV="1">
            <a:off x="9285321" y="4613547"/>
            <a:ext cx="1" cy="413024"/>
          </a:xfrm>
          <a:prstGeom prst="line">
            <a:avLst/>
          </a:prstGeom>
          <a:ln w="25400">
            <a:solidFill>
              <a:srgbClr val="000000"/>
            </a:solidFill>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2" name="TextBox 1"/>
          <p:cNvSpPr txBox="1"/>
          <p:nvPr/>
        </p:nvSpPr>
        <p:spPr>
          <a:xfrm>
            <a:off x="569298" y="5609689"/>
            <a:ext cx="11053403"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2000" dirty="0">
                <a:latin typeface="Consolas" panose="020B0609020204030204" pitchFamily="49" charset="0"/>
                <a:ea typeface="FangSong" panose="02010609060101010101" pitchFamily="49" charset="-122"/>
                <a:cs typeface="Consolas" panose="020B0609020204030204" pitchFamily="49" charset="0"/>
              </a:rPr>
              <a:t>注意：磁盘访问时间主要由寻道时间（</a:t>
            </a:r>
            <a:r>
              <a:rPr lang="en-US" sz="2000" dirty="0">
                <a:latin typeface="Consolas" panose="020B0609020204030204" pitchFamily="49" charset="0"/>
                <a:ea typeface="FangSong" panose="02010609060101010101" pitchFamily="49" charset="-122"/>
                <a:cs typeface="Consolas" panose="020B0609020204030204" pitchFamily="49" charset="0"/>
              </a:rPr>
              <a:t>seek time）</a:t>
            </a:r>
            <a:r>
              <a:rPr lang="zh-CN" altLang="en-US" sz="2000" dirty="0">
                <a:latin typeface="Consolas" panose="020B0609020204030204" pitchFamily="49" charset="0"/>
                <a:ea typeface="FangSong" panose="02010609060101010101" pitchFamily="49" charset="-122"/>
                <a:cs typeface="Consolas" panose="020B0609020204030204" pitchFamily="49" charset="0"/>
              </a:rPr>
              <a:t>和旋转延迟（</a:t>
            </a:r>
            <a:r>
              <a:rPr lang="en-US" sz="2000" dirty="0">
                <a:latin typeface="Consolas" panose="020B0609020204030204" pitchFamily="49" charset="0"/>
                <a:ea typeface="FangSong" panose="02010609060101010101" pitchFamily="49" charset="-122"/>
                <a:cs typeface="Consolas" panose="020B0609020204030204" pitchFamily="49" charset="0"/>
              </a:rPr>
              <a:t>rotational latency）</a:t>
            </a:r>
            <a:r>
              <a:rPr lang="zh-CN" altLang="en-US" sz="2000" dirty="0">
                <a:latin typeface="Consolas" panose="020B0609020204030204" pitchFamily="49" charset="0"/>
                <a:ea typeface="FangSong" panose="02010609060101010101" pitchFamily="49" charset="-122"/>
                <a:cs typeface="Consolas" panose="020B0609020204030204" pitchFamily="49" charset="0"/>
              </a:rPr>
              <a:t>决定，</a:t>
            </a:r>
            <a:br>
              <a:rPr lang="zh-CN" altLang="en-US" sz="2000" dirty="0">
                <a:latin typeface="Consolas" panose="020B0609020204030204" pitchFamily="49" charset="0"/>
                <a:ea typeface="FangSong" panose="02010609060101010101" pitchFamily="49" charset="-122"/>
                <a:cs typeface="Consolas" panose="020B0609020204030204" pitchFamily="49" charset="0"/>
              </a:rPr>
            </a:br>
            <a:r>
              <a:rPr lang="zh-CN" altLang="en-US" sz="2000" dirty="0">
                <a:latin typeface="Consolas" panose="020B0609020204030204" pitchFamily="49" charset="0"/>
                <a:ea typeface="FangSong" panose="02010609060101010101" pitchFamily="49" charset="-122"/>
                <a:cs typeface="Consolas" panose="020B0609020204030204" pitchFamily="49" charset="0"/>
              </a:rPr>
              <a:t>     其速度比 </a:t>
            </a:r>
            <a:r>
              <a:rPr lang="en-US" sz="2000" dirty="0">
                <a:latin typeface="Consolas" panose="020B0609020204030204" pitchFamily="49" charset="0"/>
                <a:ea typeface="FangSong" panose="02010609060101010101" pitchFamily="49" charset="-122"/>
                <a:cs typeface="Consolas" panose="020B0609020204030204" pitchFamily="49" charset="0"/>
              </a:rPr>
              <a:t>DRAM </a:t>
            </a:r>
            <a:r>
              <a:rPr lang="zh-CN" altLang="en-US" sz="2000" dirty="0">
                <a:latin typeface="Consolas" panose="020B0609020204030204" pitchFamily="49" charset="0"/>
                <a:ea typeface="FangSong" panose="02010609060101010101" pitchFamily="49" charset="-122"/>
                <a:cs typeface="Consolas" panose="020B0609020204030204" pitchFamily="49" charset="0"/>
              </a:rPr>
              <a:t>慢几个数量级！</a:t>
            </a:r>
            <a:endParaRPr lang="zh-CN" altLang="en-US" sz="2000" dirty="0">
              <a:latin typeface="Consolas" panose="020B0609020204030204" pitchFamily="49" charset="0"/>
              <a:ea typeface="FangSong" panose="02010609060101010101" pitchFamily="49" charset="-122"/>
              <a:cs typeface="Consolas" panose="020B0609020204030204" pitchFamily="49" charset="0"/>
            </a:endParaRPr>
          </a:p>
        </p:txBody>
      </p:sp>
      <p:sp>
        <p:nvSpPr>
          <p:cNvPr id="3" name="Slide Number Placeholder 2"/>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 name="Rectangle 1028"/>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非易失存储器</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823" name="Rectangle 1029"/>
          <p:cNvSpPr txBox="1">
            <a:spLocks noGrp="1"/>
          </p:cNvSpPr>
          <p:nvPr>
            <p:ph type="body" idx="1"/>
          </p:nvPr>
        </p:nvSpPr>
        <p:spPr>
          <a:xfrm>
            <a:off x="1160980" y="1309522"/>
            <a:ext cx="10273609" cy="5448630"/>
          </a:xfrm>
          <a:prstGeom prst="rect">
            <a:avLst/>
          </a:prstGeom>
        </p:spPr>
        <p:txBody>
          <a:bodyPr>
            <a:normAutofit/>
          </a:bodyPr>
          <a:lstStyle/>
          <a:p>
            <a:r>
              <a:rPr lang="en-US" sz="1800" dirty="0">
                <a:latin typeface="Consolas" panose="020B0609020204030204" pitchFamily="49" charset="0"/>
                <a:ea typeface="FangSong" panose="02010609060101010101" pitchFamily="49" charset="-122"/>
                <a:cs typeface="Consolas" panose="020B0609020204030204" pitchFamily="49" charset="0"/>
              </a:rPr>
              <a:t>DRAM </a:t>
            </a:r>
            <a:r>
              <a:rPr lang="zh-CN" altLang="en-US" sz="1800" dirty="0">
                <a:latin typeface="Consolas" panose="020B0609020204030204" pitchFamily="49" charset="0"/>
                <a:ea typeface="FangSong" panose="02010609060101010101" pitchFamily="49" charset="-122"/>
                <a:cs typeface="Consolas" panose="020B0609020204030204" pitchFamily="49" charset="0"/>
              </a:rPr>
              <a:t>和 </a:t>
            </a:r>
            <a:r>
              <a:rPr lang="en-US" sz="1800" dirty="0">
                <a:latin typeface="Consolas" panose="020B0609020204030204" pitchFamily="49" charset="0"/>
                <a:ea typeface="FangSong" panose="02010609060101010101" pitchFamily="49" charset="-122"/>
                <a:cs typeface="Consolas" panose="020B0609020204030204" pitchFamily="49" charset="0"/>
              </a:rPr>
              <a:t>SRAM </a:t>
            </a:r>
            <a:r>
              <a:rPr lang="zh-CN" altLang="en-US" sz="1800" dirty="0">
                <a:latin typeface="Consolas" panose="020B0609020204030204" pitchFamily="49" charset="0"/>
                <a:ea typeface="FangSong" panose="02010609060101010101" pitchFamily="49" charset="-122"/>
                <a:cs typeface="Consolas" panose="020B0609020204030204" pitchFamily="49" charset="0"/>
              </a:rPr>
              <a:t>是易失性存储器（</a:t>
            </a:r>
            <a:r>
              <a:rPr lang="en-US" sz="1800" dirty="0">
                <a:latin typeface="Consolas" panose="020B0609020204030204" pitchFamily="49" charset="0"/>
                <a:ea typeface="FangSong" panose="02010609060101010101" pitchFamily="49" charset="-122"/>
                <a:cs typeface="Consolas" panose="020B0609020204030204" pitchFamily="49" charset="0"/>
              </a:rPr>
              <a:t>volatile memories）</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1800" dirty="0">
                <a:latin typeface="Consolas" panose="020B0609020204030204" pitchFamily="49" charset="0"/>
                <a:ea typeface="FangSong" panose="02010609060101010101" pitchFamily="49" charset="-122"/>
                <a:cs typeface="Consolas" panose="020B0609020204030204" pitchFamily="49" charset="0"/>
              </a:rPr>
              <a:t>一旦断电，所存信息就会丢失</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r>
              <a:rPr lang="zh-CN" altLang="en-US" sz="1800" dirty="0">
                <a:latin typeface="Consolas" panose="020B0609020204030204" pitchFamily="49" charset="0"/>
                <a:ea typeface="FangSong" panose="02010609060101010101" pitchFamily="49" charset="-122"/>
                <a:cs typeface="Consolas" panose="020B0609020204030204" pitchFamily="49" charset="0"/>
              </a:rPr>
              <a:t>非易失性存储器（</a:t>
            </a:r>
            <a:r>
              <a:rPr lang="en-US" sz="1800" dirty="0">
                <a:latin typeface="Consolas" panose="020B0609020204030204" pitchFamily="49" charset="0"/>
                <a:ea typeface="FangSong" panose="02010609060101010101" pitchFamily="49" charset="-122"/>
                <a:cs typeface="Consolas" panose="020B0609020204030204" pitchFamily="49" charset="0"/>
              </a:rPr>
              <a:t>nonvolatile memories）</a:t>
            </a:r>
            <a:r>
              <a:rPr lang="zh-CN" altLang="en-US" sz="1800" dirty="0">
                <a:latin typeface="Consolas" panose="020B0609020204030204" pitchFamily="49" charset="0"/>
                <a:ea typeface="FangSong" panose="02010609060101010101" pitchFamily="49" charset="-122"/>
                <a:cs typeface="Consolas" panose="020B0609020204030204" pitchFamily="49" charset="0"/>
              </a:rPr>
              <a:t>即使在断电后也能保留数据</a:t>
            </a:r>
            <a:endParaRPr lang="en-US" altLang="zh-CN" sz="18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1800" dirty="0">
                <a:latin typeface="Consolas" panose="020B0609020204030204" pitchFamily="49" charset="0"/>
                <a:ea typeface="FangSong" panose="02010609060101010101" pitchFamily="49" charset="-122"/>
                <a:cs typeface="Consolas" panose="020B0609020204030204" pitchFamily="49" charset="0"/>
              </a:rPr>
              <a:t>只读存储器（</a:t>
            </a:r>
            <a:r>
              <a:rPr lang="en-US" sz="1800" dirty="0">
                <a:solidFill>
                  <a:srgbClr val="FF0000"/>
                </a:solidFill>
                <a:latin typeface="Consolas" panose="020B0609020204030204" pitchFamily="49" charset="0"/>
                <a:ea typeface="FangSong" panose="02010609060101010101" pitchFamily="49" charset="-122"/>
                <a:cs typeface="Consolas" panose="020B0609020204030204" pitchFamily="49" charset="0"/>
              </a:rPr>
              <a:t>ROM</a:t>
            </a:r>
            <a:r>
              <a:rPr lang="en-US" sz="1800" dirty="0">
                <a:latin typeface="Consolas" panose="020B0609020204030204" pitchFamily="49" charset="0"/>
                <a:ea typeface="FangSong" panose="02010609060101010101" pitchFamily="49" charset="-122"/>
                <a:cs typeface="Consolas" panose="020B0609020204030204" pitchFamily="49" charset="0"/>
              </a:rPr>
              <a:t>）：</a:t>
            </a:r>
            <a:r>
              <a:rPr lang="zh-CN" altLang="en-US" sz="1800" dirty="0">
                <a:latin typeface="Consolas" panose="020B0609020204030204" pitchFamily="49" charset="0"/>
                <a:ea typeface="FangSong" panose="02010609060101010101" pitchFamily="49" charset="-122"/>
                <a:cs typeface="Consolas" panose="020B0609020204030204" pitchFamily="49" charset="0"/>
              </a:rPr>
              <a:t>在生产过程中被编程，内容不可更改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1800" dirty="0">
                <a:latin typeface="Consolas" panose="020B0609020204030204" pitchFamily="49" charset="0"/>
                <a:ea typeface="FangSong" panose="02010609060101010101" pitchFamily="49" charset="-122"/>
                <a:cs typeface="Consolas" panose="020B0609020204030204" pitchFamily="49" charset="0"/>
              </a:rPr>
              <a:t>电可擦除可编程只读存储器（</a:t>
            </a:r>
            <a:r>
              <a:rPr lang="en-US" sz="1800" dirty="0">
                <a:solidFill>
                  <a:srgbClr val="FF0000"/>
                </a:solidFill>
                <a:latin typeface="Consolas" panose="020B0609020204030204" pitchFamily="49" charset="0"/>
                <a:ea typeface="FangSong" panose="02010609060101010101" pitchFamily="49" charset="-122"/>
                <a:cs typeface="Consolas" panose="020B0609020204030204" pitchFamily="49" charset="0"/>
              </a:rPr>
              <a:t>EEPROM</a:t>
            </a:r>
            <a:r>
              <a:rPr lang="en-US" sz="1800" dirty="0">
                <a:latin typeface="Consolas" panose="020B0609020204030204" pitchFamily="49" charset="0"/>
                <a:ea typeface="FangSong" panose="02010609060101010101" pitchFamily="49" charset="-122"/>
                <a:cs typeface="Consolas" panose="020B0609020204030204" pitchFamily="49" charset="0"/>
              </a:rPr>
              <a:t>）：</a:t>
            </a:r>
            <a:r>
              <a:rPr lang="zh-CN" altLang="en-US" sz="1800" dirty="0">
                <a:latin typeface="Consolas" panose="020B0609020204030204" pitchFamily="49" charset="0"/>
                <a:ea typeface="FangSong" panose="02010609060101010101" pitchFamily="49" charset="-122"/>
                <a:cs typeface="Consolas" panose="020B0609020204030204" pitchFamily="49" charset="0"/>
              </a:rPr>
              <a:t>支持电子方式擦除和重写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1800" dirty="0">
                <a:latin typeface="Consolas" panose="020B0609020204030204" pitchFamily="49" charset="0"/>
                <a:ea typeface="FangSong" panose="02010609060101010101" pitchFamily="49" charset="-122"/>
                <a:cs typeface="Consolas" panose="020B0609020204030204" pitchFamily="49" charset="0"/>
              </a:rPr>
              <a:t>闪存（</a:t>
            </a:r>
            <a:r>
              <a:rPr lang="en-US" sz="1800" dirty="0">
                <a:latin typeface="Consolas" panose="020B0609020204030204" pitchFamily="49" charset="0"/>
                <a:ea typeface="FangSong" panose="02010609060101010101" pitchFamily="49" charset="-122"/>
                <a:cs typeface="Consolas" panose="020B0609020204030204" pitchFamily="49" charset="0"/>
              </a:rPr>
              <a:t>Flash memory）：</a:t>
            </a:r>
            <a:r>
              <a:rPr lang="zh-CN" altLang="en-US" sz="1800" dirty="0">
                <a:latin typeface="Consolas" panose="020B0609020204030204" pitchFamily="49" charset="0"/>
                <a:ea typeface="FangSong" panose="02010609060101010101" pitchFamily="49" charset="-122"/>
                <a:cs typeface="Consolas" panose="020B0609020204030204" pitchFamily="49" charset="0"/>
              </a:rPr>
              <a:t>一种 </a:t>
            </a:r>
            <a:r>
              <a:rPr lang="en-US" sz="1800" dirty="0">
                <a:latin typeface="Consolas" panose="020B0609020204030204" pitchFamily="49" charset="0"/>
                <a:ea typeface="FangSong" panose="02010609060101010101" pitchFamily="49" charset="-122"/>
                <a:cs typeface="Consolas" panose="020B0609020204030204" pitchFamily="49" charset="0"/>
              </a:rPr>
              <a:t>EEPROM，</a:t>
            </a:r>
            <a:r>
              <a:rPr lang="zh-CN" altLang="en-US" sz="1800" dirty="0">
                <a:latin typeface="Consolas" panose="020B0609020204030204" pitchFamily="49" charset="0"/>
                <a:ea typeface="FangSong" panose="02010609060101010101" pitchFamily="49" charset="-122"/>
                <a:cs typeface="Consolas" panose="020B0609020204030204" pitchFamily="49" charset="0"/>
              </a:rPr>
              <a:t>但只能按块进行擦除</a:t>
            </a:r>
            <a:endParaRPr lang="en-US" altLang="zh-CN" sz="1800" dirty="0">
              <a:latin typeface="Consolas" panose="020B0609020204030204" pitchFamily="49" charset="0"/>
              <a:ea typeface="FangSong" panose="02010609060101010101" pitchFamily="49" charset="-122"/>
              <a:cs typeface="Consolas" panose="020B0609020204030204" pitchFamily="49" charset="0"/>
            </a:endParaRPr>
          </a:p>
          <a:p>
            <a:pPr lvl="2"/>
            <a:r>
              <a:rPr lang="zh-CN" altLang="en-US" sz="1800" dirty="0">
                <a:latin typeface="Consolas" panose="020B0609020204030204" pitchFamily="49" charset="0"/>
                <a:ea typeface="FangSong" panose="02010609060101010101" pitchFamily="49" charset="-122"/>
                <a:cs typeface="Consolas" panose="020B0609020204030204" pitchFamily="49" charset="0"/>
              </a:rPr>
              <a:t>其寿命有限，通常在约 </a:t>
            </a:r>
            <a:r>
              <a:rPr lang="en-US" altLang="zh-CN" sz="1800" dirty="0">
                <a:latin typeface="Consolas" panose="020B0609020204030204" pitchFamily="49" charset="0"/>
                <a:ea typeface="FangSong" panose="02010609060101010101" pitchFamily="49" charset="-122"/>
                <a:cs typeface="Consolas" panose="020B0609020204030204" pitchFamily="49" charset="0"/>
              </a:rPr>
              <a:t>10 </a:t>
            </a:r>
            <a:r>
              <a:rPr lang="zh-CN" altLang="en-US" sz="1800" dirty="0">
                <a:latin typeface="Consolas" panose="020B0609020204030204" pitchFamily="49" charset="0"/>
                <a:ea typeface="FangSong" panose="02010609060101010101" pitchFamily="49" charset="-122"/>
                <a:cs typeface="Consolas" panose="020B0609020204030204" pitchFamily="49" charset="0"/>
              </a:rPr>
              <a:t>万次擦写后会磨损失效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r>
              <a:rPr lang="en-US" altLang="zh-CN" sz="1800" dirty="0">
                <a:latin typeface="Consolas" panose="020B0609020204030204" pitchFamily="49" charset="0"/>
                <a:ea typeface="FangSong" panose="02010609060101010101" pitchFamily="49" charset="-122"/>
                <a:cs typeface="Consolas" panose="020B0609020204030204" pitchFamily="49" charset="0"/>
              </a:rPr>
              <a:t>3</a:t>
            </a:r>
            <a:r>
              <a:rPr lang="en-US" sz="1800" dirty="0">
                <a:latin typeface="Consolas" panose="020B0609020204030204" pitchFamily="49" charset="0"/>
                <a:ea typeface="FangSong" panose="02010609060101010101" pitchFamily="49" charset="-122"/>
                <a:cs typeface="Consolas" panose="020B0609020204030204" pitchFamily="49" charset="0"/>
              </a:rPr>
              <a:t>D </a:t>
            </a:r>
            <a:r>
              <a:rPr lang="en-US" sz="1800" dirty="0" err="1">
                <a:latin typeface="Consolas" panose="020B0609020204030204" pitchFamily="49" charset="0"/>
                <a:ea typeface="FangSong" panose="02010609060101010101" pitchFamily="49" charset="-122"/>
                <a:cs typeface="Consolas" panose="020B0609020204030204" pitchFamily="49" charset="0"/>
              </a:rPr>
              <a:t>XPoint</a:t>
            </a:r>
            <a:r>
              <a:rPr lang="en-US" sz="1800" dirty="0">
                <a:latin typeface="Consolas" panose="020B0609020204030204" pitchFamily="49" charset="0"/>
                <a:ea typeface="FangSong" panose="02010609060101010101" pitchFamily="49" charset="-122"/>
                <a:cs typeface="Consolas" panose="020B0609020204030204" pitchFamily="49" charset="0"/>
              </a:rPr>
              <a:t>（</a:t>
            </a:r>
            <a:r>
              <a:rPr lang="zh-CN" altLang="en-US" sz="1800" dirty="0">
                <a:latin typeface="Consolas" panose="020B0609020204030204" pitchFamily="49" charset="0"/>
                <a:ea typeface="FangSong" panose="02010609060101010101" pitchFamily="49" charset="-122"/>
                <a:cs typeface="Consolas" panose="020B0609020204030204" pitchFamily="49" charset="0"/>
              </a:rPr>
              <a:t>如 </a:t>
            </a:r>
            <a:r>
              <a:rPr lang="en-US" sz="1800" dirty="0">
                <a:latin typeface="Consolas" panose="020B0609020204030204" pitchFamily="49" charset="0"/>
                <a:ea typeface="FangSong" panose="02010609060101010101" pitchFamily="49" charset="-122"/>
                <a:cs typeface="Consolas" panose="020B0609020204030204" pitchFamily="49" charset="0"/>
              </a:rPr>
              <a:t>Intel Optane）</a:t>
            </a:r>
            <a:r>
              <a:rPr lang="zh-CN" altLang="en-US" sz="1800" dirty="0">
                <a:latin typeface="Consolas" panose="020B0609020204030204" pitchFamily="49" charset="0"/>
                <a:ea typeface="FangSong" panose="02010609060101010101" pitchFamily="49" charset="-122"/>
                <a:cs typeface="Consolas" panose="020B0609020204030204" pitchFamily="49" charset="0"/>
              </a:rPr>
              <a:t>及新兴的非易失性存储器</a:t>
            </a:r>
            <a:endParaRPr lang="en-US" altLang="zh-CN" sz="1800" dirty="0">
              <a:latin typeface="Consolas" panose="020B0609020204030204" pitchFamily="49" charset="0"/>
              <a:ea typeface="FangSong" panose="02010609060101010101" pitchFamily="49" charset="-122"/>
              <a:cs typeface="Consolas" panose="020B0609020204030204" pitchFamily="49" charset="0"/>
            </a:endParaRPr>
          </a:p>
          <a:p>
            <a:pPr lvl="2"/>
            <a:r>
              <a:rPr lang="zh-CN" altLang="en-US" sz="1800" dirty="0">
                <a:latin typeface="Consolas" panose="020B0609020204030204" pitchFamily="49" charset="0"/>
                <a:ea typeface="FangSong" panose="02010609060101010101" pitchFamily="49" charset="-122"/>
                <a:cs typeface="Consolas" panose="020B0609020204030204" pitchFamily="49" charset="0"/>
              </a:rPr>
              <a:t>基于新型材料，具备更高性能与耐久性</a:t>
            </a:r>
            <a:br>
              <a:rPr lang="zh-CN" altLang="en-US" sz="1800" dirty="0">
                <a:latin typeface="Consolas" panose="020B0609020204030204" pitchFamily="49" charset="0"/>
                <a:ea typeface="FangSong" panose="02010609060101010101" pitchFamily="49" charset="-122"/>
                <a:cs typeface="Consolas" panose="020B0609020204030204" pitchFamily="49" charset="0"/>
              </a:rPr>
            </a:b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r>
              <a:rPr lang="zh-CN" altLang="en-US" sz="1800" dirty="0">
                <a:latin typeface="Consolas" panose="020B0609020204030204" pitchFamily="49" charset="0"/>
                <a:ea typeface="FangSong" panose="02010609060101010101" pitchFamily="49" charset="-122"/>
                <a:cs typeface="Consolas" panose="020B0609020204030204" pitchFamily="49" charset="0"/>
              </a:rPr>
              <a:t>非易失性存储器的应用场景：</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1800" dirty="0">
                <a:latin typeface="Consolas" panose="020B0609020204030204" pitchFamily="49" charset="0"/>
                <a:ea typeface="FangSong" panose="02010609060101010101" pitchFamily="49" charset="-122"/>
                <a:cs typeface="Consolas" panose="020B0609020204030204" pitchFamily="49" charset="0"/>
              </a:rPr>
              <a:t>存储固件程序（</a:t>
            </a:r>
            <a:r>
              <a:rPr lang="en-US" sz="1800" dirty="0">
                <a:latin typeface="Consolas" panose="020B0609020204030204" pitchFamily="49" charset="0"/>
                <a:ea typeface="FangSong" panose="02010609060101010101" pitchFamily="49" charset="-122"/>
                <a:cs typeface="Consolas" panose="020B0609020204030204" pitchFamily="49" charset="0"/>
              </a:rPr>
              <a:t>firmware）</a:t>
            </a:r>
            <a:r>
              <a:rPr lang="zh-CN" altLang="en-US" sz="1800" dirty="0">
                <a:latin typeface="Consolas" panose="020B0609020204030204" pitchFamily="49" charset="0"/>
                <a:ea typeface="FangSong" panose="02010609060101010101" pitchFamily="49" charset="-122"/>
                <a:cs typeface="Consolas" panose="020B0609020204030204" pitchFamily="49" charset="0"/>
              </a:rPr>
              <a:t>：</a:t>
            </a:r>
            <a:r>
              <a:rPr lang="en-US" sz="1800" dirty="0">
                <a:latin typeface="Consolas" panose="020B0609020204030204" pitchFamily="49" charset="0"/>
                <a:ea typeface="FangSong" panose="02010609060101010101" pitchFamily="49" charset="-122"/>
                <a:cs typeface="Consolas" panose="020B0609020204030204" pitchFamily="49" charset="0"/>
              </a:rPr>
              <a:t>BIOS、</a:t>
            </a:r>
            <a:r>
              <a:rPr lang="zh-CN" altLang="en-US" sz="1800" dirty="0">
                <a:latin typeface="Consolas" panose="020B0609020204030204" pitchFamily="49" charset="0"/>
                <a:ea typeface="FangSong" panose="02010609060101010101" pitchFamily="49" charset="-122"/>
                <a:cs typeface="Consolas" panose="020B0609020204030204" pitchFamily="49" charset="0"/>
              </a:rPr>
              <a:t>磁盘控制器、网卡、图形加速器、安全子系统等的启动代码</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1800" dirty="0">
                <a:latin typeface="Consolas" panose="020B0609020204030204" pitchFamily="49" charset="0"/>
                <a:ea typeface="FangSong" panose="02010609060101010101" pitchFamily="49" charset="-122"/>
                <a:cs typeface="Consolas" panose="020B0609020204030204" pitchFamily="49" charset="0"/>
              </a:rPr>
              <a:t>固态硬盘（</a:t>
            </a:r>
            <a:r>
              <a:rPr lang="en-US" sz="1800" dirty="0">
                <a:latin typeface="Consolas" panose="020B0609020204030204" pitchFamily="49" charset="0"/>
                <a:ea typeface="FangSong" panose="02010609060101010101" pitchFamily="49" charset="-122"/>
                <a:cs typeface="Consolas" panose="020B0609020204030204" pitchFamily="49" charset="0"/>
              </a:rPr>
              <a:t>SSD）：</a:t>
            </a:r>
            <a:r>
              <a:rPr lang="zh-CN" altLang="en-US" sz="1800" dirty="0">
                <a:latin typeface="Consolas" panose="020B0609020204030204" pitchFamily="49" charset="0"/>
                <a:ea typeface="FangSong" panose="02010609060101010101" pitchFamily="49" charset="-122"/>
                <a:cs typeface="Consolas" panose="020B0609020204030204" pitchFamily="49" charset="0"/>
              </a:rPr>
              <a:t>用于替代传统机械硬盘（</a:t>
            </a:r>
            <a:r>
              <a:rPr lang="en-US" sz="1800" dirty="0">
                <a:latin typeface="Consolas" panose="020B0609020204030204" pitchFamily="49" charset="0"/>
                <a:ea typeface="FangSong" panose="02010609060101010101" pitchFamily="49" charset="-122"/>
                <a:cs typeface="Consolas" panose="020B0609020204030204" pitchFamily="49" charset="0"/>
              </a:rPr>
              <a:t>HDD）</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sz="1800" dirty="0">
                <a:latin typeface="Consolas" panose="020B0609020204030204" pitchFamily="49" charset="0"/>
                <a:ea typeface="FangSong" panose="02010609060101010101" pitchFamily="49" charset="-122"/>
                <a:cs typeface="Consolas" panose="020B0609020204030204" pitchFamily="49" charset="0"/>
              </a:rPr>
              <a:t>磁盘缓存（</a:t>
            </a:r>
            <a:r>
              <a:rPr lang="en-US" sz="1800" dirty="0">
                <a:latin typeface="Consolas" panose="020B0609020204030204" pitchFamily="49" charset="0"/>
                <a:ea typeface="FangSong" panose="02010609060101010101" pitchFamily="49" charset="-122"/>
                <a:cs typeface="Consolas" panose="020B0609020204030204" pitchFamily="49" charset="0"/>
              </a:rPr>
              <a:t>disk caches）：</a:t>
            </a:r>
            <a:r>
              <a:rPr lang="zh-CN" altLang="en-US" sz="1800" dirty="0">
                <a:latin typeface="Consolas" panose="020B0609020204030204" pitchFamily="49" charset="0"/>
                <a:ea typeface="FangSong" panose="02010609060101010101" pitchFamily="49" charset="-122"/>
                <a:cs typeface="Consolas" panose="020B0609020204030204" pitchFamily="49" charset="0"/>
              </a:rPr>
              <a:t>提升存储系统性能</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p:txBody>
      </p:sp>
      <p:pic>
        <p:nvPicPr>
          <p:cNvPr id="1824" name="Picture 2" descr="Picture 2"/>
          <p:cNvPicPr>
            <a:picLocks noChangeAspect="1"/>
          </p:cNvPicPr>
          <p:nvPr/>
        </p:nvPicPr>
        <p:blipFill>
          <a:blip r:embed="rId1"/>
          <a:srcRect l="16123" t="16144" r="15462" b="19616"/>
          <a:stretch>
            <a:fillRect/>
          </a:stretch>
        </p:blipFill>
        <p:spPr>
          <a:xfrm>
            <a:off x="8719992" y="3026675"/>
            <a:ext cx="2469270" cy="1326238"/>
          </a:xfrm>
          <a:prstGeom prst="rect">
            <a:avLst/>
          </a:prstGeom>
          <a:ln w="12700">
            <a:miter lim="400000"/>
            <a:headEnd/>
            <a:tailEnd/>
          </a:ln>
        </p:spPr>
      </p:pic>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indefinite" fill="hold"/>
                                        <p:tgtEl>
                                          <p:spTgt spid="1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4" grpId="0" animBg="1" advAuto="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6" name="Rectangle 5"/>
          <p:cNvSpPr txBox="1">
            <a:spLocks noGrp="1"/>
          </p:cNvSpPr>
          <p:nvPr>
            <p:ph type="sldNum" sz="quarter" idx="2"/>
          </p:nvPr>
        </p:nvSpPr>
        <p:spPr>
          <a:xfrm>
            <a:off x="10354844" y="6611779"/>
            <a:ext cx="233395" cy="246221"/>
          </a:xfrm>
          <a:prstGeom prst="rect">
            <a:avLst/>
          </a:prstGeom>
        </p:spPr>
        <p:txBody>
          <a:bodyPr/>
          <a:lstStyle/>
          <a:p>
            <a:fld id="{86CB4B4D-7CA3-9044-876B-883B54F8677D}" type="slidenum">
              <a:rPr>
                <a:latin typeface="Consolas" panose="020B0609020204030204" pitchFamily="49" charset="0"/>
                <a:ea typeface="FangSong" panose="02010609060101010101" pitchFamily="49" charset="-122"/>
                <a:cs typeface="Consolas" panose="020B0609020204030204" pitchFamily="49" charset="0"/>
              </a:rPr>
            </a:fld>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27" name="Rectangle 289"/>
          <p:cNvSpPr/>
          <p:nvPr/>
        </p:nvSpPr>
        <p:spPr>
          <a:xfrm>
            <a:off x="2514600" y="3352800"/>
            <a:ext cx="7162800" cy="990600"/>
          </a:xfrm>
          <a:prstGeom prst="rect">
            <a:avLst/>
          </a:prstGeom>
          <a:solidFill>
            <a:srgbClr val="DEDFF5"/>
          </a:solidFill>
          <a:ln w="12700">
            <a:solidFill>
              <a:srgbClr val="000000"/>
            </a:solidFill>
            <a:miter/>
          </a:ln>
        </p:spPr>
        <p:txBody>
          <a:bodyPr lIns="45719" rIns="45719" anchor="ctr"/>
          <a:lstStyle/>
          <a:p>
            <a:pPr>
              <a:defRPr sz="1800" b="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1828" name="Title 1"/>
          <p:cNvSpPr txBox="1">
            <a:spLocks noGrp="1"/>
          </p:cNvSpPr>
          <p:nvPr>
            <p:ph type="title"/>
          </p:nvPr>
        </p:nvSpPr>
        <p:spPr>
          <a:xfrm>
            <a:off x="1856707" y="309720"/>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固态硬盘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829" name="Content Placeholder 2"/>
          <p:cNvSpPr txBox="1">
            <a:spLocks noGrp="1"/>
          </p:cNvSpPr>
          <p:nvPr>
            <p:ph type="body" sz="half" idx="1"/>
          </p:nvPr>
        </p:nvSpPr>
        <p:spPr>
          <a:xfrm>
            <a:off x="1586637" y="4725431"/>
            <a:ext cx="9554966" cy="1905001"/>
          </a:xfrm>
          <a:prstGeom prst="rect">
            <a:avLst/>
          </a:prstGeom>
        </p:spPr>
        <p:txBody>
          <a:bodyPr>
            <a:normAutofit fontScale="92500"/>
          </a:bodyPr>
          <a:lstStyle/>
          <a:p>
            <a:r>
              <a:rPr lang="zh-CN" altLang="en-US" dirty="0">
                <a:latin typeface="Consolas" panose="020B0609020204030204" pitchFamily="49" charset="0"/>
                <a:ea typeface="FangSong" panose="02010609060101010101" pitchFamily="49" charset="-122"/>
                <a:cs typeface="Consolas" panose="020B0609020204030204" pitchFamily="49" charset="0"/>
              </a:rPr>
              <a:t>页（</a:t>
            </a:r>
            <a:r>
              <a:rPr lang="en-US" dirty="0">
                <a:latin typeface="Consolas" panose="020B0609020204030204" pitchFamily="49" charset="0"/>
                <a:ea typeface="FangSong" panose="02010609060101010101" pitchFamily="49" charset="-122"/>
                <a:cs typeface="Consolas" panose="020B0609020204030204" pitchFamily="49" charset="0"/>
              </a:rPr>
              <a:t>Page）</a:t>
            </a:r>
            <a:r>
              <a:rPr lang="zh-CN" altLang="en-US" dirty="0">
                <a:latin typeface="Consolas" panose="020B0609020204030204" pitchFamily="49" charset="0"/>
                <a:ea typeface="FangSong" panose="02010609060101010101" pitchFamily="49" charset="-122"/>
                <a:cs typeface="Consolas" panose="020B0609020204030204" pitchFamily="49" charset="0"/>
              </a:rPr>
              <a:t>大小：</a:t>
            </a:r>
            <a:r>
              <a:rPr lang="en-US" altLang="zh-CN" dirty="0">
                <a:latin typeface="Consolas" panose="020B0609020204030204" pitchFamily="49" charset="0"/>
                <a:ea typeface="FangSong" panose="02010609060101010101" pitchFamily="49" charset="-122"/>
                <a:cs typeface="Consolas" panose="020B0609020204030204" pitchFamily="49" charset="0"/>
              </a:rPr>
              <a:t>4</a:t>
            </a:r>
            <a:r>
              <a:rPr lang="en-US" dirty="0">
                <a:latin typeface="Consolas" panose="020B0609020204030204" pitchFamily="49" charset="0"/>
                <a:ea typeface="FangSong" panose="02010609060101010101" pitchFamily="49" charset="-122"/>
                <a:cs typeface="Consolas" panose="020B0609020204030204" pitchFamily="49" charset="0"/>
              </a:rPr>
              <a:t>KB </a:t>
            </a:r>
            <a:r>
              <a:rPr lang="zh-CN" altLang="en-US" dirty="0">
                <a:latin typeface="Consolas" panose="020B0609020204030204" pitchFamily="49" charset="0"/>
                <a:ea typeface="FangSong" panose="02010609060101010101" pitchFamily="49" charset="-122"/>
                <a:cs typeface="Consolas" panose="020B0609020204030204" pitchFamily="49" charset="0"/>
              </a:rPr>
              <a:t>到 </a:t>
            </a:r>
            <a:r>
              <a:rPr lang="en-US" altLang="zh-CN" dirty="0">
                <a:latin typeface="Consolas" panose="020B0609020204030204" pitchFamily="49" charset="0"/>
                <a:ea typeface="FangSong" panose="02010609060101010101" pitchFamily="49" charset="-122"/>
                <a:cs typeface="Consolas" panose="020B0609020204030204" pitchFamily="49" charset="0"/>
              </a:rPr>
              <a:t>512</a:t>
            </a:r>
            <a:r>
              <a:rPr lang="en-US" dirty="0">
                <a:latin typeface="Consolas" panose="020B0609020204030204" pitchFamily="49" charset="0"/>
                <a:ea typeface="FangSong" panose="02010609060101010101" pitchFamily="49" charset="-122"/>
                <a:cs typeface="Consolas" panose="020B0609020204030204" pitchFamily="49" charset="0"/>
              </a:rPr>
              <a:t>KB</a:t>
            </a:r>
            <a:r>
              <a:rPr lang="zh-CN" altLang="en-US" dirty="0">
                <a:latin typeface="Consolas" panose="020B0609020204030204" pitchFamily="49" charset="0"/>
                <a:ea typeface="FangSong" panose="02010609060101010101" pitchFamily="49" charset="-122"/>
                <a:cs typeface="Consolas" panose="020B0609020204030204" pitchFamily="49" charset="0"/>
              </a:rPr>
              <a:t>，块（</a:t>
            </a:r>
            <a:r>
              <a:rPr lang="en-US" dirty="0">
                <a:latin typeface="Consolas" panose="020B0609020204030204" pitchFamily="49" charset="0"/>
                <a:ea typeface="FangSong" panose="02010609060101010101" pitchFamily="49" charset="-122"/>
                <a:cs typeface="Consolas" panose="020B0609020204030204" pitchFamily="49" charset="0"/>
              </a:rPr>
              <a:t>Block）</a:t>
            </a:r>
            <a:r>
              <a:rPr lang="zh-CN" altLang="en-US" dirty="0">
                <a:latin typeface="Consolas" panose="020B0609020204030204" pitchFamily="49" charset="0"/>
                <a:ea typeface="FangSong" panose="02010609060101010101" pitchFamily="49" charset="-122"/>
                <a:cs typeface="Consolas" panose="020B0609020204030204" pitchFamily="49" charset="0"/>
              </a:rPr>
              <a:t>由 </a:t>
            </a:r>
            <a:r>
              <a:rPr lang="en-US" altLang="zh-CN" dirty="0">
                <a:latin typeface="Consolas" panose="020B0609020204030204" pitchFamily="49" charset="0"/>
                <a:ea typeface="FangSong" panose="02010609060101010101" pitchFamily="49" charset="-122"/>
                <a:cs typeface="Consolas" panose="020B0609020204030204" pitchFamily="49" charset="0"/>
              </a:rPr>
              <a:t>32 </a:t>
            </a:r>
            <a:r>
              <a:rPr lang="zh-CN" altLang="en-US" dirty="0">
                <a:latin typeface="Consolas" panose="020B0609020204030204" pitchFamily="49" charset="0"/>
                <a:ea typeface="FangSong" panose="02010609060101010101" pitchFamily="49" charset="-122"/>
                <a:cs typeface="Consolas" panose="020B0609020204030204" pitchFamily="49" charset="0"/>
              </a:rPr>
              <a:t>至 </a:t>
            </a:r>
            <a:r>
              <a:rPr lang="en-US" altLang="zh-CN" dirty="0">
                <a:latin typeface="Consolas" panose="020B0609020204030204" pitchFamily="49" charset="0"/>
                <a:ea typeface="FangSong" panose="02010609060101010101" pitchFamily="49" charset="-122"/>
                <a:cs typeface="Consolas" panose="020B0609020204030204" pitchFamily="49" charset="0"/>
              </a:rPr>
              <a:t>128 </a:t>
            </a:r>
            <a:r>
              <a:rPr lang="zh-CN" altLang="en-US" dirty="0">
                <a:latin typeface="Consolas" panose="020B0609020204030204" pitchFamily="49" charset="0"/>
                <a:ea typeface="FangSong" panose="02010609060101010101" pitchFamily="49" charset="-122"/>
                <a:cs typeface="Consolas" panose="020B0609020204030204" pitchFamily="49" charset="0"/>
              </a:rPr>
              <a:t>个页组成</a:t>
            </a:r>
            <a:endParaRPr lang="zh-CN" altLang="en-US" dirty="0">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数据以页为单位进行读取和写入</a:t>
            </a:r>
            <a:endParaRPr lang="en-US" altLang="zh-CN" dirty="0">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但一个页只有在其所属的块被擦除后才能被写入</a:t>
            </a:r>
            <a:endParaRPr lang="zh-CN" altLang="en-US" dirty="0">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每个块在经历大约 </a:t>
            </a:r>
            <a:r>
              <a:rPr lang="en-US" altLang="zh-CN" dirty="0">
                <a:latin typeface="Consolas" panose="020B0609020204030204" pitchFamily="49" charset="0"/>
                <a:ea typeface="FangSong" panose="02010609060101010101" pitchFamily="49" charset="-122"/>
                <a:cs typeface="Consolas" panose="020B0609020204030204" pitchFamily="49" charset="0"/>
              </a:rPr>
              <a:t>10,000 </a:t>
            </a:r>
            <a:r>
              <a:rPr lang="zh-CN" altLang="en-US" dirty="0">
                <a:latin typeface="Consolas" panose="020B0609020204030204" pitchFamily="49" charset="0"/>
                <a:ea typeface="FangSong" panose="02010609060101010101" pitchFamily="49" charset="-122"/>
                <a:cs typeface="Consolas" panose="020B0609020204030204" pitchFamily="49" charset="0"/>
              </a:rPr>
              <a:t>次重复擦写后会磨损失效</a:t>
            </a:r>
            <a:endParaRPr lang="zh-CN" alt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1830" name="AutoShape 238"/>
          <p:cNvSpPr/>
          <p:nvPr/>
        </p:nvSpPr>
        <p:spPr>
          <a:xfrm flipV="1">
            <a:off x="5829301" y="160655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sz="1800" b="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grpSp>
        <p:nvGrpSpPr>
          <p:cNvPr id="1833" name="Rectangle 239"/>
          <p:cNvGrpSpPr/>
          <p:nvPr/>
        </p:nvGrpSpPr>
        <p:grpSpPr>
          <a:xfrm>
            <a:off x="5029200" y="2343837"/>
            <a:ext cx="2057400" cy="646329"/>
            <a:chOff x="0" y="-10570"/>
            <a:chExt cx="2057400" cy="646328"/>
          </a:xfrm>
        </p:grpSpPr>
        <p:sp>
          <p:nvSpPr>
            <p:cNvPr id="1831" name="Rectangle"/>
            <p:cNvSpPr/>
            <p:nvPr/>
          </p:nvSpPr>
          <p:spPr>
            <a:xfrm>
              <a:off x="0" y="52243"/>
              <a:ext cx="2057400" cy="520701"/>
            </a:xfrm>
            <a:prstGeom prst="rect">
              <a:avLst/>
            </a:prstGeom>
            <a:solidFill>
              <a:srgbClr val="DEDFF5"/>
            </a:solidFill>
            <a:ln w="12700" cap="flat">
              <a:solidFill>
                <a:srgbClr val="000000"/>
              </a:solidFill>
              <a:prstDash val="solid"/>
              <a:miter lim="800000"/>
            </a:ln>
            <a:effectLst/>
          </p:spPr>
          <p:txBody>
            <a:bodyPr wrap="square" lIns="45719" tIns="45719" rIns="45719" bIns="45719" numCol="1" anchor="ctr">
              <a:noAutofit/>
            </a:bodyPr>
            <a:lstStyle/>
            <a:p>
              <a:pPr algn="ct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32" name="Flash…"/>
            <p:cNvSpPr txBox="1"/>
            <p:nvPr/>
          </p:nvSpPr>
          <p:spPr>
            <a:xfrm>
              <a:off x="636286" y="-10570"/>
              <a:ext cx="784828" cy="646328"/>
            </a:xfrm>
            <a:prstGeom prst="rect">
              <a:avLst/>
            </a:prstGeom>
            <a:noFill/>
            <a:ln w="12700" cap="flat">
              <a:noFill/>
              <a:miter lim="400000"/>
            </a:ln>
            <a:effectLst/>
          </p:spPr>
          <p:txBody>
            <a:bodyPr wrap="none" lIns="45719" tIns="45719" rIns="45719" bIns="45719" numCol="1" anchor="ctr">
              <a:spAutoFit/>
            </a:bodyPr>
            <a:lstStyle/>
            <a:p>
              <a:pPr algn="ctr">
                <a:defRPr sz="1800" b="0">
                  <a:latin typeface="Calibri"/>
                  <a:ea typeface="Calibri"/>
                  <a:cs typeface="Calibri"/>
                  <a:sym typeface="Calibri"/>
                </a:defRPr>
              </a:pPr>
              <a:r>
                <a:rPr sz="1800" dirty="0">
                  <a:latin typeface="Consolas" panose="020B0609020204030204" pitchFamily="49" charset="0"/>
                  <a:ea typeface="FangSong" panose="02010609060101010101" pitchFamily="49" charset="-122"/>
                  <a:cs typeface="Consolas" panose="020B0609020204030204" pitchFamily="49" charset="0"/>
                </a:rPr>
                <a:t>Flash</a:t>
              </a:r>
              <a:endParaRPr lang="en-US" sz="1800" dirty="0">
                <a:latin typeface="Consolas" panose="020B0609020204030204" pitchFamily="49" charset="0"/>
                <a:ea typeface="FangSong" panose="02010609060101010101" pitchFamily="49" charset="-122"/>
                <a:cs typeface="Consolas" panose="020B0609020204030204" pitchFamily="49" charset="0"/>
              </a:endParaRPr>
            </a:p>
            <a:p>
              <a:pPr algn="ctr">
                <a:defRPr sz="1800" b="0">
                  <a:latin typeface="Calibri"/>
                  <a:ea typeface="Calibri"/>
                  <a:cs typeface="Calibri"/>
                  <a:sym typeface="Calibri"/>
                </a:defRPr>
              </a:pPr>
              <a:r>
                <a:rPr lang="en-US" sz="1800" dirty="0" err="1">
                  <a:latin typeface="Consolas" panose="020B0609020204030204" pitchFamily="49" charset="0"/>
                  <a:ea typeface="FangSong" panose="02010609060101010101" pitchFamily="49" charset="-122"/>
                  <a:cs typeface="Consolas" panose="020B0609020204030204" pitchFamily="49" charset="0"/>
                </a:rPr>
                <a:t>转换层</a:t>
              </a:r>
              <a:endParaRPr sz="1800"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1834" name="Line 258"/>
          <p:cNvSpPr/>
          <p:nvPr/>
        </p:nvSpPr>
        <p:spPr>
          <a:xfrm>
            <a:off x="6096000" y="2927351"/>
            <a:ext cx="0" cy="381001"/>
          </a:xfrm>
          <a:prstGeom prst="line">
            <a:avLst/>
          </a:prstGeom>
          <a:ln w="38100">
            <a:solidFill>
              <a:srgbClr val="000000"/>
            </a:solidFill>
            <a:headEnd type="triangle"/>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35" name="Rectangle 235"/>
          <p:cNvSpPr/>
          <p:nvPr/>
        </p:nvSpPr>
        <p:spPr>
          <a:xfrm>
            <a:off x="4953000" y="1390650"/>
            <a:ext cx="2209800" cy="241300"/>
          </a:xfrm>
          <a:prstGeom prst="rect">
            <a:avLst/>
          </a:prstGeom>
          <a:solidFill>
            <a:srgbClr val="F7F5CD"/>
          </a:solidFill>
          <a:ln w="12700">
            <a:solidFill>
              <a:srgbClr val="000000"/>
            </a:solidFill>
            <a:miter/>
          </a:ln>
        </p:spPr>
        <p:txBody>
          <a:bodyPr lIns="45719" rIns="45719" anchor="ctr"/>
          <a:lstStyle/>
          <a:p>
            <a:pPr>
              <a:defRPr sz="1800" b="0">
                <a:solidFill>
                  <a:srgbClr val="CCFFCC"/>
                </a:solidFill>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1836" name="Rectangle 264"/>
          <p:cNvSpPr/>
          <p:nvPr/>
        </p:nvSpPr>
        <p:spPr>
          <a:xfrm>
            <a:off x="6000751" y="1541463"/>
            <a:ext cx="161925" cy="152401"/>
          </a:xfrm>
          <a:prstGeom prst="rect">
            <a:avLst/>
          </a:prstGeom>
          <a:solidFill>
            <a:srgbClr val="F7F5CD"/>
          </a:solidFill>
          <a:ln w="12700">
            <a:miter lim="400000"/>
          </a:ln>
        </p:spPr>
        <p:txBody>
          <a:bodyPr lIns="45719" rIns="45719" anchor="ctr"/>
          <a:lstStyle/>
          <a:p>
            <a:pPr>
              <a:defRPr sz="1800" b="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1837" name="Text Box 265"/>
          <p:cNvSpPr txBox="1"/>
          <p:nvPr/>
        </p:nvSpPr>
        <p:spPr>
          <a:xfrm>
            <a:off x="4998719" y="1050409"/>
            <a:ext cx="1060545" cy="369332"/>
          </a:xfrm>
          <a:prstGeom prst="rect">
            <a:avLst/>
          </a:prstGeom>
          <a:ln w="12700">
            <a:miter lim="400000"/>
          </a:ln>
        </p:spPr>
        <p:txBody>
          <a:bodyPr wrap="none" lIns="45719" rIns="45719" anchor="ctr">
            <a:spAutoFit/>
          </a:bodyPr>
          <a:lstStyle>
            <a:lvl1pPr>
              <a:defRPr sz="1800" b="0">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I/O </a:t>
            </a:r>
            <a:r>
              <a:rPr lang="en-US" dirty="0" err="1">
                <a:latin typeface="Consolas" panose="020B0609020204030204" pitchFamily="49" charset="0"/>
                <a:ea typeface="FangSong" panose="02010609060101010101" pitchFamily="49" charset="-122"/>
                <a:cs typeface="Consolas" panose="020B0609020204030204" pitchFamily="49" charset="0"/>
              </a:rPr>
              <a:t>总线</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838" name="Rectangle 271"/>
          <p:cNvSpPr/>
          <p:nvPr/>
        </p:nvSpPr>
        <p:spPr>
          <a:xfrm>
            <a:off x="7086600" y="1174750"/>
            <a:ext cx="457200" cy="533400"/>
          </a:xfrm>
          <a:prstGeom prst="rect">
            <a:avLst/>
          </a:prstGeom>
          <a:solidFill>
            <a:schemeClr val="accent3">
              <a:lumOff val="44000"/>
            </a:schemeClr>
          </a:solidFill>
          <a:ln w="12700">
            <a:miter lim="400000"/>
          </a:ln>
        </p:spPr>
        <p:txBody>
          <a:bodyPr lIns="45719" rIns="45719" anchor="ctr"/>
          <a:lstStyle/>
          <a:p>
            <a:pPr>
              <a:defRPr b="0">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39" name="Rectangle 272"/>
          <p:cNvSpPr/>
          <p:nvPr/>
        </p:nvSpPr>
        <p:spPr>
          <a:xfrm>
            <a:off x="4572000" y="1219200"/>
            <a:ext cx="457200" cy="457200"/>
          </a:xfrm>
          <a:prstGeom prst="rect">
            <a:avLst/>
          </a:prstGeom>
          <a:solidFill>
            <a:schemeClr val="accent3">
              <a:lumOff val="44000"/>
            </a:schemeClr>
          </a:solidFill>
          <a:ln w="12700">
            <a:miter lim="400000"/>
          </a:ln>
        </p:spPr>
        <p:txBody>
          <a:bodyPr lIns="45719" rIns="45719" anchor="ctr"/>
          <a:lstStyle/>
          <a:p>
            <a:pPr>
              <a:defRPr b="0">
                <a:latin typeface="Calibri"/>
                <a:ea typeface="Calibri"/>
                <a:cs typeface="Calibri"/>
                <a:sym typeface="Calibri"/>
              </a:defRPr>
            </a:pP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40" name="Rectangle 280"/>
          <p:cNvSpPr/>
          <p:nvPr/>
        </p:nvSpPr>
        <p:spPr>
          <a:xfrm>
            <a:off x="2678113" y="3689350"/>
            <a:ext cx="3124201" cy="457200"/>
          </a:xfrm>
          <a:prstGeom prst="rect">
            <a:avLst/>
          </a:prstGeom>
          <a:solidFill>
            <a:srgbClr val="F6F5BD"/>
          </a:solidFill>
          <a:ln w="12700">
            <a:solidFill>
              <a:srgbClr val="000000"/>
            </a:solidFill>
            <a:miter/>
          </a:ln>
        </p:spPr>
        <p:txBody>
          <a:bodyPr lIns="45719" rIns="45719" anchor="ctr"/>
          <a:lstStyle/>
          <a:p>
            <a:pPr>
              <a:defRPr sz="1800" b="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grpSp>
        <p:nvGrpSpPr>
          <p:cNvPr id="1843" name="Rectangle 274"/>
          <p:cNvGrpSpPr/>
          <p:nvPr/>
        </p:nvGrpSpPr>
        <p:grpSpPr>
          <a:xfrm>
            <a:off x="2754313" y="3756370"/>
            <a:ext cx="838201" cy="323163"/>
            <a:chOff x="0" y="-9181"/>
            <a:chExt cx="838200" cy="323163"/>
          </a:xfrm>
        </p:grpSpPr>
        <p:sp>
          <p:nvSpPr>
            <p:cNvPr id="1841" name="Rectangle"/>
            <p:cNvSpPr/>
            <p:nvPr/>
          </p:nvSpPr>
          <p:spPr>
            <a:xfrm>
              <a:off x="0" y="0"/>
              <a:ext cx="838200" cy="304800"/>
            </a:xfrm>
            <a:prstGeom prst="rect">
              <a:avLst/>
            </a:prstGeom>
            <a:solidFill>
              <a:srgbClr val="B2E6B2"/>
            </a:solid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42" name="Page 0"/>
            <p:cNvSpPr txBox="1"/>
            <p:nvPr/>
          </p:nvSpPr>
          <p:spPr>
            <a:xfrm>
              <a:off x="52069" y="-9181"/>
              <a:ext cx="727119" cy="323163"/>
            </a:xfrm>
            <a:prstGeom prst="rect">
              <a:avLst/>
            </a:prstGeom>
            <a:noFill/>
            <a:ln w="12700" cap="flat">
              <a:noFill/>
              <a:miter lim="400000"/>
            </a:ln>
            <a:effectLst/>
          </p:spPr>
          <p:txBody>
            <a:bodyPr wrap="none" lIns="45719" tIns="45719" rIns="45719" bIns="45719" numCol="1" anchor="ctr">
              <a:spAutoFit/>
            </a:bodyPr>
            <a:lstStyle>
              <a:lvl1pPr>
                <a:defRPr sz="1500"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Page 0</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846" name="Rectangle 277"/>
          <p:cNvGrpSpPr/>
          <p:nvPr/>
        </p:nvGrpSpPr>
        <p:grpSpPr>
          <a:xfrm>
            <a:off x="3592514" y="3756370"/>
            <a:ext cx="838201" cy="323163"/>
            <a:chOff x="0" y="-9181"/>
            <a:chExt cx="838200" cy="323163"/>
          </a:xfrm>
        </p:grpSpPr>
        <p:sp>
          <p:nvSpPr>
            <p:cNvPr id="1844" name="Rectangle"/>
            <p:cNvSpPr/>
            <p:nvPr/>
          </p:nvSpPr>
          <p:spPr>
            <a:xfrm>
              <a:off x="0" y="0"/>
              <a:ext cx="838200" cy="304800"/>
            </a:xfrm>
            <a:prstGeom prst="rect">
              <a:avLst/>
            </a:prstGeom>
            <a:solidFill>
              <a:srgbClr val="B2E6B2"/>
            </a:solid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45" name="Page 1"/>
            <p:cNvSpPr txBox="1"/>
            <p:nvPr/>
          </p:nvSpPr>
          <p:spPr>
            <a:xfrm>
              <a:off x="52069" y="-9181"/>
              <a:ext cx="727119" cy="323163"/>
            </a:xfrm>
            <a:prstGeom prst="rect">
              <a:avLst/>
            </a:prstGeom>
            <a:noFill/>
            <a:ln w="12700" cap="flat">
              <a:noFill/>
              <a:miter lim="400000"/>
            </a:ln>
            <a:effectLst/>
          </p:spPr>
          <p:txBody>
            <a:bodyPr wrap="none" lIns="45719" tIns="45719" rIns="45719" bIns="45719" numCol="1" anchor="ctr">
              <a:spAutoFit/>
            </a:bodyPr>
            <a:lstStyle>
              <a:lvl1pPr>
                <a:defRPr sz="1500"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Page 1</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849" name="Rectangle 278"/>
          <p:cNvGrpSpPr/>
          <p:nvPr/>
        </p:nvGrpSpPr>
        <p:grpSpPr>
          <a:xfrm>
            <a:off x="4887913" y="3764064"/>
            <a:ext cx="888119" cy="307775"/>
            <a:chOff x="0" y="-1487"/>
            <a:chExt cx="888118" cy="307775"/>
          </a:xfrm>
        </p:grpSpPr>
        <p:sp>
          <p:nvSpPr>
            <p:cNvPr id="1847" name="Rectangle"/>
            <p:cNvSpPr/>
            <p:nvPr/>
          </p:nvSpPr>
          <p:spPr>
            <a:xfrm>
              <a:off x="0" y="0"/>
              <a:ext cx="838200" cy="304800"/>
            </a:xfrm>
            <a:prstGeom prst="rect">
              <a:avLst/>
            </a:prstGeom>
            <a:solidFill>
              <a:srgbClr val="B2E6B2"/>
            </a:solid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48" name="Page P-1"/>
            <p:cNvSpPr txBox="1"/>
            <p:nvPr/>
          </p:nvSpPr>
          <p:spPr>
            <a:xfrm>
              <a:off x="699" y="-1487"/>
              <a:ext cx="887419" cy="307775"/>
            </a:xfrm>
            <a:prstGeom prst="rect">
              <a:avLst/>
            </a:prstGeom>
            <a:noFill/>
            <a:ln w="12700" cap="flat">
              <a:noFill/>
              <a:miter lim="400000"/>
            </a:ln>
            <a:effectLst/>
          </p:spPr>
          <p:txBody>
            <a:bodyPr wrap="none" lIns="45719" tIns="45719" rIns="45719" bIns="45719" numCol="1" anchor="ctr">
              <a:spAutoFit/>
            </a:bodyPr>
            <a:lstStyle>
              <a:lvl1pPr>
                <a:defRPr sz="1400" b="0">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Page P-1</a:t>
              </a:r>
              <a:endParaRPr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1850" name="Text Box 279"/>
          <p:cNvSpPr txBox="1"/>
          <p:nvPr/>
        </p:nvSpPr>
        <p:spPr>
          <a:xfrm>
            <a:off x="4476434" y="3613151"/>
            <a:ext cx="262249" cy="461665"/>
          </a:xfrm>
          <a:prstGeom prst="rect">
            <a:avLst/>
          </a:prstGeom>
          <a:ln w="12700">
            <a:miter lim="400000"/>
          </a:ln>
        </p:spPr>
        <p:txBody>
          <a:bodyPr wrap="none" lIns="45719" rIns="45719">
            <a:spAutoFit/>
          </a:bodyPr>
          <a:lstStyle>
            <a:lvl1pPr>
              <a:defRPr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51" name="Text Box 281"/>
          <p:cNvSpPr txBox="1"/>
          <p:nvPr/>
        </p:nvSpPr>
        <p:spPr>
          <a:xfrm>
            <a:off x="2636520" y="3321049"/>
            <a:ext cx="978792" cy="369332"/>
          </a:xfrm>
          <a:prstGeom prst="rect">
            <a:avLst/>
          </a:prstGeom>
          <a:ln w="12700">
            <a:miter lim="400000"/>
          </a:ln>
        </p:spPr>
        <p:txBody>
          <a:bodyPr wrap="none" lIns="45719" rIns="45719">
            <a:spAutoFit/>
          </a:bodyPr>
          <a:lstStyle>
            <a:lvl1pPr>
              <a:defRPr sz="1800"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Block 0</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52" name="Text Box 282"/>
          <p:cNvSpPr txBox="1"/>
          <p:nvPr/>
        </p:nvSpPr>
        <p:spPr>
          <a:xfrm>
            <a:off x="5881370" y="3657601"/>
            <a:ext cx="262249" cy="461665"/>
          </a:xfrm>
          <a:prstGeom prst="rect">
            <a:avLst/>
          </a:prstGeom>
          <a:ln w="12700">
            <a:miter lim="400000"/>
          </a:ln>
        </p:spPr>
        <p:txBody>
          <a:bodyPr wrap="none" lIns="45719" rIns="45719">
            <a:spAutoFit/>
          </a:bodyPr>
          <a:lstStyle>
            <a:lvl1pPr>
              <a:defRPr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53" name="Rectangle 287"/>
          <p:cNvSpPr/>
          <p:nvPr/>
        </p:nvSpPr>
        <p:spPr>
          <a:xfrm>
            <a:off x="6400800" y="3689350"/>
            <a:ext cx="3124200" cy="457200"/>
          </a:xfrm>
          <a:prstGeom prst="rect">
            <a:avLst/>
          </a:prstGeom>
          <a:solidFill>
            <a:srgbClr val="F6F5BD"/>
          </a:solidFill>
          <a:ln w="12700">
            <a:solidFill>
              <a:srgbClr val="000000"/>
            </a:solidFill>
            <a:miter/>
          </a:ln>
        </p:spPr>
        <p:txBody>
          <a:bodyPr lIns="45719" rIns="45719" anchor="ctr"/>
          <a:lstStyle/>
          <a:p>
            <a:pPr>
              <a:defRPr sz="1800" b="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grpSp>
        <p:nvGrpSpPr>
          <p:cNvPr id="1856" name="Rectangle 283"/>
          <p:cNvGrpSpPr/>
          <p:nvPr/>
        </p:nvGrpSpPr>
        <p:grpSpPr>
          <a:xfrm>
            <a:off x="6477000" y="3756370"/>
            <a:ext cx="838200" cy="323163"/>
            <a:chOff x="0" y="-9181"/>
            <a:chExt cx="838200" cy="323163"/>
          </a:xfrm>
        </p:grpSpPr>
        <p:sp>
          <p:nvSpPr>
            <p:cNvPr id="1854" name="Rectangle"/>
            <p:cNvSpPr/>
            <p:nvPr/>
          </p:nvSpPr>
          <p:spPr>
            <a:xfrm>
              <a:off x="0" y="0"/>
              <a:ext cx="838200" cy="304800"/>
            </a:xfrm>
            <a:prstGeom prst="rect">
              <a:avLst/>
            </a:prstGeom>
            <a:solidFill>
              <a:srgbClr val="B2E6B2"/>
            </a:solid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55" name="Page 0"/>
            <p:cNvSpPr txBox="1"/>
            <p:nvPr/>
          </p:nvSpPr>
          <p:spPr>
            <a:xfrm>
              <a:off x="52069" y="-9181"/>
              <a:ext cx="727120" cy="323163"/>
            </a:xfrm>
            <a:prstGeom prst="rect">
              <a:avLst/>
            </a:prstGeom>
            <a:noFill/>
            <a:ln w="12700" cap="flat">
              <a:noFill/>
              <a:miter lim="400000"/>
            </a:ln>
            <a:effectLst/>
          </p:spPr>
          <p:txBody>
            <a:bodyPr wrap="none" lIns="45719" tIns="45719" rIns="45719" bIns="45719" numCol="1" anchor="ctr">
              <a:spAutoFit/>
            </a:bodyPr>
            <a:lstStyle>
              <a:lvl1pPr>
                <a:defRPr sz="1500"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Page 0</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859" name="Rectangle 284"/>
          <p:cNvGrpSpPr/>
          <p:nvPr/>
        </p:nvGrpSpPr>
        <p:grpSpPr>
          <a:xfrm>
            <a:off x="7315200" y="3756370"/>
            <a:ext cx="838200" cy="323163"/>
            <a:chOff x="0" y="-9181"/>
            <a:chExt cx="838200" cy="323163"/>
          </a:xfrm>
        </p:grpSpPr>
        <p:sp>
          <p:nvSpPr>
            <p:cNvPr id="1857" name="Rectangle"/>
            <p:cNvSpPr/>
            <p:nvPr/>
          </p:nvSpPr>
          <p:spPr>
            <a:xfrm>
              <a:off x="0" y="0"/>
              <a:ext cx="838200" cy="304800"/>
            </a:xfrm>
            <a:prstGeom prst="rect">
              <a:avLst/>
            </a:prstGeom>
            <a:solidFill>
              <a:srgbClr val="B2E6B2"/>
            </a:solid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58" name="Page 1"/>
            <p:cNvSpPr txBox="1"/>
            <p:nvPr/>
          </p:nvSpPr>
          <p:spPr>
            <a:xfrm>
              <a:off x="52069" y="-9181"/>
              <a:ext cx="727120" cy="323163"/>
            </a:xfrm>
            <a:prstGeom prst="rect">
              <a:avLst/>
            </a:prstGeom>
            <a:noFill/>
            <a:ln w="12700" cap="flat">
              <a:noFill/>
              <a:miter lim="400000"/>
            </a:ln>
            <a:effectLst/>
          </p:spPr>
          <p:txBody>
            <a:bodyPr wrap="none" lIns="45719" tIns="45719" rIns="45719" bIns="45719" numCol="1" anchor="ctr">
              <a:spAutoFit/>
            </a:bodyPr>
            <a:lstStyle>
              <a:lvl1pPr>
                <a:defRPr sz="1500"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Page 1</a:t>
              </a:r>
              <a:endParaRPr>
                <a:latin typeface="Consolas" panose="020B0609020204030204" pitchFamily="49" charset="0"/>
                <a:ea typeface="FangSong" panose="02010609060101010101" pitchFamily="49" charset="-122"/>
                <a:cs typeface="Consolas" panose="020B0609020204030204" pitchFamily="49" charset="0"/>
              </a:endParaRPr>
            </a:p>
          </p:txBody>
        </p:sp>
      </p:grpSp>
      <p:grpSp>
        <p:nvGrpSpPr>
          <p:cNvPr id="1862" name="Rectangle 285"/>
          <p:cNvGrpSpPr/>
          <p:nvPr/>
        </p:nvGrpSpPr>
        <p:grpSpPr>
          <a:xfrm>
            <a:off x="8601025" y="3764064"/>
            <a:ext cx="887420" cy="307775"/>
            <a:chOff x="-9575" y="-1487"/>
            <a:chExt cx="887420" cy="307775"/>
          </a:xfrm>
        </p:grpSpPr>
        <p:sp>
          <p:nvSpPr>
            <p:cNvPr id="1860" name="Rectangle"/>
            <p:cNvSpPr/>
            <p:nvPr/>
          </p:nvSpPr>
          <p:spPr>
            <a:xfrm>
              <a:off x="0" y="0"/>
              <a:ext cx="838200" cy="304800"/>
            </a:xfrm>
            <a:prstGeom prst="rect">
              <a:avLst/>
            </a:prstGeom>
            <a:solidFill>
              <a:srgbClr val="B2E6B2"/>
            </a:solidFill>
            <a:ln w="12700" cap="flat">
              <a:solidFill>
                <a:srgbClr val="000000"/>
              </a:solidFill>
              <a:prstDash val="solid"/>
              <a:miter lim="800000"/>
            </a:ln>
            <a:effectLst/>
          </p:spPr>
          <p:txBody>
            <a:bodyPr wrap="square" lIns="45719" tIns="45719" rIns="45719" bIns="45719" numCol="1" anchor="ctr">
              <a:noAutofit/>
            </a:bodyPr>
            <a:lstStyle/>
            <a:p>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61" name="Page P-1"/>
            <p:cNvSpPr txBox="1"/>
            <p:nvPr/>
          </p:nvSpPr>
          <p:spPr>
            <a:xfrm>
              <a:off x="-9575" y="-1487"/>
              <a:ext cx="887420" cy="307775"/>
            </a:xfrm>
            <a:prstGeom prst="rect">
              <a:avLst/>
            </a:prstGeom>
            <a:noFill/>
            <a:ln w="12700" cap="flat">
              <a:noFill/>
              <a:miter lim="400000"/>
            </a:ln>
            <a:effectLst/>
          </p:spPr>
          <p:txBody>
            <a:bodyPr wrap="none" lIns="45719" tIns="45719" rIns="45719" bIns="45719" numCol="1" anchor="ctr">
              <a:spAutoFit/>
            </a:bodyPr>
            <a:lstStyle>
              <a:lvl1pPr>
                <a:defRPr sz="1400" b="0">
                  <a:latin typeface="Calibri"/>
                  <a:ea typeface="Calibri"/>
                  <a:cs typeface="Calibri"/>
                  <a:sym typeface="Calibri"/>
                </a:defRPr>
              </a:lvl1pPr>
            </a:lstStyle>
            <a:p>
              <a:r>
                <a:rPr dirty="0">
                  <a:latin typeface="Consolas" panose="020B0609020204030204" pitchFamily="49" charset="0"/>
                  <a:ea typeface="FangSong" panose="02010609060101010101" pitchFamily="49" charset="-122"/>
                  <a:cs typeface="Consolas" panose="020B0609020204030204" pitchFamily="49" charset="0"/>
                </a:rPr>
                <a:t>Page P-1</a:t>
              </a:r>
              <a:endParaRPr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1863" name="Text Box 286"/>
          <p:cNvSpPr txBox="1"/>
          <p:nvPr/>
        </p:nvSpPr>
        <p:spPr>
          <a:xfrm>
            <a:off x="8199120" y="3613151"/>
            <a:ext cx="262249" cy="461665"/>
          </a:xfrm>
          <a:prstGeom prst="rect">
            <a:avLst/>
          </a:prstGeom>
          <a:ln w="12700">
            <a:miter lim="400000"/>
          </a:ln>
        </p:spPr>
        <p:txBody>
          <a:bodyPr wrap="none" lIns="45719" rIns="45719">
            <a:spAutoFit/>
          </a:bodyPr>
          <a:lstStyle>
            <a:lvl1pPr>
              <a:defRPr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64" name="Text Box 288"/>
          <p:cNvSpPr txBox="1"/>
          <p:nvPr/>
        </p:nvSpPr>
        <p:spPr>
          <a:xfrm>
            <a:off x="6370320" y="3321049"/>
            <a:ext cx="1358703" cy="369332"/>
          </a:xfrm>
          <a:prstGeom prst="rect">
            <a:avLst/>
          </a:prstGeom>
          <a:ln w="12700">
            <a:miter lim="400000"/>
          </a:ln>
        </p:spPr>
        <p:txBody>
          <a:bodyPr wrap="none" lIns="45719" rIns="45719">
            <a:spAutoFit/>
          </a:bodyPr>
          <a:lstStyle>
            <a:lvl1pPr>
              <a:defRPr sz="1800" b="0">
                <a:latin typeface="Calibri"/>
                <a:ea typeface="Calibri"/>
                <a:cs typeface="Calibri"/>
                <a:sym typeface="Calibri"/>
              </a:defRPr>
            </a:lvl1pPr>
          </a:lstStyle>
          <a:p>
            <a:r>
              <a:rPr>
                <a:latin typeface="Consolas" panose="020B0609020204030204" pitchFamily="49" charset="0"/>
                <a:ea typeface="FangSong" panose="02010609060101010101" pitchFamily="49" charset="-122"/>
                <a:cs typeface="Consolas" panose="020B0609020204030204" pitchFamily="49" charset="0"/>
              </a:rPr>
              <a:t>Block  B-1</a:t>
            </a:r>
            <a:endParaRPr>
              <a:latin typeface="Consolas" panose="020B0609020204030204" pitchFamily="49" charset="0"/>
              <a:ea typeface="FangSong" panose="02010609060101010101" pitchFamily="49" charset="-122"/>
              <a:cs typeface="Consolas" panose="020B0609020204030204" pitchFamily="49" charset="0"/>
            </a:endParaRPr>
          </a:p>
        </p:txBody>
      </p:sp>
      <p:sp>
        <p:nvSpPr>
          <p:cNvPr id="1865" name="Text Box 291"/>
          <p:cNvSpPr txBox="1"/>
          <p:nvPr/>
        </p:nvSpPr>
        <p:spPr>
          <a:xfrm>
            <a:off x="2482533" y="3016249"/>
            <a:ext cx="1418015" cy="369332"/>
          </a:xfrm>
          <a:prstGeom prst="rect">
            <a:avLst/>
          </a:prstGeom>
          <a:ln w="12700">
            <a:miter lim="400000"/>
          </a:ln>
        </p:spPr>
        <p:txBody>
          <a:bodyPr wrap="none" lIns="45719" rIns="45719">
            <a:spAutoFit/>
          </a:bodyPr>
          <a:lstStyle>
            <a:lvl1pPr>
              <a:defRPr sz="1800" b="0">
                <a:latin typeface="Calibri"/>
                <a:ea typeface="Calibri"/>
                <a:cs typeface="Calibri"/>
                <a:sym typeface="Calibri"/>
              </a:defRPr>
            </a:lvl1pPr>
          </a:lstStyle>
          <a:p>
            <a:r>
              <a:rPr dirty="0" err="1">
                <a:latin typeface="Consolas" panose="020B0609020204030204" pitchFamily="49" charset="0"/>
                <a:ea typeface="FangSong" panose="02010609060101010101" pitchFamily="49" charset="-122"/>
                <a:cs typeface="Consolas" panose="020B0609020204030204" pitchFamily="49" charset="0"/>
              </a:rPr>
              <a:t>Flas</a:t>
            </a:r>
            <a:r>
              <a:rPr lang="en-US" dirty="0" err="1">
                <a:latin typeface="Consolas" panose="020B0609020204030204" pitchFamily="49" charset="0"/>
                <a:ea typeface="FangSong" panose="02010609060101010101" pitchFamily="49" charset="-122"/>
                <a:cs typeface="Consolas" panose="020B0609020204030204" pitchFamily="49" charset="0"/>
              </a:rPr>
              <a:t>h存储器</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866" name="Rectangle 292"/>
          <p:cNvSpPr/>
          <p:nvPr/>
        </p:nvSpPr>
        <p:spPr>
          <a:xfrm>
            <a:off x="2362200" y="2317750"/>
            <a:ext cx="7467600" cy="2178050"/>
          </a:xfrm>
          <a:prstGeom prst="rect">
            <a:avLst/>
          </a:prstGeom>
          <a:ln w="12700">
            <a:solidFill>
              <a:srgbClr val="000000"/>
            </a:solidFill>
            <a:prstDash val="dash"/>
            <a:miter/>
          </a:ln>
        </p:spPr>
        <p:txBody>
          <a:bodyPr lIns="45719" rIns="45719" anchor="ctr"/>
          <a:lstStyle/>
          <a:p>
            <a:pPr>
              <a:defRPr sz="1800" b="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1867" name="Text Box 293"/>
          <p:cNvSpPr txBox="1"/>
          <p:nvPr/>
        </p:nvSpPr>
        <p:spPr>
          <a:xfrm>
            <a:off x="2315845" y="1981199"/>
            <a:ext cx="1015661" cy="369332"/>
          </a:xfrm>
          <a:prstGeom prst="rect">
            <a:avLst/>
          </a:prstGeom>
          <a:ln w="12700">
            <a:miter lim="400000"/>
          </a:ln>
        </p:spPr>
        <p:txBody>
          <a:bodyPr wrap="none" lIns="45719" rIns="45719">
            <a:spAutoFit/>
          </a:bodyPr>
          <a:lstStyle>
            <a:lvl1pPr>
              <a:defRPr sz="1800" b="0">
                <a:latin typeface="Calibri"/>
                <a:ea typeface="Calibri"/>
                <a:cs typeface="Calibri"/>
                <a:sym typeface="Calibri"/>
              </a:defRPr>
            </a:lvl1pPr>
          </a:lstStyle>
          <a:p>
            <a:r>
              <a:rPr lang="en-US" dirty="0" err="1">
                <a:latin typeface="Consolas" panose="020B0609020204030204" pitchFamily="49" charset="0"/>
                <a:ea typeface="FangSong" panose="02010609060101010101" pitchFamily="49" charset="-122"/>
                <a:cs typeface="Consolas" panose="020B0609020204030204" pitchFamily="49" charset="0"/>
              </a:rPr>
              <a:t>固态硬盘</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868" name="Text Box 297"/>
          <p:cNvSpPr txBox="1"/>
          <p:nvPr/>
        </p:nvSpPr>
        <p:spPr>
          <a:xfrm>
            <a:off x="6294119" y="1737630"/>
            <a:ext cx="2042162" cy="307777"/>
          </a:xfrm>
          <a:prstGeom prst="rect">
            <a:avLst/>
          </a:prstGeom>
          <a:ln w="12700">
            <a:miter lim="400000"/>
          </a:ln>
        </p:spPr>
        <p:txBody>
          <a:bodyPr lIns="45719" rIns="45719">
            <a:spAutoFit/>
          </a:bodyPr>
          <a:lstStyle/>
          <a:p>
            <a:pPr>
              <a:defRPr sz="1400" b="0" i="1">
                <a:latin typeface="Calibri"/>
                <a:ea typeface="Calibri"/>
                <a:cs typeface="Calibri"/>
                <a:sym typeface="Calibri"/>
              </a:defRPr>
            </a:pPr>
            <a:r>
              <a:rPr lang="en-US" sz="1400" dirty="0" err="1">
                <a:latin typeface="Consolas" panose="020B0609020204030204" pitchFamily="49" charset="0"/>
                <a:ea typeface="FangSong" panose="02010609060101010101" pitchFamily="49" charset="-122"/>
                <a:cs typeface="Consolas" panose="020B0609020204030204" pitchFamily="49" charset="0"/>
              </a:rPr>
              <a:t>读</a:t>
            </a:r>
            <a:r>
              <a:rPr lang="en-US" altLang="zh-CN" sz="1400" dirty="0">
                <a:latin typeface="Consolas" panose="020B0609020204030204" pitchFamily="49" charset="0"/>
                <a:ea typeface="FangSong" panose="02010609060101010101" pitchFamily="49" charset="-122"/>
                <a:cs typeface="Consolas" panose="020B0609020204030204" pitchFamily="49" charset="0"/>
              </a:rPr>
              <a:t>/</a:t>
            </a:r>
            <a:r>
              <a:rPr lang="zh-CN" altLang="en-US" sz="1400" dirty="0">
                <a:latin typeface="Consolas" panose="020B0609020204030204" pitchFamily="49" charset="0"/>
                <a:ea typeface="FangSong" panose="02010609060101010101" pitchFamily="49" charset="-122"/>
                <a:cs typeface="Consolas" panose="020B0609020204030204" pitchFamily="49" charset="0"/>
              </a:rPr>
              <a:t>写逻辑磁盘块的请求</a:t>
            </a:r>
            <a:endParaRPr sz="1400" dirty="0">
              <a:latin typeface="Consolas" panose="020B0609020204030204" pitchFamily="49" charset="0"/>
              <a:ea typeface="FangSong" panose="02010609060101010101" pitchFamily="49" charset="-122"/>
              <a:cs typeface="Consolas" panose="020B0609020204030204" pitchFamily="49" charset="0"/>
            </a:endParaRPr>
          </a:p>
        </p:txBody>
      </p:sp>
      <p:grpSp>
        <p:nvGrpSpPr>
          <p:cNvPr id="1871" name="Rectangle 239"/>
          <p:cNvGrpSpPr/>
          <p:nvPr/>
        </p:nvGrpSpPr>
        <p:grpSpPr>
          <a:xfrm>
            <a:off x="7467600" y="2336833"/>
            <a:ext cx="2057400" cy="646329"/>
            <a:chOff x="0" y="-10570"/>
            <a:chExt cx="2057400" cy="646328"/>
          </a:xfrm>
        </p:grpSpPr>
        <p:sp>
          <p:nvSpPr>
            <p:cNvPr id="1869" name="Rectangle"/>
            <p:cNvSpPr/>
            <p:nvPr/>
          </p:nvSpPr>
          <p:spPr>
            <a:xfrm>
              <a:off x="0" y="52243"/>
              <a:ext cx="2057400" cy="520701"/>
            </a:xfrm>
            <a:prstGeom prst="rect">
              <a:avLst/>
            </a:prstGeom>
            <a:solidFill>
              <a:srgbClr val="B2E6B2"/>
            </a:solidFill>
            <a:ln w="12700" cap="flat">
              <a:solidFill>
                <a:srgbClr val="000000"/>
              </a:solidFill>
              <a:prstDash val="solid"/>
              <a:miter lim="800000"/>
            </a:ln>
            <a:effectLst/>
          </p:spPr>
          <p:txBody>
            <a:bodyPr wrap="square" lIns="45719" tIns="45719" rIns="45719" bIns="45719" numCol="1" anchor="ctr">
              <a:noAutofit/>
            </a:bodyPr>
            <a:lstStyle/>
            <a:p>
              <a:pPr algn="ctr">
                <a:defRPr sz="1800" b="0">
                  <a:latin typeface="Calibri"/>
                  <a:ea typeface="Calibri"/>
                  <a:cs typeface="Calibri"/>
                  <a:sym typeface="Calibri"/>
                </a:defRPr>
              </a:pPr>
              <a:endParaRPr sz="1800">
                <a:latin typeface="Consolas" panose="020B0609020204030204" pitchFamily="49" charset="0"/>
                <a:ea typeface="FangSong" panose="02010609060101010101" pitchFamily="49" charset="-122"/>
                <a:cs typeface="Consolas" panose="020B0609020204030204" pitchFamily="49" charset="0"/>
              </a:endParaRPr>
            </a:p>
          </p:txBody>
        </p:sp>
        <p:sp>
          <p:nvSpPr>
            <p:cNvPr id="1870" name="DRAM…"/>
            <p:cNvSpPr txBox="1"/>
            <p:nvPr/>
          </p:nvSpPr>
          <p:spPr>
            <a:xfrm>
              <a:off x="602623" y="-10570"/>
              <a:ext cx="852155" cy="646328"/>
            </a:xfrm>
            <a:prstGeom prst="rect">
              <a:avLst/>
            </a:prstGeom>
            <a:noFill/>
            <a:ln w="12700" cap="flat">
              <a:noFill/>
              <a:miter lim="400000"/>
            </a:ln>
            <a:effectLst/>
          </p:spPr>
          <p:txBody>
            <a:bodyPr wrap="none" lIns="45719" tIns="45719" rIns="45719" bIns="45719" numCol="1" anchor="ctr">
              <a:spAutoFit/>
            </a:bodyPr>
            <a:lstStyle/>
            <a:p>
              <a:pPr algn="ctr">
                <a:defRPr sz="1800" b="0">
                  <a:latin typeface="Calibri"/>
                  <a:ea typeface="Calibri"/>
                  <a:cs typeface="Calibri"/>
                  <a:sym typeface="Calibri"/>
                </a:defRPr>
              </a:pPr>
              <a:r>
                <a:rPr sz="1800" dirty="0">
                  <a:latin typeface="Consolas" panose="020B0609020204030204" pitchFamily="49" charset="0"/>
                  <a:ea typeface="FangSong" panose="02010609060101010101" pitchFamily="49" charset="-122"/>
                  <a:cs typeface="Consolas" panose="020B0609020204030204" pitchFamily="49" charset="0"/>
                </a:rPr>
                <a:t>DRAM</a:t>
              </a:r>
              <a:endParaRPr sz="1800" dirty="0">
                <a:latin typeface="Consolas" panose="020B0609020204030204" pitchFamily="49" charset="0"/>
                <a:ea typeface="FangSong" panose="02010609060101010101" pitchFamily="49" charset="-122"/>
                <a:cs typeface="Consolas" panose="020B0609020204030204" pitchFamily="49" charset="0"/>
              </a:endParaRPr>
            </a:p>
            <a:p>
              <a:pPr algn="ctr">
                <a:defRPr sz="1800" b="0">
                  <a:latin typeface="Calibri"/>
                  <a:ea typeface="Calibri"/>
                  <a:cs typeface="Calibri"/>
                  <a:sym typeface="Calibri"/>
                </a:defRPr>
              </a:pPr>
              <a:r>
                <a:rPr sz="1800" dirty="0">
                  <a:latin typeface="Consolas" panose="020B0609020204030204" pitchFamily="49" charset="0"/>
                  <a:ea typeface="FangSong" panose="02010609060101010101" pitchFamily="49" charset="-122"/>
                  <a:cs typeface="Consolas" panose="020B0609020204030204" pitchFamily="49" charset="0"/>
                </a:rPr>
                <a:t>Buffer</a:t>
              </a:r>
              <a:endParaRPr sz="1800" dirty="0">
                <a:latin typeface="Consolas" panose="020B0609020204030204" pitchFamily="49" charset="0"/>
                <a:ea typeface="FangSong" panose="02010609060101010101" pitchFamily="49" charset="-122"/>
                <a:cs typeface="Consolas" panose="020B0609020204030204" pitchFamily="49" charset="0"/>
              </a:endParaRPr>
            </a:p>
          </p:txBody>
        </p:sp>
      </p:grpSp>
      <p:sp>
        <p:nvSpPr>
          <p:cNvPr id="1872" name="Line 258"/>
          <p:cNvSpPr/>
          <p:nvPr/>
        </p:nvSpPr>
        <p:spPr>
          <a:xfrm flipH="1">
            <a:off x="7087235" y="2660756"/>
            <a:ext cx="381001" cy="1"/>
          </a:xfrm>
          <a:prstGeom prst="line">
            <a:avLst/>
          </a:prstGeom>
          <a:ln w="38100">
            <a:solidFill>
              <a:srgbClr val="000000"/>
            </a:solidFill>
            <a:headEnd type="triangle"/>
            <a:tailEnd type="triangle"/>
          </a:ln>
        </p:spPr>
        <p:txBody>
          <a:bodyPr lIns="45719" rIns="45719"/>
          <a:lstStyle/>
          <a:p>
            <a:endParaRPr>
              <a:latin typeface="Consolas" panose="020B0609020204030204" pitchFamily="49" charset="0"/>
              <a:ea typeface="FangSong" panose="02010609060101010101" pitchFamily="49" charset="-122"/>
              <a:cs typeface="Consolas" panose="020B0609020204030204" pitchFamily="49" charset="0"/>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13269" b="9414"/>
          <a:stretch>
            <a:fillRect/>
          </a:stretch>
        </p:blipFill>
        <p:spPr bwMode="auto">
          <a:xfrm>
            <a:off x="1831974" y="1384300"/>
            <a:ext cx="8688200" cy="503802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p:cNvSpPr txBox="1"/>
          <p:nvPr/>
        </p:nvSpPr>
        <p:spPr>
          <a:xfrm>
            <a:off x="1856707" y="309720"/>
            <a:ext cx="7592095" cy="762001"/>
          </a:xfrm>
          <a:prstGeom prst="rect">
            <a:avLst/>
          </a:prstGeom>
          <a:ln w="12700">
            <a:miter lim="400000"/>
          </a:ln>
        </p:spPr>
        <p:txBody>
          <a:bodyPr lIns="45719" rIns="45719" anchor="ctr">
            <a:normAutofit/>
          </a:bodyPr>
          <a:lstStyle>
            <a:lvl1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1pPr>
            <a:lvl2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2pPr>
            <a:lvl3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3pPr>
            <a:lvl4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4pPr>
            <a:lvl5pPr marL="118745" marR="0" indent="-118745"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5pPr>
            <a:lvl6pPr marL="118745" marR="0" indent="4572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6pPr>
            <a:lvl7pPr marL="118745" marR="0" indent="9144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7pPr>
            <a:lvl8pPr marL="118745" marR="0" indent="13716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8pPr>
            <a:lvl9pPr marL="118745" marR="0" indent="1828800" algn="l" defTabSz="914400" rtl="0" latinLnBrk="0">
              <a:lnSpc>
                <a:spcPct val="100000"/>
              </a:lnSpc>
              <a:spcBef>
                <a:spcPts val="0"/>
              </a:spcBef>
              <a:spcAft>
                <a:spcPts val="0"/>
              </a:spcAft>
              <a:buClrTx/>
              <a:buSzTx/>
              <a:buFontTx/>
              <a:buNone/>
              <a:defRPr sz="3600" b="1" i="0" u="none" strike="noStrike" cap="none" spc="0" baseline="0">
                <a:solidFill>
                  <a:srgbClr val="000000"/>
                </a:solidFill>
                <a:uFillTx/>
                <a:latin typeface="Calibri"/>
                <a:ea typeface="Calibri"/>
                <a:cs typeface="Calibri"/>
                <a:sym typeface="Calibri"/>
              </a:defRPr>
            </a:lvl9pPr>
          </a:lstStyle>
          <a:p>
            <a:pPr hangingPunct="1"/>
            <a:r>
              <a:rPr lang="en-US" dirty="0" err="1">
                <a:latin typeface="Consolas" panose="020B0609020204030204" pitchFamily="49" charset="0"/>
                <a:ea typeface="FangSong" panose="02010609060101010101" pitchFamily="49" charset="-122"/>
                <a:cs typeface="Consolas" panose="020B0609020204030204" pitchFamily="49" charset="0"/>
              </a:rPr>
              <a:t>非易失存储器</a:t>
            </a:r>
            <a:r>
              <a:rPr lang="zh-CN" altLang="en-US" dirty="0">
                <a:latin typeface="Consolas" panose="020B0609020204030204" pitchFamily="49" charset="0"/>
                <a:ea typeface="FangSong" panose="02010609060101010101" pitchFamily="49" charset="-122"/>
                <a:cs typeface="Consolas" panose="020B0609020204030204" pitchFamily="49" charset="0"/>
              </a:rPr>
              <a:t>：</a:t>
            </a:r>
            <a:r>
              <a:rPr lang="en-US" dirty="0">
                <a:latin typeface="Consolas" panose="020B0609020204030204" pitchFamily="49" charset="0"/>
                <a:ea typeface="FangSong" panose="02010609060101010101" pitchFamily="49" charset="-122"/>
                <a:cs typeface="Consolas" panose="020B0609020204030204" pitchFamily="49" charset="0"/>
              </a:rPr>
              <a:t>Flash</a:t>
            </a:r>
            <a:endParaRPr lang="zh-CN" alt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5" name="Title 1"/>
          <p:cNvSpPr txBox="1">
            <a:spLocks noGrp="1"/>
          </p:cNvSpPr>
          <p:nvPr>
            <p:ph type="title"/>
          </p:nvPr>
        </p:nvSpPr>
        <p:spPr>
          <a:xfrm>
            <a:off x="1881018" y="435679"/>
            <a:ext cx="7592095" cy="762001"/>
          </a:xfrm>
          <a:prstGeom prst="rect">
            <a:avLst/>
          </a:prstGeom>
        </p:spPr>
        <p:txBody>
          <a:bodyPr>
            <a:normAutofit/>
          </a:bodyPr>
          <a:lstStyle/>
          <a:p>
            <a:r>
              <a:rPr dirty="0">
                <a:latin typeface="Consolas" panose="020B0609020204030204" pitchFamily="49" charset="0"/>
                <a:ea typeface="FangSong" panose="02010609060101010101" pitchFamily="49" charset="-122"/>
                <a:cs typeface="Consolas" panose="020B0609020204030204" pitchFamily="49" charset="0"/>
              </a:rPr>
              <a:t>SSD </a:t>
            </a:r>
            <a:r>
              <a:rPr lang="en-US" dirty="0" err="1">
                <a:latin typeface="Consolas" panose="020B0609020204030204" pitchFamily="49" charset="0"/>
                <a:ea typeface="FangSong" panose="02010609060101010101" pitchFamily="49" charset="-122"/>
                <a:cs typeface="Consolas" panose="020B0609020204030204" pitchFamily="49" charset="0"/>
              </a:rPr>
              <a:t>性能特性</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876" name="Content Placeholder 2"/>
          <p:cNvSpPr txBox="1">
            <a:spLocks noGrp="1"/>
          </p:cNvSpPr>
          <p:nvPr>
            <p:ph type="body" idx="1"/>
          </p:nvPr>
        </p:nvSpPr>
        <p:spPr>
          <a:xfrm>
            <a:off x="1597494" y="1373220"/>
            <a:ext cx="9129983" cy="5217147"/>
          </a:xfrm>
          <a:prstGeom prst="rect">
            <a:avLst/>
          </a:prstGeom>
        </p:spPr>
        <p:txBody>
          <a:bodyPr>
            <a:normAutofit fontScale="92500" lnSpcReduction="10000"/>
          </a:bodyPr>
          <a:lstStyle/>
          <a:p>
            <a:pPr algn="just"/>
            <a:r>
              <a:rPr lang="zh-CN" altLang="en-US" sz="1600" dirty="0">
                <a:latin typeface="Consolas" panose="020B0609020204030204" pitchFamily="49" charset="0"/>
                <a:ea typeface="FangSong" panose="02010609060101010101" pitchFamily="49" charset="-122"/>
                <a:cs typeface="Consolas" panose="020B0609020204030204" pitchFamily="49" charset="0"/>
              </a:rPr>
              <a:t>三星 </a:t>
            </a:r>
            <a:r>
              <a:rPr lang="en-US" altLang="zh-CN" sz="1600" dirty="0">
                <a:latin typeface="Consolas" panose="020B0609020204030204" pitchFamily="49" charset="0"/>
                <a:ea typeface="FangSong" panose="02010609060101010101" pitchFamily="49" charset="-122"/>
                <a:cs typeface="Consolas" panose="020B0609020204030204" pitchFamily="49" charset="0"/>
              </a:rPr>
              <a:t>970 </a:t>
            </a:r>
            <a:r>
              <a:rPr lang="en-US" sz="1600" dirty="0">
                <a:latin typeface="Consolas" panose="020B0609020204030204" pitchFamily="49" charset="0"/>
                <a:ea typeface="FangSong" panose="02010609060101010101" pitchFamily="49" charset="-122"/>
                <a:cs typeface="Consolas" panose="020B0609020204030204" pitchFamily="49" charset="0"/>
              </a:rPr>
              <a:t>EVO Plus </a:t>
            </a:r>
            <a:r>
              <a:rPr lang="zh-CN" altLang="en-US" sz="1600" dirty="0">
                <a:latin typeface="Consolas" panose="020B0609020204030204" pitchFamily="49" charset="0"/>
                <a:ea typeface="FangSong" panose="02010609060101010101" pitchFamily="49" charset="-122"/>
                <a:cs typeface="Consolas" panose="020B0609020204030204" pitchFamily="49" charset="0"/>
              </a:rPr>
              <a:t>固态硬盘（</a:t>
            </a:r>
            <a:r>
              <a:rPr lang="en-US" sz="1600" dirty="0">
                <a:latin typeface="Consolas" panose="020B0609020204030204" pitchFamily="49" charset="0"/>
                <a:ea typeface="FangSong" panose="02010609060101010101" pitchFamily="49" charset="-122"/>
                <a:cs typeface="Consolas" panose="020B0609020204030204" pitchFamily="49" charset="0"/>
              </a:rPr>
              <a:t>SSD）</a:t>
            </a:r>
            <a:r>
              <a:rPr lang="zh-CN" altLang="en-US" sz="1600" dirty="0">
                <a:latin typeface="Consolas" panose="020B0609020204030204" pitchFamily="49" charset="0"/>
                <a:ea typeface="FangSong" panose="02010609060101010101" pitchFamily="49" charset="-122"/>
                <a:cs typeface="Consolas" panose="020B0609020204030204" pitchFamily="49" charset="0"/>
              </a:rPr>
              <a:t>基准测试要点</a:t>
            </a:r>
            <a:endParaRPr lang="en-US" altLang="zh-CN" sz="1600" dirty="0">
              <a:latin typeface="Consolas" panose="020B0609020204030204" pitchFamily="49" charset="0"/>
              <a:ea typeface="FangSong" panose="02010609060101010101" pitchFamily="49" charset="-122"/>
              <a:cs typeface="Consolas" panose="020B0609020204030204" pitchFamily="49" charset="0"/>
            </a:endParaRPr>
          </a:p>
          <a:p>
            <a:pPr lvl="1" algn="just"/>
            <a:r>
              <a:rPr lang="en-US" sz="1600" dirty="0">
                <a:latin typeface="Consolas" panose="020B0609020204030204" pitchFamily="49" charset="0"/>
                <a:ea typeface="FangSong" panose="02010609060101010101" pitchFamily="49" charset="-122"/>
                <a:cs typeface="Consolas" panose="020B0609020204030204" pitchFamily="49" charset="0"/>
              </a:rPr>
              <a:t>https://</a:t>
            </a:r>
            <a:r>
              <a:rPr lang="en-US" sz="1600" dirty="0" err="1">
                <a:latin typeface="Consolas" panose="020B0609020204030204" pitchFamily="49" charset="0"/>
                <a:ea typeface="FangSong" panose="02010609060101010101" pitchFamily="49" charset="-122"/>
                <a:cs typeface="Consolas" panose="020B0609020204030204" pitchFamily="49" charset="0"/>
              </a:rPr>
              <a:t>ssd.userbenchmark.com</a:t>
            </a:r>
            <a:r>
              <a:rPr lang="en-US" sz="1600" dirty="0">
                <a:latin typeface="Consolas" panose="020B0609020204030204" pitchFamily="49" charset="0"/>
                <a:ea typeface="FangSong" panose="02010609060101010101" pitchFamily="49" charset="-122"/>
                <a:cs typeface="Consolas" panose="020B0609020204030204" pitchFamily="49" charset="0"/>
              </a:rPr>
              <a:t>/</a:t>
            </a:r>
            <a:r>
              <a:rPr lang="en-US" sz="1600" dirty="0" err="1">
                <a:latin typeface="Consolas" panose="020B0609020204030204" pitchFamily="49" charset="0"/>
                <a:ea typeface="FangSong" panose="02010609060101010101" pitchFamily="49" charset="-122"/>
                <a:cs typeface="Consolas" panose="020B0609020204030204" pitchFamily="49" charset="0"/>
              </a:rPr>
              <a:t>SpeedTest</a:t>
            </a:r>
            <a:r>
              <a:rPr lang="en-US" sz="1600" dirty="0">
                <a:latin typeface="Consolas" panose="020B0609020204030204" pitchFamily="49" charset="0"/>
                <a:ea typeface="FangSong" panose="02010609060101010101" pitchFamily="49" charset="-122"/>
                <a:cs typeface="Consolas" panose="020B0609020204030204" pitchFamily="49" charset="0"/>
              </a:rPr>
              <a:t>/711305/Samsung-SSD-970-EVO-Plus-250GB</a:t>
            </a:r>
            <a:endParaRPr lang="en-US" sz="1600" dirty="0">
              <a:latin typeface="Consolas" panose="020B0609020204030204" pitchFamily="49" charset="0"/>
              <a:ea typeface="FangSong" panose="02010609060101010101" pitchFamily="49" charset="-122"/>
              <a:cs typeface="Consolas" panose="020B0609020204030204" pitchFamily="49" charset="0"/>
            </a:endParaRPr>
          </a:p>
          <a:p>
            <a:pPr marL="0" indent="0" algn="just">
              <a:buNone/>
            </a:pPr>
            <a:endParaRPr lang="en-US" altLang="zh-CN" sz="1600" dirty="0">
              <a:latin typeface="Consolas" panose="020B0609020204030204" pitchFamily="49" charset="0"/>
              <a:ea typeface="FangSong" panose="02010609060101010101" pitchFamily="49" charset="-122"/>
              <a:cs typeface="Consolas" panose="020B0609020204030204" pitchFamily="49" charset="0"/>
            </a:endParaRPr>
          </a:p>
          <a:p>
            <a:pPr marL="0" indent="0" algn="just">
              <a:buNone/>
            </a:pPr>
            <a:endParaRPr lang="en-US" altLang="zh-CN" sz="1600" dirty="0">
              <a:latin typeface="Consolas" panose="020B0609020204030204" pitchFamily="49" charset="0"/>
              <a:ea typeface="FangSong" panose="02010609060101010101" pitchFamily="49" charset="-122"/>
              <a:cs typeface="Consolas" panose="020B0609020204030204" pitchFamily="49" charset="0"/>
            </a:endParaRPr>
          </a:p>
          <a:p>
            <a:pPr marL="0" indent="0" algn="just">
              <a:buNone/>
            </a:pPr>
            <a:endParaRPr lang="en-US" altLang="zh-CN" sz="1600" dirty="0">
              <a:latin typeface="Consolas" panose="020B0609020204030204" pitchFamily="49" charset="0"/>
              <a:ea typeface="FangSong" panose="02010609060101010101" pitchFamily="49" charset="-122"/>
              <a:cs typeface="Consolas" panose="020B0609020204030204" pitchFamily="49" charset="0"/>
            </a:endParaRPr>
          </a:p>
          <a:p>
            <a:pPr marL="0" indent="0" algn="just">
              <a:buNone/>
            </a:pP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algn="just"/>
            <a:r>
              <a:rPr lang="zh-CN" altLang="en-US" sz="1600" dirty="0">
                <a:latin typeface="Consolas" panose="020B0609020204030204" pitchFamily="49" charset="0"/>
                <a:ea typeface="FangSong" panose="02010609060101010101" pitchFamily="49" charset="-122"/>
                <a:cs typeface="Consolas" panose="020B0609020204030204" pitchFamily="49" charset="0"/>
              </a:rPr>
              <a:t>顺序访问速度远高于随机访问速度</a:t>
            </a:r>
            <a:endParaRPr lang="en-US" altLang="zh-CN" sz="16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600" dirty="0">
                <a:latin typeface="Consolas" panose="020B0609020204030204" pitchFamily="49" charset="0"/>
                <a:ea typeface="FangSong" panose="02010609060101010101" pitchFamily="49" charset="-122"/>
                <a:cs typeface="Consolas" panose="020B0609020204030204" pitchFamily="49" charset="0"/>
              </a:rPr>
              <a:t>这是存储层次结构中的普遍规律</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algn="just"/>
            <a:r>
              <a:rPr lang="en-US" sz="1600" dirty="0" err="1">
                <a:latin typeface="Consolas" panose="020B0609020204030204" pitchFamily="49" charset="0"/>
                <a:ea typeface="FangSong" panose="02010609060101010101" pitchFamily="49" charset="-122"/>
                <a:cs typeface="Consolas" panose="020B0609020204030204" pitchFamily="49" charset="0"/>
              </a:rPr>
              <a:t>DQ（Deep</a:t>
            </a:r>
            <a:r>
              <a:rPr lang="en-US" sz="1600" dirty="0">
                <a:latin typeface="Consolas" panose="020B0609020204030204" pitchFamily="49" charset="0"/>
                <a:ea typeface="FangSong" panose="02010609060101010101" pitchFamily="49" charset="-122"/>
                <a:cs typeface="Consolas" panose="020B0609020204030204" pitchFamily="49" charset="0"/>
              </a:rPr>
              <a:t> Queue，</a:t>
            </a:r>
            <a:r>
              <a:rPr lang="zh-CN" altLang="en-US" sz="1600" dirty="0">
                <a:latin typeface="Consolas" panose="020B0609020204030204" pitchFamily="49" charset="0"/>
                <a:ea typeface="FangSong" panose="02010609060101010101" pitchFamily="49" charset="-122"/>
                <a:cs typeface="Consolas" panose="020B0609020204030204" pitchFamily="49" charset="0"/>
              </a:rPr>
              <a:t>深队列）</a:t>
            </a:r>
            <a:endParaRPr lang="en-US" altLang="zh-CN" sz="16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600" dirty="0">
                <a:latin typeface="Consolas" panose="020B0609020204030204" pitchFamily="49" charset="0"/>
                <a:ea typeface="FangSong" panose="02010609060101010101" pitchFamily="49" charset="-122"/>
                <a:cs typeface="Consolas" panose="020B0609020204030204" pitchFamily="49" charset="0"/>
              </a:rPr>
              <a:t>表示同时发出大量并发读请求，此时，延迟（</a:t>
            </a:r>
            <a:r>
              <a:rPr lang="en-US" sz="1600" dirty="0">
                <a:latin typeface="Consolas" panose="020B0609020204030204" pitchFamily="49" charset="0"/>
                <a:ea typeface="FangSong" panose="02010609060101010101" pitchFamily="49" charset="-122"/>
                <a:cs typeface="Consolas" panose="020B0609020204030204" pitchFamily="49" charset="0"/>
              </a:rPr>
              <a:t>latency）</a:t>
            </a:r>
            <a:r>
              <a:rPr lang="zh-CN" altLang="en-US" sz="1600" dirty="0">
                <a:latin typeface="Consolas" panose="020B0609020204030204" pitchFamily="49" charset="0"/>
                <a:ea typeface="FangSong" panose="02010609060101010101" pitchFamily="49" charset="-122"/>
                <a:cs typeface="Consolas" panose="020B0609020204030204" pitchFamily="49" charset="0"/>
              </a:rPr>
              <a:t>会显著影响性能</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algn="just"/>
            <a:r>
              <a:rPr lang="zh-CN" altLang="en-US" sz="1600" dirty="0">
                <a:latin typeface="Consolas" panose="020B0609020204030204" pitchFamily="49" charset="0"/>
                <a:ea typeface="FangSong" panose="02010609060101010101" pitchFamily="49" charset="-122"/>
                <a:cs typeface="Consolas" panose="020B0609020204030204" pitchFamily="49" charset="0"/>
              </a:rPr>
              <a:t>随机写入较为复杂</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600" dirty="0">
                <a:latin typeface="Consolas" panose="020B0609020204030204" pitchFamily="49" charset="0"/>
                <a:ea typeface="FangSong" panose="02010609060101010101" pitchFamily="49" charset="-122"/>
                <a:cs typeface="Consolas" panose="020B0609020204030204" pitchFamily="49" charset="0"/>
              </a:rPr>
              <a:t>擦除一个块耗时较长（约 </a:t>
            </a:r>
            <a:r>
              <a:rPr lang="en-US" altLang="zh-CN" sz="1600" dirty="0">
                <a:latin typeface="Consolas" panose="020B0609020204030204" pitchFamily="49" charset="0"/>
                <a:ea typeface="FangSong" panose="02010609060101010101" pitchFamily="49" charset="-122"/>
                <a:cs typeface="Consolas" panose="020B0609020204030204" pitchFamily="49" charset="0"/>
              </a:rPr>
              <a:t>1 </a:t>
            </a:r>
            <a:r>
              <a:rPr lang="zh-CN" altLang="en-US" sz="1600" dirty="0">
                <a:latin typeface="Consolas" panose="020B0609020204030204" pitchFamily="49" charset="0"/>
                <a:ea typeface="FangSong" panose="02010609060101010101" pitchFamily="49" charset="-122"/>
                <a:cs typeface="Consolas" panose="020B0609020204030204" pitchFamily="49" charset="0"/>
              </a:rPr>
              <a:t>毫秒），但 </a:t>
            </a:r>
            <a:r>
              <a:rPr lang="en-US" sz="1600" dirty="0">
                <a:latin typeface="Consolas" panose="020B0609020204030204" pitchFamily="49" charset="0"/>
                <a:ea typeface="FangSong" panose="02010609060101010101" pitchFamily="49" charset="-122"/>
                <a:cs typeface="Consolas" panose="020B0609020204030204" pitchFamily="49" charset="0"/>
              </a:rPr>
              <a:t>SSD </a:t>
            </a:r>
            <a:r>
              <a:rPr lang="zh-CN" altLang="en-US" sz="1600" dirty="0">
                <a:latin typeface="Consolas" panose="020B0609020204030204" pitchFamily="49" charset="0"/>
                <a:ea typeface="FangSong" panose="02010609060101010101" pitchFamily="49" charset="-122"/>
                <a:cs typeface="Consolas" panose="020B0609020204030204" pitchFamily="49" charset="0"/>
              </a:rPr>
              <a:t>内部维护了一个预擦除块池（</a:t>
            </a:r>
            <a:r>
              <a:rPr lang="en-US" sz="1600" dirty="0">
                <a:latin typeface="Consolas" panose="020B0609020204030204" pitchFamily="49" charset="0"/>
                <a:ea typeface="FangSong" panose="02010609060101010101" pitchFamily="49" charset="-122"/>
                <a:cs typeface="Consolas" panose="020B0609020204030204" pitchFamily="49" charset="0"/>
              </a:rPr>
              <a:t>pool of pre-erased blocks）</a:t>
            </a:r>
            <a:r>
              <a:rPr lang="zh-CN" altLang="en-US" sz="1600" dirty="0">
                <a:latin typeface="Consolas" panose="020B0609020204030204" pitchFamily="49" charset="0"/>
                <a:ea typeface="FangSong" panose="02010609060101010101" pitchFamily="49" charset="-122"/>
                <a:cs typeface="Consolas" panose="020B0609020204030204" pitchFamily="49" charset="0"/>
              </a:rPr>
              <a:t>以缓解此问题。 </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600" dirty="0">
                <a:latin typeface="Consolas" panose="020B0609020204030204" pitchFamily="49" charset="0"/>
                <a:ea typeface="FangSong" panose="02010609060101010101" pitchFamily="49" charset="-122"/>
                <a:cs typeface="Consolas" panose="020B0609020204030204" pitchFamily="49" charset="0"/>
              </a:rPr>
              <a:t>修改某一页时，由于闪存不能直接覆盖写入，必须将该块中所有其他有效页复制到一个新的已擦除块中，再写入更新后的数据（即“写放大”效应）。 </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600" dirty="0">
                <a:latin typeface="Consolas" panose="020B0609020204030204" pitchFamily="49" charset="0"/>
                <a:ea typeface="FangSong" panose="02010609060101010101" pitchFamily="49" charset="-122"/>
                <a:cs typeface="Consolas" panose="020B0609020204030204" pitchFamily="49" charset="0"/>
              </a:rPr>
              <a:t>为优化此过程，</a:t>
            </a:r>
            <a:r>
              <a:rPr lang="en-US" sz="1600" dirty="0">
                <a:latin typeface="Consolas" panose="020B0609020204030204" pitchFamily="49" charset="0"/>
                <a:ea typeface="FangSong" panose="02010609060101010101" pitchFamily="49" charset="-122"/>
                <a:cs typeface="Consolas" panose="020B0609020204030204" pitchFamily="49" charset="0"/>
              </a:rPr>
              <a:t>SSD </a:t>
            </a:r>
            <a:r>
              <a:rPr lang="zh-CN" altLang="en-US" sz="1600" dirty="0">
                <a:latin typeface="Consolas" panose="020B0609020204030204" pitchFamily="49" charset="0"/>
                <a:ea typeface="FangSong" panose="02010609060101010101" pitchFamily="49" charset="-122"/>
                <a:cs typeface="Consolas" panose="020B0609020204030204" pitchFamily="49" charset="0"/>
              </a:rPr>
              <a:t>配备了写缓存（</a:t>
            </a:r>
            <a:r>
              <a:rPr lang="en-US" sz="1600" dirty="0">
                <a:latin typeface="Consolas" panose="020B0609020204030204" pitchFamily="49" charset="0"/>
                <a:ea typeface="FangSong" panose="02010609060101010101" pitchFamily="49" charset="-122"/>
                <a:cs typeface="Consolas" panose="020B0609020204030204" pitchFamily="49" charset="0"/>
              </a:rPr>
              <a:t>write cache），</a:t>
            </a:r>
            <a:r>
              <a:rPr lang="zh-CN" altLang="en-US" sz="1600" dirty="0">
                <a:latin typeface="Consolas" panose="020B0609020204030204" pitchFamily="49" charset="0"/>
                <a:ea typeface="FangSong" panose="02010609060101010101" pitchFamily="49" charset="-122"/>
                <a:cs typeface="Consolas" panose="020B0609020204030204" pitchFamily="49" charset="0"/>
              </a:rPr>
              <a:t>可将多个写操作暂存并批量处理，从而提升效率并隐藏部分延迟。</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a:p>
            <a:pPr algn="just"/>
            <a:r>
              <a:rPr lang="zh-CN" altLang="en-US" sz="1600" dirty="0">
                <a:latin typeface="Consolas" panose="020B0609020204030204" pitchFamily="49" charset="0"/>
                <a:ea typeface="FangSong" panose="02010609060101010101" pitchFamily="49" charset="-122"/>
                <a:cs typeface="Consolas" panose="020B0609020204030204" pitchFamily="49" charset="0"/>
              </a:rPr>
              <a:t>这些机制共同使得现代 </a:t>
            </a:r>
            <a:r>
              <a:rPr lang="en-US" sz="1600" dirty="0">
                <a:latin typeface="Consolas" panose="020B0609020204030204" pitchFamily="49" charset="0"/>
                <a:ea typeface="FangSong" panose="02010609060101010101" pitchFamily="49" charset="-122"/>
                <a:cs typeface="Consolas" panose="020B0609020204030204" pitchFamily="49" charset="0"/>
              </a:rPr>
              <a:t>SSD（</a:t>
            </a:r>
            <a:r>
              <a:rPr lang="zh-CN" altLang="en-US" sz="1600" dirty="0">
                <a:latin typeface="Consolas" panose="020B0609020204030204" pitchFamily="49" charset="0"/>
                <a:ea typeface="FangSong" panose="02010609060101010101" pitchFamily="49" charset="-122"/>
                <a:cs typeface="Consolas" panose="020B0609020204030204" pitchFamily="49" charset="0"/>
              </a:rPr>
              <a:t>如 </a:t>
            </a:r>
            <a:r>
              <a:rPr lang="en-US" altLang="zh-CN" sz="1600" dirty="0">
                <a:latin typeface="Consolas" panose="020B0609020204030204" pitchFamily="49" charset="0"/>
                <a:ea typeface="FangSong" panose="02010609060101010101" pitchFamily="49" charset="-122"/>
                <a:cs typeface="Consolas" panose="020B0609020204030204" pitchFamily="49" charset="0"/>
              </a:rPr>
              <a:t>970 </a:t>
            </a:r>
            <a:r>
              <a:rPr lang="en-US" sz="1600" dirty="0">
                <a:latin typeface="Consolas" panose="020B0609020204030204" pitchFamily="49" charset="0"/>
                <a:ea typeface="FangSong" panose="02010609060101010101" pitchFamily="49" charset="-122"/>
                <a:cs typeface="Consolas" panose="020B0609020204030204" pitchFamily="49" charset="0"/>
              </a:rPr>
              <a:t>EVO Plus）</a:t>
            </a:r>
            <a:r>
              <a:rPr lang="zh-CN" altLang="en-US" sz="1600" dirty="0">
                <a:latin typeface="Consolas" panose="020B0609020204030204" pitchFamily="49" charset="0"/>
                <a:ea typeface="FangSong" panose="02010609060101010101" pitchFamily="49" charset="-122"/>
                <a:cs typeface="Consolas" panose="020B0609020204030204" pitchFamily="49" charset="0"/>
              </a:rPr>
              <a:t>在实际使用中能有效掩盖闪存底层的物理限制，提供高性能的用户体验。</a:t>
            </a:r>
            <a:endParaRPr lang="zh-CN" altLang="en-US"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1877" name="TextBox 3"/>
          <p:cNvSpPr txBox="1"/>
          <p:nvPr/>
        </p:nvSpPr>
        <p:spPr>
          <a:xfrm>
            <a:off x="1422578" y="2013672"/>
            <a:ext cx="9479814" cy="829945"/>
          </a:xfrm>
          <a:prstGeom prst="rect">
            <a:avLst/>
          </a:prstGeom>
          <a:solidFill>
            <a:srgbClr val="E2E2E2"/>
          </a:solidFill>
          <a:ln w="19050">
            <a:solidFill>
              <a:srgbClr val="000000"/>
            </a:solidFill>
          </a:ln>
        </p:spPr>
        <p:txBody>
          <a:bodyPr wrap="square" lIns="45719" rIns="45719">
            <a:spAutoFit/>
          </a:bodyPr>
          <a:lstStyle/>
          <a:p>
            <a:pPr>
              <a:defRPr sz="2000">
                <a:latin typeface="Calibri"/>
                <a:ea typeface="Calibri"/>
                <a:cs typeface="Calibri"/>
                <a:sym typeface="Calibri"/>
              </a:defRPr>
            </a:pPr>
            <a:r>
              <a:rPr sz="1600" dirty="0">
                <a:latin typeface="Consolas" panose="020B0609020204030204" pitchFamily="49" charset="0"/>
                <a:ea typeface="FangSong" panose="02010609060101010101" pitchFamily="49" charset="-122"/>
                <a:cs typeface="Consolas" panose="020B0609020204030204" pitchFamily="49" charset="0"/>
              </a:rPr>
              <a:t>Sequential read throughput</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2,221 MB/s</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Sequential write </a:t>
            </a:r>
            <a:r>
              <a:rPr sz="1600" dirty="0" err="1">
                <a:latin typeface="Consolas" panose="020B0609020204030204" pitchFamily="49" charset="0"/>
                <a:ea typeface="FangSong" panose="02010609060101010101" pitchFamily="49" charset="-122"/>
                <a:cs typeface="Consolas" panose="020B0609020204030204" pitchFamily="49" charset="0"/>
              </a:rPr>
              <a:t>tput</a:t>
            </a:r>
            <a:r>
              <a:rPr sz="1600" dirty="0">
                <a:latin typeface="Consolas" panose="020B0609020204030204" pitchFamily="49" charset="0"/>
                <a:ea typeface="FangSong" panose="02010609060101010101" pitchFamily="49" charset="-122"/>
                <a:cs typeface="Consolas" panose="020B0609020204030204" pitchFamily="49" charset="0"/>
              </a:rPr>
              <a:t>	1,912 MB/s</a:t>
            </a:r>
            <a:endParaRPr sz="1600" dirty="0">
              <a:latin typeface="Consolas" panose="020B0609020204030204" pitchFamily="49" charset="0"/>
              <a:ea typeface="FangSong" panose="02010609060101010101" pitchFamily="49" charset="-122"/>
              <a:cs typeface="Consolas" panose="020B0609020204030204" pitchFamily="49" charset="0"/>
            </a:endParaRPr>
          </a:p>
          <a:p>
            <a:pPr>
              <a:defRPr sz="2000">
                <a:latin typeface="Calibri"/>
                <a:ea typeface="Calibri"/>
                <a:cs typeface="Calibri"/>
                <a:sym typeface="Calibri"/>
              </a:defRPr>
            </a:pPr>
            <a:r>
              <a:rPr sz="1600" dirty="0">
                <a:latin typeface="Consolas" panose="020B0609020204030204" pitchFamily="49" charset="0"/>
                <a:ea typeface="FangSong" panose="02010609060101010101" pitchFamily="49" charset="-122"/>
                <a:cs typeface="Consolas" panose="020B0609020204030204" pitchFamily="49" charset="0"/>
              </a:rPr>
              <a:t>Random ST throughput</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61.7 </a:t>
            </a:r>
            <a:r>
              <a:rPr lang="zh-CN" alt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MB/s</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Random write </a:t>
            </a:r>
            <a:r>
              <a:rPr sz="1600" dirty="0" err="1">
                <a:latin typeface="Consolas" panose="020B0609020204030204" pitchFamily="49" charset="0"/>
                <a:ea typeface="FangSong" panose="02010609060101010101" pitchFamily="49" charset="-122"/>
                <a:cs typeface="Consolas" panose="020B0609020204030204" pitchFamily="49" charset="0"/>
              </a:rPr>
              <a:t>tput</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1</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65 </a:t>
            </a:r>
            <a:r>
              <a:rPr lang="zh-CN" alt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MB/s</a:t>
            </a:r>
            <a:endParaRPr sz="1600" dirty="0">
              <a:latin typeface="Consolas" panose="020B0609020204030204" pitchFamily="49" charset="0"/>
              <a:ea typeface="FangSong" panose="02010609060101010101" pitchFamily="49" charset="-122"/>
              <a:cs typeface="Consolas" panose="020B0609020204030204" pitchFamily="49" charset="0"/>
            </a:endParaRPr>
          </a:p>
          <a:p>
            <a:pPr>
              <a:defRPr sz="2000">
                <a:latin typeface="Calibri"/>
                <a:ea typeface="Calibri"/>
                <a:cs typeface="Calibri"/>
                <a:sym typeface="Calibri"/>
              </a:defRPr>
            </a:pPr>
            <a:r>
              <a:rPr sz="1600" dirty="0">
                <a:latin typeface="Consolas" panose="020B0609020204030204" pitchFamily="49" charset="0"/>
                <a:ea typeface="FangSong" panose="02010609060101010101" pitchFamily="49" charset="-122"/>
                <a:cs typeface="Consolas" panose="020B0609020204030204" pitchFamily="49" charset="0"/>
              </a:rPr>
              <a:t>Random DQ throughput</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947  </a:t>
            </a:r>
            <a:r>
              <a:rPr lang="zh-CN" alt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MB/s</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Random DQ write</a:t>
            </a:r>
            <a:r>
              <a:rPr 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1028 </a:t>
            </a:r>
            <a:r>
              <a:rPr lang="zh-CN" altLang="en-US" sz="1600" dirty="0">
                <a:latin typeface="Consolas" panose="020B0609020204030204" pitchFamily="49" charset="0"/>
                <a:ea typeface="FangSong" panose="02010609060101010101" pitchFamily="49" charset="-122"/>
                <a:cs typeface="Consolas" panose="020B0609020204030204" pitchFamily="49" charset="0"/>
              </a:rPr>
              <a:t> </a:t>
            </a:r>
            <a:r>
              <a:rPr sz="1600" dirty="0">
                <a:latin typeface="Consolas" panose="020B0609020204030204" pitchFamily="49" charset="0"/>
                <a:ea typeface="FangSong" panose="02010609060101010101" pitchFamily="49" charset="-122"/>
                <a:cs typeface="Consolas" panose="020B0609020204030204" pitchFamily="49" charset="0"/>
              </a:rPr>
              <a:t>MB/s</a:t>
            </a:r>
            <a:endParaRPr sz="1600"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1" name="Title 1"/>
          <p:cNvSpPr txBox="1">
            <a:spLocks noGrp="1"/>
          </p:cNvSpPr>
          <p:nvPr>
            <p:ph type="title"/>
          </p:nvPr>
        </p:nvSpPr>
        <p:spPr>
          <a:xfrm>
            <a:off x="1881018" y="435679"/>
            <a:ext cx="7592095" cy="762001"/>
          </a:xfrm>
          <a:prstGeom prst="rect">
            <a:avLst/>
          </a:prstGeom>
        </p:spPr>
        <p:txBody>
          <a:bodyPr/>
          <a:lstStyle/>
          <a:p>
            <a:r>
              <a:rPr lang="en-US" dirty="0">
                <a:latin typeface="Consolas" panose="020B0609020204030204" pitchFamily="49" charset="0"/>
                <a:ea typeface="FangSong" panose="02010609060101010101" pitchFamily="49" charset="-122"/>
                <a:cs typeface="Consolas" panose="020B0609020204030204" pitchFamily="49" charset="0"/>
              </a:rPr>
              <a:t>SSD </a:t>
            </a:r>
            <a:r>
              <a:rPr lang="zh-CN" altLang="en-US" dirty="0">
                <a:latin typeface="Consolas" panose="020B0609020204030204" pitchFamily="49" charset="0"/>
                <a:ea typeface="FangSong" panose="02010609060101010101" pitchFamily="49" charset="-122"/>
                <a:cs typeface="Consolas" panose="020B0609020204030204" pitchFamily="49" charset="0"/>
              </a:rPr>
              <a:t>与机械硬盘的权衡对比</a:t>
            </a:r>
            <a:endParaRPr lang="zh-CN" alt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1882" name="Content Placeholder 2"/>
          <p:cNvSpPr txBox="1">
            <a:spLocks noGrp="1"/>
          </p:cNvSpPr>
          <p:nvPr>
            <p:ph type="body" idx="1"/>
          </p:nvPr>
        </p:nvSpPr>
        <p:spPr>
          <a:xfrm>
            <a:off x="1025912" y="1274619"/>
            <a:ext cx="7203688" cy="5059507"/>
          </a:xfrm>
          <a:prstGeom prst="rect">
            <a:avLst/>
          </a:prstGeom>
        </p:spPr>
        <p:txBody>
          <a:bodyPr>
            <a:normAutofit/>
          </a:bodyPr>
          <a:lstStyle/>
          <a:p>
            <a:pPr algn="just"/>
            <a:r>
              <a:rPr lang="zh-CN" altLang="en-US" sz="1800" dirty="0">
                <a:latin typeface="Consolas" panose="020B0609020204030204" pitchFamily="49" charset="0"/>
                <a:ea typeface="FangSong" panose="02010609060101010101" pitchFamily="49" charset="-122"/>
                <a:cs typeface="Consolas" panose="020B0609020204030204" pitchFamily="49" charset="0"/>
              </a:rPr>
              <a:t>优点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800" dirty="0">
                <a:latin typeface="Consolas" panose="020B0609020204030204" pitchFamily="49" charset="0"/>
                <a:ea typeface="FangSong" panose="02010609060101010101" pitchFamily="49" charset="-122"/>
                <a:cs typeface="Consolas" panose="020B0609020204030204" pitchFamily="49" charset="0"/>
              </a:rPr>
              <a:t>无机械运动部件 → 速度更快、功耗更低、更坚固耐用</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algn="just"/>
            <a:r>
              <a:rPr lang="zh-CN" altLang="en-US" sz="1800" dirty="0">
                <a:latin typeface="Consolas" panose="020B0609020204030204" pitchFamily="49" charset="0"/>
                <a:ea typeface="FangSong" panose="02010609060101010101" pitchFamily="49" charset="-122"/>
                <a:cs typeface="Consolas" panose="020B0609020204030204" pitchFamily="49" charset="0"/>
              </a:rPr>
              <a:t>缺点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800" dirty="0">
                <a:latin typeface="Consolas" panose="020B0609020204030204" pitchFamily="49" charset="0"/>
                <a:ea typeface="FangSong" panose="02010609060101010101" pitchFamily="49" charset="-122"/>
                <a:cs typeface="Consolas" panose="020B0609020204030204" pitchFamily="49" charset="0"/>
              </a:rPr>
              <a:t>存在磨损失效的可能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2" algn="just"/>
            <a:r>
              <a:rPr lang="zh-CN" altLang="en-US" sz="1800" dirty="0">
                <a:latin typeface="Consolas" panose="020B0609020204030204" pitchFamily="49" charset="0"/>
                <a:ea typeface="FangSong" panose="02010609060101010101" pitchFamily="49" charset="-122"/>
                <a:cs typeface="Consolas" panose="020B0609020204030204" pitchFamily="49" charset="0"/>
              </a:rPr>
              <a:t>通过闪存转换层中的“磨损均衡”（</a:t>
            </a:r>
            <a:r>
              <a:rPr lang="en-US" sz="1800" dirty="0">
                <a:latin typeface="Consolas" panose="020B0609020204030204" pitchFamily="49" charset="0"/>
                <a:ea typeface="FangSong" panose="02010609060101010101" pitchFamily="49" charset="-122"/>
                <a:cs typeface="Consolas" panose="020B0609020204030204" pitchFamily="49" charset="0"/>
              </a:rPr>
              <a:t>wear leveling logic）</a:t>
            </a:r>
            <a:r>
              <a:rPr lang="zh-CN" altLang="en-US" sz="1800" dirty="0">
                <a:latin typeface="Consolas" panose="020B0609020204030204" pitchFamily="49" charset="0"/>
                <a:ea typeface="FangSong" panose="02010609060101010101" pitchFamily="49" charset="-122"/>
                <a:cs typeface="Consolas" panose="020B0609020204030204" pitchFamily="49" charset="0"/>
              </a:rPr>
              <a:t>机制加以缓解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2" algn="just"/>
            <a:r>
              <a:rPr lang="zh-CN" altLang="en-US" sz="1800" dirty="0">
                <a:latin typeface="Consolas" panose="020B0609020204030204" pitchFamily="49" charset="0"/>
                <a:ea typeface="FangSong" panose="02010609060101010101" pitchFamily="49" charset="-122"/>
                <a:cs typeface="Consolas" panose="020B0609020204030204" pitchFamily="49" charset="0"/>
              </a:rPr>
              <a:t>例如：三星 </a:t>
            </a:r>
            <a:r>
              <a:rPr lang="en-US" altLang="zh-CN" sz="1800" dirty="0">
                <a:latin typeface="Consolas" panose="020B0609020204030204" pitchFamily="49" charset="0"/>
                <a:ea typeface="FangSong" panose="02010609060101010101" pitchFamily="49" charset="-122"/>
                <a:cs typeface="Consolas" panose="020B0609020204030204" pitchFamily="49" charset="0"/>
              </a:rPr>
              <a:t>970 </a:t>
            </a:r>
            <a:r>
              <a:rPr lang="en-US" sz="1800" dirty="0">
                <a:latin typeface="Consolas" panose="020B0609020204030204" pitchFamily="49" charset="0"/>
                <a:ea typeface="FangSong" panose="02010609060101010101" pitchFamily="49" charset="-122"/>
                <a:cs typeface="Consolas" panose="020B0609020204030204" pitchFamily="49" charset="0"/>
              </a:rPr>
              <a:t>EVO Plus</a:t>
            </a:r>
            <a:r>
              <a:rPr lang="zh-CN" altLang="en-US" sz="1800" dirty="0">
                <a:latin typeface="Consolas" panose="020B0609020204030204" pitchFamily="49" charset="0"/>
                <a:ea typeface="FangSong" panose="02010609060101010101" pitchFamily="49" charset="-122"/>
                <a:cs typeface="Consolas" panose="020B0609020204030204" pitchFamily="49" charset="0"/>
              </a:rPr>
              <a:t> 保证每个字节可写入约 </a:t>
            </a:r>
            <a:r>
              <a:rPr lang="en-US" altLang="zh-CN" sz="1800" dirty="0">
                <a:latin typeface="Consolas" panose="020B0609020204030204" pitchFamily="49" charset="0"/>
                <a:ea typeface="FangSong" panose="02010609060101010101" pitchFamily="49" charset="-122"/>
                <a:cs typeface="Consolas" panose="020B0609020204030204" pitchFamily="49" charset="0"/>
              </a:rPr>
              <a:t>600 </a:t>
            </a:r>
            <a:r>
              <a:rPr lang="zh-CN" altLang="en-US" sz="1800" dirty="0">
                <a:latin typeface="Consolas" panose="020B0609020204030204" pitchFamily="49" charset="0"/>
                <a:ea typeface="FangSong" panose="02010609060101010101" pitchFamily="49" charset="-122"/>
                <a:cs typeface="Consolas" panose="020B0609020204030204" pitchFamily="49" charset="0"/>
              </a:rPr>
              <a:t>次后才达到寿命极限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2" algn="just"/>
            <a:r>
              <a:rPr lang="zh-CN" altLang="en-US" sz="1800" dirty="0">
                <a:latin typeface="Consolas" panose="020B0609020204030204" pitchFamily="49" charset="0"/>
                <a:ea typeface="FangSong" panose="02010609060101010101" pitchFamily="49" charset="-122"/>
                <a:cs typeface="Consolas" panose="020B0609020204030204" pitchFamily="49" charset="0"/>
              </a:rPr>
              <a:t>控制器会动态迁移数据，以最小化各存储单元的磨损程度</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800" dirty="0">
                <a:latin typeface="Consolas" panose="020B0609020204030204" pitchFamily="49" charset="0"/>
                <a:ea typeface="FangSong" panose="02010609060101010101" pitchFamily="49" charset="-122"/>
                <a:cs typeface="Consolas" panose="020B0609020204030204" pitchFamily="49" charset="0"/>
              </a:rPr>
              <a:t>每字节成本更高（但与机械硬盘的差距正在快速缩小）</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algn="just"/>
            <a:endParaRPr lang="en-US" altLang="zh-CN" sz="1800" dirty="0">
              <a:latin typeface="Consolas" panose="020B0609020204030204" pitchFamily="49" charset="0"/>
              <a:ea typeface="FangSong" panose="02010609060101010101" pitchFamily="49" charset="-122"/>
              <a:cs typeface="Consolas" panose="020B0609020204030204" pitchFamily="49" charset="0"/>
            </a:endParaRPr>
          </a:p>
          <a:p>
            <a:pPr algn="just"/>
            <a:r>
              <a:rPr lang="zh-CN" altLang="en-US" sz="1800" dirty="0">
                <a:latin typeface="Consolas" panose="020B0609020204030204" pitchFamily="49" charset="0"/>
                <a:ea typeface="FangSong" panose="02010609060101010101" pitchFamily="49" charset="-122"/>
                <a:cs typeface="Consolas" panose="020B0609020204030204" pitchFamily="49" charset="0"/>
              </a:rPr>
              <a:t>机械硬盘仍在哪些场景使用？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800" dirty="0">
                <a:latin typeface="Consolas" panose="020B0609020204030204" pitchFamily="49" charset="0"/>
                <a:ea typeface="FangSong" panose="02010609060101010101" pitchFamily="49" charset="-122"/>
                <a:cs typeface="Consolas" panose="020B0609020204030204" pitchFamily="49" charset="0"/>
              </a:rPr>
              <a:t>大容量存储：如视频、超大规模数据集、数据库等 </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a:p>
            <a:pPr lvl="1" algn="just"/>
            <a:r>
              <a:rPr lang="zh-CN" altLang="en-US" sz="1800" dirty="0">
                <a:latin typeface="Consolas" panose="020B0609020204030204" pitchFamily="49" charset="0"/>
                <a:ea typeface="FangSong" panose="02010609060101010101" pitchFamily="49" charset="-122"/>
                <a:cs typeface="Consolas" panose="020B0609020204030204" pitchFamily="49" charset="0"/>
              </a:rPr>
              <a:t>低成本存储：如普通台式电脑</a:t>
            </a:r>
            <a:endParaRPr lang="zh-CN" altLang="en-US" sz="1800" dirty="0">
              <a:latin typeface="Consolas" panose="020B0609020204030204" pitchFamily="49" charset="0"/>
              <a:ea typeface="FangSong" panose="02010609060101010101" pitchFamily="49" charset="-122"/>
              <a:cs typeface="Consolas" panose="020B0609020204030204" pitchFamily="49" charset="0"/>
            </a:endParaRPr>
          </a:p>
        </p:txBody>
      </p:sp>
      <p:pic>
        <p:nvPicPr>
          <p:cNvPr id="5" name="Picture 4" descr="A graph of a graph with numbers and a line&#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406547" y="1798983"/>
            <a:ext cx="2949086" cy="3260033"/>
          </a:xfrm>
          <a:prstGeom prst="rect">
            <a:avLst/>
          </a:prstGeom>
        </p:spPr>
      </p:pic>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5" name="Rectangle 2"/>
          <p:cNvSpPr txBox="1">
            <a:spLocks noGrp="1"/>
          </p:cNvSpPr>
          <p:nvPr>
            <p:ph type="title"/>
          </p:nvPr>
        </p:nvSpPr>
        <p:spPr>
          <a:xfrm>
            <a:off x="1881018" y="435679"/>
            <a:ext cx="7592095" cy="762001"/>
          </a:xfrm>
          <a:prstGeom prst="rect">
            <a:avLst/>
          </a:prstGeom>
        </p:spPr>
        <p:txBody>
          <a:bodyPr/>
          <a:lstStyle/>
          <a:p>
            <a:r>
              <a:rPr lang="en-US" dirty="0" err="1">
                <a:latin typeface="Consolas" panose="020B0609020204030204" pitchFamily="49" charset="0"/>
                <a:ea typeface="FangSong" panose="02010609060101010101" pitchFamily="49" charset="-122"/>
                <a:cs typeface="Consolas" panose="020B0609020204030204" pitchFamily="49" charset="0"/>
              </a:rPr>
              <a:t>小结</a:t>
            </a:r>
            <a:endParaRPr dirty="0">
              <a:latin typeface="Consolas" panose="020B0609020204030204" pitchFamily="49" charset="0"/>
              <a:ea typeface="FangSong" panose="02010609060101010101" pitchFamily="49" charset="-122"/>
              <a:cs typeface="Consolas" panose="020B0609020204030204" pitchFamily="49" charset="0"/>
            </a:endParaRPr>
          </a:p>
        </p:txBody>
      </p:sp>
      <p:sp>
        <p:nvSpPr>
          <p:cNvPr id="1886" name="Rectangle 3"/>
          <p:cNvSpPr txBox="1">
            <a:spLocks noGrp="1"/>
          </p:cNvSpPr>
          <p:nvPr>
            <p:ph type="body" idx="1"/>
          </p:nvPr>
        </p:nvSpPr>
        <p:spPr>
          <a:xfrm>
            <a:off x="1182408" y="1362075"/>
            <a:ext cx="9827184" cy="4972050"/>
          </a:xfrm>
          <a:prstGeom prst="rect">
            <a:avLst/>
          </a:prstGeom>
        </p:spPr>
        <p:txBody>
          <a:bodyPr/>
          <a:lstStyle/>
          <a:p>
            <a:r>
              <a:rPr lang="en-US" dirty="0">
                <a:latin typeface="Consolas" panose="020B0609020204030204" pitchFamily="49" charset="0"/>
                <a:ea typeface="FangSong" panose="02010609060101010101" pitchFamily="49" charset="-122"/>
                <a:cs typeface="Consolas" panose="020B0609020204030204" pitchFamily="49" charset="0"/>
              </a:rPr>
              <a:t>CPU、</a:t>
            </a:r>
            <a:r>
              <a:rPr lang="zh-CN" altLang="en-US" dirty="0">
                <a:latin typeface="Consolas" panose="020B0609020204030204" pitchFamily="49" charset="0"/>
                <a:ea typeface="FangSong" panose="02010609060101010101" pitchFamily="49" charset="-122"/>
                <a:cs typeface="Consolas" panose="020B0609020204030204" pitchFamily="49" charset="0"/>
              </a:rPr>
              <a:t>内存与大容量存储之间的速度差距持续扩大</a:t>
            </a:r>
            <a:endParaRPr lang="zh-CN" altLang="en-US" dirty="0">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精心编写的程序具有一个称为局部性的特性</a:t>
            </a:r>
            <a:endParaRPr lang="zh-CN" altLang="en-US" dirty="0">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基于缓存的存储层次结构通过利用局部性来弥合这一性能鸿沟</a:t>
            </a:r>
            <a:endParaRPr lang="zh-CN" altLang="en-US" dirty="0">
              <a:latin typeface="Consolas" panose="020B0609020204030204" pitchFamily="49" charset="0"/>
              <a:ea typeface="FangSong" panose="02010609060101010101" pitchFamily="49" charset="-122"/>
              <a:cs typeface="Consolas" panose="020B0609020204030204" pitchFamily="49" charset="0"/>
            </a:endParaRPr>
          </a:p>
          <a:p>
            <a:r>
              <a:rPr lang="zh-CN" altLang="en-US" dirty="0">
                <a:latin typeface="Consolas" panose="020B0609020204030204" pitchFamily="49" charset="0"/>
                <a:ea typeface="FangSong" panose="02010609060101010101" pitchFamily="49" charset="-122"/>
                <a:cs typeface="Consolas" panose="020B0609020204030204" pitchFamily="49" charset="0"/>
              </a:rPr>
              <a:t>闪存的发展速度已超过其他所有内存和存储技术（包括 </a:t>
            </a:r>
            <a:r>
              <a:rPr lang="en-US" dirty="0">
                <a:latin typeface="Consolas" panose="020B0609020204030204" pitchFamily="49" charset="0"/>
                <a:ea typeface="FangSong" panose="02010609060101010101" pitchFamily="49" charset="-122"/>
                <a:cs typeface="Consolas" panose="020B0609020204030204" pitchFamily="49" charset="0"/>
              </a:rPr>
              <a:t>DRAM、SRAM </a:t>
            </a:r>
            <a:r>
              <a:rPr lang="zh-CN" altLang="en-US" dirty="0">
                <a:latin typeface="Consolas" panose="020B0609020204030204" pitchFamily="49" charset="0"/>
                <a:ea typeface="FangSong" panose="02010609060101010101" pitchFamily="49" charset="-122"/>
                <a:cs typeface="Consolas" panose="020B0609020204030204" pitchFamily="49" charset="0"/>
              </a:rPr>
              <a:t>和磁盘）</a:t>
            </a:r>
            <a:endParaRPr lang="en-US" altLang="zh-CN" dirty="0">
              <a:latin typeface="Consolas" panose="020B0609020204030204" pitchFamily="49" charset="0"/>
              <a:ea typeface="FangSong" panose="02010609060101010101" pitchFamily="49" charset="-122"/>
              <a:cs typeface="Consolas" panose="020B0609020204030204" pitchFamily="49" charset="0"/>
            </a:endParaRPr>
          </a:p>
          <a:p>
            <a:pPr lvl="1"/>
            <a:r>
              <a:rPr lang="zh-CN" altLang="en-US" dirty="0">
                <a:latin typeface="Consolas" panose="020B0609020204030204" pitchFamily="49" charset="0"/>
                <a:ea typeface="FangSong" panose="02010609060101010101" pitchFamily="49" charset="-122"/>
                <a:cs typeface="Consolas" panose="020B0609020204030204" pitchFamily="49" charset="0"/>
              </a:rPr>
              <a:t>其关键优势在于能够将存储单元在三维空间中堆叠</a:t>
            </a:r>
            <a:endParaRPr lang="en-US" dirty="0">
              <a:latin typeface="Consolas" panose="020B0609020204030204" pitchFamily="49" charset="0"/>
              <a:ea typeface="FangSong" panose="02010609060101010101" pitchFamily="49" charset="-122"/>
              <a:cs typeface="Consolas" panose="020B0609020204030204" pitchFamily="49" charset="0"/>
            </a:endParaRPr>
          </a:p>
        </p:txBody>
      </p:sp>
      <p:sp>
        <p:nvSpPr>
          <p:cNvPr id="2" name="Slide Number Placeholder 1"/>
          <p:cNvSpPr>
            <a:spLocks noGrp="1"/>
          </p:cNvSpPr>
          <p:nvPr>
            <p:ph type="sldNum" sz="quarter" idx="2"/>
          </p:nvPr>
        </p:nvSpPr>
        <p:spPr/>
        <p:txBody>
          <a:bodyPr/>
          <a:p>
            <a:fld id="{86CB4B4D-7CA3-9044-876B-883B54F8677D}" type="slidenum">
              <a:rPr/>
            </a:fld>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8"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889" name="Title 1"/>
          <p:cNvSpPr txBox="1">
            <a:spLocks noGrp="1"/>
          </p:cNvSpPr>
          <p:nvPr>
            <p:ph type="title"/>
          </p:nvPr>
        </p:nvSpPr>
        <p:spPr>
          <a:xfrm>
            <a:off x="1881018" y="435679"/>
            <a:ext cx="7592095" cy="762001"/>
          </a:xfrm>
          <a:prstGeom prst="rect">
            <a:avLst/>
          </a:prstGeom>
        </p:spPr>
        <p:txBody>
          <a:bodyPr/>
          <a:lstStyle/>
          <a:p>
            <a:r>
              <a:t>Supplemental slides</a:t>
            </a:r>
          </a:p>
        </p:txBody>
      </p:sp>
      <p:sp>
        <p:nvSpPr>
          <p:cNvPr id="1890" name="Content Placeholder 2"/>
          <p:cNvSpPr txBox="1">
            <a:spLocks noGrp="1"/>
          </p:cNvSpPr>
          <p:nvPr>
            <p:ph type="body" idx="1"/>
          </p:nvPr>
        </p:nvSpPr>
        <p:spPr>
          <a:prstGeom prst="rect">
            <a:avLst/>
          </a:prstGeom>
        </p:spPr>
        <p:txBody>
          <a:bodyPr/>
          <a:lstStyle/>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Rectangle 5"/>
          <p:cNvSpPr txBox="1">
            <a:spLocks noGrp="1"/>
          </p:cNvSpPr>
          <p:nvPr>
            <p:ph type="sldNum" sz="quarter" idx="2"/>
          </p:nvPr>
        </p:nvSpPr>
        <p:spPr>
          <a:xfrm>
            <a:off x="10354843" y="6611779"/>
            <a:ext cx="223777" cy="246221"/>
          </a:xfrm>
          <a:prstGeom prst="rect">
            <a:avLst/>
          </a:prstGeom>
        </p:spPr>
        <p:txBody>
          <a:bodyPr/>
          <a:lstStyle/>
          <a:p>
            <a:fld id="{86CB4B4D-7CA3-9044-876B-883B54F8677D}" type="slidenum">
              <a:rPr/>
            </a:fld>
            <a:endParaRPr/>
          </a:p>
        </p:txBody>
      </p:sp>
      <p:sp>
        <p:nvSpPr>
          <p:cNvPr id="374" name="Rectangle 1028"/>
          <p:cNvSpPr txBox="1">
            <a:spLocks noGrp="1"/>
          </p:cNvSpPr>
          <p:nvPr>
            <p:ph type="title"/>
          </p:nvPr>
        </p:nvSpPr>
        <p:spPr>
          <a:xfrm>
            <a:off x="1881018" y="435679"/>
            <a:ext cx="7592095" cy="762001"/>
          </a:xfrm>
          <a:prstGeom prst="rect">
            <a:avLst/>
          </a:prstGeom>
        </p:spPr>
        <p:txBody>
          <a:bodyPr>
            <a:normAutofit/>
          </a:bodyPr>
          <a:lstStyle>
            <a:lvl1pPr marL="80645" indent="-80645" defTabSz="621665">
              <a:defRPr sz="2450"/>
            </a:lvl1pPr>
          </a:lstStyle>
          <a:p>
            <a:r>
              <a:rPr dirty="0"/>
              <a:t>Enhanced DRAMs (Extra Detail for Modern Systems)</a:t>
            </a:r>
            <a:endParaRPr dirty="0"/>
          </a:p>
        </p:txBody>
      </p:sp>
      <p:sp>
        <p:nvSpPr>
          <p:cNvPr id="375" name="Rectangle 1029"/>
          <p:cNvSpPr txBox="1">
            <a:spLocks noGrp="1"/>
          </p:cNvSpPr>
          <p:nvPr>
            <p:ph type="body" idx="1"/>
          </p:nvPr>
        </p:nvSpPr>
        <p:spPr>
          <a:xfrm>
            <a:off x="1920876" y="1362074"/>
            <a:ext cx="8594725" cy="5114926"/>
          </a:xfrm>
          <a:prstGeom prst="rect">
            <a:avLst/>
          </a:prstGeom>
        </p:spPr>
        <p:txBody>
          <a:bodyPr/>
          <a:lstStyle/>
          <a:p>
            <a:r>
              <a:t>Operation of DRAM cell has not changed since its invention</a:t>
            </a:r>
          </a:p>
          <a:p>
            <a:pPr marL="742950" lvl="1" indent="-285750">
              <a:spcBef>
                <a:spcPts val="400"/>
              </a:spcBef>
              <a:defRPr sz="2000" b="0"/>
            </a:pPr>
            <a:r>
              <a:t>Commercialized by Intel in 1970. </a:t>
            </a:r>
          </a:p>
          <a:p>
            <a:r>
              <a:t>DRAM cores with better interface logic and faster I/O :</a:t>
            </a:r>
          </a:p>
          <a:p>
            <a:pPr marL="742950" lvl="1" indent="-285750">
              <a:spcBef>
                <a:spcPts val="400"/>
              </a:spcBef>
              <a:defRPr sz="2000" b="0"/>
            </a:pPr>
            <a:r>
              <a:t>Synchronous DRAM (</a:t>
            </a:r>
            <a:r>
              <a:rPr>
                <a:solidFill>
                  <a:srgbClr val="FF0000"/>
                </a:solidFill>
              </a:rPr>
              <a:t>SDRAM</a:t>
            </a:r>
            <a:r>
              <a:t>)</a:t>
            </a:r>
          </a:p>
          <a:p>
            <a:pPr marL="1143000" lvl="2" indent="-228600">
              <a:spcBef>
                <a:spcPts val="400"/>
              </a:spcBef>
              <a:buClrTx/>
              <a:defRPr sz="2000" b="0"/>
            </a:pPr>
            <a:r>
              <a:t>Uses a conventional clock signal instead of asynchronous control</a:t>
            </a:r>
          </a:p>
          <a:p>
            <a:pPr marL="742950" lvl="1" indent="-285750">
              <a:spcBef>
                <a:spcPts val="400"/>
              </a:spcBef>
              <a:defRPr sz="2000" b="0"/>
            </a:pPr>
          </a:p>
          <a:p>
            <a:pPr marL="742950" lvl="1" indent="-285750">
              <a:spcBef>
                <a:spcPts val="400"/>
              </a:spcBef>
              <a:defRPr sz="2000" b="0"/>
            </a:pPr>
            <a:r>
              <a:t>Double data-rate synchronous DRAM (</a:t>
            </a:r>
            <a:r>
              <a:rPr>
                <a:solidFill>
                  <a:srgbClr val="FF0000"/>
                </a:solidFill>
              </a:rPr>
              <a:t>DDR SDRAM</a:t>
            </a:r>
            <a:r>
              <a:t>)</a:t>
            </a:r>
          </a:p>
          <a:p>
            <a:pPr marL="1143000" lvl="2" indent="-228600">
              <a:spcBef>
                <a:spcPts val="400"/>
              </a:spcBef>
              <a:buClrTx/>
              <a:defRPr sz="2000" b="0"/>
            </a:pPr>
            <a:r>
              <a:t>Double edge clocking sends two bits per cycle per pin</a:t>
            </a:r>
          </a:p>
          <a:p>
            <a:pPr marL="1143000" lvl="2" indent="-228600">
              <a:spcBef>
                <a:spcPts val="400"/>
              </a:spcBef>
              <a:buClrTx/>
              <a:defRPr sz="2000" b="0"/>
            </a:pPr>
            <a:r>
              <a:t>Different types distinguished by size of small prefetch buffer:</a:t>
            </a:r>
          </a:p>
          <a:p>
            <a:pPr marL="1600200" lvl="3" indent="-228600">
              <a:spcBef>
                <a:spcPts val="400"/>
              </a:spcBef>
              <a:buClrTx/>
              <a:defRPr sz="2000" b="0">
                <a:solidFill>
                  <a:srgbClr val="FF0000"/>
                </a:solidFill>
              </a:defRPr>
            </a:pPr>
            <a:r>
              <a:t>DDR</a:t>
            </a:r>
            <a:r>
              <a:rPr>
                <a:solidFill>
                  <a:srgbClr val="000000"/>
                </a:solidFill>
              </a:rPr>
              <a:t> (2 bits), </a:t>
            </a:r>
            <a:r>
              <a:t>DDR2</a:t>
            </a:r>
            <a:r>
              <a:rPr>
                <a:solidFill>
                  <a:srgbClr val="000000"/>
                </a:solidFill>
              </a:rPr>
              <a:t> (4 bits), </a:t>
            </a:r>
            <a:r>
              <a:t>DDR3</a:t>
            </a:r>
            <a:r>
              <a:rPr>
                <a:solidFill>
                  <a:srgbClr val="000000"/>
                </a:solidFill>
              </a:rPr>
              <a:t> (8 bits),</a:t>
            </a:r>
            <a:r>
              <a:t> DDR4</a:t>
            </a:r>
            <a:r>
              <a:rPr>
                <a:solidFill>
                  <a:srgbClr val="000000"/>
                </a:solidFill>
              </a:rPr>
              <a:t> (16 bits)</a:t>
            </a:r>
            <a:endParaRPr>
              <a:solidFill>
                <a:srgbClr val="000000"/>
              </a:solidFill>
            </a:endParaRPr>
          </a:p>
          <a:p>
            <a:pPr marL="1143000" lvl="2" indent="-228600">
              <a:spcBef>
                <a:spcPts val="400"/>
              </a:spcBef>
              <a:buClrTx/>
              <a:defRPr sz="2000" b="0"/>
            </a:pPr>
            <a:r>
              <a:t>By 2010, standard for most server and desktop systems</a:t>
            </a:r>
          </a:p>
          <a:p>
            <a:pPr marL="1143000" lvl="2" indent="-228600">
              <a:spcBef>
                <a:spcPts val="400"/>
              </a:spcBef>
              <a:buClrTx/>
              <a:defRPr sz="2000" b="0"/>
            </a:pPr>
            <a:r>
              <a:t>Intel Core i7 supports DDR3 and DDR4 SDRAM</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2"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893" name="Rectangle 18"/>
          <p:cNvSpPr/>
          <p:nvPr/>
        </p:nvSpPr>
        <p:spPr>
          <a:xfrm>
            <a:off x="1600201" y="3032126"/>
            <a:ext cx="8893175" cy="422275"/>
          </a:xfrm>
          <a:prstGeom prst="rect">
            <a:avLst/>
          </a:prstGeom>
          <a:solidFill>
            <a:srgbClr val="E6E6E6"/>
          </a:solidFill>
          <a:ln w="28575">
            <a:solidFill>
              <a:srgbClr val="000000"/>
            </a:solidFill>
            <a:tailEnd type="triangle"/>
          </a:ln>
        </p:spPr>
        <p:txBody>
          <a:bodyPr lIns="45719" rIns="45719" anchor="ctr"/>
          <a:lstStyle/>
          <a:p>
            <a:pPr algn="ctr">
              <a:defRPr>
                <a:solidFill>
                  <a:srgbClr val="22228B"/>
                </a:solidFill>
                <a:latin typeface="Calibri"/>
                <a:ea typeface="Calibri"/>
                <a:cs typeface="Calibri"/>
                <a:sym typeface="Calibri"/>
              </a:defRPr>
            </a:pPr>
          </a:p>
        </p:txBody>
      </p:sp>
      <p:sp>
        <p:nvSpPr>
          <p:cNvPr id="1894" name="Rectangle 3"/>
          <p:cNvSpPr/>
          <p:nvPr/>
        </p:nvSpPr>
        <p:spPr>
          <a:xfrm>
            <a:off x="1600201" y="3032126"/>
            <a:ext cx="8893175" cy="1474763"/>
          </a:xfrm>
          <a:prstGeom prst="rect">
            <a:avLst/>
          </a:prstGeom>
          <a:ln w="28575">
            <a:solidFill>
              <a:srgbClr val="000000"/>
            </a:solidFill>
            <a:miter/>
          </a:ln>
        </p:spPr>
        <p:txBody>
          <a:bodyPr lIns="44450" tIns="44450" rIns="44450" bIns="44450">
            <a:spAutoFit/>
          </a:bodyPr>
          <a:lstStyle/>
          <a:p>
            <a:pPr defTabSz="857250">
              <a:defRPr sz="2000"/>
            </a:pPr>
            <a:r>
              <a:rPr sz="2000"/>
              <a:t>Metric		1985	1990	1995	2000	2005	2010	2015	</a:t>
            </a:r>
            <a:r>
              <a:rPr sz="2000" i="1"/>
              <a:t>2015:1985</a:t>
            </a:r>
            <a:endParaRPr sz="2000" i="1"/>
          </a:p>
          <a:p>
            <a:pPr defTabSz="857250">
              <a:defRPr sz="1600">
                <a:solidFill>
                  <a:srgbClr val="22228B"/>
                </a:solidFill>
              </a:defRPr>
            </a:pPr>
            <a:endParaRPr sz="1600" i="1"/>
          </a:p>
          <a:p>
            <a:pPr defTabSz="857250">
              <a:defRPr sz="1800">
                <a:solidFill>
                  <a:srgbClr val="22228B"/>
                </a:solidFill>
              </a:defRPr>
            </a:pPr>
            <a:r>
              <a:rPr sz="1800"/>
              <a:t>$/MB		880	100	30	1	0.1	0.06	0.02	</a:t>
            </a:r>
            <a:r>
              <a:rPr sz="1800" i="1"/>
              <a:t>44,000</a:t>
            </a:r>
            <a:endParaRPr sz="1800" i="1"/>
          </a:p>
          <a:p>
            <a:pPr defTabSz="857250">
              <a:defRPr sz="1800">
                <a:solidFill>
                  <a:srgbClr val="22228B"/>
                </a:solidFill>
              </a:defRPr>
            </a:pPr>
            <a:r>
              <a:rPr sz="1800"/>
              <a:t>access (ns)	200	100	70	60	50	40	20	</a:t>
            </a:r>
            <a:r>
              <a:rPr sz="1800" i="1"/>
              <a:t>10</a:t>
            </a:r>
            <a:endParaRPr sz="1800" i="1"/>
          </a:p>
          <a:p>
            <a:pPr defTabSz="857250">
              <a:defRPr sz="1800">
                <a:solidFill>
                  <a:srgbClr val="22228B"/>
                </a:solidFill>
              </a:defRPr>
            </a:pPr>
            <a:r>
              <a:rPr sz="1800"/>
              <a:t>typical size (MB) 	0.256	4	16	64	2,000	8,000	16.000	</a:t>
            </a:r>
            <a:r>
              <a:rPr sz="1800" i="1"/>
              <a:t>62,500</a:t>
            </a:r>
            <a:endParaRPr sz="1800" i="1"/>
          </a:p>
        </p:txBody>
      </p:sp>
      <p:sp>
        <p:nvSpPr>
          <p:cNvPr id="1895" name="Rectangle 17"/>
          <p:cNvSpPr/>
          <p:nvPr/>
        </p:nvSpPr>
        <p:spPr>
          <a:xfrm>
            <a:off x="1600201" y="5229226"/>
            <a:ext cx="8893175" cy="422275"/>
          </a:xfrm>
          <a:prstGeom prst="rect">
            <a:avLst/>
          </a:prstGeom>
          <a:solidFill>
            <a:srgbClr val="E2E2E2"/>
          </a:solidFill>
          <a:ln w="28575">
            <a:solidFill>
              <a:srgbClr val="000000"/>
            </a:solidFill>
            <a:tailEnd type="triangle"/>
          </a:ln>
        </p:spPr>
        <p:txBody>
          <a:bodyPr lIns="45719" rIns="45719" anchor="ctr"/>
          <a:lstStyle/>
          <a:p>
            <a:pPr algn="ctr">
              <a:defRPr>
                <a:solidFill>
                  <a:srgbClr val="22228B"/>
                </a:solidFill>
                <a:latin typeface="Calibri"/>
                <a:ea typeface="Calibri"/>
                <a:cs typeface="Calibri"/>
                <a:sym typeface="Calibri"/>
              </a:defRPr>
            </a:pPr>
          </a:p>
        </p:txBody>
      </p:sp>
      <p:sp>
        <p:nvSpPr>
          <p:cNvPr id="1896" name="Rectangle 15"/>
          <p:cNvSpPr/>
          <p:nvPr/>
        </p:nvSpPr>
        <p:spPr>
          <a:xfrm>
            <a:off x="1622426" y="1482726"/>
            <a:ext cx="8893175" cy="422275"/>
          </a:xfrm>
          <a:prstGeom prst="rect">
            <a:avLst/>
          </a:prstGeom>
          <a:solidFill>
            <a:srgbClr val="E6E6E6"/>
          </a:solidFill>
          <a:ln w="28575">
            <a:solidFill>
              <a:srgbClr val="000000"/>
            </a:solidFill>
            <a:tailEnd type="triangle"/>
          </a:ln>
        </p:spPr>
        <p:txBody>
          <a:bodyPr lIns="45719" rIns="45719" anchor="ctr"/>
          <a:lstStyle/>
          <a:p>
            <a:pPr algn="ctr">
              <a:defRPr>
                <a:latin typeface="Calibri"/>
                <a:ea typeface="Calibri"/>
                <a:cs typeface="Calibri"/>
                <a:sym typeface="Calibri"/>
              </a:defRPr>
            </a:pPr>
          </a:p>
        </p:txBody>
      </p:sp>
      <p:sp>
        <p:nvSpPr>
          <p:cNvPr id="1897" name="Rectangle 2"/>
          <p:cNvSpPr txBox="1">
            <a:spLocks noGrp="1"/>
          </p:cNvSpPr>
          <p:nvPr>
            <p:ph type="title"/>
          </p:nvPr>
        </p:nvSpPr>
        <p:spPr>
          <a:xfrm>
            <a:off x="1881018" y="435679"/>
            <a:ext cx="7592095" cy="762001"/>
          </a:xfrm>
          <a:prstGeom prst="rect">
            <a:avLst/>
          </a:prstGeom>
        </p:spPr>
        <p:txBody>
          <a:bodyPr/>
          <a:lstStyle/>
          <a:p>
            <a:r>
              <a:t>Storage Trends</a:t>
            </a:r>
          </a:p>
        </p:txBody>
      </p:sp>
      <p:sp>
        <p:nvSpPr>
          <p:cNvPr id="1898" name="Rectangle 5"/>
          <p:cNvSpPr txBox="1"/>
          <p:nvPr/>
        </p:nvSpPr>
        <p:spPr>
          <a:xfrm>
            <a:off x="1570037" y="2727325"/>
            <a:ext cx="655629" cy="366767"/>
          </a:xfrm>
          <a:prstGeom prst="rect">
            <a:avLst/>
          </a:prstGeom>
          <a:ln w="12700">
            <a:miter lim="400000"/>
          </a:ln>
        </p:spPr>
        <p:txBody>
          <a:bodyPr wrap="none" lIns="44450" tIns="44450" rIns="44450" bIns="44450">
            <a:spAutoFit/>
          </a:bodyPr>
          <a:lstStyle>
            <a:lvl1pPr>
              <a:defRPr sz="1800">
                <a:solidFill>
                  <a:srgbClr val="FF0000"/>
                </a:solidFill>
              </a:defRPr>
            </a:lvl1pPr>
          </a:lstStyle>
          <a:p>
            <a:r>
              <a:t>DRAM</a:t>
            </a:r>
          </a:p>
        </p:txBody>
      </p:sp>
      <p:sp>
        <p:nvSpPr>
          <p:cNvPr id="1899" name="Rectangle 8"/>
          <p:cNvSpPr txBox="1"/>
          <p:nvPr/>
        </p:nvSpPr>
        <p:spPr>
          <a:xfrm>
            <a:off x="1592262" y="1143000"/>
            <a:ext cx="646011" cy="366767"/>
          </a:xfrm>
          <a:prstGeom prst="rect">
            <a:avLst/>
          </a:prstGeom>
          <a:ln w="12700">
            <a:miter lim="400000"/>
          </a:ln>
        </p:spPr>
        <p:txBody>
          <a:bodyPr wrap="none" lIns="44450" tIns="44450" rIns="44450" bIns="44450">
            <a:spAutoFit/>
          </a:bodyPr>
          <a:lstStyle>
            <a:lvl1pPr>
              <a:defRPr sz="1800">
                <a:solidFill>
                  <a:srgbClr val="FF0000"/>
                </a:solidFill>
              </a:defRPr>
            </a:lvl1pPr>
          </a:lstStyle>
          <a:p>
            <a:r>
              <a:t>SRAM</a:t>
            </a:r>
          </a:p>
        </p:txBody>
      </p:sp>
      <p:sp>
        <p:nvSpPr>
          <p:cNvPr id="1900" name="Rectangle 9"/>
          <p:cNvSpPr/>
          <p:nvPr/>
        </p:nvSpPr>
        <p:spPr>
          <a:xfrm>
            <a:off x="1600201" y="5229226"/>
            <a:ext cx="8893175" cy="1474763"/>
          </a:xfrm>
          <a:prstGeom prst="rect">
            <a:avLst/>
          </a:prstGeom>
          <a:ln w="28575">
            <a:solidFill>
              <a:srgbClr val="000000"/>
            </a:solidFill>
            <a:miter/>
          </a:ln>
        </p:spPr>
        <p:txBody>
          <a:bodyPr lIns="44450" tIns="44450" rIns="44450" bIns="44450">
            <a:spAutoFit/>
          </a:bodyPr>
          <a:lstStyle/>
          <a:p>
            <a:pPr defTabSz="857250">
              <a:defRPr sz="2000"/>
            </a:pPr>
            <a:r>
              <a:rPr sz="2000"/>
              <a:t>Metric		1985	1990	1995	2000	2005	2010	2015	</a:t>
            </a:r>
            <a:r>
              <a:rPr sz="2000" i="1"/>
              <a:t>2015:1985</a:t>
            </a:r>
            <a:endParaRPr sz="2000" i="1"/>
          </a:p>
          <a:p>
            <a:pPr defTabSz="857250">
              <a:defRPr sz="1600">
                <a:solidFill>
                  <a:srgbClr val="22228B"/>
                </a:solidFill>
              </a:defRPr>
            </a:pPr>
            <a:endParaRPr sz="1600" i="1"/>
          </a:p>
          <a:p>
            <a:pPr defTabSz="857250">
              <a:defRPr sz="1800">
                <a:solidFill>
                  <a:srgbClr val="22228B"/>
                </a:solidFill>
              </a:defRPr>
            </a:pPr>
            <a:r>
              <a:rPr sz="1800"/>
              <a:t>$/GB		100,000	8,000	300	10	5	0.3	0.03	</a:t>
            </a:r>
            <a:r>
              <a:rPr sz="1800" i="1"/>
              <a:t>3,333,333</a:t>
            </a:r>
            <a:endParaRPr sz="1800" i="1"/>
          </a:p>
          <a:p>
            <a:pPr defTabSz="857250">
              <a:defRPr sz="1800">
                <a:solidFill>
                  <a:srgbClr val="22228B"/>
                </a:solidFill>
              </a:defRPr>
            </a:pPr>
            <a:r>
              <a:rPr sz="1800"/>
              <a:t>access (ms)	75	28	10	8	</a:t>
            </a:r>
            <a:r>
              <a:rPr sz="1800" i="1"/>
              <a:t>5	3	3	25</a:t>
            </a:r>
            <a:endParaRPr sz="1800" i="1"/>
          </a:p>
          <a:p>
            <a:pPr defTabSz="857250">
              <a:defRPr sz="1800">
                <a:solidFill>
                  <a:srgbClr val="22228B"/>
                </a:solidFill>
              </a:defRPr>
            </a:pPr>
            <a:r>
              <a:rPr sz="1800"/>
              <a:t>typical size (GB) 	0.01	0.16	1	20	160	1,500	3,000	</a:t>
            </a:r>
            <a:r>
              <a:rPr sz="1800" i="1"/>
              <a:t>300,000</a:t>
            </a:r>
            <a:endParaRPr sz="1800" i="1"/>
          </a:p>
        </p:txBody>
      </p:sp>
      <p:sp>
        <p:nvSpPr>
          <p:cNvPr id="1901" name="Rectangle 11"/>
          <p:cNvSpPr txBox="1"/>
          <p:nvPr/>
        </p:nvSpPr>
        <p:spPr>
          <a:xfrm>
            <a:off x="1592262" y="4903788"/>
            <a:ext cx="490519" cy="366767"/>
          </a:xfrm>
          <a:prstGeom prst="rect">
            <a:avLst/>
          </a:prstGeom>
          <a:ln w="12700">
            <a:miter lim="400000"/>
          </a:ln>
        </p:spPr>
        <p:txBody>
          <a:bodyPr wrap="none" lIns="44450" tIns="44450" rIns="44450" bIns="44450">
            <a:spAutoFit/>
          </a:bodyPr>
          <a:lstStyle>
            <a:lvl1pPr>
              <a:defRPr sz="1800">
                <a:solidFill>
                  <a:srgbClr val="FF0000"/>
                </a:solidFill>
              </a:defRPr>
            </a:lvl1pPr>
          </a:lstStyle>
          <a:p>
            <a:r>
              <a:t>Disk</a:t>
            </a:r>
          </a:p>
        </p:txBody>
      </p:sp>
      <p:sp>
        <p:nvSpPr>
          <p:cNvPr id="1902" name="Rectangle 6"/>
          <p:cNvSpPr/>
          <p:nvPr/>
        </p:nvSpPr>
        <p:spPr>
          <a:xfrm>
            <a:off x="1622426" y="1482724"/>
            <a:ext cx="8893175" cy="1197764"/>
          </a:xfrm>
          <a:prstGeom prst="rect">
            <a:avLst/>
          </a:prstGeom>
          <a:ln w="28575">
            <a:solidFill>
              <a:srgbClr val="000000"/>
            </a:solidFill>
            <a:miter/>
          </a:ln>
        </p:spPr>
        <p:txBody>
          <a:bodyPr lIns="44450" tIns="44450" rIns="44450" bIns="44450">
            <a:spAutoFit/>
          </a:bodyPr>
          <a:lstStyle/>
          <a:p>
            <a:pPr defTabSz="857250">
              <a:defRPr sz="2000"/>
            </a:pPr>
            <a:r>
              <a:rPr sz="2000"/>
              <a:t>Metric		1985	1990	1995	2000	2005	2010	2015	</a:t>
            </a:r>
            <a:r>
              <a:rPr sz="2000" i="1"/>
              <a:t>2015:1985</a:t>
            </a:r>
            <a:endParaRPr sz="2000" i="1"/>
          </a:p>
          <a:p>
            <a:pPr defTabSz="857250">
              <a:defRPr sz="1600">
                <a:solidFill>
                  <a:srgbClr val="22228B"/>
                </a:solidFill>
              </a:defRPr>
            </a:pPr>
            <a:endParaRPr sz="1600" i="1"/>
          </a:p>
          <a:p>
            <a:pPr defTabSz="857250">
              <a:defRPr sz="1800">
                <a:solidFill>
                  <a:srgbClr val="22228B"/>
                </a:solidFill>
              </a:defRPr>
            </a:pPr>
            <a:r>
              <a:rPr sz="1800"/>
              <a:t>$/MB		2,900	320	256	100	75	60	</a:t>
            </a:r>
            <a:r>
              <a:rPr sz="1800" i="1"/>
              <a:t>320	116</a:t>
            </a:r>
            <a:endParaRPr sz="1800" i="1"/>
          </a:p>
          <a:p>
            <a:pPr defTabSz="857250">
              <a:defRPr sz="1800">
                <a:solidFill>
                  <a:srgbClr val="22228B"/>
                </a:solidFill>
              </a:defRPr>
            </a:pPr>
            <a:r>
              <a:rPr sz="1800"/>
              <a:t>access (ns)	150	35	15	3	2	1.5	</a:t>
            </a:r>
            <a:r>
              <a:rPr sz="1800" i="1"/>
              <a:t>200	115</a:t>
            </a:r>
            <a:endParaRPr sz="1800" i="1"/>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905" name="Rectangle 14"/>
          <p:cNvSpPr/>
          <p:nvPr/>
        </p:nvSpPr>
        <p:spPr>
          <a:xfrm>
            <a:off x="1600200" y="1814513"/>
            <a:ext cx="8826500" cy="395288"/>
          </a:xfrm>
          <a:prstGeom prst="rect">
            <a:avLst/>
          </a:prstGeom>
          <a:solidFill>
            <a:srgbClr val="E0E0E0"/>
          </a:solidFill>
          <a:ln w="28575">
            <a:solidFill>
              <a:srgbClr val="000000"/>
            </a:solidFill>
            <a:tailEnd type="triangle"/>
          </a:ln>
        </p:spPr>
        <p:txBody>
          <a:bodyPr lIns="45719" rIns="45719" anchor="ctr"/>
          <a:lstStyle/>
          <a:p>
            <a:pPr algn="ctr">
              <a:defRPr>
                <a:latin typeface="Calibri"/>
                <a:ea typeface="Calibri"/>
                <a:cs typeface="Calibri"/>
                <a:sym typeface="Calibri"/>
              </a:defRPr>
            </a:pPr>
          </a:p>
        </p:txBody>
      </p:sp>
      <p:sp>
        <p:nvSpPr>
          <p:cNvPr id="1906" name="Rectangle 2"/>
          <p:cNvSpPr txBox="1">
            <a:spLocks noGrp="1"/>
          </p:cNvSpPr>
          <p:nvPr>
            <p:ph type="title"/>
          </p:nvPr>
        </p:nvSpPr>
        <p:spPr>
          <a:xfrm>
            <a:off x="1881018" y="435679"/>
            <a:ext cx="7592095" cy="762001"/>
          </a:xfrm>
          <a:prstGeom prst="rect">
            <a:avLst/>
          </a:prstGeom>
        </p:spPr>
        <p:txBody>
          <a:bodyPr/>
          <a:lstStyle/>
          <a:p>
            <a:r>
              <a:t>CPU Clock Rates</a:t>
            </a:r>
          </a:p>
        </p:txBody>
      </p:sp>
      <p:sp>
        <p:nvSpPr>
          <p:cNvPr id="1907" name="Rectangle 3"/>
          <p:cNvSpPr/>
          <p:nvPr/>
        </p:nvSpPr>
        <p:spPr>
          <a:xfrm>
            <a:off x="1600200" y="1814514"/>
            <a:ext cx="8826500" cy="4275529"/>
          </a:xfrm>
          <a:prstGeom prst="rect">
            <a:avLst/>
          </a:prstGeom>
          <a:ln w="28575">
            <a:solidFill>
              <a:srgbClr val="000000"/>
            </a:solidFill>
            <a:miter/>
          </a:ln>
        </p:spPr>
        <p:txBody>
          <a:bodyPr lIns="44450" tIns="44450" rIns="44450" bIns="44450">
            <a:spAutoFit/>
          </a:bodyPr>
          <a:lstStyle/>
          <a:p>
            <a:pPr>
              <a:defRPr sz="1600"/>
            </a:pPr>
            <a:r>
              <a:rPr sz="1600"/>
              <a:t>	</a:t>
            </a:r>
            <a:r>
              <a:rPr sz="2000"/>
              <a:t>1985	1990	1995	</a:t>
            </a:r>
            <a:r>
              <a:rPr sz="1800"/>
              <a:t>2003	2005	2010	2015	</a:t>
            </a:r>
            <a:r>
              <a:rPr sz="1800" i="1"/>
              <a:t>2015:1985</a:t>
            </a:r>
            <a:endParaRPr sz="1800" i="1"/>
          </a:p>
          <a:p>
            <a:pPr>
              <a:defRPr sz="1400"/>
            </a:pPr>
            <a:endParaRPr sz="1800" i="1"/>
          </a:p>
          <a:p>
            <a:pPr>
              <a:defRPr sz="1800"/>
            </a:pPr>
            <a:r>
              <a:rPr sz="1800"/>
              <a:t>CPU	 80286	80386	Pentium	P-4	Core 2	Core i7(n)	Core i7(h)	</a:t>
            </a:r>
            <a:endParaRPr sz="1800"/>
          </a:p>
          <a:p>
            <a:pPr>
              <a:defRPr sz="1800"/>
            </a:pPr>
            <a:endParaRPr sz="1800"/>
          </a:p>
          <a:p>
            <a:pPr>
              <a:defRPr sz="1800"/>
            </a:pPr>
            <a:r>
              <a:rPr sz="1800"/>
              <a:t>Clock </a:t>
            </a:r>
            <a:endParaRPr sz="1800"/>
          </a:p>
          <a:p>
            <a:pPr>
              <a:defRPr sz="1800"/>
            </a:pPr>
            <a:r>
              <a:rPr sz="1800"/>
              <a:t>rate (MHz) 6	20	150	3,300	2,000	2,500	3,000	500</a:t>
            </a:r>
            <a:endParaRPr sz="1800"/>
          </a:p>
          <a:p>
            <a:pPr>
              <a:defRPr sz="1800"/>
            </a:pPr>
            <a:endParaRPr sz="1800"/>
          </a:p>
          <a:p>
            <a:pPr>
              <a:defRPr sz="1800"/>
            </a:pPr>
            <a:r>
              <a:rPr sz="1800"/>
              <a:t>Cycle </a:t>
            </a:r>
            <a:endParaRPr sz="1800"/>
          </a:p>
          <a:p>
            <a:pPr>
              <a:defRPr sz="1800"/>
            </a:pPr>
            <a:r>
              <a:rPr sz="1800"/>
              <a:t>time (ns)	166	50	6	0.30	0.50	0.4	0.33	500</a:t>
            </a:r>
            <a:endParaRPr sz="1800"/>
          </a:p>
          <a:p>
            <a:pPr>
              <a:defRPr sz="1800"/>
            </a:pPr>
            <a:endParaRPr sz="1800"/>
          </a:p>
          <a:p>
            <a:pPr>
              <a:defRPr sz="1800"/>
            </a:pPr>
            <a:r>
              <a:rPr sz="1800"/>
              <a:t>Cores	 1  	1	1	1	2	4	4	4</a:t>
            </a:r>
            <a:endParaRPr sz="1800"/>
          </a:p>
          <a:p>
            <a:pPr>
              <a:defRPr sz="1800"/>
            </a:pPr>
            <a:endParaRPr sz="1800"/>
          </a:p>
          <a:p>
            <a:pPr>
              <a:defRPr sz="1800"/>
            </a:pPr>
            <a:r>
              <a:rPr sz="1800"/>
              <a:t>Effective</a:t>
            </a:r>
            <a:endParaRPr sz="1800"/>
          </a:p>
          <a:p>
            <a:pPr>
              <a:defRPr sz="1800"/>
            </a:pPr>
            <a:r>
              <a:rPr sz="1800"/>
              <a:t>cycle 	166	50	6	0.30	0.25	0.10	0.08	2,075</a:t>
            </a:r>
            <a:endParaRPr sz="1800"/>
          </a:p>
          <a:p>
            <a:pPr>
              <a:defRPr sz="1800"/>
            </a:pPr>
            <a:r>
              <a:rPr sz="1800"/>
              <a:t>time (ns)</a:t>
            </a:r>
            <a:endParaRPr sz="1800"/>
          </a:p>
        </p:txBody>
      </p:sp>
      <p:sp>
        <p:nvSpPr>
          <p:cNvPr id="1908" name="TextBox 6"/>
          <p:cNvSpPr txBox="1"/>
          <p:nvPr/>
        </p:nvSpPr>
        <p:spPr>
          <a:xfrm>
            <a:off x="6040120" y="621268"/>
            <a:ext cx="3630159" cy="646331"/>
          </a:xfrm>
          <a:prstGeom prst="rect">
            <a:avLst/>
          </a:prstGeom>
          <a:ln w="12700">
            <a:miter lim="400000"/>
          </a:ln>
        </p:spPr>
        <p:txBody>
          <a:bodyPr wrap="none" lIns="45719" rIns="45719">
            <a:spAutoFit/>
          </a:bodyPr>
          <a:lstStyle/>
          <a:p>
            <a:pPr>
              <a:defRPr sz="1800">
                <a:latin typeface="Calibri"/>
                <a:ea typeface="Calibri"/>
                <a:cs typeface="Calibri"/>
                <a:sym typeface="Calibri"/>
              </a:defRPr>
            </a:pPr>
            <a:r>
              <a:rPr sz="1800"/>
              <a:t>Inflection point in computer history</a:t>
            </a:r>
            <a:endParaRPr sz="1800"/>
          </a:p>
          <a:p>
            <a:pPr>
              <a:defRPr sz="1800">
                <a:latin typeface="Calibri"/>
                <a:ea typeface="Calibri"/>
                <a:cs typeface="Calibri"/>
                <a:sym typeface="Calibri"/>
              </a:defRPr>
            </a:pPr>
            <a:r>
              <a:rPr sz="1800"/>
              <a:t>when designers hit the “Power Wall”</a:t>
            </a:r>
            <a:endParaRPr sz="1800"/>
          </a:p>
        </p:txBody>
      </p:sp>
      <p:sp>
        <p:nvSpPr>
          <p:cNvPr id="1909" name="Straight Arrow Connector 8"/>
          <p:cNvSpPr/>
          <p:nvPr/>
        </p:nvSpPr>
        <p:spPr>
          <a:xfrm flipH="1">
            <a:off x="5994402" y="1267599"/>
            <a:ext cx="457199" cy="332607"/>
          </a:xfrm>
          <a:prstGeom prst="line">
            <a:avLst/>
          </a:prstGeom>
          <a:ln w="25400">
            <a:solidFill>
              <a:srgbClr val="000000"/>
            </a:solidFill>
            <a:tailEnd type="triangle"/>
          </a:ln>
        </p:spPr>
        <p:txBody>
          <a:bodyPr lIns="45719" rIns="45719"/>
          <a:lstStyle/>
          <a:p/>
        </p:txBody>
      </p:sp>
      <p:sp>
        <p:nvSpPr>
          <p:cNvPr id="1910" name="Rectangle 13"/>
          <p:cNvSpPr/>
          <p:nvPr/>
        </p:nvSpPr>
        <p:spPr>
          <a:xfrm>
            <a:off x="5207000" y="1600204"/>
            <a:ext cx="685800" cy="4724398"/>
          </a:xfrm>
          <a:prstGeom prst="rect">
            <a:avLst/>
          </a:prstGeom>
          <a:ln w="12700">
            <a:solidFill>
              <a:srgbClr val="000000"/>
            </a:solidFill>
            <a:prstDash val="dash"/>
            <a:tailEnd type="triangle"/>
          </a:ln>
        </p:spPr>
        <p:txBody>
          <a:bodyPr lIns="45719" rIns="45719" anchor="ctr"/>
          <a:lstStyle/>
          <a:p>
            <a:pPr algn="ctr">
              <a:defRPr>
                <a:latin typeface="Calibri"/>
                <a:ea typeface="Calibri"/>
                <a:cs typeface="Calibri"/>
                <a:sym typeface="Calibri"/>
              </a:defRPr>
            </a:pPr>
          </a:p>
        </p:txBody>
      </p:sp>
      <p:sp>
        <p:nvSpPr>
          <p:cNvPr id="1911" name="TextBox 1"/>
          <p:cNvSpPr txBox="1"/>
          <p:nvPr/>
        </p:nvSpPr>
        <p:spPr>
          <a:xfrm>
            <a:off x="6865619" y="6197602"/>
            <a:ext cx="2257988" cy="646331"/>
          </a:xfrm>
          <a:prstGeom prst="rect">
            <a:avLst/>
          </a:prstGeom>
          <a:ln w="12700">
            <a:miter lim="400000"/>
          </a:ln>
        </p:spPr>
        <p:txBody>
          <a:bodyPr wrap="none" lIns="45719" rIns="45719">
            <a:spAutoFit/>
          </a:bodyPr>
          <a:lstStyle/>
          <a:p>
            <a:pPr>
              <a:defRPr sz="1800">
                <a:latin typeface="Calibri"/>
                <a:ea typeface="Calibri"/>
                <a:cs typeface="Calibri"/>
                <a:sym typeface="Calibri"/>
              </a:defRPr>
            </a:pPr>
            <a:r>
              <a:rPr sz="1800"/>
              <a:t>(n) Nehalem processor</a:t>
            </a:r>
            <a:endParaRPr sz="1800"/>
          </a:p>
          <a:p>
            <a:pPr>
              <a:defRPr sz="1800">
                <a:latin typeface="Calibri"/>
                <a:ea typeface="Calibri"/>
                <a:cs typeface="Calibri"/>
                <a:sym typeface="Calibri"/>
              </a:defRPr>
            </a:pPr>
            <a:r>
              <a:rPr sz="1800"/>
              <a:t>(h) Haswell processor</a:t>
            </a:r>
            <a:endParaRPr sz="1800"/>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378" name="Rectangle 52"/>
          <p:cNvSpPr txBox="1">
            <a:spLocks noGrp="1"/>
          </p:cNvSpPr>
          <p:nvPr>
            <p:ph type="title"/>
          </p:nvPr>
        </p:nvSpPr>
        <p:spPr>
          <a:xfrm>
            <a:off x="1881018" y="435679"/>
            <a:ext cx="7592095" cy="762001"/>
          </a:xfrm>
          <a:prstGeom prst="rect">
            <a:avLst/>
          </a:prstGeom>
        </p:spPr>
        <p:txBody>
          <a:bodyPr/>
          <a:lstStyle/>
          <a:p>
            <a:r>
              <a:t>Conventional DRAM Organization</a:t>
            </a:r>
          </a:p>
        </p:txBody>
      </p:sp>
      <p:sp>
        <p:nvSpPr>
          <p:cNvPr id="379" name="Rectangle 53"/>
          <p:cNvSpPr txBox="1">
            <a:spLocks noGrp="1"/>
          </p:cNvSpPr>
          <p:nvPr>
            <p:ph type="body" idx="1"/>
          </p:nvPr>
        </p:nvSpPr>
        <p:spPr>
          <a:prstGeom prst="rect">
            <a:avLst/>
          </a:prstGeom>
        </p:spPr>
        <p:txBody>
          <a:bodyPr/>
          <a:lstStyle/>
          <a:p>
            <a:pPr>
              <a:defRPr i="1"/>
            </a:pPr>
            <a:r>
              <a:t>d</a:t>
            </a:r>
            <a:r>
              <a:rPr i="0"/>
              <a:t> x </a:t>
            </a:r>
            <a:r>
              <a:t>w</a:t>
            </a:r>
            <a:r>
              <a:rPr i="0"/>
              <a:t> DRAM:</a:t>
            </a:r>
            <a:endParaRPr i="0"/>
          </a:p>
          <a:p>
            <a:pPr marL="742950" lvl="1" indent="-285750">
              <a:spcBef>
                <a:spcPts val="400"/>
              </a:spcBef>
              <a:defRPr sz="2000" b="0" i="1"/>
            </a:pPr>
            <a:r>
              <a:t>d⋅ w</a:t>
            </a:r>
            <a:r>
              <a:rPr i="0"/>
              <a:t> total bits organized as </a:t>
            </a:r>
            <a:r>
              <a:t>d</a:t>
            </a:r>
            <a:r>
              <a:rPr i="0"/>
              <a:t> </a:t>
            </a:r>
            <a:r>
              <a:rPr i="0">
                <a:solidFill>
                  <a:srgbClr val="FF0000"/>
                </a:solidFill>
              </a:rPr>
              <a:t>supercells</a:t>
            </a:r>
            <a:r>
              <a:rPr i="0"/>
              <a:t> of size </a:t>
            </a:r>
            <a:r>
              <a:t>w</a:t>
            </a:r>
            <a:r>
              <a:rPr i="0"/>
              <a:t> bits</a:t>
            </a:r>
            <a:endParaRPr i="0"/>
          </a:p>
        </p:txBody>
      </p:sp>
      <p:sp>
        <p:nvSpPr>
          <p:cNvPr id="380" name="Text Box 4"/>
          <p:cNvSpPr txBox="1"/>
          <p:nvPr/>
        </p:nvSpPr>
        <p:spPr>
          <a:xfrm>
            <a:off x="7375208" y="2739023"/>
            <a:ext cx="427359" cy="338554"/>
          </a:xfrm>
          <a:prstGeom prst="rect">
            <a:avLst/>
          </a:prstGeom>
          <a:ln w="12700">
            <a:miter lim="400000"/>
          </a:ln>
        </p:spPr>
        <p:txBody>
          <a:bodyPr wrap="none" lIns="45719" rIns="45719" anchor="ctr">
            <a:spAutoFit/>
          </a:bodyPr>
          <a:lstStyle>
            <a:lvl1pPr>
              <a:defRPr sz="1600"/>
            </a:lvl1pPr>
          </a:lstStyle>
          <a:p>
            <a:r>
              <a:t>cols</a:t>
            </a:r>
          </a:p>
        </p:txBody>
      </p:sp>
      <p:sp>
        <p:nvSpPr>
          <p:cNvPr id="381" name="Text Box 5"/>
          <p:cNvSpPr txBox="1"/>
          <p:nvPr/>
        </p:nvSpPr>
        <p:spPr>
          <a:xfrm>
            <a:off x="5570220" y="4142373"/>
            <a:ext cx="485067" cy="338554"/>
          </a:xfrm>
          <a:prstGeom prst="rect">
            <a:avLst/>
          </a:prstGeom>
          <a:ln w="12700">
            <a:miter lim="400000"/>
          </a:ln>
        </p:spPr>
        <p:txBody>
          <a:bodyPr wrap="none" lIns="45719" rIns="45719" anchor="ctr">
            <a:spAutoFit/>
          </a:bodyPr>
          <a:lstStyle>
            <a:lvl1pPr>
              <a:defRPr sz="1600"/>
            </a:lvl1pPr>
          </a:lstStyle>
          <a:p>
            <a:r>
              <a:t>rows</a:t>
            </a:r>
          </a:p>
        </p:txBody>
      </p:sp>
      <p:sp>
        <p:nvSpPr>
          <p:cNvPr id="382" name="Rectangle 6"/>
          <p:cNvSpPr/>
          <p:nvPr/>
        </p:nvSpPr>
        <p:spPr>
          <a:xfrm>
            <a:off x="6391275" y="32607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83" name="Rectangle 7"/>
          <p:cNvSpPr/>
          <p:nvPr/>
        </p:nvSpPr>
        <p:spPr>
          <a:xfrm>
            <a:off x="7000875" y="32607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84" name="Rectangle 8"/>
          <p:cNvSpPr/>
          <p:nvPr/>
        </p:nvSpPr>
        <p:spPr>
          <a:xfrm>
            <a:off x="7610475" y="32607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85" name="Rectangle 9"/>
          <p:cNvSpPr/>
          <p:nvPr/>
        </p:nvSpPr>
        <p:spPr>
          <a:xfrm>
            <a:off x="8220075" y="32607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86" name="Rectangle 10"/>
          <p:cNvSpPr/>
          <p:nvPr/>
        </p:nvSpPr>
        <p:spPr>
          <a:xfrm>
            <a:off x="6391275" y="37941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87" name="Rectangle 11"/>
          <p:cNvSpPr/>
          <p:nvPr/>
        </p:nvSpPr>
        <p:spPr>
          <a:xfrm>
            <a:off x="7000875" y="37941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88" name="Rectangle 12"/>
          <p:cNvSpPr/>
          <p:nvPr/>
        </p:nvSpPr>
        <p:spPr>
          <a:xfrm>
            <a:off x="7610475" y="37941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89" name="Rectangle 13"/>
          <p:cNvSpPr/>
          <p:nvPr/>
        </p:nvSpPr>
        <p:spPr>
          <a:xfrm>
            <a:off x="8220075" y="37941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90" name="Rectangle 14"/>
          <p:cNvSpPr/>
          <p:nvPr/>
        </p:nvSpPr>
        <p:spPr>
          <a:xfrm>
            <a:off x="6391275" y="43275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91" name="Rectangle 15"/>
          <p:cNvSpPr/>
          <p:nvPr/>
        </p:nvSpPr>
        <p:spPr>
          <a:xfrm>
            <a:off x="7000875" y="4327525"/>
            <a:ext cx="609600" cy="533400"/>
          </a:xfrm>
          <a:prstGeom prst="rect">
            <a:avLst/>
          </a:prstGeom>
          <a:solidFill>
            <a:srgbClr val="00FFFF"/>
          </a:solidFill>
          <a:ln w="12700">
            <a:solidFill>
              <a:srgbClr val="000000"/>
            </a:solidFill>
            <a:miter/>
          </a:ln>
        </p:spPr>
        <p:txBody>
          <a:bodyPr lIns="45719" rIns="45719" anchor="ctr"/>
          <a:lstStyle/>
          <a:p>
            <a:pPr>
              <a:defRPr sz="1600"/>
            </a:pPr>
            <a:endParaRPr sz="1600"/>
          </a:p>
        </p:txBody>
      </p:sp>
      <p:sp>
        <p:nvSpPr>
          <p:cNvPr id="392" name="Rectangle 16"/>
          <p:cNvSpPr/>
          <p:nvPr/>
        </p:nvSpPr>
        <p:spPr>
          <a:xfrm>
            <a:off x="7610475" y="43275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93" name="Rectangle 17"/>
          <p:cNvSpPr/>
          <p:nvPr/>
        </p:nvSpPr>
        <p:spPr>
          <a:xfrm>
            <a:off x="8220075" y="43275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94" name="Rectangle 18"/>
          <p:cNvSpPr/>
          <p:nvPr/>
        </p:nvSpPr>
        <p:spPr>
          <a:xfrm>
            <a:off x="6391275" y="48609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395" name="Rectangle 19"/>
          <p:cNvSpPr/>
          <p:nvPr/>
        </p:nvSpPr>
        <p:spPr>
          <a:xfrm>
            <a:off x="7000875" y="48609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96" name="Rectangle 20"/>
          <p:cNvSpPr/>
          <p:nvPr/>
        </p:nvSpPr>
        <p:spPr>
          <a:xfrm>
            <a:off x="7610475" y="48609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97" name="Rectangle 21"/>
          <p:cNvSpPr/>
          <p:nvPr/>
        </p:nvSpPr>
        <p:spPr>
          <a:xfrm>
            <a:off x="8220075" y="48609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398" name="Text Box 22"/>
          <p:cNvSpPr txBox="1"/>
          <p:nvPr/>
        </p:nvSpPr>
        <p:spPr>
          <a:xfrm>
            <a:off x="6589395" y="2939048"/>
            <a:ext cx="185305" cy="338554"/>
          </a:xfrm>
          <a:prstGeom prst="rect">
            <a:avLst/>
          </a:prstGeom>
          <a:ln w="12700">
            <a:miter lim="400000"/>
          </a:ln>
        </p:spPr>
        <p:txBody>
          <a:bodyPr wrap="none" lIns="45719" rIns="45719" anchor="ctr">
            <a:spAutoFit/>
          </a:bodyPr>
          <a:lstStyle>
            <a:lvl1pPr>
              <a:defRPr sz="1600"/>
            </a:lvl1pPr>
          </a:lstStyle>
          <a:p>
            <a:r>
              <a:t>0</a:t>
            </a:r>
          </a:p>
        </p:txBody>
      </p:sp>
      <p:sp>
        <p:nvSpPr>
          <p:cNvPr id="399" name="Text Box 23"/>
          <p:cNvSpPr txBox="1"/>
          <p:nvPr/>
        </p:nvSpPr>
        <p:spPr>
          <a:xfrm>
            <a:off x="7198995" y="2954923"/>
            <a:ext cx="185305" cy="338554"/>
          </a:xfrm>
          <a:prstGeom prst="rect">
            <a:avLst/>
          </a:prstGeom>
          <a:ln w="12700">
            <a:miter lim="400000"/>
          </a:ln>
        </p:spPr>
        <p:txBody>
          <a:bodyPr wrap="none" lIns="45719" rIns="45719" anchor="ctr">
            <a:spAutoFit/>
          </a:bodyPr>
          <a:lstStyle>
            <a:lvl1pPr>
              <a:defRPr sz="1600"/>
            </a:lvl1pPr>
          </a:lstStyle>
          <a:p>
            <a:r>
              <a:t>1</a:t>
            </a:r>
          </a:p>
        </p:txBody>
      </p:sp>
      <p:sp>
        <p:nvSpPr>
          <p:cNvPr id="400" name="Text Box 24"/>
          <p:cNvSpPr txBox="1"/>
          <p:nvPr/>
        </p:nvSpPr>
        <p:spPr>
          <a:xfrm>
            <a:off x="7816533" y="2954923"/>
            <a:ext cx="185305" cy="338554"/>
          </a:xfrm>
          <a:prstGeom prst="rect">
            <a:avLst/>
          </a:prstGeom>
          <a:ln w="12700">
            <a:miter lim="400000"/>
          </a:ln>
        </p:spPr>
        <p:txBody>
          <a:bodyPr wrap="none" lIns="45719" rIns="45719" anchor="ctr">
            <a:spAutoFit/>
          </a:bodyPr>
          <a:lstStyle>
            <a:lvl1pPr>
              <a:defRPr sz="1600"/>
            </a:lvl1pPr>
          </a:lstStyle>
          <a:p>
            <a:r>
              <a:t>2</a:t>
            </a:r>
          </a:p>
        </p:txBody>
      </p:sp>
      <p:sp>
        <p:nvSpPr>
          <p:cNvPr id="401" name="Text Box 25"/>
          <p:cNvSpPr txBox="1"/>
          <p:nvPr/>
        </p:nvSpPr>
        <p:spPr>
          <a:xfrm>
            <a:off x="8426134" y="2954923"/>
            <a:ext cx="185305" cy="338554"/>
          </a:xfrm>
          <a:prstGeom prst="rect">
            <a:avLst/>
          </a:prstGeom>
          <a:ln w="12700">
            <a:miter lim="400000"/>
          </a:ln>
        </p:spPr>
        <p:txBody>
          <a:bodyPr wrap="none" lIns="45719" rIns="45719" anchor="ctr">
            <a:spAutoFit/>
          </a:bodyPr>
          <a:lstStyle>
            <a:lvl1pPr>
              <a:defRPr sz="1600"/>
            </a:lvl1pPr>
          </a:lstStyle>
          <a:p>
            <a:r>
              <a:t>3</a:t>
            </a:r>
          </a:p>
        </p:txBody>
      </p:sp>
      <p:sp>
        <p:nvSpPr>
          <p:cNvPr id="402" name="Text Box 26"/>
          <p:cNvSpPr txBox="1"/>
          <p:nvPr/>
        </p:nvSpPr>
        <p:spPr>
          <a:xfrm>
            <a:off x="6132195" y="3380373"/>
            <a:ext cx="185305" cy="338554"/>
          </a:xfrm>
          <a:prstGeom prst="rect">
            <a:avLst/>
          </a:prstGeom>
          <a:ln w="12700">
            <a:miter lim="400000"/>
          </a:ln>
        </p:spPr>
        <p:txBody>
          <a:bodyPr wrap="none" lIns="45719" rIns="45719" anchor="ctr">
            <a:spAutoFit/>
          </a:bodyPr>
          <a:lstStyle>
            <a:lvl1pPr>
              <a:defRPr sz="1600"/>
            </a:lvl1pPr>
          </a:lstStyle>
          <a:p>
            <a:r>
              <a:t>0</a:t>
            </a:r>
          </a:p>
        </p:txBody>
      </p:sp>
      <p:sp>
        <p:nvSpPr>
          <p:cNvPr id="403" name="Text Box 27"/>
          <p:cNvSpPr txBox="1"/>
          <p:nvPr/>
        </p:nvSpPr>
        <p:spPr>
          <a:xfrm>
            <a:off x="6132195" y="3913773"/>
            <a:ext cx="185305" cy="338554"/>
          </a:xfrm>
          <a:prstGeom prst="rect">
            <a:avLst/>
          </a:prstGeom>
          <a:ln w="12700">
            <a:miter lim="400000"/>
          </a:ln>
        </p:spPr>
        <p:txBody>
          <a:bodyPr wrap="none" lIns="45719" rIns="45719" anchor="ctr">
            <a:spAutoFit/>
          </a:bodyPr>
          <a:lstStyle>
            <a:lvl1pPr>
              <a:defRPr sz="1600"/>
            </a:lvl1pPr>
          </a:lstStyle>
          <a:p>
            <a:r>
              <a:t>1</a:t>
            </a:r>
          </a:p>
        </p:txBody>
      </p:sp>
      <p:sp>
        <p:nvSpPr>
          <p:cNvPr id="404" name="Text Box 28"/>
          <p:cNvSpPr txBox="1"/>
          <p:nvPr/>
        </p:nvSpPr>
        <p:spPr>
          <a:xfrm>
            <a:off x="6132195" y="4447173"/>
            <a:ext cx="185305" cy="338554"/>
          </a:xfrm>
          <a:prstGeom prst="rect">
            <a:avLst/>
          </a:prstGeom>
          <a:ln w="12700">
            <a:miter lim="400000"/>
          </a:ln>
        </p:spPr>
        <p:txBody>
          <a:bodyPr wrap="none" lIns="45719" rIns="45719" anchor="ctr">
            <a:spAutoFit/>
          </a:bodyPr>
          <a:lstStyle>
            <a:lvl1pPr>
              <a:defRPr sz="1600"/>
            </a:lvl1pPr>
          </a:lstStyle>
          <a:p>
            <a:r>
              <a:t>2</a:t>
            </a:r>
          </a:p>
        </p:txBody>
      </p:sp>
      <p:sp>
        <p:nvSpPr>
          <p:cNvPr id="405" name="Text Box 29"/>
          <p:cNvSpPr txBox="1"/>
          <p:nvPr/>
        </p:nvSpPr>
        <p:spPr>
          <a:xfrm>
            <a:off x="6132195" y="4980573"/>
            <a:ext cx="185305" cy="338554"/>
          </a:xfrm>
          <a:prstGeom prst="rect">
            <a:avLst/>
          </a:prstGeom>
          <a:ln w="12700">
            <a:miter lim="400000"/>
          </a:ln>
        </p:spPr>
        <p:txBody>
          <a:bodyPr wrap="none" lIns="45719" rIns="45719" anchor="ctr">
            <a:spAutoFit/>
          </a:bodyPr>
          <a:lstStyle>
            <a:lvl1pPr>
              <a:defRPr sz="1600"/>
            </a:lvl1pPr>
          </a:lstStyle>
          <a:p>
            <a:r>
              <a:t>3</a:t>
            </a:r>
          </a:p>
        </p:txBody>
      </p:sp>
      <p:sp>
        <p:nvSpPr>
          <p:cNvPr id="406" name="Rectangle 30"/>
          <p:cNvSpPr/>
          <p:nvPr/>
        </p:nvSpPr>
        <p:spPr>
          <a:xfrm>
            <a:off x="6388100" y="3260725"/>
            <a:ext cx="2438400" cy="2133600"/>
          </a:xfrm>
          <a:prstGeom prst="rect">
            <a:avLst/>
          </a:prstGeom>
          <a:ln w="38100">
            <a:solidFill>
              <a:srgbClr val="000000"/>
            </a:solidFill>
            <a:miter/>
          </a:ln>
        </p:spPr>
        <p:txBody>
          <a:bodyPr lIns="45719" rIns="45719" anchor="ctr"/>
          <a:lstStyle/>
          <a:p/>
        </p:txBody>
      </p:sp>
      <p:sp>
        <p:nvSpPr>
          <p:cNvPr id="407" name="Rectangle 31"/>
          <p:cNvSpPr/>
          <p:nvPr/>
        </p:nvSpPr>
        <p:spPr>
          <a:xfrm>
            <a:off x="6388100" y="56991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08" name="Rectangle 32"/>
          <p:cNvSpPr/>
          <p:nvPr/>
        </p:nvSpPr>
        <p:spPr>
          <a:xfrm>
            <a:off x="6997700" y="56991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09" name="Rectangle 33"/>
          <p:cNvSpPr/>
          <p:nvPr/>
        </p:nvSpPr>
        <p:spPr>
          <a:xfrm>
            <a:off x="7607300" y="56991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10" name="Rectangle 34"/>
          <p:cNvSpPr/>
          <p:nvPr/>
        </p:nvSpPr>
        <p:spPr>
          <a:xfrm>
            <a:off x="8216900" y="56991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11" name="Rectangle 35"/>
          <p:cNvSpPr/>
          <p:nvPr/>
        </p:nvSpPr>
        <p:spPr>
          <a:xfrm>
            <a:off x="6388100" y="5699125"/>
            <a:ext cx="2438400" cy="533400"/>
          </a:xfrm>
          <a:prstGeom prst="rect">
            <a:avLst/>
          </a:prstGeom>
          <a:ln w="38100">
            <a:solidFill>
              <a:srgbClr val="000000"/>
            </a:solidFill>
            <a:miter/>
          </a:ln>
        </p:spPr>
        <p:txBody>
          <a:bodyPr lIns="45719" rIns="45719" anchor="ctr"/>
          <a:lstStyle/>
          <a:p/>
        </p:txBody>
      </p:sp>
      <p:sp>
        <p:nvSpPr>
          <p:cNvPr id="412" name="Text Box 36"/>
          <p:cNvSpPr txBox="1"/>
          <p:nvPr/>
        </p:nvSpPr>
        <p:spPr>
          <a:xfrm>
            <a:off x="6874554" y="6291849"/>
            <a:ext cx="1567094" cy="338554"/>
          </a:xfrm>
          <a:prstGeom prst="rect">
            <a:avLst/>
          </a:prstGeom>
          <a:ln w="12700">
            <a:miter lim="400000"/>
          </a:ln>
        </p:spPr>
        <p:txBody>
          <a:bodyPr wrap="none" lIns="45719" rIns="45719" anchor="ctr">
            <a:spAutoFit/>
          </a:bodyPr>
          <a:lstStyle>
            <a:lvl1pPr algn="ctr">
              <a:defRPr sz="1600"/>
            </a:lvl1pPr>
          </a:lstStyle>
          <a:p>
            <a:r>
              <a:t>Internal row buffer</a:t>
            </a:r>
          </a:p>
        </p:txBody>
      </p:sp>
      <p:sp>
        <p:nvSpPr>
          <p:cNvPr id="413" name="Rectangle 37"/>
          <p:cNvSpPr/>
          <p:nvPr/>
        </p:nvSpPr>
        <p:spPr>
          <a:xfrm>
            <a:off x="5553075" y="2667000"/>
            <a:ext cx="3505200" cy="4038600"/>
          </a:xfrm>
          <a:prstGeom prst="rect">
            <a:avLst/>
          </a:prstGeom>
          <a:ln w="12700">
            <a:solidFill>
              <a:srgbClr val="000000"/>
            </a:solidFill>
            <a:prstDash val="dash"/>
            <a:miter/>
          </a:ln>
        </p:spPr>
        <p:txBody>
          <a:bodyPr lIns="45719" rIns="45719" anchor="ctr"/>
          <a:lstStyle/>
          <a:p/>
        </p:txBody>
      </p:sp>
      <p:sp>
        <p:nvSpPr>
          <p:cNvPr id="414" name="Text Box 38"/>
          <p:cNvSpPr txBox="1"/>
          <p:nvPr/>
        </p:nvSpPr>
        <p:spPr>
          <a:xfrm>
            <a:off x="5462269" y="2345323"/>
            <a:ext cx="1499768" cy="338554"/>
          </a:xfrm>
          <a:prstGeom prst="rect">
            <a:avLst/>
          </a:prstGeom>
          <a:ln w="12700">
            <a:miter lim="400000"/>
          </a:ln>
        </p:spPr>
        <p:txBody>
          <a:bodyPr wrap="none" lIns="45719" rIns="45719" anchor="ctr">
            <a:spAutoFit/>
          </a:bodyPr>
          <a:lstStyle>
            <a:lvl1pPr>
              <a:defRPr sz="1600"/>
            </a:lvl1pPr>
          </a:lstStyle>
          <a:p>
            <a:r>
              <a:t>16 x 8 DRAM chip</a:t>
            </a:r>
          </a:p>
        </p:txBody>
      </p:sp>
      <p:sp>
        <p:nvSpPr>
          <p:cNvPr id="415" name="Line 39"/>
          <p:cNvSpPr/>
          <p:nvPr/>
        </p:nvSpPr>
        <p:spPr>
          <a:xfrm flipV="1">
            <a:off x="4410076" y="3702049"/>
            <a:ext cx="1143001" cy="15876"/>
          </a:xfrm>
          <a:prstGeom prst="line">
            <a:avLst/>
          </a:prstGeom>
          <a:ln w="38100">
            <a:solidFill>
              <a:srgbClr val="000000"/>
            </a:solidFill>
            <a:tailEnd type="triangle"/>
          </a:ln>
        </p:spPr>
        <p:txBody>
          <a:bodyPr lIns="45719" rIns="45719"/>
          <a:lstStyle/>
          <a:p/>
        </p:txBody>
      </p:sp>
      <p:sp>
        <p:nvSpPr>
          <p:cNvPr id="416" name="Text Box 40"/>
          <p:cNvSpPr txBox="1"/>
          <p:nvPr/>
        </p:nvSpPr>
        <p:spPr>
          <a:xfrm>
            <a:off x="4730433" y="3761373"/>
            <a:ext cx="586056" cy="338554"/>
          </a:xfrm>
          <a:prstGeom prst="rect">
            <a:avLst/>
          </a:prstGeom>
          <a:ln w="12700">
            <a:miter lim="400000"/>
          </a:ln>
        </p:spPr>
        <p:txBody>
          <a:bodyPr wrap="none" lIns="45719" rIns="45719" anchor="ctr">
            <a:spAutoFit/>
          </a:bodyPr>
          <a:lstStyle>
            <a:lvl1pPr>
              <a:defRPr sz="1600">
                <a:latin typeface="Courier New" panose="02070609020205020404"/>
                <a:ea typeface="Courier New" panose="02070609020205020404"/>
                <a:cs typeface="Courier New" panose="02070609020205020404"/>
                <a:sym typeface="Courier New" panose="02070609020205020404"/>
              </a:defRPr>
            </a:lvl1pPr>
          </a:lstStyle>
          <a:p>
            <a:r>
              <a:t>addr</a:t>
            </a:r>
          </a:p>
        </p:txBody>
      </p:sp>
      <p:sp>
        <p:nvSpPr>
          <p:cNvPr id="417" name="Line 41"/>
          <p:cNvSpPr/>
          <p:nvPr/>
        </p:nvSpPr>
        <p:spPr>
          <a:xfrm>
            <a:off x="4410076" y="5470525"/>
            <a:ext cx="1143001" cy="0"/>
          </a:xfrm>
          <a:prstGeom prst="line">
            <a:avLst/>
          </a:prstGeom>
          <a:ln w="38100">
            <a:solidFill>
              <a:srgbClr val="000000"/>
            </a:solidFill>
            <a:headEnd type="triangle"/>
            <a:tailEnd type="triangle"/>
          </a:ln>
        </p:spPr>
        <p:txBody>
          <a:bodyPr lIns="45719" rIns="45719"/>
          <a:lstStyle/>
          <a:p/>
        </p:txBody>
      </p:sp>
      <p:sp>
        <p:nvSpPr>
          <p:cNvPr id="418" name="Text Box 42"/>
          <p:cNvSpPr txBox="1"/>
          <p:nvPr/>
        </p:nvSpPr>
        <p:spPr>
          <a:xfrm>
            <a:off x="4698683" y="5513973"/>
            <a:ext cx="586056" cy="338554"/>
          </a:xfrm>
          <a:prstGeom prst="rect">
            <a:avLst/>
          </a:prstGeom>
          <a:ln w="12700">
            <a:miter lim="400000"/>
          </a:ln>
        </p:spPr>
        <p:txBody>
          <a:bodyPr wrap="none" lIns="45719" rIns="45719" anchor="ctr">
            <a:spAutoFit/>
          </a:bodyPr>
          <a:lstStyle>
            <a:lvl1pPr>
              <a:defRPr sz="1600">
                <a:latin typeface="Courier New" panose="02070609020205020404"/>
                <a:ea typeface="Courier New" panose="02070609020205020404"/>
                <a:cs typeface="Courier New" panose="02070609020205020404"/>
                <a:sym typeface="Courier New" panose="02070609020205020404"/>
              </a:defRPr>
            </a:lvl1pPr>
          </a:lstStyle>
          <a:p>
            <a:r>
              <a:t>data</a:t>
            </a:r>
          </a:p>
        </p:txBody>
      </p:sp>
      <p:sp>
        <p:nvSpPr>
          <p:cNvPr id="419" name="Text Box 43"/>
          <p:cNvSpPr txBox="1"/>
          <p:nvPr/>
        </p:nvSpPr>
        <p:spPr>
          <a:xfrm>
            <a:off x="9404631" y="4439951"/>
            <a:ext cx="828110" cy="584775"/>
          </a:xfrm>
          <a:prstGeom prst="rect">
            <a:avLst/>
          </a:prstGeom>
          <a:ln w="12700">
            <a:miter lim="400000"/>
          </a:ln>
        </p:spPr>
        <p:txBody>
          <a:bodyPr wrap="none" lIns="45719" rIns="45719" anchor="ctr">
            <a:spAutoFit/>
          </a:bodyPr>
          <a:lstStyle/>
          <a:p>
            <a:pPr algn="ctr">
              <a:defRPr sz="1600"/>
            </a:pPr>
            <a:r>
              <a:rPr sz="1600"/>
              <a:t>supercell</a:t>
            </a:r>
            <a:endParaRPr sz="1600"/>
          </a:p>
          <a:p>
            <a:pPr algn="ctr">
              <a:defRPr sz="1600"/>
            </a:pPr>
            <a:r>
              <a:rPr sz="1600"/>
              <a:t>(2,1)</a:t>
            </a:r>
            <a:endParaRPr sz="1600"/>
          </a:p>
        </p:txBody>
      </p:sp>
      <p:sp>
        <p:nvSpPr>
          <p:cNvPr id="420" name="Line 44"/>
          <p:cNvSpPr/>
          <p:nvPr/>
        </p:nvSpPr>
        <p:spPr>
          <a:xfrm flipH="1" flipV="1">
            <a:off x="7381875" y="4632325"/>
            <a:ext cx="1981201" cy="152401"/>
          </a:xfrm>
          <a:prstGeom prst="line">
            <a:avLst/>
          </a:prstGeom>
          <a:ln w="28575">
            <a:solidFill>
              <a:srgbClr val="000000"/>
            </a:solidFill>
            <a:tailEnd type="triangle"/>
          </a:ln>
        </p:spPr>
        <p:txBody>
          <a:bodyPr lIns="45719" rIns="45719"/>
          <a:lstStyle/>
          <a:p/>
        </p:txBody>
      </p:sp>
      <p:sp>
        <p:nvSpPr>
          <p:cNvPr id="421" name="Text Box 45"/>
          <p:cNvSpPr txBox="1"/>
          <p:nvPr/>
        </p:nvSpPr>
        <p:spPr>
          <a:xfrm>
            <a:off x="4752658" y="3380731"/>
            <a:ext cx="422550" cy="461665"/>
          </a:xfrm>
          <a:prstGeom prst="rect">
            <a:avLst/>
          </a:prstGeom>
          <a:ln w="12700">
            <a:miter lim="400000"/>
          </a:ln>
        </p:spPr>
        <p:txBody>
          <a:bodyPr wrap="none" lIns="45719" rIns="45719" anchor="ctr">
            <a:spAutoFit/>
          </a:bodyPr>
          <a:lstStyle/>
          <a:p>
            <a:pPr>
              <a:defRPr sz="1200"/>
            </a:pPr>
            <a:r>
              <a:rPr sz="1200"/>
              <a:t>2 bits</a:t>
            </a:r>
            <a:endParaRPr sz="1200"/>
          </a:p>
          <a:p>
            <a:pPr>
              <a:defRPr sz="1200"/>
            </a:pPr>
            <a:r>
              <a:rPr sz="1200"/>
              <a:t>/</a:t>
            </a:r>
            <a:endParaRPr sz="1200"/>
          </a:p>
        </p:txBody>
      </p:sp>
      <p:sp>
        <p:nvSpPr>
          <p:cNvPr id="422" name="Text Box 46"/>
          <p:cNvSpPr txBox="1"/>
          <p:nvPr/>
        </p:nvSpPr>
        <p:spPr>
          <a:xfrm>
            <a:off x="4759008" y="5163493"/>
            <a:ext cx="422550" cy="461665"/>
          </a:xfrm>
          <a:prstGeom prst="rect">
            <a:avLst/>
          </a:prstGeom>
          <a:ln w="12700">
            <a:miter lim="400000"/>
          </a:ln>
        </p:spPr>
        <p:txBody>
          <a:bodyPr wrap="none" lIns="45719" rIns="45719" anchor="ctr">
            <a:spAutoFit/>
          </a:bodyPr>
          <a:lstStyle/>
          <a:p>
            <a:pPr>
              <a:defRPr sz="1200"/>
            </a:pPr>
            <a:r>
              <a:rPr sz="1200"/>
              <a:t>8 bits</a:t>
            </a:r>
            <a:endParaRPr sz="1200"/>
          </a:p>
          <a:p>
            <a:pPr>
              <a:defRPr sz="1200"/>
            </a:pPr>
            <a:r>
              <a:rPr sz="1200"/>
              <a:t>/</a:t>
            </a:r>
            <a:endParaRPr sz="1200"/>
          </a:p>
        </p:txBody>
      </p:sp>
      <p:grpSp>
        <p:nvGrpSpPr>
          <p:cNvPr id="425" name="Rectangle 47"/>
          <p:cNvGrpSpPr/>
          <p:nvPr/>
        </p:nvGrpSpPr>
        <p:grpSpPr>
          <a:xfrm>
            <a:off x="3267075" y="3032125"/>
            <a:ext cx="1143000" cy="3200400"/>
            <a:chOff x="0" y="0"/>
            <a:chExt cx="1143000" cy="3200400"/>
          </a:xfrm>
        </p:grpSpPr>
        <p:sp>
          <p:nvSpPr>
            <p:cNvPr id="423" name="Rectangle"/>
            <p:cNvSpPr/>
            <p:nvPr/>
          </p:nvSpPr>
          <p:spPr>
            <a:xfrm>
              <a:off x="0" y="0"/>
              <a:ext cx="1143000" cy="320040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424" name="Memory…"/>
            <p:cNvSpPr txBox="1"/>
            <p:nvPr/>
          </p:nvSpPr>
          <p:spPr>
            <a:xfrm>
              <a:off x="138209" y="1307813"/>
              <a:ext cx="866582" cy="584773"/>
            </a:xfrm>
            <a:prstGeom prst="rect">
              <a:avLst/>
            </a:prstGeom>
            <a:noFill/>
            <a:ln w="12700" cap="flat">
              <a:noFill/>
              <a:miter lim="400000"/>
            </a:ln>
            <a:effectLst/>
          </p:spPr>
          <p:txBody>
            <a:bodyPr wrap="none" lIns="45719" tIns="45719" rIns="45719" bIns="45719" numCol="1" anchor="ctr">
              <a:spAutoFit/>
            </a:bodyPr>
            <a:lstStyle/>
            <a:p>
              <a:pPr algn="ctr">
                <a:defRPr sz="1600"/>
              </a:pPr>
              <a:r>
                <a:rPr sz="1600"/>
                <a:t>Memory</a:t>
              </a:r>
              <a:endParaRPr sz="1600"/>
            </a:p>
            <a:p>
              <a:pPr algn="ctr">
                <a:defRPr sz="1600"/>
              </a:pPr>
              <a:r>
                <a:rPr sz="1600"/>
                <a:t>controller</a:t>
              </a:r>
              <a:endParaRPr sz="1600"/>
            </a:p>
          </p:txBody>
        </p:sp>
      </p:grpSp>
      <p:sp>
        <p:nvSpPr>
          <p:cNvPr id="426" name="AutoShape 48"/>
          <p:cNvSpPr/>
          <p:nvPr/>
        </p:nvSpPr>
        <p:spPr>
          <a:xfrm>
            <a:off x="1971675" y="4251325"/>
            <a:ext cx="1295400" cy="457200"/>
          </a:xfrm>
          <a:prstGeom prst="leftRightArrow">
            <a:avLst>
              <a:gd name="adj1" fmla="val 50000"/>
              <a:gd name="adj2" fmla="val 56667"/>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27" name="Text Box 49"/>
          <p:cNvSpPr txBox="1"/>
          <p:nvPr/>
        </p:nvSpPr>
        <p:spPr>
          <a:xfrm>
            <a:off x="2026921" y="4783724"/>
            <a:ext cx="1276951" cy="338554"/>
          </a:xfrm>
          <a:prstGeom prst="rect">
            <a:avLst/>
          </a:prstGeom>
          <a:ln w="12700">
            <a:miter lim="400000"/>
          </a:ln>
        </p:spPr>
        <p:txBody>
          <a:bodyPr wrap="none" lIns="45719" rIns="45719" anchor="ctr">
            <a:spAutoFit/>
          </a:bodyPr>
          <a:lstStyle>
            <a:lvl1pPr>
              <a:defRPr sz="1600"/>
            </a:lvl1pPr>
          </a:lstStyle>
          <a:p>
            <a:r>
              <a:t>(to/from cores)</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430" name="Rectangle 62"/>
          <p:cNvSpPr/>
          <p:nvPr/>
        </p:nvSpPr>
        <p:spPr>
          <a:xfrm>
            <a:off x="6238875" y="5715000"/>
            <a:ext cx="2438400" cy="533400"/>
          </a:xfrm>
          <a:prstGeom prst="rect">
            <a:avLst/>
          </a:prstGeom>
          <a:solidFill>
            <a:srgbClr val="FF99CC"/>
          </a:solidFill>
          <a:ln w="38100">
            <a:solidFill>
              <a:srgbClr val="000000"/>
            </a:solidFill>
            <a:miter/>
          </a:ln>
        </p:spPr>
        <p:txBody>
          <a:bodyPr lIns="45719" rIns="45719" anchor="ctr"/>
          <a:lstStyle/>
          <a:p/>
        </p:txBody>
      </p:sp>
      <p:sp>
        <p:nvSpPr>
          <p:cNvPr id="431" name="Rectangle 52"/>
          <p:cNvSpPr txBox="1">
            <a:spLocks noGrp="1"/>
          </p:cNvSpPr>
          <p:nvPr>
            <p:ph type="title"/>
          </p:nvPr>
        </p:nvSpPr>
        <p:spPr>
          <a:xfrm>
            <a:off x="1881018" y="435679"/>
            <a:ext cx="7592095" cy="762001"/>
          </a:xfrm>
          <a:prstGeom prst="rect">
            <a:avLst/>
          </a:prstGeom>
        </p:spPr>
        <p:txBody>
          <a:bodyPr/>
          <a:lstStyle/>
          <a:p>
            <a:r>
              <a:t>Reading DRAM Supercell (2,1)</a:t>
            </a:r>
          </a:p>
        </p:txBody>
      </p:sp>
      <p:sp>
        <p:nvSpPr>
          <p:cNvPr id="432" name="Rectangle 53"/>
          <p:cNvSpPr txBox="1">
            <a:spLocks noGrp="1"/>
          </p:cNvSpPr>
          <p:nvPr>
            <p:ph type="body" sz="quarter" idx="1"/>
          </p:nvPr>
        </p:nvSpPr>
        <p:spPr>
          <a:xfrm>
            <a:off x="2043111" y="1219200"/>
            <a:ext cx="8167690" cy="990600"/>
          </a:xfrm>
          <a:prstGeom prst="rect">
            <a:avLst/>
          </a:prstGeom>
        </p:spPr>
        <p:txBody>
          <a:bodyPr/>
          <a:lstStyle/>
          <a:p>
            <a:pPr>
              <a:spcBef>
                <a:spcPts val="400"/>
              </a:spcBef>
              <a:buSzTx/>
              <a:buNone/>
              <a:defRPr sz="2000"/>
            </a:pPr>
            <a:r>
              <a:t>Step 1(a): Row access strobe (</a:t>
            </a:r>
            <a:r>
              <a:rPr>
                <a:solidFill>
                  <a:srgbClr val="FF0000"/>
                </a:solidFill>
              </a:rPr>
              <a:t>RAS</a:t>
            </a:r>
            <a:r>
              <a:t>) selects row 2.</a:t>
            </a:r>
          </a:p>
          <a:p>
            <a:pPr>
              <a:spcBef>
                <a:spcPts val="400"/>
              </a:spcBef>
              <a:buSzTx/>
              <a:buNone/>
              <a:defRPr sz="2000">
                <a:effectLst>
                  <a:outerShdw blurRad="38100" dist="38100" dir="2700000" rotWithShape="0">
                    <a:srgbClr val="DDDDDD"/>
                  </a:outerShdw>
                </a:effectLst>
              </a:defRPr>
            </a:pPr>
            <a:r>
              <a:t>Step 1(b): Row 2 copied from DRAM array to row buffer.</a:t>
            </a:r>
          </a:p>
        </p:txBody>
      </p:sp>
      <p:sp>
        <p:nvSpPr>
          <p:cNvPr id="433" name="Text Box 5"/>
          <p:cNvSpPr txBox="1"/>
          <p:nvPr/>
        </p:nvSpPr>
        <p:spPr>
          <a:xfrm>
            <a:off x="7213283" y="2739023"/>
            <a:ext cx="456213" cy="338554"/>
          </a:xfrm>
          <a:prstGeom prst="rect">
            <a:avLst/>
          </a:prstGeom>
          <a:ln w="12700">
            <a:miter lim="400000"/>
          </a:ln>
        </p:spPr>
        <p:txBody>
          <a:bodyPr wrap="none" lIns="45719" rIns="45719" anchor="ctr">
            <a:spAutoFit/>
          </a:bodyPr>
          <a:lstStyle>
            <a:lvl1pPr>
              <a:defRPr sz="1600"/>
            </a:lvl1pPr>
          </a:lstStyle>
          <a:p>
            <a:r>
              <a:t>Cols</a:t>
            </a:r>
          </a:p>
        </p:txBody>
      </p:sp>
      <p:sp>
        <p:nvSpPr>
          <p:cNvPr id="434" name="Text Box 6"/>
          <p:cNvSpPr txBox="1"/>
          <p:nvPr/>
        </p:nvSpPr>
        <p:spPr>
          <a:xfrm>
            <a:off x="5408692" y="4142374"/>
            <a:ext cx="541172" cy="338554"/>
          </a:xfrm>
          <a:prstGeom prst="rect">
            <a:avLst/>
          </a:prstGeom>
          <a:ln w="12700">
            <a:miter lim="400000"/>
          </a:ln>
        </p:spPr>
        <p:txBody>
          <a:bodyPr wrap="none" lIns="45719" rIns="45719" anchor="ctr">
            <a:spAutoFit/>
          </a:bodyPr>
          <a:lstStyle>
            <a:lvl1pPr algn="ctr">
              <a:defRPr sz="1600"/>
            </a:lvl1pPr>
          </a:lstStyle>
          <a:p>
            <a:r>
              <a:t>Rows</a:t>
            </a:r>
          </a:p>
        </p:txBody>
      </p:sp>
      <p:sp>
        <p:nvSpPr>
          <p:cNvPr id="435" name="Rectangle 7"/>
          <p:cNvSpPr/>
          <p:nvPr/>
        </p:nvSpPr>
        <p:spPr>
          <a:xfrm>
            <a:off x="6229350" y="32607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36" name="Rectangle 8"/>
          <p:cNvSpPr/>
          <p:nvPr/>
        </p:nvSpPr>
        <p:spPr>
          <a:xfrm>
            <a:off x="6838950" y="32607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37" name="Rectangle 9"/>
          <p:cNvSpPr/>
          <p:nvPr/>
        </p:nvSpPr>
        <p:spPr>
          <a:xfrm>
            <a:off x="7448550" y="32607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38" name="Rectangle 10"/>
          <p:cNvSpPr/>
          <p:nvPr/>
        </p:nvSpPr>
        <p:spPr>
          <a:xfrm>
            <a:off x="8058150" y="32607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39" name="Rectangle 11"/>
          <p:cNvSpPr/>
          <p:nvPr/>
        </p:nvSpPr>
        <p:spPr>
          <a:xfrm>
            <a:off x="6229350" y="37941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40" name="Rectangle 12"/>
          <p:cNvSpPr/>
          <p:nvPr/>
        </p:nvSpPr>
        <p:spPr>
          <a:xfrm>
            <a:off x="6838950" y="37941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41" name="Rectangle 13"/>
          <p:cNvSpPr/>
          <p:nvPr/>
        </p:nvSpPr>
        <p:spPr>
          <a:xfrm>
            <a:off x="7448550" y="37941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42" name="Rectangle 14"/>
          <p:cNvSpPr/>
          <p:nvPr/>
        </p:nvSpPr>
        <p:spPr>
          <a:xfrm>
            <a:off x="8058150" y="37941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43" name="Text Box 4"/>
          <p:cNvSpPr txBox="1"/>
          <p:nvPr/>
        </p:nvSpPr>
        <p:spPr>
          <a:xfrm>
            <a:off x="4330383" y="3075573"/>
            <a:ext cx="956350" cy="338554"/>
          </a:xfrm>
          <a:prstGeom prst="rect">
            <a:avLst/>
          </a:prstGeom>
          <a:ln w="12700">
            <a:miter lim="400000"/>
          </a:ln>
        </p:spPr>
        <p:txBody>
          <a:bodyPr wrap="none" lIns="45719" rIns="45719" anchor="ctr">
            <a:spAutoFit/>
          </a:bodyPr>
          <a:lstStyle>
            <a:lvl1pPr>
              <a:defRPr sz="1600">
                <a:solidFill>
                  <a:srgbClr val="FF0000"/>
                </a:solidFill>
                <a:latin typeface="Courier New" panose="02070609020205020404"/>
                <a:ea typeface="Courier New" panose="02070609020205020404"/>
                <a:cs typeface="Courier New" panose="02070609020205020404"/>
                <a:sym typeface="Courier New" panose="02070609020205020404"/>
              </a:defRPr>
            </a:lvl1pPr>
          </a:lstStyle>
          <a:p>
            <a:r>
              <a:t>RAS = 2</a:t>
            </a:r>
          </a:p>
        </p:txBody>
      </p:sp>
      <p:sp>
        <p:nvSpPr>
          <p:cNvPr id="444" name="Rectangle 15"/>
          <p:cNvSpPr/>
          <p:nvPr/>
        </p:nvSpPr>
        <p:spPr>
          <a:xfrm>
            <a:off x="6229350" y="4327525"/>
            <a:ext cx="609600" cy="533400"/>
          </a:xfrm>
          <a:prstGeom prst="rect">
            <a:avLst/>
          </a:prstGeom>
          <a:ln w="12700">
            <a:solidFill>
              <a:srgbClr val="000000"/>
            </a:solidFill>
            <a:miter/>
          </a:ln>
        </p:spPr>
        <p:txBody>
          <a:bodyPr lIns="45719" rIns="45719" anchor="ctr"/>
          <a:lstStyle/>
          <a:p>
            <a:pPr>
              <a:defRPr sz="1600"/>
            </a:pPr>
            <a:endParaRPr sz="1600"/>
          </a:p>
        </p:txBody>
      </p:sp>
      <p:sp>
        <p:nvSpPr>
          <p:cNvPr id="445" name="Rectangle 16"/>
          <p:cNvSpPr/>
          <p:nvPr/>
        </p:nvSpPr>
        <p:spPr>
          <a:xfrm>
            <a:off x="6838950" y="4327525"/>
            <a:ext cx="609600" cy="533400"/>
          </a:xfrm>
          <a:prstGeom prst="rect">
            <a:avLst/>
          </a:prstGeom>
          <a:ln w="12700">
            <a:solidFill>
              <a:srgbClr val="000000"/>
            </a:solidFill>
            <a:miter/>
          </a:ln>
        </p:spPr>
        <p:txBody>
          <a:bodyPr lIns="45719" rIns="45719" anchor="ctr"/>
          <a:lstStyle/>
          <a:p>
            <a:pPr>
              <a:defRPr sz="1600"/>
            </a:pPr>
            <a:endParaRPr sz="1600"/>
          </a:p>
        </p:txBody>
      </p:sp>
      <p:sp>
        <p:nvSpPr>
          <p:cNvPr id="446" name="Rectangle 17"/>
          <p:cNvSpPr/>
          <p:nvPr/>
        </p:nvSpPr>
        <p:spPr>
          <a:xfrm>
            <a:off x="7448550" y="4327525"/>
            <a:ext cx="609600" cy="533400"/>
          </a:xfrm>
          <a:prstGeom prst="rect">
            <a:avLst/>
          </a:prstGeom>
          <a:ln w="12700">
            <a:solidFill>
              <a:srgbClr val="000000"/>
            </a:solidFill>
            <a:miter/>
          </a:ln>
        </p:spPr>
        <p:txBody>
          <a:bodyPr lIns="45719" rIns="45719" anchor="ctr"/>
          <a:lstStyle/>
          <a:p/>
        </p:txBody>
      </p:sp>
      <p:sp>
        <p:nvSpPr>
          <p:cNvPr id="447" name="Rectangle 18"/>
          <p:cNvSpPr/>
          <p:nvPr/>
        </p:nvSpPr>
        <p:spPr>
          <a:xfrm>
            <a:off x="8058150" y="4327525"/>
            <a:ext cx="609600" cy="533400"/>
          </a:xfrm>
          <a:prstGeom prst="rect">
            <a:avLst/>
          </a:prstGeom>
          <a:ln w="12700">
            <a:solidFill>
              <a:srgbClr val="000000"/>
            </a:solidFill>
            <a:miter/>
          </a:ln>
        </p:spPr>
        <p:txBody>
          <a:bodyPr lIns="45719" rIns="45719" anchor="ctr"/>
          <a:lstStyle/>
          <a:p/>
        </p:txBody>
      </p:sp>
      <p:sp>
        <p:nvSpPr>
          <p:cNvPr id="448" name="Text Box 23"/>
          <p:cNvSpPr txBox="1"/>
          <p:nvPr/>
        </p:nvSpPr>
        <p:spPr>
          <a:xfrm>
            <a:off x="6427470" y="2939048"/>
            <a:ext cx="185305" cy="338554"/>
          </a:xfrm>
          <a:prstGeom prst="rect">
            <a:avLst/>
          </a:prstGeom>
          <a:ln w="12700">
            <a:miter lim="400000"/>
          </a:ln>
        </p:spPr>
        <p:txBody>
          <a:bodyPr wrap="none" lIns="45719" rIns="45719" anchor="ctr">
            <a:spAutoFit/>
          </a:bodyPr>
          <a:lstStyle>
            <a:lvl1pPr>
              <a:defRPr sz="1600"/>
            </a:lvl1pPr>
          </a:lstStyle>
          <a:p>
            <a:r>
              <a:t>0</a:t>
            </a:r>
          </a:p>
        </p:txBody>
      </p:sp>
      <p:sp>
        <p:nvSpPr>
          <p:cNvPr id="449" name="Text Box 24"/>
          <p:cNvSpPr txBox="1"/>
          <p:nvPr/>
        </p:nvSpPr>
        <p:spPr>
          <a:xfrm>
            <a:off x="7037070" y="2954923"/>
            <a:ext cx="185305" cy="338554"/>
          </a:xfrm>
          <a:prstGeom prst="rect">
            <a:avLst/>
          </a:prstGeom>
          <a:ln w="12700">
            <a:miter lim="400000"/>
          </a:ln>
        </p:spPr>
        <p:txBody>
          <a:bodyPr wrap="none" lIns="45719" rIns="45719" anchor="ctr">
            <a:spAutoFit/>
          </a:bodyPr>
          <a:lstStyle>
            <a:lvl1pPr>
              <a:defRPr sz="1600"/>
            </a:lvl1pPr>
          </a:lstStyle>
          <a:p>
            <a:r>
              <a:t>1</a:t>
            </a:r>
          </a:p>
        </p:txBody>
      </p:sp>
      <p:sp>
        <p:nvSpPr>
          <p:cNvPr id="450" name="Text Box 25"/>
          <p:cNvSpPr txBox="1"/>
          <p:nvPr/>
        </p:nvSpPr>
        <p:spPr>
          <a:xfrm>
            <a:off x="7654608" y="2954923"/>
            <a:ext cx="185305" cy="338554"/>
          </a:xfrm>
          <a:prstGeom prst="rect">
            <a:avLst/>
          </a:prstGeom>
          <a:ln w="12700">
            <a:miter lim="400000"/>
          </a:ln>
        </p:spPr>
        <p:txBody>
          <a:bodyPr wrap="none" lIns="45719" rIns="45719" anchor="ctr">
            <a:spAutoFit/>
          </a:bodyPr>
          <a:lstStyle>
            <a:lvl1pPr>
              <a:defRPr sz="1600"/>
            </a:lvl1pPr>
          </a:lstStyle>
          <a:p>
            <a:r>
              <a:t>2</a:t>
            </a:r>
          </a:p>
        </p:txBody>
      </p:sp>
      <p:sp>
        <p:nvSpPr>
          <p:cNvPr id="451" name="Text Box 26"/>
          <p:cNvSpPr txBox="1"/>
          <p:nvPr/>
        </p:nvSpPr>
        <p:spPr>
          <a:xfrm>
            <a:off x="8264209" y="2954923"/>
            <a:ext cx="185305" cy="338554"/>
          </a:xfrm>
          <a:prstGeom prst="rect">
            <a:avLst/>
          </a:prstGeom>
          <a:ln w="12700">
            <a:miter lim="400000"/>
          </a:ln>
        </p:spPr>
        <p:txBody>
          <a:bodyPr wrap="none" lIns="45719" rIns="45719" anchor="ctr">
            <a:spAutoFit/>
          </a:bodyPr>
          <a:lstStyle>
            <a:lvl1pPr>
              <a:defRPr sz="1600"/>
            </a:lvl1pPr>
          </a:lstStyle>
          <a:p>
            <a:r>
              <a:t>3</a:t>
            </a:r>
          </a:p>
        </p:txBody>
      </p:sp>
      <p:sp>
        <p:nvSpPr>
          <p:cNvPr id="452" name="Text Box 27"/>
          <p:cNvSpPr txBox="1"/>
          <p:nvPr/>
        </p:nvSpPr>
        <p:spPr>
          <a:xfrm>
            <a:off x="5970270" y="3380373"/>
            <a:ext cx="185305" cy="338554"/>
          </a:xfrm>
          <a:prstGeom prst="rect">
            <a:avLst/>
          </a:prstGeom>
          <a:ln w="12700">
            <a:miter lim="400000"/>
          </a:ln>
        </p:spPr>
        <p:txBody>
          <a:bodyPr wrap="none" lIns="45719" rIns="45719" anchor="ctr">
            <a:spAutoFit/>
          </a:bodyPr>
          <a:lstStyle>
            <a:lvl1pPr>
              <a:defRPr sz="1600"/>
            </a:lvl1pPr>
          </a:lstStyle>
          <a:p>
            <a:r>
              <a:t>0</a:t>
            </a:r>
          </a:p>
        </p:txBody>
      </p:sp>
      <p:sp>
        <p:nvSpPr>
          <p:cNvPr id="453" name="Text Box 28"/>
          <p:cNvSpPr txBox="1"/>
          <p:nvPr/>
        </p:nvSpPr>
        <p:spPr>
          <a:xfrm>
            <a:off x="5970270" y="3913773"/>
            <a:ext cx="185305" cy="338554"/>
          </a:xfrm>
          <a:prstGeom prst="rect">
            <a:avLst/>
          </a:prstGeom>
          <a:ln w="12700">
            <a:miter lim="400000"/>
          </a:ln>
        </p:spPr>
        <p:txBody>
          <a:bodyPr wrap="none" lIns="45719" rIns="45719" anchor="ctr">
            <a:spAutoFit/>
          </a:bodyPr>
          <a:lstStyle>
            <a:lvl1pPr>
              <a:defRPr sz="1600"/>
            </a:lvl1pPr>
          </a:lstStyle>
          <a:p>
            <a:r>
              <a:t>1</a:t>
            </a:r>
          </a:p>
        </p:txBody>
      </p:sp>
      <p:sp>
        <p:nvSpPr>
          <p:cNvPr id="454" name="Text Box 29"/>
          <p:cNvSpPr txBox="1"/>
          <p:nvPr/>
        </p:nvSpPr>
        <p:spPr>
          <a:xfrm>
            <a:off x="5970270" y="4447173"/>
            <a:ext cx="185305" cy="338554"/>
          </a:xfrm>
          <a:prstGeom prst="rect">
            <a:avLst/>
          </a:prstGeom>
          <a:ln w="12700">
            <a:miter lim="400000"/>
          </a:ln>
        </p:spPr>
        <p:txBody>
          <a:bodyPr wrap="none" lIns="45719" rIns="45719" anchor="ctr">
            <a:spAutoFit/>
          </a:bodyPr>
          <a:lstStyle>
            <a:lvl1pPr>
              <a:defRPr sz="1600"/>
            </a:lvl1pPr>
          </a:lstStyle>
          <a:p>
            <a:r>
              <a:t>2</a:t>
            </a:r>
          </a:p>
        </p:txBody>
      </p:sp>
      <p:sp>
        <p:nvSpPr>
          <p:cNvPr id="455" name="Text Box 37"/>
          <p:cNvSpPr txBox="1"/>
          <p:nvPr/>
        </p:nvSpPr>
        <p:spPr>
          <a:xfrm>
            <a:off x="6712629" y="6291849"/>
            <a:ext cx="1567094" cy="338554"/>
          </a:xfrm>
          <a:prstGeom prst="rect">
            <a:avLst/>
          </a:prstGeom>
          <a:ln w="12700">
            <a:miter lim="400000"/>
          </a:ln>
        </p:spPr>
        <p:txBody>
          <a:bodyPr wrap="none" lIns="45719" rIns="45719" anchor="ctr">
            <a:spAutoFit/>
          </a:bodyPr>
          <a:lstStyle>
            <a:lvl1pPr algn="ctr">
              <a:defRPr sz="1600"/>
            </a:lvl1pPr>
          </a:lstStyle>
          <a:p>
            <a:r>
              <a:t>Internal row buffer</a:t>
            </a:r>
          </a:p>
        </p:txBody>
      </p:sp>
      <p:sp>
        <p:nvSpPr>
          <p:cNvPr id="456" name="Rectangle 38"/>
          <p:cNvSpPr/>
          <p:nvPr/>
        </p:nvSpPr>
        <p:spPr>
          <a:xfrm>
            <a:off x="5391151" y="2667000"/>
            <a:ext cx="3667125" cy="4038600"/>
          </a:xfrm>
          <a:prstGeom prst="rect">
            <a:avLst/>
          </a:prstGeom>
          <a:ln w="12700">
            <a:solidFill>
              <a:srgbClr val="000000"/>
            </a:solidFill>
            <a:prstDash val="dash"/>
            <a:miter/>
          </a:ln>
        </p:spPr>
        <p:txBody>
          <a:bodyPr lIns="45719" rIns="45719" anchor="ctr"/>
          <a:lstStyle/>
          <a:p/>
        </p:txBody>
      </p:sp>
      <p:sp>
        <p:nvSpPr>
          <p:cNvPr id="457" name="Text Box 39"/>
          <p:cNvSpPr txBox="1"/>
          <p:nvPr/>
        </p:nvSpPr>
        <p:spPr>
          <a:xfrm>
            <a:off x="5309869" y="2345323"/>
            <a:ext cx="1499768" cy="338554"/>
          </a:xfrm>
          <a:prstGeom prst="rect">
            <a:avLst/>
          </a:prstGeom>
          <a:ln w="12700">
            <a:miter lim="400000"/>
          </a:ln>
        </p:spPr>
        <p:txBody>
          <a:bodyPr wrap="none" lIns="45719" rIns="45719" anchor="ctr">
            <a:spAutoFit/>
          </a:bodyPr>
          <a:lstStyle>
            <a:lvl1pPr>
              <a:defRPr sz="1600"/>
            </a:lvl1pPr>
          </a:lstStyle>
          <a:p>
            <a:r>
              <a:t>16 x 8 DRAM chip</a:t>
            </a:r>
          </a:p>
        </p:txBody>
      </p:sp>
      <p:sp>
        <p:nvSpPr>
          <p:cNvPr id="458" name="Rectangle 19"/>
          <p:cNvSpPr/>
          <p:nvPr/>
        </p:nvSpPr>
        <p:spPr>
          <a:xfrm>
            <a:off x="6229350" y="4860925"/>
            <a:ext cx="609600"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59" name="Rectangle 20"/>
          <p:cNvSpPr/>
          <p:nvPr/>
        </p:nvSpPr>
        <p:spPr>
          <a:xfrm>
            <a:off x="6838950" y="48609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60" name="Rectangle 21"/>
          <p:cNvSpPr/>
          <p:nvPr/>
        </p:nvSpPr>
        <p:spPr>
          <a:xfrm>
            <a:off x="7448550" y="48609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61" name="Rectangle 22"/>
          <p:cNvSpPr/>
          <p:nvPr/>
        </p:nvSpPr>
        <p:spPr>
          <a:xfrm>
            <a:off x="8058150" y="4860925"/>
            <a:ext cx="609600"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62" name="Text Box 30"/>
          <p:cNvSpPr txBox="1"/>
          <p:nvPr/>
        </p:nvSpPr>
        <p:spPr>
          <a:xfrm>
            <a:off x="5970270" y="4980573"/>
            <a:ext cx="185305" cy="338554"/>
          </a:xfrm>
          <a:prstGeom prst="rect">
            <a:avLst/>
          </a:prstGeom>
          <a:ln w="12700">
            <a:miter lim="400000"/>
          </a:ln>
        </p:spPr>
        <p:txBody>
          <a:bodyPr wrap="none" lIns="45719" rIns="45719" anchor="ctr">
            <a:spAutoFit/>
          </a:bodyPr>
          <a:lstStyle>
            <a:lvl1pPr>
              <a:defRPr sz="1600"/>
            </a:lvl1pPr>
          </a:lstStyle>
          <a:p>
            <a:r>
              <a:t>3</a:t>
            </a:r>
          </a:p>
        </p:txBody>
      </p:sp>
      <p:sp>
        <p:nvSpPr>
          <p:cNvPr id="463" name="Rectangle 32"/>
          <p:cNvSpPr/>
          <p:nvPr/>
        </p:nvSpPr>
        <p:spPr>
          <a:xfrm>
            <a:off x="6226175" y="5699125"/>
            <a:ext cx="609600" cy="533400"/>
          </a:xfrm>
          <a:prstGeom prst="rect">
            <a:avLst/>
          </a:prstGeom>
          <a:ln w="12700">
            <a:solidFill>
              <a:srgbClr val="000000"/>
            </a:solidFill>
            <a:miter/>
          </a:ln>
        </p:spPr>
        <p:txBody>
          <a:bodyPr lIns="45719" rIns="45719" anchor="ctr"/>
          <a:lstStyle/>
          <a:p>
            <a:pPr>
              <a:defRPr sz="1600"/>
            </a:pPr>
            <a:endParaRPr sz="1600"/>
          </a:p>
        </p:txBody>
      </p:sp>
      <p:sp>
        <p:nvSpPr>
          <p:cNvPr id="464" name="Rectangle 33"/>
          <p:cNvSpPr/>
          <p:nvPr/>
        </p:nvSpPr>
        <p:spPr>
          <a:xfrm>
            <a:off x="6835775" y="5699125"/>
            <a:ext cx="609600" cy="533400"/>
          </a:xfrm>
          <a:prstGeom prst="rect">
            <a:avLst/>
          </a:prstGeom>
          <a:ln w="12700">
            <a:solidFill>
              <a:srgbClr val="000000"/>
            </a:solidFill>
            <a:miter/>
          </a:ln>
        </p:spPr>
        <p:txBody>
          <a:bodyPr lIns="45719" rIns="45719" anchor="ctr"/>
          <a:lstStyle/>
          <a:p>
            <a:pPr>
              <a:defRPr sz="1600"/>
            </a:pPr>
            <a:endParaRPr sz="1600"/>
          </a:p>
        </p:txBody>
      </p:sp>
      <p:sp>
        <p:nvSpPr>
          <p:cNvPr id="465" name="Rectangle 34"/>
          <p:cNvSpPr/>
          <p:nvPr/>
        </p:nvSpPr>
        <p:spPr>
          <a:xfrm>
            <a:off x="7445375" y="5699125"/>
            <a:ext cx="609600" cy="533400"/>
          </a:xfrm>
          <a:prstGeom prst="rect">
            <a:avLst/>
          </a:prstGeom>
          <a:ln w="12700">
            <a:solidFill>
              <a:srgbClr val="000000"/>
            </a:solidFill>
            <a:miter/>
          </a:ln>
        </p:spPr>
        <p:txBody>
          <a:bodyPr lIns="45719" rIns="45719" anchor="ctr"/>
          <a:lstStyle/>
          <a:p/>
        </p:txBody>
      </p:sp>
      <p:sp>
        <p:nvSpPr>
          <p:cNvPr id="466" name="Rectangle 35"/>
          <p:cNvSpPr/>
          <p:nvPr/>
        </p:nvSpPr>
        <p:spPr>
          <a:xfrm>
            <a:off x="8054975" y="5699125"/>
            <a:ext cx="609600" cy="533400"/>
          </a:xfrm>
          <a:prstGeom prst="rect">
            <a:avLst/>
          </a:prstGeom>
          <a:ln w="12700">
            <a:solidFill>
              <a:srgbClr val="000000"/>
            </a:solidFill>
            <a:miter/>
          </a:ln>
        </p:spPr>
        <p:txBody>
          <a:bodyPr lIns="45719" rIns="45719" anchor="ctr"/>
          <a:lstStyle/>
          <a:p/>
        </p:txBody>
      </p:sp>
      <p:sp>
        <p:nvSpPr>
          <p:cNvPr id="467" name="Line 45"/>
          <p:cNvSpPr/>
          <p:nvPr/>
        </p:nvSpPr>
        <p:spPr>
          <a:xfrm flipV="1">
            <a:off x="4257676" y="3625849"/>
            <a:ext cx="1143001" cy="15876"/>
          </a:xfrm>
          <a:prstGeom prst="line">
            <a:avLst/>
          </a:prstGeom>
          <a:ln w="38100">
            <a:solidFill>
              <a:srgbClr val="000000"/>
            </a:solidFill>
            <a:tailEnd type="triangle"/>
          </a:ln>
        </p:spPr>
        <p:txBody>
          <a:bodyPr lIns="45719" rIns="45719"/>
          <a:lstStyle/>
          <a:p/>
        </p:txBody>
      </p:sp>
      <p:sp>
        <p:nvSpPr>
          <p:cNvPr id="468" name="Text Box 46"/>
          <p:cNvSpPr txBox="1"/>
          <p:nvPr/>
        </p:nvSpPr>
        <p:spPr>
          <a:xfrm>
            <a:off x="4578033" y="3685173"/>
            <a:ext cx="586056" cy="338554"/>
          </a:xfrm>
          <a:prstGeom prst="rect">
            <a:avLst/>
          </a:prstGeom>
          <a:ln w="12700">
            <a:miter lim="400000"/>
          </a:ln>
        </p:spPr>
        <p:txBody>
          <a:bodyPr wrap="none" lIns="45719" rIns="45719" anchor="ctr">
            <a:spAutoFit/>
          </a:bodyPr>
          <a:lstStyle>
            <a:lvl1pPr>
              <a:defRPr sz="1600">
                <a:latin typeface="Courier New" panose="02070609020205020404"/>
                <a:ea typeface="Courier New" panose="02070609020205020404"/>
                <a:cs typeface="Courier New" panose="02070609020205020404"/>
                <a:sym typeface="Courier New" panose="02070609020205020404"/>
              </a:defRPr>
            </a:lvl1pPr>
          </a:lstStyle>
          <a:p>
            <a:r>
              <a:t>addr</a:t>
            </a:r>
          </a:p>
        </p:txBody>
      </p:sp>
      <p:sp>
        <p:nvSpPr>
          <p:cNvPr id="469" name="Line 47"/>
          <p:cNvSpPr/>
          <p:nvPr/>
        </p:nvSpPr>
        <p:spPr>
          <a:xfrm>
            <a:off x="4257676" y="5394325"/>
            <a:ext cx="1143001" cy="0"/>
          </a:xfrm>
          <a:prstGeom prst="line">
            <a:avLst/>
          </a:prstGeom>
          <a:ln w="38100">
            <a:solidFill>
              <a:srgbClr val="000000"/>
            </a:solidFill>
            <a:headEnd type="triangle"/>
            <a:tailEnd type="triangle"/>
          </a:ln>
        </p:spPr>
        <p:txBody>
          <a:bodyPr lIns="45719" rIns="45719"/>
          <a:lstStyle/>
          <a:p/>
        </p:txBody>
      </p:sp>
      <p:sp>
        <p:nvSpPr>
          <p:cNvPr id="470" name="Text Box 48"/>
          <p:cNvSpPr txBox="1"/>
          <p:nvPr/>
        </p:nvSpPr>
        <p:spPr>
          <a:xfrm>
            <a:off x="4546283" y="5437773"/>
            <a:ext cx="586056" cy="338554"/>
          </a:xfrm>
          <a:prstGeom prst="rect">
            <a:avLst/>
          </a:prstGeom>
          <a:ln w="12700">
            <a:miter lim="400000"/>
          </a:ln>
        </p:spPr>
        <p:txBody>
          <a:bodyPr wrap="none" lIns="45719" rIns="45719" anchor="ctr">
            <a:spAutoFit/>
          </a:bodyPr>
          <a:lstStyle>
            <a:lvl1pPr>
              <a:defRPr sz="1600">
                <a:latin typeface="Courier New" panose="02070609020205020404"/>
                <a:ea typeface="Courier New" panose="02070609020205020404"/>
                <a:cs typeface="Courier New" panose="02070609020205020404"/>
                <a:sym typeface="Courier New" panose="02070609020205020404"/>
              </a:defRPr>
            </a:lvl1pPr>
          </a:lstStyle>
          <a:p>
            <a:r>
              <a:t>data</a:t>
            </a:r>
          </a:p>
        </p:txBody>
      </p:sp>
      <p:sp>
        <p:nvSpPr>
          <p:cNvPr id="471" name="Text Box 49"/>
          <p:cNvSpPr txBox="1"/>
          <p:nvPr/>
        </p:nvSpPr>
        <p:spPr>
          <a:xfrm>
            <a:off x="4754245" y="3304531"/>
            <a:ext cx="162863" cy="461665"/>
          </a:xfrm>
          <a:prstGeom prst="rect">
            <a:avLst/>
          </a:prstGeom>
          <a:ln w="12700">
            <a:miter lim="400000"/>
          </a:ln>
        </p:spPr>
        <p:txBody>
          <a:bodyPr wrap="none" lIns="45719" rIns="45719" anchor="ctr">
            <a:spAutoFit/>
          </a:bodyPr>
          <a:lstStyle/>
          <a:p>
            <a:pPr>
              <a:defRPr sz="1200"/>
            </a:pPr>
            <a:r>
              <a:rPr sz="1200"/>
              <a:t>2</a:t>
            </a:r>
            <a:endParaRPr sz="1200"/>
          </a:p>
          <a:p>
            <a:pPr>
              <a:defRPr sz="1200"/>
            </a:pPr>
            <a:r>
              <a:rPr sz="1200"/>
              <a:t>/</a:t>
            </a:r>
            <a:endParaRPr sz="1200"/>
          </a:p>
        </p:txBody>
      </p:sp>
      <p:sp>
        <p:nvSpPr>
          <p:cNvPr id="472" name="Text Box 50"/>
          <p:cNvSpPr txBox="1"/>
          <p:nvPr/>
        </p:nvSpPr>
        <p:spPr>
          <a:xfrm>
            <a:off x="4760595" y="5087293"/>
            <a:ext cx="162863" cy="461665"/>
          </a:xfrm>
          <a:prstGeom prst="rect">
            <a:avLst/>
          </a:prstGeom>
          <a:ln w="12700">
            <a:miter lim="400000"/>
          </a:ln>
        </p:spPr>
        <p:txBody>
          <a:bodyPr wrap="none" lIns="45719" rIns="45719" anchor="ctr">
            <a:spAutoFit/>
          </a:bodyPr>
          <a:lstStyle/>
          <a:p>
            <a:pPr>
              <a:defRPr sz="1200"/>
            </a:pPr>
            <a:r>
              <a:rPr sz="1200"/>
              <a:t>8</a:t>
            </a:r>
            <a:endParaRPr sz="1200"/>
          </a:p>
          <a:p>
            <a:pPr>
              <a:defRPr sz="1200"/>
            </a:pPr>
            <a:r>
              <a:rPr sz="1200"/>
              <a:t>/</a:t>
            </a:r>
            <a:endParaRPr sz="1200"/>
          </a:p>
        </p:txBody>
      </p:sp>
      <p:grpSp>
        <p:nvGrpSpPr>
          <p:cNvPr id="475" name="Rectangle 51"/>
          <p:cNvGrpSpPr/>
          <p:nvPr/>
        </p:nvGrpSpPr>
        <p:grpSpPr>
          <a:xfrm>
            <a:off x="3114675" y="2955925"/>
            <a:ext cx="1143000" cy="3200400"/>
            <a:chOff x="0" y="0"/>
            <a:chExt cx="1143000" cy="3200400"/>
          </a:xfrm>
        </p:grpSpPr>
        <p:sp>
          <p:nvSpPr>
            <p:cNvPr id="473" name="Rectangle"/>
            <p:cNvSpPr/>
            <p:nvPr/>
          </p:nvSpPr>
          <p:spPr>
            <a:xfrm>
              <a:off x="0" y="0"/>
              <a:ext cx="1143000" cy="320040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p:txBody>
        </p:sp>
        <p:sp>
          <p:nvSpPr>
            <p:cNvPr id="474" name="Memory…"/>
            <p:cNvSpPr txBox="1"/>
            <p:nvPr/>
          </p:nvSpPr>
          <p:spPr>
            <a:xfrm>
              <a:off x="138209" y="1307813"/>
              <a:ext cx="866582" cy="584773"/>
            </a:xfrm>
            <a:prstGeom prst="rect">
              <a:avLst/>
            </a:prstGeom>
            <a:noFill/>
            <a:ln w="12700" cap="flat">
              <a:noFill/>
              <a:miter lim="400000"/>
            </a:ln>
            <a:effectLst/>
          </p:spPr>
          <p:txBody>
            <a:bodyPr wrap="none" lIns="45719" tIns="45719" rIns="45719" bIns="45719" numCol="1" anchor="ctr">
              <a:spAutoFit/>
            </a:bodyPr>
            <a:lstStyle/>
            <a:p>
              <a:pPr algn="ctr">
                <a:defRPr sz="1600"/>
              </a:pPr>
              <a:r>
                <a:rPr sz="1600"/>
                <a:t>Memory</a:t>
              </a:r>
              <a:endParaRPr sz="1600"/>
            </a:p>
            <a:p>
              <a:pPr>
                <a:defRPr sz="1600"/>
              </a:pPr>
              <a:r>
                <a:rPr sz="1600"/>
                <a:t>controller</a:t>
              </a:r>
              <a:endParaRPr sz="1600"/>
            </a:p>
          </p:txBody>
        </p:sp>
      </p:grpSp>
      <p:grpSp>
        <p:nvGrpSpPr>
          <p:cNvPr id="480" name="Group 65"/>
          <p:cNvGrpSpPr/>
          <p:nvPr/>
        </p:nvGrpSpPr>
        <p:grpSpPr>
          <a:xfrm>
            <a:off x="6229350" y="4324350"/>
            <a:ext cx="2438400" cy="533400"/>
            <a:chOff x="0" y="0"/>
            <a:chExt cx="2438400" cy="533400"/>
          </a:xfrm>
        </p:grpSpPr>
        <p:sp>
          <p:nvSpPr>
            <p:cNvPr id="476" name="Rectangle 66"/>
            <p:cNvSpPr/>
            <p:nvPr/>
          </p:nvSpPr>
          <p:spPr>
            <a:xfrm>
              <a:off x="0" y="0"/>
              <a:ext cx="609600" cy="533400"/>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pPr>
                <a:defRPr sz="1600"/>
              </a:pPr>
              <a:endParaRPr sz="1600"/>
            </a:p>
          </p:txBody>
        </p:sp>
        <p:sp>
          <p:nvSpPr>
            <p:cNvPr id="477" name="Rectangle 67"/>
            <p:cNvSpPr/>
            <p:nvPr/>
          </p:nvSpPr>
          <p:spPr>
            <a:xfrm>
              <a:off x="609600" y="0"/>
              <a:ext cx="609600" cy="533400"/>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a:pPr>
                <a:defRPr sz="1600"/>
              </a:pPr>
              <a:endParaRPr sz="1600"/>
            </a:p>
          </p:txBody>
        </p:sp>
        <p:sp>
          <p:nvSpPr>
            <p:cNvPr id="478" name="Rectangle 68"/>
            <p:cNvSpPr/>
            <p:nvPr/>
          </p:nvSpPr>
          <p:spPr>
            <a:xfrm>
              <a:off x="1219200" y="0"/>
              <a:ext cx="609600" cy="533400"/>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479" name="Rectangle 69"/>
            <p:cNvSpPr/>
            <p:nvPr/>
          </p:nvSpPr>
          <p:spPr>
            <a:xfrm>
              <a:off x="1828800" y="0"/>
              <a:ext cx="609600" cy="533400"/>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481" name="Rectangle 31"/>
          <p:cNvSpPr/>
          <p:nvPr/>
        </p:nvSpPr>
        <p:spPr>
          <a:xfrm>
            <a:off x="6226175" y="3260725"/>
            <a:ext cx="2438400" cy="2133600"/>
          </a:xfrm>
          <a:prstGeom prst="rect">
            <a:avLst/>
          </a:prstGeom>
          <a:ln w="38100">
            <a:solidFill>
              <a:srgbClr val="000000"/>
            </a:solidFill>
            <a:miter/>
          </a:ln>
        </p:spPr>
        <p:txBody>
          <a:bodyPr lIns="45719" rIns="45719" anchor="ctr"/>
          <a:lstStyle/>
          <a:p/>
        </p:txBody>
      </p:sp>
      <p:grpSp>
        <p:nvGrpSpPr>
          <p:cNvPr id="486" name="Group 63"/>
          <p:cNvGrpSpPr/>
          <p:nvPr/>
        </p:nvGrpSpPr>
        <p:grpSpPr>
          <a:xfrm>
            <a:off x="6381751" y="4708526"/>
            <a:ext cx="2133601" cy="990601"/>
            <a:chOff x="0" y="0"/>
            <a:chExt cx="2133600" cy="990600"/>
          </a:xfrm>
        </p:grpSpPr>
        <p:sp>
          <p:nvSpPr>
            <p:cNvPr id="482" name="AutoShape 40"/>
            <p:cNvSpPr/>
            <p:nvPr/>
          </p:nvSpPr>
          <p:spPr>
            <a:xfrm>
              <a:off x="0" y="0"/>
              <a:ext cx="304801" cy="9906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p:txBody>
        </p:sp>
        <p:sp>
          <p:nvSpPr>
            <p:cNvPr id="483" name="AutoShape 41"/>
            <p:cNvSpPr/>
            <p:nvPr/>
          </p:nvSpPr>
          <p:spPr>
            <a:xfrm>
              <a:off x="609600" y="0"/>
              <a:ext cx="304801" cy="9906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p:txBody>
        </p:sp>
        <p:sp>
          <p:nvSpPr>
            <p:cNvPr id="484" name="AutoShape 42"/>
            <p:cNvSpPr/>
            <p:nvPr/>
          </p:nvSpPr>
          <p:spPr>
            <a:xfrm>
              <a:off x="1219200" y="0"/>
              <a:ext cx="304801" cy="9906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p:txBody>
        </p:sp>
        <p:sp>
          <p:nvSpPr>
            <p:cNvPr id="485" name="AutoShape 43"/>
            <p:cNvSpPr/>
            <p:nvPr/>
          </p:nvSpPr>
          <p:spPr>
            <a:xfrm>
              <a:off x="1828800" y="0"/>
              <a:ext cx="304801" cy="990601"/>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p:txBody>
        </p:sp>
      </p:gr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4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indefinite" fill="hold"/>
                                        <p:tgtEl>
                                          <p:spTgt spid="4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indefinite" fill="hold"/>
                                        <p:tgtEl>
                                          <p:spTgt spid="4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indefinite" fill="hold"/>
                                        <p:tgtEl>
                                          <p:spTgt spid="4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 grpId="0" animBg="1" advAuto="0"/>
      <p:bldP spid="443" grpId="0" animBg="1" advAuto="0"/>
      <p:bldP spid="480" grpId="0" animBg="1" advAuto="0"/>
      <p:bldP spid="486" grpId="0" animBg="1" advAuto="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489" name="Rectangle 50"/>
          <p:cNvSpPr txBox="1">
            <a:spLocks noGrp="1"/>
          </p:cNvSpPr>
          <p:nvPr>
            <p:ph type="title"/>
          </p:nvPr>
        </p:nvSpPr>
        <p:spPr>
          <a:xfrm>
            <a:off x="1894344" y="249601"/>
            <a:ext cx="7592095" cy="762001"/>
          </a:xfrm>
          <a:prstGeom prst="rect">
            <a:avLst/>
          </a:prstGeom>
        </p:spPr>
        <p:txBody>
          <a:bodyPr/>
          <a:lstStyle/>
          <a:p>
            <a:r>
              <a:t>Reading DRAM Supercell (2,1)</a:t>
            </a:r>
          </a:p>
        </p:txBody>
      </p:sp>
      <p:sp>
        <p:nvSpPr>
          <p:cNvPr id="490" name="Rectangle 51"/>
          <p:cNvSpPr txBox="1">
            <a:spLocks noGrp="1"/>
          </p:cNvSpPr>
          <p:nvPr>
            <p:ph type="body" sz="quarter" idx="1"/>
          </p:nvPr>
        </p:nvSpPr>
        <p:spPr>
          <a:xfrm>
            <a:off x="2135982" y="927463"/>
            <a:ext cx="8091486" cy="1425375"/>
          </a:xfrm>
          <a:prstGeom prst="rect">
            <a:avLst/>
          </a:prstGeom>
        </p:spPr>
        <p:txBody>
          <a:bodyPr/>
          <a:lstStyle/>
          <a:p>
            <a:pPr>
              <a:spcBef>
                <a:spcPts val="400"/>
              </a:spcBef>
              <a:buSzTx/>
              <a:buNone/>
              <a:defRPr sz="2000"/>
            </a:pPr>
            <a:r>
              <a:t>Step 2(a): Column access strobe (</a:t>
            </a:r>
            <a:r>
              <a:rPr>
                <a:solidFill>
                  <a:srgbClr val="FF0000"/>
                </a:solidFill>
              </a:rPr>
              <a:t>CAS</a:t>
            </a:r>
            <a:r>
              <a:t>) selects column 1.</a:t>
            </a:r>
          </a:p>
          <a:p>
            <a:pPr>
              <a:spcBef>
                <a:spcPts val="400"/>
              </a:spcBef>
              <a:buSzTx/>
              <a:buNone/>
              <a:defRPr sz="2000">
                <a:effectLst>
                  <a:outerShdw blurRad="38100" dist="38100" dir="2700000" rotWithShape="0">
                    <a:srgbClr val="DDDDDD"/>
                  </a:outerShdw>
                </a:effectLst>
              </a:defRPr>
            </a:pPr>
            <a:r>
              <a:t>Step 2(b): Supercell (2,1) copied from buffer to data lines, and eventually back to the CPU.</a:t>
            </a:r>
          </a:p>
          <a:p>
            <a:pPr>
              <a:spcBef>
                <a:spcPts val="400"/>
              </a:spcBef>
              <a:buSzTx/>
              <a:buNone/>
              <a:defRPr sz="2000">
                <a:effectLst>
                  <a:outerShdw blurRad="38100" dist="38100" dir="2700000" rotWithShape="0">
                    <a:srgbClr val="DDDDDD"/>
                  </a:outerShdw>
                </a:effectLst>
              </a:defRPr>
            </a:pPr>
            <a:r>
              <a:t>Step 3: All data written back to row to provide refresh</a:t>
            </a:r>
          </a:p>
        </p:txBody>
      </p:sp>
      <p:sp>
        <p:nvSpPr>
          <p:cNvPr id="491" name="Text Box 6"/>
          <p:cNvSpPr txBox="1"/>
          <p:nvPr/>
        </p:nvSpPr>
        <p:spPr>
          <a:xfrm>
            <a:off x="7224396" y="2748548"/>
            <a:ext cx="456213" cy="338554"/>
          </a:xfrm>
          <a:prstGeom prst="rect">
            <a:avLst/>
          </a:prstGeom>
          <a:ln w="12700">
            <a:miter lim="400000"/>
          </a:ln>
        </p:spPr>
        <p:txBody>
          <a:bodyPr wrap="none" lIns="45719" rIns="45719" anchor="ctr">
            <a:spAutoFit/>
          </a:bodyPr>
          <a:lstStyle>
            <a:lvl1pPr>
              <a:defRPr sz="1600"/>
            </a:lvl1pPr>
          </a:lstStyle>
          <a:p>
            <a:r>
              <a:t>Cols</a:t>
            </a:r>
          </a:p>
        </p:txBody>
      </p:sp>
      <p:sp>
        <p:nvSpPr>
          <p:cNvPr id="492" name="Text Box 7"/>
          <p:cNvSpPr txBox="1"/>
          <p:nvPr/>
        </p:nvSpPr>
        <p:spPr>
          <a:xfrm>
            <a:off x="5419805" y="4151899"/>
            <a:ext cx="541172" cy="338554"/>
          </a:xfrm>
          <a:prstGeom prst="rect">
            <a:avLst/>
          </a:prstGeom>
          <a:ln w="12700">
            <a:miter lim="400000"/>
          </a:ln>
        </p:spPr>
        <p:txBody>
          <a:bodyPr wrap="none" lIns="45719" rIns="45719" anchor="ctr">
            <a:spAutoFit/>
          </a:bodyPr>
          <a:lstStyle>
            <a:lvl1pPr algn="ctr">
              <a:defRPr sz="1600"/>
            </a:lvl1pPr>
          </a:lstStyle>
          <a:p>
            <a:r>
              <a:t>Rows</a:t>
            </a:r>
          </a:p>
        </p:txBody>
      </p:sp>
      <p:sp>
        <p:nvSpPr>
          <p:cNvPr id="493" name="Rectangle 8"/>
          <p:cNvSpPr/>
          <p:nvPr/>
        </p:nvSpPr>
        <p:spPr>
          <a:xfrm>
            <a:off x="6240463" y="3270250"/>
            <a:ext cx="609601"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94" name="Rectangle 9"/>
          <p:cNvSpPr/>
          <p:nvPr/>
        </p:nvSpPr>
        <p:spPr>
          <a:xfrm>
            <a:off x="6850063" y="32702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95" name="Rectangle 10"/>
          <p:cNvSpPr/>
          <p:nvPr/>
        </p:nvSpPr>
        <p:spPr>
          <a:xfrm>
            <a:off x="7459663" y="32702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96" name="Rectangle 11"/>
          <p:cNvSpPr/>
          <p:nvPr/>
        </p:nvSpPr>
        <p:spPr>
          <a:xfrm>
            <a:off x="8069264" y="32702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97" name="Rectangle 12"/>
          <p:cNvSpPr/>
          <p:nvPr/>
        </p:nvSpPr>
        <p:spPr>
          <a:xfrm>
            <a:off x="6240463" y="3803650"/>
            <a:ext cx="609601"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498" name="Rectangle 13"/>
          <p:cNvSpPr/>
          <p:nvPr/>
        </p:nvSpPr>
        <p:spPr>
          <a:xfrm>
            <a:off x="6850063" y="38036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499" name="Rectangle 14"/>
          <p:cNvSpPr/>
          <p:nvPr/>
        </p:nvSpPr>
        <p:spPr>
          <a:xfrm>
            <a:off x="7459663" y="38036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500" name="Rectangle 15"/>
          <p:cNvSpPr/>
          <p:nvPr/>
        </p:nvSpPr>
        <p:spPr>
          <a:xfrm>
            <a:off x="8069264" y="38036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501" name="Rectangle 16"/>
          <p:cNvSpPr/>
          <p:nvPr/>
        </p:nvSpPr>
        <p:spPr>
          <a:xfrm>
            <a:off x="6240463" y="4337050"/>
            <a:ext cx="609601" cy="533400"/>
          </a:xfrm>
          <a:prstGeom prst="rect">
            <a:avLst/>
          </a:prstGeom>
          <a:solidFill>
            <a:srgbClr val="FF99CC"/>
          </a:solidFill>
          <a:ln w="12700">
            <a:solidFill>
              <a:srgbClr val="000000"/>
            </a:solidFill>
            <a:miter/>
          </a:ln>
        </p:spPr>
        <p:txBody>
          <a:bodyPr lIns="45719" rIns="45719" anchor="ctr"/>
          <a:lstStyle/>
          <a:p>
            <a:pPr>
              <a:defRPr sz="1600"/>
            </a:pPr>
            <a:endParaRPr sz="1600"/>
          </a:p>
        </p:txBody>
      </p:sp>
      <p:sp>
        <p:nvSpPr>
          <p:cNvPr id="502" name="Rectangle 17"/>
          <p:cNvSpPr/>
          <p:nvPr/>
        </p:nvSpPr>
        <p:spPr>
          <a:xfrm>
            <a:off x="6850063" y="4337050"/>
            <a:ext cx="609601" cy="533400"/>
          </a:xfrm>
          <a:prstGeom prst="rect">
            <a:avLst/>
          </a:prstGeom>
          <a:solidFill>
            <a:srgbClr val="FF99CC"/>
          </a:solidFill>
          <a:ln w="12700">
            <a:solidFill>
              <a:srgbClr val="000000"/>
            </a:solidFill>
            <a:miter/>
          </a:ln>
        </p:spPr>
        <p:txBody>
          <a:bodyPr lIns="45719" rIns="45719" anchor="ctr"/>
          <a:lstStyle/>
          <a:p>
            <a:pPr>
              <a:defRPr sz="1600"/>
            </a:pPr>
            <a:endParaRPr sz="1600"/>
          </a:p>
        </p:txBody>
      </p:sp>
      <p:sp>
        <p:nvSpPr>
          <p:cNvPr id="503" name="Rectangle 18"/>
          <p:cNvSpPr/>
          <p:nvPr/>
        </p:nvSpPr>
        <p:spPr>
          <a:xfrm>
            <a:off x="7459663" y="4337050"/>
            <a:ext cx="609601" cy="533400"/>
          </a:xfrm>
          <a:prstGeom prst="rect">
            <a:avLst/>
          </a:prstGeom>
          <a:solidFill>
            <a:srgbClr val="FF99CC"/>
          </a:solidFill>
          <a:ln w="12700">
            <a:solidFill>
              <a:srgbClr val="000000"/>
            </a:solidFill>
            <a:miter/>
          </a:ln>
        </p:spPr>
        <p:txBody>
          <a:bodyPr lIns="45719" rIns="45719" anchor="ctr"/>
          <a:lstStyle/>
          <a:p/>
        </p:txBody>
      </p:sp>
      <p:sp>
        <p:nvSpPr>
          <p:cNvPr id="504" name="Rectangle 19"/>
          <p:cNvSpPr/>
          <p:nvPr/>
        </p:nvSpPr>
        <p:spPr>
          <a:xfrm>
            <a:off x="8069264" y="4337050"/>
            <a:ext cx="609601" cy="533400"/>
          </a:xfrm>
          <a:prstGeom prst="rect">
            <a:avLst/>
          </a:prstGeom>
          <a:solidFill>
            <a:srgbClr val="FF99CC"/>
          </a:solidFill>
          <a:ln w="12700">
            <a:solidFill>
              <a:srgbClr val="000000"/>
            </a:solidFill>
            <a:miter/>
          </a:ln>
        </p:spPr>
        <p:txBody>
          <a:bodyPr lIns="45719" rIns="45719" anchor="ctr"/>
          <a:lstStyle/>
          <a:p/>
        </p:txBody>
      </p:sp>
      <p:sp>
        <p:nvSpPr>
          <p:cNvPr id="505" name="Rectangle 20"/>
          <p:cNvSpPr/>
          <p:nvPr/>
        </p:nvSpPr>
        <p:spPr>
          <a:xfrm>
            <a:off x="6240463" y="4870450"/>
            <a:ext cx="609601" cy="533400"/>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506" name="Rectangle 21"/>
          <p:cNvSpPr/>
          <p:nvPr/>
        </p:nvSpPr>
        <p:spPr>
          <a:xfrm>
            <a:off x="6850063" y="48704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507" name="Rectangle 22"/>
          <p:cNvSpPr/>
          <p:nvPr/>
        </p:nvSpPr>
        <p:spPr>
          <a:xfrm>
            <a:off x="7459663" y="48704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508" name="Rectangle 23"/>
          <p:cNvSpPr/>
          <p:nvPr/>
        </p:nvSpPr>
        <p:spPr>
          <a:xfrm>
            <a:off x="8069264" y="4870450"/>
            <a:ext cx="609601" cy="533400"/>
          </a:xfrm>
          <a:prstGeom prst="rect">
            <a:avLst/>
          </a:prstGeom>
          <a:solidFill>
            <a:schemeClr val="accent3">
              <a:lumOff val="44000"/>
            </a:schemeClr>
          </a:solidFill>
          <a:ln w="12700">
            <a:solidFill>
              <a:srgbClr val="000000"/>
            </a:solidFill>
            <a:miter/>
          </a:ln>
        </p:spPr>
        <p:txBody>
          <a:bodyPr lIns="45719" rIns="45719" anchor="ctr"/>
          <a:lstStyle/>
          <a:p/>
        </p:txBody>
      </p:sp>
      <p:sp>
        <p:nvSpPr>
          <p:cNvPr id="509" name="Text Box 24"/>
          <p:cNvSpPr txBox="1"/>
          <p:nvPr/>
        </p:nvSpPr>
        <p:spPr>
          <a:xfrm>
            <a:off x="6438583" y="2948573"/>
            <a:ext cx="185305" cy="338554"/>
          </a:xfrm>
          <a:prstGeom prst="rect">
            <a:avLst/>
          </a:prstGeom>
          <a:ln w="12700">
            <a:miter lim="400000"/>
          </a:ln>
        </p:spPr>
        <p:txBody>
          <a:bodyPr wrap="none" lIns="45719" rIns="45719" anchor="ctr">
            <a:spAutoFit/>
          </a:bodyPr>
          <a:lstStyle>
            <a:lvl1pPr>
              <a:defRPr sz="1600"/>
            </a:lvl1pPr>
          </a:lstStyle>
          <a:p>
            <a:r>
              <a:t>0</a:t>
            </a:r>
          </a:p>
        </p:txBody>
      </p:sp>
      <p:sp>
        <p:nvSpPr>
          <p:cNvPr id="510" name="Text Box 25"/>
          <p:cNvSpPr txBox="1"/>
          <p:nvPr/>
        </p:nvSpPr>
        <p:spPr>
          <a:xfrm>
            <a:off x="7048183" y="2964448"/>
            <a:ext cx="185305" cy="338554"/>
          </a:xfrm>
          <a:prstGeom prst="rect">
            <a:avLst/>
          </a:prstGeom>
          <a:ln w="12700">
            <a:miter lim="400000"/>
          </a:ln>
        </p:spPr>
        <p:txBody>
          <a:bodyPr wrap="none" lIns="45719" rIns="45719" anchor="ctr">
            <a:spAutoFit/>
          </a:bodyPr>
          <a:lstStyle>
            <a:lvl1pPr>
              <a:defRPr sz="1600"/>
            </a:lvl1pPr>
          </a:lstStyle>
          <a:p>
            <a:r>
              <a:t>1</a:t>
            </a:r>
          </a:p>
        </p:txBody>
      </p:sp>
      <p:sp>
        <p:nvSpPr>
          <p:cNvPr id="511" name="Text Box 26"/>
          <p:cNvSpPr txBox="1"/>
          <p:nvPr/>
        </p:nvSpPr>
        <p:spPr>
          <a:xfrm>
            <a:off x="7665720" y="2964448"/>
            <a:ext cx="185305" cy="338554"/>
          </a:xfrm>
          <a:prstGeom prst="rect">
            <a:avLst/>
          </a:prstGeom>
          <a:ln w="12700">
            <a:miter lim="400000"/>
          </a:ln>
        </p:spPr>
        <p:txBody>
          <a:bodyPr wrap="none" lIns="45719" rIns="45719" anchor="ctr">
            <a:spAutoFit/>
          </a:bodyPr>
          <a:lstStyle>
            <a:lvl1pPr>
              <a:defRPr sz="1600"/>
            </a:lvl1pPr>
          </a:lstStyle>
          <a:p>
            <a:r>
              <a:t>2</a:t>
            </a:r>
          </a:p>
        </p:txBody>
      </p:sp>
      <p:sp>
        <p:nvSpPr>
          <p:cNvPr id="512" name="Text Box 27"/>
          <p:cNvSpPr txBox="1"/>
          <p:nvPr/>
        </p:nvSpPr>
        <p:spPr>
          <a:xfrm>
            <a:off x="8275320" y="2964448"/>
            <a:ext cx="185305" cy="338554"/>
          </a:xfrm>
          <a:prstGeom prst="rect">
            <a:avLst/>
          </a:prstGeom>
          <a:ln w="12700">
            <a:miter lim="400000"/>
          </a:ln>
        </p:spPr>
        <p:txBody>
          <a:bodyPr wrap="none" lIns="45719" rIns="45719" anchor="ctr">
            <a:spAutoFit/>
          </a:bodyPr>
          <a:lstStyle>
            <a:lvl1pPr>
              <a:defRPr sz="1600"/>
            </a:lvl1pPr>
          </a:lstStyle>
          <a:p>
            <a:r>
              <a:t>3</a:t>
            </a:r>
          </a:p>
        </p:txBody>
      </p:sp>
      <p:sp>
        <p:nvSpPr>
          <p:cNvPr id="513" name="Text Box 28"/>
          <p:cNvSpPr txBox="1"/>
          <p:nvPr/>
        </p:nvSpPr>
        <p:spPr>
          <a:xfrm>
            <a:off x="5981383" y="3389898"/>
            <a:ext cx="185305" cy="338554"/>
          </a:xfrm>
          <a:prstGeom prst="rect">
            <a:avLst/>
          </a:prstGeom>
          <a:ln w="12700">
            <a:miter lim="400000"/>
          </a:ln>
        </p:spPr>
        <p:txBody>
          <a:bodyPr wrap="none" lIns="45719" rIns="45719" anchor="ctr">
            <a:spAutoFit/>
          </a:bodyPr>
          <a:lstStyle>
            <a:lvl1pPr>
              <a:defRPr sz="1600"/>
            </a:lvl1pPr>
          </a:lstStyle>
          <a:p>
            <a:r>
              <a:t>0</a:t>
            </a:r>
          </a:p>
        </p:txBody>
      </p:sp>
      <p:sp>
        <p:nvSpPr>
          <p:cNvPr id="514" name="Text Box 29"/>
          <p:cNvSpPr txBox="1"/>
          <p:nvPr/>
        </p:nvSpPr>
        <p:spPr>
          <a:xfrm>
            <a:off x="5981383" y="3923298"/>
            <a:ext cx="185305" cy="338554"/>
          </a:xfrm>
          <a:prstGeom prst="rect">
            <a:avLst/>
          </a:prstGeom>
          <a:ln w="12700">
            <a:miter lim="400000"/>
          </a:ln>
        </p:spPr>
        <p:txBody>
          <a:bodyPr wrap="none" lIns="45719" rIns="45719" anchor="ctr">
            <a:spAutoFit/>
          </a:bodyPr>
          <a:lstStyle>
            <a:lvl1pPr>
              <a:defRPr sz="1600"/>
            </a:lvl1pPr>
          </a:lstStyle>
          <a:p>
            <a:r>
              <a:t>1</a:t>
            </a:r>
          </a:p>
        </p:txBody>
      </p:sp>
      <p:sp>
        <p:nvSpPr>
          <p:cNvPr id="515" name="Text Box 30"/>
          <p:cNvSpPr txBox="1"/>
          <p:nvPr/>
        </p:nvSpPr>
        <p:spPr>
          <a:xfrm>
            <a:off x="5981383" y="4456698"/>
            <a:ext cx="185305" cy="338554"/>
          </a:xfrm>
          <a:prstGeom prst="rect">
            <a:avLst/>
          </a:prstGeom>
          <a:ln w="12700">
            <a:miter lim="400000"/>
          </a:ln>
        </p:spPr>
        <p:txBody>
          <a:bodyPr wrap="none" lIns="45719" rIns="45719" anchor="ctr">
            <a:spAutoFit/>
          </a:bodyPr>
          <a:lstStyle>
            <a:lvl1pPr>
              <a:defRPr sz="1600"/>
            </a:lvl1pPr>
          </a:lstStyle>
          <a:p>
            <a:r>
              <a:t>2</a:t>
            </a:r>
          </a:p>
        </p:txBody>
      </p:sp>
      <p:sp>
        <p:nvSpPr>
          <p:cNvPr id="516" name="Text Box 31"/>
          <p:cNvSpPr txBox="1"/>
          <p:nvPr/>
        </p:nvSpPr>
        <p:spPr>
          <a:xfrm>
            <a:off x="5981383" y="4990098"/>
            <a:ext cx="185305" cy="338554"/>
          </a:xfrm>
          <a:prstGeom prst="rect">
            <a:avLst/>
          </a:prstGeom>
          <a:ln w="12700">
            <a:miter lim="400000"/>
          </a:ln>
        </p:spPr>
        <p:txBody>
          <a:bodyPr wrap="none" lIns="45719" rIns="45719" anchor="ctr">
            <a:spAutoFit/>
          </a:bodyPr>
          <a:lstStyle>
            <a:lvl1pPr>
              <a:defRPr sz="1600"/>
            </a:lvl1pPr>
          </a:lstStyle>
          <a:p>
            <a:r>
              <a:t>3</a:t>
            </a:r>
          </a:p>
        </p:txBody>
      </p:sp>
      <p:sp>
        <p:nvSpPr>
          <p:cNvPr id="517" name="Rectangle 32"/>
          <p:cNvSpPr/>
          <p:nvPr/>
        </p:nvSpPr>
        <p:spPr>
          <a:xfrm>
            <a:off x="6237288" y="3270250"/>
            <a:ext cx="2438401" cy="2133600"/>
          </a:xfrm>
          <a:prstGeom prst="rect">
            <a:avLst/>
          </a:prstGeom>
          <a:ln w="38100">
            <a:solidFill>
              <a:srgbClr val="000000"/>
            </a:solidFill>
            <a:miter/>
          </a:ln>
        </p:spPr>
        <p:txBody>
          <a:bodyPr lIns="45719" rIns="45719" anchor="ctr"/>
          <a:lstStyle/>
          <a:p/>
        </p:txBody>
      </p:sp>
      <p:sp>
        <p:nvSpPr>
          <p:cNvPr id="518" name="Rectangle 35"/>
          <p:cNvSpPr/>
          <p:nvPr/>
        </p:nvSpPr>
        <p:spPr>
          <a:xfrm>
            <a:off x="7456488" y="5699125"/>
            <a:ext cx="609601" cy="533400"/>
          </a:xfrm>
          <a:prstGeom prst="rect">
            <a:avLst/>
          </a:prstGeom>
          <a:solidFill>
            <a:srgbClr val="FF99CC"/>
          </a:solidFill>
          <a:ln w="12700">
            <a:solidFill>
              <a:srgbClr val="000000"/>
            </a:solidFill>
            <a:miter/>
          </a:ln>
        </p:spPr>
        <p:txBody>
          <a:bodyPr lIns="45719" rIns="45719" anchor="ctr"/>
          <a:lstStyle/>
          <a:p/>
        </p:txBody>
      </p:sp>
      <p:sp>
        <p:nvSpPr>
          <p:cNvPr id="519" name="Rectangle 36"/>
          <p:cNvSpPr/>
          <p:nvPr/>
        </p:nvSpPr>
        <p:spPr>
          <a:xfrm>
            <a:off x="8066089" y="5699125"/>
            <a:ext cx="609601" cy="533400"/>
          </a:xfrm>
          <a:prstGeom prst="rect">
            <a:avLst/>
          </a:prstGeom>
          <a:solidFill>
            <a:srgbClr val="FF99CC"/>
          </a:solidFill>
          <a:ln w="12700">
            <a:solidFill>
              <a:srgbClr val="000000"/>
            </a:solidFill>
            <a:miter/>
          </a:ln>
        </p:spPr>
        <p:txBody>
          <a:bodyPr lIns="45719" rIns="45719" anchor="ctr"/>
          <a:lstStyle/>
          <a:p/>
        </p:txBody>
      </p:sp>
      <p:sp>
        <p:nvSpPr>
          <p:cNvPr id="520" name="Text Box 38"/>
          <p:cNvSpPr txBox="1"/>
          <p:nvPr/>
        </p:nvSpPr>
        <p:spPr>
          <a:xfrm>
            <a:off x="6723741" y="6301374"/>
            <a:ext cx="1567094" cy="338554"/>
          </a:xfrm>
          <a:prstGeom prst="rect">
            <a:avLst/>
          </a:prstGeom>
          <a:ln w="12700">
            <a:miter lim="400000"/>
          </a:ln>
        </p:spPr>
        <p:txBody>
          <a:bodyPr wrap="none" lIns="45719" rIns="45719" anchor="ctr">
            <a:spAutoFit/>
          </a:bodyPr>
          <a:lstStyle>
            <a:lvl1pPr algn="ctr">
              <a:defRPr sz="1600"/>
            </a:lvl1pPr>
          </a:lstStyle>
          <a:p>
            <a:r>
              <a:t>Internal row buffer</a:t>
            </a:r>
          </a:p>
        </p:txBody>
      </p:sp>
      <p:sp>
        <p:nvSpPr>
          <p:cNvPr id="521" name="Rectangle 39"/>
          <p:cNvSpPr/>
          <p:nvPr/>
        </p:nvSpPr>
        <p:spPr>
          <a:xfrm>
            <a:off x="5402263" y="2676525"/>
            <a:ext cx="3644901" cy="4038600"/>
          </a:xfrm>
          <a:prstGeom prst="rect">
            <a:avLst/>
          </a:prstGeom>
          <a:ln w="12700">
            <a:solidFill>
              <a:srgbClr val="000000"/>
            </a:solidFill>
            <a:prstDash val="dash"/>
            <a:miter/>
          </a:ln>
        </p:spPr>
        <p:txBody>
          <a:bodyPr lIns="45719" rIns="45719" anchor="ctr"/>
          <a:lstStyle/>
          <a:p/>
        </p:txBody>
      </p:sp>
      <p:sp>
        <p:nvSpPr>
          <p:cNvPr id="522" name="Text Box 40"/>
          <p:cNvSpPr txBox="1"/>
          <p:nvPr/>
        </p:nvSpPr>
        <p:spPr>
          <a:xfrm>
            <a:off x="5328919" y="2354848"/>
            <a:ext cx="1499768" cy="338554"/>
          </a:xfrm>
          <a:prstGeom prst="rect">
            <a:avLst/>
          </a:prstGeom>
          <a:ln w="12700">
            <a:miter lim="400000"/>
          </a:ln>
        </p:spPr>
        <p:txBody>
          <a:bodyPr wrap="none" lIns="45719" rIns="45719" anchor="ctr">
            <a:spAutoFit/>
          </a:bodyPr>
          <a:lstStyle>
            <a:lvl1pPr>
              <a:defRPr sz="1600"/>
            </a:lvl1pPr>
          </a:lstStyle>
          <a:p>
            <a:r>
              <a:t>16 x 8 DRAM chip</a:t>
            </a:r>
          </a:p>
        </p:txBody>
      </p:sp>
      <p:sp>
        <p:nvSpPr>
          <p:cNvPr id="523" name="Text Box 42"/>
          <p:cNvSpPr txBox="1"/>
          <p:nvPr/>
        </p:nvSpPr>
        <p:spPr>
          <a:xfrm>
            <a:off x="4347845" y="3085098"/>
            <a:ext cx="956350" cy="338554"/>
          </a:xfrm>
          <a:prstGeom prst="rect">
            <a:avLst/>
          </a:prstGeom>
          <a:ln w="12700">
            <a:miter lim="400000"/>
          </a:ln>
        </p:spPr>
        <p:txBody>
          <a:bodyPr wrap="none" lIns="45719" rIns="45719" anchor="ctr">
            <a:spAutoFit/>
          </a:bodyPr>
          <a:lstStyle>
            <a:lvl1pPr>
              <a:defRPr sz="1600">
                <a:solidFill>
                  <a:srgbClr val="FF0000"/>
                </a:solidFill>
                <a:latin typeface="Courier New" panose="02070609020205020404"/>
                <a:ea typeface="Courier New" panose="02070609020205020404"/>
                <a:cs typeface="Courier New" panose="02070609020205020404"/>
                <a:sym typeface="Courier New" panose="02070609020205020404"/>
              </a:defRPr>
            </a:lvl1pPr>
          </a:lstStyle>
          <a:p>
            <a:r>
              <a:t>CAS = 1</a:t>
            </a:r>
          </a:p>
        </p:txBody>
      </p:sp>
      <p:sp>
        <p:nvSpPr>
          <p:cNvPr id="524" name="Line 43"/>
          <p:cNvSpPr/>
          <p:nvPr/>
        </p:nvSpPr>
        <p:spPr>
          <a:xfrm flipV="1">
            <a:off x="4221164" y="3635374"/>
            <a:ext cx="1143001" cy="15876"/>
          </a:xfrm>
          <a:prstGeom prst="line">
            <a:avLst/>
          </a:prstGeom>
          <a:ln w="38100">
            <a:solidFill>
              <a:srgbClr val="000000"/>
            </a:solidFill>
            <a:tailEnd type="triangle"/>
          </a:ln>
        </p:spPr>
        <p:txBody>
          <a:bodyPr lIns="45719" rIns="45719"/>
          <a:lstStyle/>
          <a:p/>
        </p:txBody>
      </p:sp>
      <p:sp>
        <p:nvSpPr>
          <p:cNvPr id="525" name="Text Box 44"/>
          <p:cNvSpPr txBox="1"/>
          <p:nvPr/>
        </p:nvSpPr>
        <p:spPr>
          <a:xfrm>
            <a:off x="4541519" y="3694698"/>
            <a:ext cx="586056" cy="338554"/>
          </a:xfrm>
          <a:prstGeom prst="rect">
            <a:avLst/>
          </a:prstGeom>
          <a:ln w="12700">
            <a:miter lim="400000"/>
          </a:ln>
        </p:spPr>
        <p:txBody>
          <a:bodyPr wrap="none" lIns="45719" rIns="45719" anchor="ctr">
            <a:spAutoFit/>
          </a:bodyPr>
          <a:lstStyle>
            <a:lvl1pPr>
              <a:defRPr sz="1600">
                <a:latin typeface="Courier New" panose="02070609020205020404"/>
                <a:ea typeface="Courier New" panose="02070609020205020404"/>
                <a:cs typeface="Courier New" panose="02070609020205020404"/>
                <a:sym typeface="Courier New" panose="02070609020205020404"/>
              </a:defRPr>
            </a:lvl1pPr>
          </a:lstStyle>
          <a:p>
            <a:r>
              <a:t>addr</a:t>
            </a:r>
          </a:p>
        </p:txBody>
      </p:sp>
      <p:sp>
        <p:nvSpPr>
          <p:cNvPr id="526" name="Line 45"/>
          <p:cNvSpPr/>
          <p:nvPr/>
        </p:nvSpPr>
        <p:spPr>
          <a:xfrm>
            <a:off x="4221164" y="5403850"/>
            <a:ext cx="1143001" cy="0"/>
          </a:xfrm>
          <a:prstGeom prst="line">
            <a:avLst/>
          </a:prstGeom>
          <a:ln w="38100">
            <a:solidFill>
              <a:srgbClr val="000000"/>
            </a:solidFill>
            <a:headEnd type="triangle"/>
            <a:tailEnd type="triangle"/>
          </a:ln>
        </p:spPr>
        <p:txBody>
          <a:bodyPr lIns="45719" rIns="45719"/>
          <a:lstStyle/>
          <a:p/>
        </p:txBody>
      </p:sp>
      <p:sp>
        <p:nvSpPr>
          <p:cNvPr id="527" name="Text Box 46"/>
          <p:cNvSpPr txBox="1"/>
          <p:nvPr/>
        </p:nvSpPr>
        <p:spPr>
          <a:xfrm>
            <a:off x="4509769" y="5447298"/>
            <a:ext cx="586056" cy="338554"/>
          </a:xfrm>
          <a:prstGeom prst="rect">
            <a:avLst/>
          </a:prstGeom>
          <a:ln w="12700">
            <a:miter lim="400000"/>
          </a:ln>
        </p:spPr>
        <p:txBody>
          <a:bodyPr wrap="none" lIns="45719" rIns="45719" anchor="ctr">
            <a:spAutoFit/>
          </a:bodyPr>
          <a:lstStyle>
            <a:lvl1pPr>
              <a:defRPr sz="1600">
                <a:latin typeface="Courier New" panose="02070609020205020404"/>
                <a:ea typeface="Courier New" panose="02070609020205020404"/>
                <a:cs typeface="Courier New" panose="02070609020205020404"/>
                <a:sym typeface="Courier New" panose="02070609020205020404"/>
              </a:defRPr>
            </a:lvl1pPr>
          </a:lstStyle>
          <a:p>
            <a:r>
              <a:t>data</a:t>
            </a:r>
          </a:p>
        </p:txBody>
      </p:sp>
      <p:sp>
        <p:nvSpPr>
          <p:cNvPr id="528" name="Text Box 47"/>
          <p:cNvSpPr txBox="1"/>
          <p:nvPr/>
        </p:nvSpPr>
        <p:spPr>
          <a:xfrm>
            <a:off x="4717734" y="3314056"/>
            <a:ext cx="162863" cy="461665"/>
          </a:xfrm>
          <a:prstGeom prst="rect">
            <a:avLst/>
          </a:prstGeom>
          <a:ln w="12700">
            <a:miter lim="400000"/>
          </a:ln>
        </p:spPr>
        <p:txBody>
          <a:bodyPr wrap="none" lIns="45719" rIns="45719" anchor="ctr">
            <a:spAutoFit/>
          </a:bodyPr>
          <a:lstStyle/>
          <a:p>
            <a:pPr>
              <a:defRPr sz="1200"/>
            </a:pPr>
            <a:r>
              <a:rPr sz="1200"/>
              <a:t>2</a:t>
            </a:r>
            <a:endParaRPr sz="1200"/>
          </a:p>
          <a:p>
            <a:pPr>
              <a:defRPr sz="1200"/>
            </a:pPr>
            <a:r>
              <a:rPr sz="1200"/>
              <a:t>/</a:t>
            </a:r>
            <a:endParaRPr sz="1200"/>
          </a:p>
        </p:txBody>
      </p:sp>
      <p:sp>
        <p:nvSpPr>
          <p:cNvPr id="529" name="Text Box 48"/>
          <p:cNvSpPr txBox="1"/>
          <p:nvPr/>
        </p:nvSpPr>
        <p:spPr>
          <a:xfrm>
            <a:off x="4724084" y="5096818"/>
            <a:ext cx="162863" cy="461665"/>
          </a:xfrm>
          <a:prstGeom prst="rect">
            <a:avLst/>
          </a:prstGeom>
          <a:ln w="12700">
            <a:miter lim="400000"/>
          </a:ln>
        </p:spPr>
        <p:txBody>
          <a:bodyPr wrap="none" lIns="45719" rIns="45719" anchor="ctr">
            <a:spAutoFit/>
          </a:bodyPr>
          <a:lstStyle/>
          <a:p>
            <a:pPr>
              <a:defRPr sz="1200"/>
            </a:pPr>
            <a:r>
              <a:rPr sz="1200"/>
              <a:t>8</a:t>
            </a:r>
            <a:endParaRPr sz="1200"/>
          </a:p>
          <a:p>
            <a:pPr>
              <a:defRPr sz="1200"/>
            </a:pPr>
            <a:r>
              <a:rPr sz="1200"/>
              <a:t>/</a:t>
            </a:r>
            <a:endParaRPr sz="1200"/>
          </a:p>
        </p:txBody>
      </p:sp>
      <p:grpSp>
        <p:nvGrpSpPr>
          <p:cNvPr id="532" name="Rectangle 49"/>
          <p:cNvGrpSpPr/>
          <p:nvPr/>
        </p:nvGrpSpPr>
        <p:grpSpPr>
          <a:xfrm>
            <a:off x="3078163" y="2965450"/>
            <a:ext cx="1143001" cy="3200400"/>
            <a:chOff x="0" y="0"/>
            <a:chExt cx="1143000" cy="3200400"/>
          </a:xfrm>
        </p:grpSpPr>
        <p:sp>
          <p:nvSpPr>
            <p:cNvPr id="530" name="Rectangle"/>
            <p:cNvSpPr/>
            <p:nvPr/>
          </p:nvSpPr>
          <p:spPr>
            <a:xfrm>
              <a:off x="0" y="0"/>
              <a:ext cx="1143000" cy="3200400"/>
            </a:xfrm>
            <a:prstGeom prst="rect">
              <a:avLst/>
            </a:prstGeom>
            <a:solidFill>
              <a:schemeClr val="accent3">
                <a:lumOff val="44000"/>
              </a:schemeClr>
            </a:solidFill>
            <a:ln w="12700" cap="flat">
              <a:solidFill>
                <a:srgbClr val="000000"/>
              </a:solidFill>
              <a:prstDash val="solid"/>
              <a:miter lim="800000"/>
            </a:ln>
            <a:effectLst/>
          </p:spPr>
          <p:txBody>
            <a:bodyPr wrap="square" lIns="45719" tIns="45719" rIns="45719" bIns="45719" numCol="1" anchor="ctr">
              <a:noAutofit/>
            </a:bodyPr>
            <a:lstStyle/>
            <a:p/>
          </p:txBody>
        </p:sp>
        <p:sp>
          <p:nvSpPr>
            <p:cNvPr id="531" name="Memory…"/>
            <p:cNvSpPr txBox="1"/>
            <p:nvPr/>
          </p:nvSpPr>
          <p:spPr>
            <a:xfrm>
              <a:off x="138209" y="1307813"/>
              <a:ext cx="866581" cy="584773"/>
            </a:xfrm>
            <a:prstGeom prst="rect">
              <a:avLst/>
            </a:prstGeom>
            <a:noFill/>
            <a:ln w="12700" cap="flat">
              <a:noFill/>
              <a:miter lim="400000"/>
            </a:ln>
            <a:effectLst/>
          </p:spPr>
          <p:txBody>
            <a:bodyPr wrap="none" lIns="45719" tIns="45719" rIns="45719" bIns="45719" numCol="1" anchor="ctr">
              <a:spAutoFit/>
            </a:bodyPr>
            <a:lstStyle/>
            <a:p>
              <a:pPr algn="ctr">
                <a:defRPr sz="1600"/>
              </a:pPr>
              <a:r>
                <a:rPr sz="1600"/>
                <a:t>Memory</a:t>
              </a:r>
              <a:endParaRPr sz="1600"/>
            </a:p>
            <a:p>
              <a:pPr>
                <a:defRPr sz="1600"/>
              </a:pPr>
              <a:r>
                <a:rPr sz="1600"/>
                <a:t>controller</a:t>
              </a:r>
              <a:endParaRPr sz="1600"/>
            </a:p>
          </p:txBody>
        </p:sp>
      </p:grpSp>
      <p:sp>
        <p:nvSpPr>
          <p:cNvPr id="533" name="Rectangle 33"/>
          <p:cNvSpPr/>
          <p:nvPr/>
        </p:nvSpPr>
        <p:spPr>
          <a:xfrm>
            <a:off x="6237288" y="5699125"/>
            <a:ext cx="609601" cy="533400"/>
          </a:xfrm>
          <a:prstGeom prst="rect">
            <a:avLst/>
          </a:prstGeom>
          <a:solidFill>
            <a:srgbClr val="FF99CC"/>
          </a:solidFill>
          <a:ln w="12700">
            <a:solidFill>
              <a:srgbClr val="000000"/>
            </a:solidFill>
            <a:miter/>
          </a:ln>
        </p:spPr>
        <p:txBody>
          <a:bodyPr lIns="45719" rIns="45719" anchor="ctr"/>
          <a:lstStyle/>
          <a:p>
            <a:pPr>
              <a:defRPr sz="1600"/>
            </a:pPr>
            <a:endParaRPr sz="1600"/>
          </a:p>
        </p:txBody>
      </p:sp>
      <p:sp>
        <p:nvSpPr>
          <p:cNvPr id="534" name="Rectangle 54"/>
          <p:cNvSpPr/>
          <p:nvPr/>
        </p:nvSpPr>
        <p:spPr>
          <a:xfrm>
            <a:off x="6846888" y="5689600"/>
            <a:ext cx="609601" cy="533400"/>
          </a:xfrm>
          <a:prstGeom prst="rect">
            <a:avLst/>
          </a:prstGeom>
          <a:solidFill>
            <a:srgbClr val="FF99CC"/>
          </a:solidFill>
          <a:ln w="12700">
            <a:solidFill>
              <a:srgbClr val="000000"/>
            </a:solidFill>
            <a:miter/>
          </a:ln>
        </p:spPr>
        <p:txBody>
          <a:bodyPr lIns="45719" rIns="45719" anchor="ctr"/>
          <a:lstStyle/>
          <a:p>
            <a:pPr>
              <a:defRPr sz="1600"/>
            </a:pPr>
            <a:endParaRPr sz="1600"/>
          </a:p>
        </p:txBody>
      </p:sp>
      <p:sp>
        <p:nvSpPr>
          <p:cNvPr id="535" name="Rectangle 34"/>
          <p:cNvSpPr/>
          <p:nvPr/>
        </p:nvSpPr>
        <p:spPr>
          <a:xfrm>
            <a:off x="6835775" y="5708650"/>
            <a:ext cx="609600" cy="533400"/>
          </a:xfrm>
          <a:prstGeom prst="rect">
            <a:avLst/>
          </a:prstGeom>
          <a:solidFill>
            <a:srgbClr val="00FFFF"/>
          </a:solidFill>
          <a:ln w="12700">
            <a:solidFill>
              <a:srgbClr val="000000"/>
            </a:solidFill>
            <a:miter/>
          </a:ln>
        </p:spPr>
        <p:txBody>
          <a:bodyPr lIns="45719" rIns="45719" anchor="ctr"/>
          <a:lstStyle/>
          <a:p>
            <a:pPr>
              <a:defRPr sz="1600"/>
            </a:pPr>
            <a:endParaRPr sz="1600"/>
          </a:p>
        </p:txBody>
      </p:sp>
      <p:sp>
        <p:nvSpPr>
          <p:cNvPr id="536" name="Rectangle 37"/>
          <p:cNvSpPr/>
          <p:nvPr/>
        </p:nvSpPr>
        <p:spPr>
          <a:xfrm>
            <a:off x="6227763" y="5697538"/>
            <a:ext cx="2438401" cy="533401"/>
          </a:xfrm>
          <a:prstGeom prst="rect">
            <a:avLst/>
          </a:prstGeom>
          <a:ln w="38100">
            <a:solidFill>
              <a:srgbClr val="000000"/>
            </a:solidFill>
            <a:miter/>
          </a:ln>
        </p:spPr>
        <p:txBody>
          <a:bodyPr lIns="45719" rIns="45719" anchor="ctr"/>
          <a:lstStyle/>
          <a:p/>
        </p:txBody>
      </p:sp>
      <p:sp>
        <p:nvSpPr>
          <p:cNvPr id="537" name="AutoShape 41"/>
          <p:cNvSpPr/>
          <p:nvPr/>
        </p:nvSpPr>
        <p:spPr>
          <a:xfrm rot="6382932">
            <a:off x="6029327" y="4778375"/>
            <a:ext cx="304801" cy="1724027"/>
          </a:xfrm>
          <a:custGeom>
            <a:avLst/>
            <a:gdLst/>
            <a:ahLst/>
            <a:cxnLst>
              <a:cxn ang="0">
                <a:pos x="wd2" y="hd2"/>
              </a:cxn>
              <a:cxn ang="5400000">
                <a:pos x="wd2" y="hd2"/>
              </a:cxn>
              <a:cxn ang="10800000">
                <a:pos x="wd2" y="hd2"/>
              </a:cxn>
              <a:cxn ang="16200000">
                <a:pos x="wd2" y="hd2"/>
              </a:cxn>
            </a:cxnLst>
            <a:rect l="0" t="0" r="r" b="b"/>
            <a:pathLst>
              <a:path w="21600" h="21600" extrusionOk="0">
                <a:moveTo>
                  <a:pt x="0" y="17679"/>
                </a:moveTo>
                <a:lnTo>
                  <a:pt x="4500" y="17679"/>
                </a:lnTo>
                <a:lnTo>
                  <a:pt x="4500" y="0"/>
                </a:lnTo>
                <a:lnTo>
                  <a:pt x="17100" y="0"/>
                </a:lnTo>
                <a:lnTo>
                  <a:pt x="17100" y="17679"/>
                </a:lnTo>
                <a:lnTo>
                  <a:pt x="21600" y="17679"/>
                </a:lnTo>
                <a:lnTo>
                  <a:pt x="10800" y="21600"/>
                </a:lnTo>
                <a:close/>
              </a:path>
            </a:pathLst>
          </a:custGeom>
          <a:solidFill>
            <a:schemeClr val="accent3">
              <a:lumOff val="44000"/>
            </a:schemeClr>
          </a:solidFill>
          <a:ln w="12700">
            <a:solidFill>
              <a:srgbClr val="000000"/>
            </a:solidFill>
            <a:miter/>
          </a:ln>
        </p:spPr>
        <p:txBody>
          <a:bodyPr lIns="45719" rIns="45719" anchor="ctr"/>
          <a:lstStyle/>
          <a:p/>
        </p:txBody>
      </p:sp>
      <p:grpSp>
        <p:nvGrpSpPr>
          <p:cNvPr id="540" name="Group 57"/>
          <p:cNvGrpSpPr/>
          <p:nvPr/>
        </p:nvGrpSpPr>
        <p:grpSpPr>
          <a:xfrm>
            <a:off x="4401403" y="5748341"/>
            <a:ext cx="874596" cy="1021050"/>
            <a:chOff x="3810" y="0"/>
            <a:chExt cx="874594" cy="1021049"/>
          </a:xfrm>
        </p:grpSpPr>
        <p:sp>
          <p:nvSpPr>
            <p:cNvPr id="538" name="Text Box 5"/>
            <p:cNvSpPr txBox="1"/>
            <p:nvPr/>
          </p:nvSpPr>
          <p:spPr>
            <a:xfrm>
              <a:off x="3810" y="436277"/>
              <a:ext cx="874594" cy="584772"/>
            </a:xfrm>
            <a:prstGeom prst="rect">
              <a:avLst/>
            </a:prstGeom>
            <a:noFill/>
            <a:ln w="12700" cap="flat">
              <a:noFill/>
              <a:miter lim="400000"/>
            </a:ln>
            <a:effectLst/>
          </p:spPr>
          <p:txBody>
            <a:bodyPr wrap="none" lIns="45719" tIns="45719" rIns="45719" bIns="45719" numCol="1" anchor="ctr">
              <a:spAutoFit/>
            </a:bodyPr>
            <a:lstStyle/>
            <a:p>
              <a:pPr algn="ctr">
                <a:defRPr sz="1600">
                  <a:solidFill>
                    <a:srgbClr val="FF0000"/>
                  </a:solidFill>
                </a:defRPr>
              </a:pPr>
              <a:r>
                <a:rPr sz="1600"/>
                <a:t>supercell </a:t>
              </a:r>
              <a:endParaRPr sz="1600"/>
            </a:p>
            <a:p>
              <a:pPr algn="ctr">
                <a:defRPr sz="1600">
                  <a:solidFill>
                    <a:srgbClr val="FF0000"/>
                  </a:solidFill>
                </a:defRPr>
              </a:pPr>
              <a:r>
                <a:rPr sz="1600"/>
                <a:t>(2,1)</a:t>
              </a:r>
              <a:endParaRPr sz="1600"/>
            </a:p>
          </p:txBody>
        </p:sp>
        <p:sp>
          <p:nvSpPr>
            <p:cNvPr id="539" name="Rectangle 55"/>
            <p:cNvSpPr/>
            <p:nvPr/>
          </p:nvSpPr>
          <p:spPr>
            <a:xfrm>
              <a:off x="80744" y="0"/>
              <a:ext cx="609601" cy="533400"/>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a:pPr>
                <a:defRPr sz="1600"/>
              </a:pPr>
              <a:endParaRPr sz="1600"/>
            </a:p>
          </p:txBody>
        </p:sp>
      </p:grpSp>
      <p:grpSp>
        <p:nvGrpSpPr>
          <p:cNvPr id="546" name="Group 56"/>
          <p:cNvGrpSpPr/>
          <p:nvPr/>
        </p:nvGrpSpPr>
        <p:grpSpPr>
          <a:xfrm>
            <a:off x="1939925" y="3886199"/>
            <a:ext cx="1122285" cy="1603668"/>
            <a:chOff x="0" y="0"/>
            <a:chExt cx="1122284" cy="1603666"/>
          </a:xfrm>
        </p:grpSpPr>
        <p:grpSp>
          <p:nvGrpSpPr>
            <p:cNvPr id="543" name="Group 58"/>
            <p:cNvGrpSpPr/>
            <p:nvPr/>
          </p:nvGrpSpPr>
          <p:grpSpPr>
            <a:xfrm>
              <a:off x="135790" y="582616"/>
              <a:ext cx="874595" cy="1021050"/>
              <a:chOff x="3810" y="0"/>
              <a:chExt cx="874593" cy="1021049"/>
            </a:xfrm>
          </p:grpSpPr>
          <p:sp>
            <p:nvSpPr>
              <p:cNvPr id="541" name="Text Box 59"/>
              <p:cNvSpPr txBox="1"/>
              <p:nvPr/>
            </p:nvSpPr>
            <p:spPr>
              <a:xfrm>
                <a:off x="3810" y="436277"/>
                <a:ext cx="874593" cy="584772"/>
              </a:xfrm>
              <a:prstGeom prst="rect">
                <a:avLst/>
              </a:prstGeom>
              <a:noFill/>
              <a:ln w="12700" cap="flat">
                <a:noFill/>
                <a:miter lim="400000"/>
              </a:ln>
              <a:effectLst/>
            </p:spPr>
            <p:txBody>
              <a:bodyPr wrap="none" lIns="45719" tIns="45719" rIns="45719" bIns="45719" numCol="1" anchor="ctr">
                <a:spAutoFit/>
              </a:bodyPr>
              <a:lstStyle/>
              <a:p>
                <a:pPr algn="ctr">
                  <a:defRPr sz="1600">
                    <a:solidFill>
                      <a:srgbClr val="FF0000"/>
                    </a:solidFill>
                  </a:defRPr>
                </a:pPr>
                <a:r>
                  <a:rPr sz="1600"/>
                  <a:t>supercell </a:t>
                </a:r>
                <a:endParaRPr sz="1600"/>
              </a:p>
              <a:p>
                <a:pPr algn="ctr">
                  <a:defRPr sz="1600">
                    <a:solidFill>
                      <a:srgbClr val="FF0000"/>
                    </a:solidFill>
                  </a:defRPr>
                </a:pPr>
                <a:r>
                  <a:rPr sz="1600"/>
                  <a:t>(2,1)</a:t>
                </a:r>
                <a:endParaRPr sz="1600"/>
              </a:p>
            </p:txBody>
          </p:sp>
          <p:sp>
            <p:nvSpPr>
              <p:cNvPr id="542" name="Rectangle 60"/>
              <p:cNvSpPr/>
              <p:nvPr/>
            </p:nvSpPr>
            <p:spPr>
              <a:xfrm>
                <a:off x="80744" y="0"/>
                <a:ext cx="609601" cy="533400"/>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a:pPr algn="ctr">
                  <a:defRPr sz="1600"/>
                </a:pPr>
                <a:endParaRPr sz="1600"/>
              </a:p>
            </p:txBody>
          </p:sp>
        </p:grpSp>
        <p:sp>
          <p:nvSpPr>
            <p:cNvPr id="544" name="Line 61"/>
            <p:cNvSpPr/>
            <p:nvPr/>
          </p:nvSpPr>
          <p:spPr>
            <a:xfrm flipH="1" flipV="1">
              <a:off x="0" y="430213"/>
              <a:ext cx="1117601" cy="1"/>
            </a:xfrm>
            <a:prstGeom prst="line">
              <a:avLst/>
            </a:prstGeom>
            <a:noFill/>
            <a:ln w="19050" cap="flat">
              <a:solidFill>
                <a:srgbClr val="000000"/>
              </a:solidFill>
              <a:prstDash val="solid"/>
              <a:round/>
              <a:tailEnd type="triangle" w="med" len="med"/>
            </a:ln>
            <a:effectLst/>
          </p:spPr>
          <p:txBody>
            <a:bodyPr wrap="square" lIns="45719" tIns="45719" rIns="45719" bIns="45719" numCol="1" anchor="t">
              <a:noAutofit/>
            </a:bodyPr>
            <a:lstStyle/>
            <a:p/>
          </p:txBody>
        </p:sp>
        <p:sp>
          <p:nvSpPr>
            <p:cNvPr id="545" name="Text Box 62"/>
            <p:cNvSpPr txBox="1"/>
            <p:nvPr/>
          </p:nvSpPr>
          <p:spPr>
            <a:xfrm>
              <a:off x="119448" y="0"/>
              <a:ext cx="1002836" cy="400108"/>
            </a:xfrm>
            <a:prstGeom prst="rect">
              <a:avLst/>
            </a:prstGeom>
            <a:noFill/>
            <a:ln w="12700" cap="flat">
              <a:noFill/>
              <a:miter lim="400000"/>
            </a:ln>
            <a:effectLst/>
          </p:spPr>
          <p:txBody>
            <a:bodyPr wrap="none" lIns="45719" tIns="45719" rIns="45719" bIns="45719" numCol="1" anchor="t">
              <a:spAutoFit/>
            </a:bodyPr>
            <a:lstStyle>
              <a:lvl1pPr>
                <a:defRPr sz="2000"/>
              </a:lvl1pPr>
            </a:lstStyle>
            <a:p>
              <a:r>
                <a:t>To Cores</a:t>
              </a:r>
            </a:p>
          </p:txBody>
        </p:sp>
      </p:gr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5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indefinite" fill="hold"/>
                                        <p:tgtEl>
                                          <p:spTgt spid="5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indefinite" fill="hold"/>
                                        <p:tgtEl>
                                          <p:spTgt spid="5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indefinite" fill="hold"/>
                                        <p:tgtEl>
                                          <p:spTgt spid="5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indefinite" fill="hold"/>
                                        <p:tgtEl>
                                          <p:spTgt spid="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 grpId="0" animBg="1" advAuto="0"/>
      <p:bldP spid="535" grpId="0" animBg="1" advAuto="0"/>
      <p:bldP spid="537" grpId="0" animBg="1" advAuto="0"/>
      <p:bldP spid="540" grpId="0" animBg="1" advAuto="0"/>
      <p:bldP spid="546" grpId="0" animBg="1"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549" name="Rectangle 86"/>
          <p:cNvSpPr txBox="1">
            <a:spLocks noGrp="1"/>
          </p:cNvSpPr>
          <p:nvPr>
            <p:ph type="title"/>
          </p:nvPr>
        </p:nvSpPr>
        <p:spPr>
          <a:xfrm>
            <a:off x="1881018" y="435679"/>
            <a:ext cx="7592095" cy="762001"/>
          </a:xfrm>
          <a:prstGeom prst="rect">
            <a:avLst/>
          </a:prstGeom>
        </p:spPr>
        <p:txBody>
          <a:bodyPr/>
          <a:lstStyle/>
          <a:p>
            <a:r>
              <a:t>Memory Modules</a:t>
            </a:r>
          </a:p>
        </p:txBody>
      </p:sp>
      <p:sp>
        <p:nvSpPr>
          <p:cNvPr id="550" name="Rectangle 4"/>
          <p:cNvSpPr/>
          <p:nvPr/>
        </p:nvSpPr>
        <p:spPr>
          <a:xfrm>
            <a:off x="3073400" y="1327150"/>
            <a:ext cx="5062538" cy="2692400"/>
          </a:xfrm>
          <a:prstGeom prst="rect">
            <a:avLst/>
          </a:prstGeom>
          <a:solidFill>
            <a:schemeClr val="accent3">
              <a:lumOff val="44000"/>
            </a:schemeClr>
          </a:solidFill>
          <a:ln w="12700">
            <a:solidFill>
              <a:srgbClr val="000000"/>
            </a:solidFill>
            <a:miter/>
          </a:ln>
          <a:effectLst>
            <a:outerShdw blurRad="63500" dist="107762" dir="2700000" rotWithShape="0">
              <a:srgbClr val="000004">
                <a:alpha val="74998"/>
              </a:srgbClr>
            </a:outerShdw>
          </a:effectLst>
        </p:spPr>
        <p:txBody>
          <a:bodyPr lIns="45719" rIns="45719" anchor="ctr"/>
          <a:lstStyle/>
          <a:p/>
        </p:txBody>
      </p:sp>
      <p:sp>
        <p:nvSpPr>
          <p:cNvPr id="551" name="Rectangle 5"/>
          <p:cNvSpPr/>
          <p:nvPr/>
        </p:nvSpPr>
        <p:spPr>
          <a:xfrm>
            <a:off x="3568700" y="4710112"/>
            <a:ext cx="4510088" cy="1279526"/>
          </a:xfrm>
          <a:prstGeom prst="rect">
            <a:avLst/>
          </a:prstGeom>
          <a:solidFill>
            <a:schemeClr val="accent3">
              <a:lumOff val="44000"/>
            </a:schemeClr>
          </a:solidFill>
          <a:ln w="12700">
            <a:solidFill>
              <a:srgbClr val="000000"/>
            </a:solidFill>
            <a:miter/>
          </a:ln>
          <a:effectLst>
            <a:outerShdw blurRad="63500" dist="107762" dir="2700000" rotWithShape="0">
              <a:srgbClr val="000004">
                <a:alpha val="74998"/>
              </a:srgbClr>
            </a:outerShdw>
          </a:effectLst>
        </p:spPr>
        <p:txBody>
          <a:bodyPr lIns="45719" rIns="45719" anchor="ctr"/>
          <a:lstStyle/>
          <a:p/>
        </p:txBody>
      </p:sp>
      <p:sp>
        <p:nvSpPr>
          <p:cNvPr id="552" name="Rectangle 6"/>
          <p:cNvSpPr/>
          <p:nvPr/>
        </p:nvSpPr>
        <p:spPr>
          <a:xfrm>
            <a:off x="6623051" y="2073276"/>
            <a:ext cx="1096963" cy="974725"/>
          </a:xfrm>
          <a:prstGeom prst="rect">
            <a:avLst/>
          </a:prstGeom>
          <a:solidFill>
            <a:schemeClr val="accent3">
              <a:lumOff val="44000"/>
            </a:schemeClr>
          </a:solidFill>
          <a:ln w="12700">
            <a:solidFill>
              <a:srgbClr val="000000"/>
            </a:solidFill>
            <a:miter/>
          </a:ln>
        </p:spPr>
        <p:txBody>
          <a:bodyPr lIns="45719" rIns="45719" anchor="ctr"/>
          <a:lstStyle/>
          <a:p/>
        </p:txBody>
      </p:sp>
      <p:sp>
        <p:nvSpPr>
          <p:cNvPr id="553" name="Rectangle 7"/>
          <p:cNvSpPr/>
          <p:nvPr/>
        </p:nvSpPr>
        <p:spPr>
          <a:xfrm>
            <a:off x="6135688" y="2195513"/>
            <a:ext cx="1096963" cy="974726"/>
          </a:xfrm>
          <a:prstGeom prst="rect">
            <a:avLst/>
          </a:prstGeom>
          <a:solidFill>
            <a:schemeClr val="accent3">
              <a:lumOff val="44000"/>
            </a:schemeClr>
          </a:solidFill>
          <a:ln w="12700">
            <a:solidFill>
              <a:srgbClr val="000000"/>
            </a:solidFill>
            <a:miter/>
          </a:ln>
        </p:spPr>
        <p:txBody>
          <a:bodyPr lIns="45719" rIns="45719" anchor="ctr"/>
          <a:lstStyle/>
          <a:p/>
        </p:txBody>
      </p:sp>
      <p:sp>
        <p:nvSpPr>
          <p:cNvPr id="554" name="Rectangle 8"/>
          <p:cNvSpPr/>
          <p:nvPr/>
        </p:nvSpPr>
        <p:spPr>
          <a:xfrm>
            <a:off x="5648326" y="2317751"/>
            <a:ext cx="1096963" cy="974725"/>
          </a:xfrm>
          <a:prstGeom prst="rect">
            <a:avLst/>
          </a:prstGeom>
          <a:solidFill>
            <a:schemeClr val="accent3">
              <a:lumOff val="44000"/>
            </a:schemeClr>
          </a:solidFill>
          <a:ln w="12700">
            <a:solidFill>
              <a:srgbClr val="000000"/>
            </a:solidFill>
            <a:miter/>
          </a:ln>
        </p:spPr>
        <p:txBody>
          <a:bodyPr lIns="45719" rIns="45719" anchor="ctr"/>
          <a:lstStyle/>
          <a:p/>
        </p:txBody>
      </p:sp>
      <p:sp>
        <p:nvSpPr>
          <p:cNvPr id="555" name="Rectangle 9"/>
          <p:cNvSpPr/>
          <p:nvPr/>
        </p:nvSpPr>
        <p:spPr>
          <a:xfrm>
            <a:off x="5160963" y="2438401"/>
            <a:ext cx="1096963" cy="976313"/>
          </a:xfrm>
          <a:prstGeom prst="rect">
            <a:avLst/>
          </a:prstGeom>
          <a:solidFill>
            <a:schemeClr val="accent3">
              <a:lumOff val="44000"/>
            </a:schemeClr>
          </a:solidFill>
          <a:ln w="12700">
            <a:solidFill>
              <a:srgbClr val="000000"/>
            </a:solidFill>
            <a:miter/>
          </a:ln>
        </p:spPr>
        <p:txBody>
          <a:bodyPr lIns="45719" rIns="45719" anchor="ctr"/>
          <a:lstStyle/>
          <a:p/>
        </p:txBody>
      </p:sp>
      <p:sp>
        <p:nvSpPr>
          <p:cNvPr id="556" name="Rectangle 10"/>
          <p:cNvSpPr/>
          <p:nvPr/>
        </p:nvSpPr>
        <p:spPr>
          <a:xfrm>
            <a:off x="4673601" y="2560639"/>
            <a:ext cx="1096963" cy="976313"/>
          </a:xfrm>
          <a:prstGeom prst="rect">
            <a:avLst/>
          </a:prstGeom>
          <a:solidFill>
            <a:schemeClr val="accent3">
              <a:lumOff val="44000"/>
            </a:schemeClr>
          </a:solidFill>
          <a:ln w="12700">
            <a:solidFill>
              <a:srgbClr val="000000"/>
            </a:solidFill>
            <a:miter/>
          </a:ln>
        </p:spPr>
        <p:txBody>
          <a:bodyPr lIns="45719" rIns="45719" anchor="ctr"/>
          <a:lstStyle/>
          <a:p/>
        </p:txBody>
      </p:sp>
      <p:sp>
        <p:nvSpPr>
          <p:cNvPr id="557" name="Rectangle 11"/>
          <p:cNvSpPr/>
          <p:nvPr/>
        </p:nvSpPr>
        <p:spPr>
          <a:xfrm>
            <a:off x="4186239" y="2682876"/>
            <a:ext cx="1096963" cy="974725"/>
          </a:xfrm>
          <a:prstGeom prst="rect">
            <a:avLst/>
          </a:prstGeom>
          <a:solidFill>
            <a:schemeClr val="accent3">
              <a:lumOff val="44000"/>
            </a:schemeClr>
          </a:solidFill>
          <a:ln w="12700">
            <a:solidFill>
              <a:srgbClr val="000000"/>
            </a:solidFill>
            <a:miter/>
          </a:ln>
        </p:spPr>
        <p:txBody>
          <a:bodyPr lIns="45719" rIns="45719" anchor="ctr"/>
          <a:lstStyle/>
          <a:p/>
        </p:txBody>
      </p:sp>
      <p:sp>
        <p:nvSpPr>
          <p:cNvPr id="558" name="Rectangle 12"/>
          <p:cNvSpPr/>
          <p:nvPr/>
        </p:nvSpPr>
        <p:spPr>
          <a:xfrm>
            <a:off x="3697289" y="2805113"/>
            <a:ext cx="1096963" cy="974726"/>
          </a:xfrm>
          <a:prstGeom prst="rect">
            <a:avLst/>
          </a:prstGeom>
          <a:solidFill>
            <a:schemeClr val="accent3">
              <a:lumOff val="44000"/>
            </a:schemeClr>
          </a:solidFill>
          <a:ln w="12700">
            <a:solidFill>
              <a:srgbClr val="000000"/>
            </a:solidFill>
            <a:miter/>
          </a:ln>
        </p:spPr>
        <p:txBody>
          <a:bodyPr lIns="45719" rIns="45719" anchor="ctr"/>
          <a:lstStyle/>
          <a:p/>
        </p:txBody>
      </p:sp>
      <p:sp>
        <p:nvSpPr>
          <p:cNvPr id="559" name="Rectangle 13"/>
          <p:cNvSpPr/>
          <p:nvPr/>
        </p:nvSpPr>
        <p:spPr>
          <a:xfrm>
            <a:off x="3209926" y="2927351"/>
            <a:ext cx="1096963" cy="974725"/>
          </a:xfrm>
          <a:prstGeom prst="rect">
            <a:avLst/>
          </a:prstGeom>
          <a:solidFill>
            <a:schemeClr val="accent3">
              <a:lumOff val="44000"/>
            </a:schemeClr>
          </a:solidFill>
          <a:ln w="12700">
            <a:solidFill>
              <a:srgbClr val="000000"/>
            </a:solidFill>
            <a:miter/>
          </a:ln>
        </p:spPr>
        <p:txBody>
          <a:bodyPr lIns="45719" rIns="45719" anchor="ctr"/>
          <a:lstStyle/>
          <a:p>
            <a:pPr>
              <a:defRPr sz="1600"/>
            </a:pPr>
            <a:endParaRPr sz="1600"/>
          </a:p>
        </p:txBody>
      </p:sp>
      <p:sp>
        <p:nvSpPr>
          <p:cNvPr id="560" name="Rectangle 15"/>
          <p:cNvSpPr/>
          <p:nvPr/>
        </p:nvSpPr>
        <p:spPr>
          <a:xfrm>
            <a:off x="8267700" y="1712913"/>
            <a:ext cx="101600" cy="111126"/>
          </a:xfrm>
          <a:prstGeom prst="rect">
            <a:avLst/>
          </a:prstGeom>
          <a:solidFill>
            <a:srgbClr val="FF99CC"/>
          </a:solidFill>
          <a:ln w="12700">
            <a:solidFill>
              <a:srgbClr val="000000"/>
            </a:solidFill>
            <a:miter/>
          </a:ln>
        </p:spPr>
        <p:txBody>
          <a:bodyPr lIns="45719" rIns="45719" anchor="ctr"/>
          <a:lstStyle/>
          <a:p/>
        </p:txBody>
      </p:sp>
      <p:sp>
        <p:nvSpPr>
          <p:cNvPr id="561" name="Text Box 16"/>
          <p:cNvSpPr txBox="1"/>
          <p:nvPr/>
        </p:nvSpPr>
        <p:spPr>
          <a:xfrm>
            <a:off x="8384859" y="1597611"/>
            <a:ext cx="1228861" cy="338554"/>
          </a:xfrm>
          <a:prstGeom prst="rect">
            <a:avLst/>
          </a:prstGeom>
          <a:ln w="12700">
            <a:miter lim="400000"/>
          </a:ln>
        </p:spPr>
        <p:txBody>
          <a:bodyPr wrap="none" lIns="45719" rIns="45719" anchor="ctr">
            <a:spAutoFit/>
          </a:bodyPr>
          <a:lstStyle>
            <a:lvl1pPr>
              <a:defRPr sz="1600"/>
            </a:lvl1pPr>
          </a:lstStyle>
          <a:p>
            <a:r>
              <a:t>: supercell (i,j)</a:t>
            </a:r>
          </a:p>
        </p:txBody>
      </p:sp>
      <p:sp>
        <p:nvSpPr>
          <p:cNvPr id="562" name="Text Box 61"/>
          <p:cNvSpPr txBox="1"/>
          <p:nvPr/>
        </p:nvSpPr>
        <p:spPr>
          <a:xfrm>
            <a:off x="8218170" y="2269679"/>
            <a:ext cx="1730600" cy="1077218"/>
          </a:xfrm>
          <a:prstGeom prst="rect">
            <a:avLst/>
          </a:prstGeom>
          <a:ln w="12700">
            <a:miter lim="400000"/>
          </a:ln>
        </p:spPr>
        <p:txBody>
          <a:bodyPr wrap="none" lIns="45719" rIns="45719" anchor="ctr">
            <a:spAutoFit/>
          </a:bodyPr>
          <a:lstStyle/>
          <a:p>
            <a:pPr>
              <a:defRPr sz="1600">
                <a:latin typeface="Calibri"/>
                <a:ea typeface="Calibri"/>
                <a:cs typeface="Calibri"/>
                <a:sym typeface="Calibri"/>
              </a:defRPr>
            </a:pPr>
            <a:r>
              <a:rPr sz="1600"/>
              <a:t>64 MB  </a:t>
            </a:r>
            <a:endParaRPr sz="1600"/>
          </a:p>
          <a:p>
            <a:pPr>
              <a:defRPr sz="1600">
                <a:latin typeface="Calibri"/>
                <a:ea typeface="Calibri"/>
                <a:cs typeface="Calibri"/>
                <a:sym typeface="Calibri"/>
              </a:defRPr>
            </a:pPr>
            <a:r>
              <a:rPr sz="1600"/>
              <a:t>memory module</a:t>
            </a:r>
            <a:endParaRPr sz="1600"/>
          </a:p>
          <a:p>
            <a:pPr>
              <a:defRPr sz="1600">
                <a:latin typeface="Calibri"/>
                <a:ea typeface="Calibri"/>
                <a:cs typeface="Calibri"/>
                <a:sym typeface="Calibri"/>
              </a:defRPr>
            </a:pPr>
            <a:r>
              <a:rPr sz="1600"/>
              <a:t>consisting of</a:t>
            </a:r>
            <a:endParaRPr sz="1600"/>
          </a:p>
          <a:p>
            <a:pPr>
              <a:defRPr sz="1600">
                <a:latin typeface="Calibri"/>
                <a:ea typeface="Calibri"/>
                <a:cs typeface="Calibri"/>
                <a:sym typeface="Calibri"/>
              </a:defRPr>
            </a:pPr>
            <a:r>
              <a:rPr sz="1600"/>
              <a:t>eight 8Mx8 DRAMs</a:t>
            </a:r>
            <a:endParaRPr sz="1600"/>
          </a:p>
        </p:txBody>
      </p:sp>
      <p:grpSp>
        <p:nvGrpSpPr>
          <p:cNvPr id="576" name="Group 102"/>
          <p:cNvGrpSpPr/>
          <p:nvPr/>
        </p:nvGrpSpPr>
        <p:grpSpPr>
          <a:xfrm>
            <a:off x="2743200" y="1292811"/>
            <a:ext cx="4164015" cy="4036431"/>
            <a:chOff x="-1" y="-9257"/>
            <a:chExt cx="4164015" cy="4036429"/>
          </a:xfrm>
        </p:grpSpPr>
        <p:sp>
          <p:nvSpPr>
            <p:cNvPr id="563" name="Line 42"/>
            <p:cNvSpPr/>
            <p:nvPr/>
          </p:nvSpPr>
          <p:spPr>
            <a:xfrm>
              <a:off x="0" y="299720"/>
              <a:ext cx="4164014" cy="1"/>
            </a:xfrm>
            <a:prstGeom prst="line">
              <a:avLst/>
            </a:prstGeom>
            <a:noFill/>
            <a:ln w="38100" cap="flat">
              <a:solidFill>
                <a:srgbClr val="99CCFF"/>
              </a:solidFill>
              <a:prstDash val="solid"/>
              <a:round/>
            </a:ln>
            <a:effectLst/>
          </p:spPr>
          <p:txBody>
            <a:bodyPr wrap="square" lIns="45719" tIns="45719" rIns="45719" bIns="45719" numCol="1" anchor="t">
              <a:noAutofit/>
            </a:bodyPr>
            <a:lstStyle/>
            <a:p/>
          </p:txBody>
        </p:sp>
        <p:grpSp>
          <p:nvGrpSpPr>
            <p:cNvPr id="575" name="Group 99"/>
            <p:cNvGrpSpPr/>
            <p:nvPr/>
          </p:nvGrpSpPr>
          <p:grpSpPr>
            <a:xfrm>
              <a:off x="-1" y="-9257"/>
              <a:ext cx="4143378" cy="4036429"/>
              <a:chOff x="-1" y="-9256"/>
              <a:chExt cx="4143377" cy="4036427"/>
            </a:xfrm>
          </p:grpSpPr>
          <p:sp>
            <p:nvSpPr>
              <p:cNvPr id="564" name="Text Box 43"/>
              <p:cNvSpPr txBox="1"/>
              <p:nvPr/>
            </p:nvSpPr>
            <p:spPr>
              <a:xfrm>
                <a:off x="1101407" y="-9256"/>
                <a:ext cx="2931249" cy="338552"/>
              </a:xfrm>
              <a:prstGeom prst="rect">
                <a:avLst/>
              </a:prstGeom>
              <a:noFill/>
              <a:ln w="12700" cap="flat">
                <a:noFill/>
                <a:miter lim="400000"/>
              </a:ln>
              <a:effectLst/>
            </p:spPr>
            <p:txBody>
              <a:bodyPr wrap="none" lIns="45719" tIns="45719" rIns="45719" bIns="45719" numCol="1" anchor="ctr">
                <a:spAutoFit/>
              </a:bodyPr>
              <a:lstStyle>
                <a:lvl1pPr>
                  <a:defRPr sz="1600">
                    <a:latin typeface="Courier New" panose="02070609020205020404"/>
                    <a:ea typeface="Courier New" panose="02070609020205020404"/>
                    <a:cs typeface="Courier New" panose="02070609020205020404"/>
                    <a:sym typeface="Courier New" panose="02070609020205020404"/>
                  </a:defRPr>
                </a:lvl1pPr>
              </a:lstStyle>
              <a:p>
                <a:r>
                  <a:t>addr (row = i, col = j)</a:t>
                </a:r>
              </a:p>
            </p:txBody>
          </p:sp>
          <p:sp>
            <p:nvSpPr>
              <p:cNvPr id="565" name="Line 53"/>
              <p:cNvSpPr/>
              <p:nvPr/>
            </p:nvSpPr>
            <p:spPr>
              <a:xfrm>
                <a:off x="4143375" y="299720"/>
                <a:ext cx="1" cy="476251"/>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566" name="Line 54"/>
              <p:cNvSpPr/>
              <p:nvPr/>
            </p:nvSpPr>
            <p:spPr>
              <a:xfrm>
                <a:off x="3595687" y="299719"/>
                <a:ext cx="1" cy="598489"/>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567" name="Line 55"/>
              <p:cNvSpPr/>
              <p:nvPr/>
            </p:nvSpPr>
            <p:spPr>
              <a:xfrm>
                <a:off x="3108325" y="299720"/>
                <a:ext cx="1" cy="730251"/>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568" name="Line 56"/>
              <p:cNvSpPr/>
              <p:nvPr/>
            </p:nvSpPr>
            <p:spPr>
              <a:xfrm>
                <a:off x="2620962" y="299719"/>
                <a:ext cx="1" cy="852489"/>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569" name="Line 57"/>
              <p:cNvSpPr/>
              <p:nvPr/>
            </p:nvSpPr>
            <p:spPr>
              <a:xfrm>
                <a:off x="2133600" y="299720"/>
                <a:ext cx="1" cy="974726"/>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570" name="Line 58"/>
              <p:cNvSpPr/>
              <p:nvPr/>
            </p:nvSpPr>
            <p:spPr>
              <a:xfrm flipH="1">
                <a:off x="1584325" y="299719"/>
                <a:ext cx="1" cy="1096964"/>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571" name="Line 59"/>
              <p:cNvSpPr/>
              <p:nvPr/>
            </p:nvSpPr>
            <p:spPr>
              <a:xfrm flipH="1">
                <a:off x="1157287" y="299719"/>
                <a:ext cx="1" cy="1217614"/>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572" name="Line 60"/>
              <p:cNvSpPr/>
              <p:nvPr/>
            </p:nvSpPr>
            <p:spPr>
              <a:xfrm flipH="1">
                <a:off x="669925" y="299720"/>
                <a:ext cx="1" cy="1339851"/>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573" name="Line 62"/>
              <p:cNvSpPr/>
              <p:nvPr/>
            </p:nvSpPr>
            <p:spPr>
              <a:xfrm flipH="1" flipV="1">
                <a:off x="0" y="4017645"/>
                <a:ext cx="822326" cy="9526"/>
              </a:xfrm>
              <a:prstGeom prst="line">
                <a:avLst/>
              </a:prstGeom>
              <a:noFill/>
              <a:ln w="38100" cap="flat">
                <a:solidFill>
                  <a:srgbClr val="99CCFF"/>
                </a:solidFill>
                <a:prstDash val="solid"/>
                <a:round/>
              </a:ln>
              <a:effectLst/>
            </p:spPr>
            <p:txBody>
              <a:bodyPr wrap="square" lIns="45719" tIns="45719" rIns="45719" bIns="45719" numCol="1" anchor="t">
                <a:noAutofit/>
              </a:bodyPr>
              <a:lstStyle/>
              <a:p/>
            </p:txBody>
          </p:sp>
          <p:sp>
            <p:nvSpPr>
              <p:cNvPr id="574" name="Line 63"/>
              <p:cNvSpPr/>
              <p:nvPr/>
            </p:nvSpPr>
            <p:spPr>
              <a:xfrm flipV="1">
                <a:off x="-1" y="299719"/>
                <a:ext cx="2" cy="3717927"/>
              </a:xfrm>
              <a:prstGeom prst="line">
                <a:avLst/>
              </a:prstGeom>
              <a:noFill/>
              <a:ln w="38100" cap="flat">
                <a:solidFill>
                  <a:srgbClr val="99CCFF"/>
                </a:solidFill>
                <a:prstDash val="solid"/>
                <a:round/>
              </a:ln>
              <a:effectLst/>
            </p:spPr>
            <p:txBody>
              <a:bodyPr wrap="square" lIns="45719" tIns="45719" rIns="45719" bIns="45719" numCol="1" anchor="t">
                <a:noAutofit/>
              </a:bodyPr>
              <a:lstStyle/>
              <a:p/>
            </p:txBody>
          </p:sp>
        </p:grpSp>
      </p:grpSp>
      <p:sp>
        <p:nvSpPr>
          <p:cNvPr id="577" name="Text Box 64"/>
          <p:cNvSpPr txBox="1"/>
          <p:nvPr/>
        </p:nvSpPr>
        <p:spPr>
          <a:xfrm>
            <a:off x="8148320" y="4992401"/>
            <a:ext cx="866582" cy="584775"/>
          </a:xfrm>
          <a:prstGeom prst="rect">
            <a:avLst/>
          </a:prstGeom>
          <a:ln w="12700">
            <a:miter lim="400000"/>
          </a:ln>
        </p:spPr>
        <p:txBody>
          <a:bodyPr wrap="none" lIns="45719" rIns="45719" anchor="ctr">
            <a:spAutoFit/>
          </a:bodyPr>
          <a:lstStyle/>
          <a:p>
            <a:pPr>
              <a:defRPr sz="1600"/>
            </a:pPr>
            <a:r>
              <a:rPr sz="1600"/>
              <a:t>Memory</a:t>
            </a:r>
            <a:endParaRPr sz="1600"/>
          </a:p>
          <a:p>
            <a:pPr>
              <a:defRPr sz="1600"/>
            </a:pPr>
            <a:r>
              <a:rPr sz="1600"/>
              <a:t>controller</a:t>
            </a:r>
            <a:endParaRPr sz="1600"/>
          </a:p>
        </p:txBody>
      </p:sp>
      <p:sp>
        <p:nvSpPr>
          <p:cNvPr id="578" name="Rectangle 65"/>
          <p:cNvSpPr/>
          <p:nvPr/>
        </p:nvSpPr>
        <p:spPr>
          <a:xfrm>
            <a:off x="4602164" y="3221039"/>
            <a:ext cx="101601" cy="112713"/>
          </a:xfrm>
          <a:prstGeom prst="rect">
            <a:avLst/>
          </a:prstGeom>
          <a:solidFill>
            <a:srgbClr val="FF99CC"/>
          </a:solidFill>
          <a:ln w="12700">
            <a:solidFill>
              <a:srgbClr val="000000"/>
            </a:solidFill>
            <a:miter/>
          </a:ln>
        </p:spPr>
        <p:txBody>
          <a:bodyPr lIns="45719" rIns="45719" anchor="ctr"/>
          <a:lstStyle/>
          <a:p/>
        </p:txBody>
      </p:sp>
      <p:sp>
        <p:nvSpPr>
          <p:cNvPr id="579" name="Rectangle 66"/>
          <p:cNvSpPr/>
          <p:nvPr/>
        </p:nvSpPr>
        <p:spPr>
          <a:xfrm>
            <a:off x="4135439" y="3338512"/>
            <a:ext cx="101601" cy="111126"/>
          </a:xfrm>
          <a:prstGeom prst="rect">
            <a:avLst/>
          </a:prstGeom>
          <a:solidFill>
            <a:srgbClr val="FF99CC"/>
          </a:solidFill>
          <a:ln w="12700">
            <a:solidFill>
              <a:srgbClr val="000000"/>
            </a:solidFill>
            <a:miter/>
          </a:ln>
        </p:spPr>
        <p:txBody>
          <a:bodyPr lIns="45719" rIns="45719" anchor="ctr"/>
          <a:lstStyle/>
          <a:p/>
        </p:txBody>
      </p:sp>
      <p:sp>
        <p:nvSpPr>
          <p:cNvPr id="580" name="Rectangle 67"/>
          <p:cNvSpPr/>
          <p:nvPr/>
        </p:nvSpPr>
        <p:spPr>
          <a:xfrm>
            <a:off x="5089525" y="3094039"/>
            <a:ext cx="101600" cy="112713"/>
          </a:xfrm>
          <a:prstGeom prst="rect">
            <a:avLst/>
          </a:prstGeom>
          <a:solidFill>
            <a:srgbClr val="FF99CC"/>
          </a:solidFill>
          <a:ln w="12700">
            <a:solidFill>
              <a:srgbClr val="000000"/>
            </a:solidFill>
            <a:miter/>
          </a:ln>
        </p:spPr>
        <p:txBody>
          <a:bodyPr lIns="45719" rIns="45719" anchor="ctr"/>
          <a:lstStyle/>
          <a:p/>
        </p:txBody>
      </p:sp>
      <p:sp>
        <p:nvSpPr>
          <p:cNvPr id="581" name="Rectangle 68"/>
          <p:cNvSpPr/>
          <p:nvPr/>
        </p:nvSpPr>
        <p:spPr>
          <a:xfrm>
            <a:off x="5581650" y="2967039"/>
            <a:ext cx="101600" cy="112713"/>
          </a:xfrm>
          <a:prstGeom prst="rect">
            <a:avLst/>
          </a:prstGeom>
          <a:solidFill>
            <a:srgbClr val="FF99CC"/>
          </a:solidFill>
          <a:ln w="12700">
            <a:solidFill>
              <a:srgbClr val="000000"/>
            </a:solidFill>
            <a:miter/>
          </a:ln>
        </p:spPr>
        <p:txBody>
          <a:bodyPr lIns="45719" rIns="45719" anchor="ctr"/>
          <a:lstStyle/>
          <a:p/>
        </p:txBody>
      </p:sp>
      <p:sp>
        <p:nvSpPr>
          <p:cNvPr id="582" name="Rectangle 69"/>
          <p:cNvSpPr/>
          <p:nvPr/>
        </p:nvSpPr>
        <p:spPr>
          <a:xfrm>
            <a:off x="6084888" y="2835276"/>
            <a:ext cx="101601" cy="111125"/>
          </a:xfrm>
          <a:prstGeom prst="rect">
            <a:avLst/>
          </a:prstGeom>
          <a:solidFill>
            <a:srgbClr val="FF99CC"/>
          </a:solidFill>
          <a:ln w="12700">
            <a:solidFill>
              <a:srgbClr val="000000"/>
            </a:solidFill>
            <a:miter/>
          </a:ln>
        </p:spPr>
        <p:txBody>
          <a:bodyPr lIns="45719" rIns="45719" anchor="ctr"/>
          <a:lstStyle/>
          <a:p/>
        </p:txBody>
      </p:sp>
      <p:sp>
        <p:nvSpPr>
          <p:cNvPr id="583" name="Rectangle 70"/>
          <p:cNvSpPr/>
          <p:nvPr/>
        </p:nvSpPr>
        <p:spPr>
          <a:xfrm>
            <a:off x="6562725" y="2724151"/>
            <a:ext cx="101600" cy="111125"/>
          </a:xfrm>
          <a:prstGeom prst="rect">
            <a:avLst/>
          </a:prstGeom>
          <a:solidFill>
            <a:srgbClr val="FF99CC"/>
          </a:solidFill>
          <a:ln w="12700">
            <a:solidFill>
              <a:srgbClr val="000000"/>
            </a:solidFill>
            <a:miter/>
          </a:ln>
        </p:spPr>
        <p:txBody>
          <a:bodyPr lIns="45719" rIns="45719" anchor="ctr"/>
          <a:lstStyle/>
          <a:p/>
        </p:txBody>
      </p:sp>
      <p:sp>
        <p:nvSpPr>
          <p:cNvPr id="584" name="Rectangle 71"/>
          <p:cNvSpPr/>
          <p:nvPr/>
        </p:nvSpPr>
        <p:spPr>
          <a:xfrm>
            <a:off x="7050088" y="2590801"/>
            <a:ext cx="101601" cy="112713"/>
          </a:xfrm>
          <a:prstGeom prst="rect">
            <a:avLst/>
          </a:prstGeom>
          <a:solidFill>
            <a:srgbClr val="FF99CC"/>
          </a:solidFill>
          <a:ln w="12700">
            <a:solidFill>
              <a:srgbClr val="000000"/>
            </a:solidFill>
            <a:miter/>
          </a:ln>
        </p:spPr>
        <p:txBody>
          <a:bodyPr lIns="45719" rIns="45719" anchor="ctr"/>
          <a:lstStyle/>
          <a:p/>
        </p:txBody>
      </p:sp>
      <p:sp>
        <p:nvSpPr>
          <p:cNvPr id="585" name="Rectangle 72"/>
          <p:cNvSpPr/>
          <p:nvPr/>
        </p:nvSpPr>
        <p:spPr>
          <a:xfrm>
            <a:off x="7527925" y="2470151"/>
            <a:ext cx="101600" cy="111125"/>
          </a:xfrm>
          <a:prstGeom prst="rect">
            <a:avLst/>
          </a:prstGeom>
          <a:solidFill>
            <a:srgbClr val="FF99CC"/>
          </a:solidFill>
          <a:ln w="12700">
            <a:solidFill>
              <a:srgbClr val="000000"/>
            </a:solidFill>
            <a:miter/>
          </a:ln>
        </p:spPr>
        <p:txBody>
          <a:bodyPr lIns="45719" rIns="45719" anchor="ctr"/>
          <a:lstStyle/>
          <a:p/>
        </p:txBody>
      </p:sp>
      <p:sp>
        <p:nvSpPr>
          <p:cNvPr id="586" name="Text Box 74"/>
          <p:cNvSpPr txBox="1"/>
          <p:nvPr/>
        </p:nvSpPr>
        <p:spPr>
          <a:xfrm>
            <a:off x="3779519" y="2895601"/>
            <a:ext cx="534760" cy="261610"/>
          </a:xfrm>
          <a:prstGeom prst="rect">
            <a:avLst/>
          </a:prstGeom>
          <a:ln w="12700">
            <a:miter lim="400000"/>
          </a:ln>
        </p:spPr>
        <p:txBody>
          <a:bodyPr wrap="none" lIns="45719" rIns="45719" anchor="ctr">
            <a:spAutoFit/>
          </a:bodyPr>
          <a:lstStyle>
            <a:lvl1pPr>
              <a:defRPr sz="1100"/>
            </a:lvl1pPr>
          </a:lstStyle>
          <a:p>
            <a:r>
              <a:t>DRAM 7</a:t>
            </a:r>
          </a:p>
        </p:txBody>
      </p:sp>
      <p:sp>
        <p:nvSpPr>
          <p:cNvPr id="587" name="Text Box 75"/>
          <p:cNvSpPr txBox="1"/>
          <p:nvPr/>
        </p:nvSpPr>
        <p:spPr>
          <a:xfrm>
            <a:off x="7208519" y="2024391"/>
            <a:ext cx="534760" cy="261610"/>
          </a:xfrm>
          <a:prstGeom prst="rect">
            <a:avLst/>
          </a:prstGeom>
          <a:ln w="12700">
            <a:miter lim="400000"/>
          </a:ln>
        </p:spPr>
        <p:txBody>
          <a:bodyPr wrap="none" lIns="45719" rIns="45719" anchor="ctr">
            <a:spAutoFit/>
          </a:bodyPr>
          <a:lstStyle>
            <a:lvl1pPr>
              <a:defRPr sz="1100"/>
            </a:lvl1pPr>
          </a:lstStyle>
          <a:p>
            <a:r>
              <a:t>DRAM 0</a:t>
            </a:r>
          </a:p>
        </p:txBody>
      </p:sp>
      <p:grpSp>
        <p:nvGrpSpPr>
          <p:cNvPr id="634" name="Group 138"/>
          <p:cNvGrpSpPr/>
          <p:nvPr/>
        </p:nvGrpSpPr>
        <p:grpSpPr>
          <a:xfrm>
            <a:off x="3900168" y="2576511"/>
            <a:ext cx="4006104" cy="3154575"/>
            <a:chOff x="-1" y="-2"/>
            <a:chExt cx="4006102" cy="3154573"/>
          </a:xfrm>
        </p:grpSpPr>
        <p:grpSp>
          <p:nvGrpSpPr>
            <p:cNvPr id="615" name="Group 108"/>
            <p:cNvGrpSpPr/>
            <p:nvPr/>
          </p:nvGrpSpPr>
          <p:grpSpPr>
            <a:xfrm>
              <a:off x="-1" y="2374027"/>
              <a:ext cx="3993378" cy="780544"/>
              <a:chOff x="0" y="-7539"/>
              <a:chExt cx="3993376" cy="780542"/>
            </a:xfrm>
          </p:grpSpPr>
          <p:sp>
            <p:nvSpPr>
              <p:cNvPr id="588" name="Text Box 17"/>
              <p:cNvSpPr txBox="1"/>
              <p:nvPr/>
            </p:nvSpPr>
            <p:spPr>
              <a:xfrm>
                <a:off x="3843337" y="-7539"/>
                <a:ext cx="150039"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0</a:t>
                </a:r>
              </a:p>
            </p:txBody>
          </p:sp>
          <p:sp>
            <p:nvSpPr>
              <p:cNvPr id="589" name="Text Box 18"/>
              <p:cNvSpPr txBox="1"/>
              <p:nvPr/>
            </p:nvSpPr>
            <p:spPr>
              <a:xfrm>
                <a:off x="1947862"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31</a:t>
                </a:r>
              </a:p>
            </p:txBody>
          </p:sp>
          <p:sp>
            <p:nvSpPr>
              <p:cNvPr id="590" name="Text Box 23"/>
              <p:cNvSpPr txBox="1"/>
              <p:nvPr/>
            </p:nvSpPr>
            <p:spPr>
              <a:xfrm>
                <a:off x="3455987" y="-7539"/>
                <a:ext cx="150039"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7</a:t>
                </a:r>
              </a:p>
            </p:txBody>
          </p:sp>
          <p:sp>
            <p:nvSpPr>
              <p:cNvPr id="591" name="Text Box 24"/>
              <p:cNvSpPr txBox="1"/>
              <p:nvPr/>
            </p:nvSpPr>
            <p:spPr>
              <a:xfrm>
                <a:off x="3311525" y="-7539"/>
                <a:ext cx="150039"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8</a:t>
                </a:r>
              </a:p>
            </p:txBody>
          </p:sp>
          <p:sp>
            <p:nvSpPr>
              <p:cNvPr id="592" name="Text Box 25"/>
              <p:cNvSpPr txBox="1"/>
              <p:nvPr/>
            </p:nvSpPr>
            <p:spPr>
              <a:xfrm>
                <a:off x="2922587"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15</a:t>
                </a:r>
              </a:p>
            </p:txBody>
          </p:sp>
          <p:sp>
            <p:nvSpPr>
              <p:cNvPr id="593" name="Text Box 26"/>
              <p:cNvSpPr txBox="1"/>
              <p:nvPr/>
            </p:nvSpPr>
            <p:spPr>
              <a:xfrm>
                <a:off x="2740025"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16</a:t>
                </a:r>
              </a:p>
            </p:txBody>
          </p:sp>
          <p:sp>
            <p:nvSpPr>
              <p:cNvPr id="594" name="Text Box 27"/>
              <p:cNvSpPr txBox="1"/>
              <p:nvPr/>
            </p:nvSpPr>
            <p:spPr>
              <a:xfrm>
                <a:off x="2479675"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23</a:t>
                </a:r>
              </a:p>
            </p:txBody>
          </p:sp>
          <p:sp>
            <p:nvSpPr>
              <p:cNvPr id="595" name="Text Box 28"/>
              <p:cNvSpPr txBox="1"/>
              <p:nvPr/>
            </p:nvSpPr>
            <p:spPr>
              <a:xfrm>
                <a:off x="2312987"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24</a:t>
                </a:r>
              </a:p>
            </p:txBody>
          </p:sp>
          <p:sp>
            <p:nvSpPr>
              <p:cNvPr id="596" name="Text Box 29"/>
              <p:cNvSpPr txBox="1"/>
              <p:nvPr/>
            </p:nvSpPr>
            <p:spPr>
              <a:xfrm>
                <a:off x="1782762"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32</a:t>
                </a:r>
              </a:p>
            </p:txBody>
          </p:sp>
          <p:sp>
            <p:nvSpPr>
              <p:cNvPr id="597" name="Text Box 30"/>
              <p:cNvSpPr txBox="1"/>
              <p:nvPr/>
            </p:nvSpPr>
            <p:spPr>
              <a:xfrm>
                <a:off x="0"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63</a:t>
                </a:r>
              </a:p>
            </p:txBody>
          </p:sp>
          <p:sp>
            <p:nvSpPr>
              <p:cNvPr id="598" name="Text Box 35"/>
              <p:cNvSpPr txBox="1"/>
              <p:nvPr/>
            </p:nvSpPr>
            <p:spPr>
              <a:xfrm>
                <a:off x="1490662"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39</a:t>
                </a:r>
              </a:p>
            </p:txBody>
          </p:sp>
          <p:sp>
            <p:nvSpPr>
              <p:cNvPr id="599" name="Text Box 36"/>
              <p:cNvSpPr txBox="1"/>
              <p:nvPr/>
            </p:nvSpPr>
            <p:spPr>
              <a:xfrm>
                <a:off x="1293812"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40</a:t>
                </a:r>
              </a:p>
            </p:txBody>
          </p:sp>
          <p:sp>
            <p:nvSpPr>
              <p:cNvPr id="600" name="Text Box 37"/>
              <p:cNvSpPr txBox="1"/>
              <p:nvPr/>
            </p:nvSpPr>
            <p:spPr>
              <a:xfrm>
                <a:off x="974725"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47</a:t>
                </a:r>
              </a:p>
            </p:txBody>
          </p:sp>
          <p:sp>
            <p:nvSpPr>
              <p:cNvPr id="601" name="Text Box 38"/>
              <p:cNvSpPr txBox="1"/>
              <p:nvPr/>
            </p:nvSpPr>
            <p:spPr>
              <a:xfrm>
                <a:off x="806450"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48</a:t>
                </a:r>
              </a:p>
            </p:txBody>
          </p:sp>
          <p:sp>
            <p:nvSpPr>
              <p:cNvPr id="602" name="Text Box 39"/>
              <p:cNvSpPr txBox="1"/>
              <p:nvPr/>
            </p:nvSpPr>
            <p:spPr>
              <a:xfrm>
                <a:off x="501650"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55</a:t>
                </a:r>
              </a:p>
            </p:txBody>
          </p:sp>
          <p:sp>
            <p:nvSpPr>
              <p:cNvPr id="603" name="Text Box 40"/>
              <p:cNvSpPr txBox="1"/>
              <p:nvPr/>
            </p:nvSpPr>
            <p:spPr>
              <a:xfrm>
                <a:off x="301625"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56</a:t>
                </a:r>
              </a:p>
            </p:txBody>
          </p:sp>
          <p:grpSp>
            <p:nvGrpSpPr>
              <p:cNvPr id="614" name="Group 107"/>
              <p:cNvGrpSpPr/>
              <p:nvPr/>
            </p:nvGrpSpPr>
            <p:grpSpPr>
              <a:xfrm>
                <a:off x="62230" y="199707"/>
                <a:ext cx="3883027" cy="573296"/>
                <a:chOff x="0" y="0"/>
                <a:chExt cx="3883026" cy="573294"/>
              </a:xfrm>
            </p:grpSpPr>
            <p:grpSp>
              <p:nvGrpSpPr>
                <p:cNvPr id="612" name="Group 97"/>
                <p:cNvGrpSpPr/>
                <p:nvPr/>
              </p:nvGrpSpPr>
              <p:grpSpPr>
                <a:xfrm>
                  <a:off x="0" y="0"/>
                  <a:ext cx="3883026" cy="244475"/>
                  <a:chOff x="0" y="0"/>
                  <a:chExt cx="3883025" cy="244474"/>
                </a:xfrm>
              </p:grpSpPr>
              <p:sp>
                <p:nvSpPr>
                  <p:cNvPr id="604" name="Rectangle 19"/>
                  <p:cNvSpPr/>
                  <p:nvPr/>
                </p:nvSpPr>
                <p:spPr>
                  <a:xfrm>
                    <a:off x="1931987"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05" name="Rectangle 20"/>
                  <p:cNvSpPr/>
                  <p:nvPr/>
                </p:nvSpPr>
                <p:spPr>
                  <a:xfrm>
                    <a:off x="2419350"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06" name="Rectangle 21"/>
                  <p:cNvSpPr/>
                  <p:nvPr/>
                </p:nvSpPr>
                <p:spPr>
                  <a:xfrm>
                    <a:off x="2906712"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07" name="Rectangle 22"/>
                  <p:cNvSpPr/>
                  <p:nvPr/>
                </p:nvSpPr>
                <p:spPr>
                  <a:xfrm>
                    <a:off x="3394075" y="-1"/>
                    <a:ext cx="488951"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08" name="Rectangle 31"/>
                  <p:cNvSpPr/>
                  <p:nvPr/>
                </p:nvSpPr>
                <p:spPr>
                  <a:xfrm>
                    <a:off x="-1"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09" name="Rectangle 32"/>
                  <p:cNvSpPr/>
                  <p:nvPr/>
                </p:nvSpPr>
                <p:spPr>
                  <a:xfrm>
                    <a:off x="487362"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10" name="Rectangle 33"/>
                  <p:cNvSpPr/>
                  <p:nvPr/>
                </p:nvSpPr>
                <p:spPr>
                  <a:xfrm>
                    <a:off x="974725"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11" name="Rectangle 34"/>
                  <p:cNvSpPr/>
                  <p:nvPr/>
                </p:nvSpPr>
                <p:spPr>
                  <a:xfrm>
                    <a:off x="1462087"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613" name="Text Box 41"/>
                <p:cNvSpPr txBox="1"/>
                <p:nvPr/>
              </p:nvSpPr>
              <p:spPr>
                <a:xfrm>
                  <a:off x="375629" y="234744"/>
                  <a:ext cx="2982542" cy="338550"/>
                </a:xfrm>
                <a:prstGeom prst="rect">
                  <a:avLst/>
                </a:prstGeom>
                <a:noFill/>
                <a:ln w="12700" cap="flat">
                  <a:noFill/>
                  <a:miter lim="400000"/>
                </a:ln>
                <a:effectLst/>
              </p:spPr>
              <p:txBody>
                <a:bodyPr wrap="none" lIns="45719" tIns="45719" rIns="45719" bIns="45719" numCol="1" anchor="ctr">
                  <a:spAutoFit/>
                </a:bodyPr>
                <a:lstStyle/>
                <a:p>
                  <a:pPr algn="ctr">
                    <a:defRPr sz="1600"/>
                  </a:pPr>
                  <a:r>
                    <a:rPr sz="1600"/>
                    <a:t>64-bit word main memory address </a:t>
                  </a:r>
                  <a:r>
                    <a:rPr sz="1600" i="1"/>
                    <a:t>A</a:t>
                  </a:r>
                  <a:endParaRPr sz="1600" i="1"/>
                </a:p>
              </p:txBody>
            </p:sp>
          </p:grpSp>
        </p:grpSp>
        <p:grpSp>
          <p:nvGrpSpPr>
            <p:cNvPr id="633" name="Group 106"/>
            <p:cNvGrpSpPr/>
            <p:nvPr/>
          </p:nvGrpSpPr>
          <p:grpSpPr>
            <a:xfrm>
              <a:off x="286067" y="-2"/>
              <a:ext cx="3720034" cy="2376491"/>
              <a:chOff x="0" y="-1"/>
              <a:chExt cx="3720033" cy="2376489"/>
            </a:xfrm>
          </p:grpSpPr>
          <p:grpSp>
            <p:nvGrpSpPr>
              <p:cNvPr id="624" name="Group 100"/>
              <p:cNvGrpSpPr/>
              <p:nvPr/>
            </p:nvGrpSpPr>
            <p:grpSpPr>
              <a:xfrm>
                <a:off x="0" y="-1"/>
                <a:ext cx="3392488" cy="2376489"/>
                <a:chOff x="0" y="0"/>
                <a:chExt cx="3392487" cy="2376487"/>
              </a:xfrm>
            </p:grpSpPr>
            <p:sp>
              <p:nvSpPr>
                <p:cNvPr id="616" name="Line 44"/>
                <p:cNvSpPr/>
                <p:nvPr/>
              </p:nvSpPr>
              <p:spPr>
                <a:xfrm flipH="1">
                  <a:off x="3392487" y="-1"/>
                  <a:ext cx="1" cy="2376488"/>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617" name="Line 45"/>
                <p:cNvSpPr/>
                <p:nvPr/>
              </p:nvSpPr>
              <p:spPr>
                <a:xfrm flipH="1">
                  <a:off x="2914650" y="122237"/>
                  <a:ext cx="1" cy="2244725"/>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618" name="Line 46"/>
                <p:cNvSpPr/>
                <p:nvPr/>
              </p:nvSpPr>
              <p:spPr>
                <a:xfrm flipH="1">
                  <a:off x="2428557" y="242887"/>
                  <a:ext cx="1" cy="2133600"/>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619" name="Line 47"/>
                <p:cNvSpPr/>
                <p:nvPr/>
              </p:nvSpPr>
              <p:spPr>
                <a:xfrm flipH="1">
                  <a:off x="1949450" y="365124"/>
                  <a:ext cx="1" cy="2001838"/>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620" name="Line 48"/>
                <p:cNvSpPr/>
                <p:nvPr/>
              </p:nvSpPr>
              <p:spPr>
                <a:xfrm flipH="1">
                  <a:off x="1452562" y="487362"/>
                  <a:ext cx="1" cy="1889125"/>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621" name="Line 49"/>
                <p:cNvSpPr/>
                <p:nvPr/>
              </p:nvSpPr>
              <p:spPr>
                <a:xfrm flipH="1">
                  <a:off x="954087" y="609599"/>
                  <a:ext cx="1" cy="1766889"/>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622" name="Line 50"/>
                <p:cNvSpPr/>
                <p:nvPr/>
              </p:nvSpPr>
              <p:spPr>
                <a:xfrm flipH="1">
                  <a:off x="467995" y="731837"/>
                  <a:ext cx="1" cy="1644650"/>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sp>
              <p:nvSpPr>
                <p:cNvPr id="623" name="Line 51"/>
                <p:cNvSpPr/>
                <p:nvPr/>
              </p:nvSpPr>
              <p:spPr>
                <a:xfrm flipH="1">
                  <a:off x="-1" y="852487"/>
                  <a:ext cx="1" cy="1514475"/>
                </a:xfrm>
                <a:prstGeom prst="line">
                  <a:avLst/>
                </a:prstGeom>
                <a:noFill/>
                <a:ln w="38100" cap="flat">
                  <a:solidFill>
                    <a:srgbClr val="99CCFF"/>
                  </a:solidFill>
                  <a:prstDash val="solid"/>
                  <a:round/>
                  <a:tailEnd type="triangle" w="med" len="med"/>
                </a:ln>
                <a:effectLst/>
              </p:spPr>
              <p:txBody>
                <a:bodyPr wrap="square" lIns="45719" tIns="45719" rIns="45719" bIns="45719" numCol="1" anchor="t">
                  <a:noAutofit/>
                </a:bodyPr>
                <a:lstStyle/>
                <a:p/>
              </p:txBody>
            </p:sp>
          </p:grpSp>
          <p:sp>
            <p:nvSpPr>
              <p:cNvPr id="625" name="Text Box 73"/>
              <p:cNvSpPr txBox="1"/>
              <p:nvPr/>
            </p:nvSpPr>
            <p:spPr>
              <a:xfrm>
                <a:off x="3403282" y="1537644"/>
                <a:ext cx="316751" cy="461662"/>
              </a:xfrm>
              <a:prstGeom prst="rect">
                <a:avLst/>
              </a:prstGeom>
              <a:noFill/>
              <a:ln w="12700" cap="flat">
                <a:noFill/>
                <a:miter lim="400000"/>
              </a:ln>
              <a:effectLst/>
            </p:spPr>
            <p:txBody>
              <a:bodyPr wrap="none" lIns="45719" tIns="45719" rIns="45719" bIns="45719" numCol="1" anchor="ctr">
                <a:spAutoFit/>
              </a:bodyPr>
              <a:lstStyle/>
              <a:p>
                <a:pPr>
                  <a:defRPr sz="1200"/>
                </a:pPr>
                <a:r>
                  <a:rPr sz="1200"/>
                  <a:t>bits</a:t>
                </a:r>
                <a:endParaRPr sz="1200"/>
              </a:p>
              <a:p>
                <a:pPr>
                  <a:defRPr sz="1200"/>
                </a:pPr>
                <a:r>
                  <a:rPr sz="1200"/>
                  <a:t>0-7</a:t>
                </a:r>
                <a:endParaRPr sz="1200"/>
              </a:p>
            </p:txBody>
          </p:sp>
          <p:sp>
            <p:nvSpPr>
              <p:cNvPr id="626" name="Text Box 76"/>
              <p:cNvSpPr txBox="1"/>
              <p:nvPr/>
            </p:nvSpPr>
            <p:spPr>
              <a:xfrm>
                <a:off x="2930207" y="1537644"/>
                <a:ext cx="345605" cy="461662"/>
              </a:xfrm>
              <a:prstGeom prst="rect">
                <a:avLst/>
              </a:prstGeom>
              <a:noFill/>
              <a:ln w="12700" cap="flat">
                <a:noFill/>
                <a:miter lim="400000"/>
              </a:ln>
              <a:effectLst/>
            </p:spPr>
            <p:txBody>
              <a:bodyPr wrap="none" lIns="45719" tIns="45719" rIns="45719" bIns="45719" numCol="1" anchor="ctr">
                <a:spAutoFit/>
              </a:bodyPr>
              <a:lstStyle/>
              <a:p>
                <a:pPr>
                  <a:defRPr sz="1200"/>
                </a:pPr>
                <a:r>
                  <a:rPr sz="1200"/>
                  <a:t>bits</a:t>
                </a:r>
                <a:endParaRPr sz="1200"/>
              </a:p>
              <a:p>
                <a:pPr>
                  <a:defRPr sz="1200"/>
                </a:pPr>
                <a:r>
                  <a:rPr sz="1200"/>
                  <a:t>8-15</a:t>
                </a:r>
                <a:endParaRPr sz="1200"/>
              </a:p>
            </p:txBody>
          </p:sp>
          <p:sp>
            <p:nvSpPr>
              <p:cNvPr id="627" name="Text Box 77"/>
              <p:cNvSpPr txBox="1"/>
              <p:nvPr/>
            </p:nvSpPr>
            <p:spPr>
              <a:xfrm>
                <a:off x="2441257" y="1537644"/>
                <a:ext cx="416138" cy="461662"/>
              </a:xfrm>
              <a:prstGeom prst="rect">
                <a:avLst/>
              </a:prstGeom>
              <a:noFill/>
              <a:ln w="12700" cap="flat">
                <a:noFill/>
                <a:miter lim="400000"/>
              </a:ln>
              <a:effectLst/>
            </p:spPr>
            <p:txBody>
              <a:bodyPr wrap="none" lIns="45719" tIns="45719" rIns="45719" bIns="45719" numCol="1" anchor="ctr">
                <a:spAutoFit/>
              </a:bodyPr>
              <a:lstStyle/>
              <a:p>
                <a:pPr>
                  <a:defRPr sz="1200"/>
                </a:pPr>
                <a:r>
                  <a:rPr sz="1200"/>
                  <a:t>bits</a:t>
                </a:r>
                <a:endParaRPr sz="1200"/>
              </a:p>
              <a:p>
                <a:pPr>
                  <a:defRPr sz="1200"/>
                </a:pPr>
                <a:r>
                  <a:rPr sz="1200"/>
                  <a:t>16-23</a:t>
                </a:r>
                <a:endParaRPr sz="1200"/>
              </a:p>
            </p:txBody>
          </p:sp>
          <p:sp>
            <p:nvSpPr>
              <p:cNvPr id="628" name="Text Box 78"/>
              <p:cNvSpPr txBox="1"/>
              <p:nvPr/>
            </p:nvSpPr>
            <p:spPr>
              <a:xfrm>
                <a:off x="1953895" y="1537644"/>
                <a:ext cx="416138" cy="461662"/>
              </a:xfrm>
              <a:prstGeom prst="rect">
                <a:avLst/>
              </a:prstGeom>
              <a:noFill/>
              <a:ln w="12700" cap="flat">
                <a:noFill/>
                <a:miter lim="400000"/>
              </a:ln>
              <a:effectLst/>
            </p:spPr>
            <p:txBody>
              <a:bodyPr wrap="none" lIns="45719" tIns="45719" rIns="45719" bIns="45719" numCol="1" anchor="ctr">
                <a:spAutoFit/>
              </a:bodyPr>
              <a:lstStyle/>
              <a:p>
                <a:pPr>
                  <a:defRPr sz="1200"/>
                </a:pPr>
                <a:r>
                  <a:rPr sz="1200"/>
                  <a:t>bits</a:t>
                </a:r>
                <a:endParaRPr sz="1200"/>
              </a:p>
              <a:p>
                <a:pPr>
                  <a:defRPr sz="1200"/>
                </a:pPr>
                <a:r>
                  <a:rPr sz="1200"/>
                  <a:t>24-31</a:t>
                </a:r>
                <a:endParaRPr sz="1200"/>
              </a:p>
            </p:txBody>
          </p:sp>
          <p:sp>
            <p:nvSpPr>
              <p:cNvPr id="629" name="Text Box 79"/>
              <p:cNvSpPr txBox="1"/>
              <p:nvPr/>
            </p:nvSpPr>
            <p:spPr>
              <a:xfrm>
                <a:off x="1466532" y="1537644"/>
                <a:ext cx="416138" cy="461662"/>
              </a:xfrm>
              <a:prstGeom prst="rect">
                <a:avLst/>
              </a:prstGeom>
              <a:noFill/>
              <a:ln w="12700" cap="flat">
                <a:noFill/>
                <a:miter lim="400000"/>
              </a:ln>
              <a:effectLst/>
            </p:spPr>
            <p:txBody>
              <a:bodyPr wrap="none" lIns="45719" tIns="45719" rIns="45719" bIns="45719" numCol="1" anchor="ctr">
                <a:spAutoFit/>
              </a:bodyPr>
              <a:lstStyle/>
              <a:p>
                <a:pPr>
                  <a:defRPr sz="1200"/>
                </a:pPr>
                <a:r>
                  <a:rPr sz="1200"/>
                  <a:t>bits</a:t>
                </a:r>
                <a:endParaRPr sz="1200"/>
              </a:p>
              <a:p>
                <a:pPr>
                  <a:defRPr sz="1200"/>
                </a:pPr>
                <a:r>
                  <a:rPr sz="1200"/>
                  <a:t>32-39</a:t>
                </a:r>
                <a:endParaRPr sz="1200"/>
              </a:p>
            </p:txBody>
          </p:sp>
          <p:sp>
            <p:nvSpPr>
              <p:cNvPr id="630" name="Text Box 80"/>
              <p:cNvSpPr txBox="1"/>
              <p:nvPr/>
            </p:nvSpPr>
            <p:spPr>
              <a:xfrm>
                <a:off x="947420" y="1537644"/>
                <a:ext cx="416138" cy="461662"/>
              </a:xfrm>
              <a:prstGeom prst="rect">
                <a:avLst/>
              </a:prstGeom>
              <a:noFill/>
              <a:ln w="12700" cap="flat">
                <a:noFill/>
                <a:miter lim="400000"/>
              </a:ln>
              <a:effectLst/>
            </p:spPr>
            <p:txBody>
              <a:bodyPr wrap="none" lIns="45719" tIns="45719" rIns="45719" bIns="45719" numCol="1" anchor="ctr">
                <a:spAutoFit/>
              </a:bodyPr>
              <a:lstStyle/>
              <a:p>
                <a:pPr>
                  <a:defRPr sz="1200"/>
                </a:pPr>
                <a:r>
                  <a:rPr sz="1200"/>
                  <a:t>bits</a:t>
                </a:r>
                <a:endParaRPr sz="1200"/>
              </a:p>
              <a:p>
                <a:pPr>
                  <a:defRPr sz="1200"/>
                </a:pPr>
                <a:r>
                  <a:rPr sz="1200"/>
                  <a:t>40-47</a:t>
                </a:r>
                <a:endParaRPr sz="1200"/>
              </a:p>
            </p:txBody>
          </p:sp>
          <p:sp>
            <p:nvSpPr>
              <p:cNvPr id="631" name="Text Box 81"/>
              <p:cNvSpPr txBox="1"/>
              <p:nvPr/>
            </p:nvSpPr>
            <p:spPr>
              <a:xfrm>
                <a:off x="460057" y="1537644"/>
                <a:ext cx="416138" cy="461662"/>
              </a:xfrm>
              <a:prstGeom prst="rect">
                <a:avLst/>
              </a:prstGeom>
              <a:noFill/>
              <a:ln w="12700" cap="flat">
                <a:noFill/>
                <a:miter lim="400000"/>
              </a:ln>
              <a:effectLst/>
            </p:spPr>
            <p:txBody>
              <a:bodyPr wrap="none" lIns="45719" tIns="45719" rIns="45719" bIns="45719" numCol="1" anchor="ctr">
                <a:spAutoFit/>
              </a:bodyPr>
              <a:lstStyle/>
              <a:p>
                <a:pPr>
                  <a:defRPr sz="1200"/>
                </a:pPr>
                <a:r>
                  <a:rPr sz="1200"/>
                  <a:t>bits</a:t>
                </a:r>
                <a:endParaRPr sz="1200"/>
              </a:p>
              <a:p>
                <a:pPr>
                  <a:defRPr sz="1200"/>
                </a:pPr>
                <a:r>
                  <a:rPr sz="1200"/>
                  <a:t>48-55</a:t>
                </a:r>
                <a:endParaRPr sz="1200"/>
              </a:p>
            </p:txBody>
          </p:sp>
          <p:sp>
            <p:nvSpPr>
              <p:cNvPr id="632" name="Text Box 82"/>
              <p:cNvSpPr txBox="1"/>
              <p:nvPr/>
            </p:nvSpPr>
            <p:spPr>
              <a:xfrm>
                <a:off x="4445" y="1537644"/>
                <a:ext cx="416138" cy="461662"/>
              </a:xfrm>
              <a:prstGeom prst="rect">
                <a:avLst/>
              </a:prstGeom>
              <a:noFill/>
              <a:ln w="12700" cap="flat">
                <a:noFill/>
                <a:miter lim="400000"/>
              </a:ln>
              <a:effectLst/>
            </p:spPr>
            <p:txBody>
              <a:bodyPr wrap="none" lIns="45719" tIns="45719" rIns="45719" bIns="45719" numCol="1" anchor="ctr">
                <a:spAutoFit/>
              </a:bodyPr>
              <a:lstStyle/>
              <a:p>
                <a:pPr>
                  <a:defRPr sz="1200"/>
                </a:pPr>
                <a:r>
                  <a:rPr sz="1200"/>
                  <a:t>bits</a:t>
                </a:r>
                <a:endParaRPr sz="1200"/>
              </a:p>
              <a:p>
                <a:pPr>
                  <a:defRPr sz="1200"/>
                </a:pPr>
                <a:r>
                  <a:rPr sz="1200"/>
                  <a:t>56-63</a:t>
                </a:r>
                <a:endParaRPr sz="1200"/>
              </a:p>
            </p:txBody>
          </p:sp>
        </p:grpSp>
      </p:grpSp>
      <p:grpSp>
        <p:nvGrpSpPr>
          <p:cNvPr id="664" name="Group 139"/>
          <p:cNvGrpSpPr/>
          <p:nvPr/>
        </p:nvGrpSpPr>
        <p:grpSpPr>
          <a:xfrm>
            <a:off x="3900168" y="4950540"/>
            <a:ext cx="3993380" cy="1831263"/>
            <a:chOff x="-1" y="-7540"/>
            <a:chExt cx="3993378" cy="1831261"/>
          </a:xfrm>
        </p:grpSpPr>
        <p:grpSp>
          <p:nvGrpSpPr>
            <p:cNvPr id="637" name="Group 105"/>
            <p:cNvGrpSpPr/>
            <p:nvPr/>
          </p:nvGrpSpPr>
          <p:grpSpPr>
            <a:xfrm>
              <a:off x="1554480" y="1031557"/>
              <a:ext cx="1789780" cy="792164"/>
              <a:chOff x="0" y="0"/>
              <a:chExt cx="1789779" cy="792163"/>
            </a:xfrm>
          </p:grpSpPr>
          <p:sp>
            <p:nvSpPr>
              <p:cNvPr id="635" name="AutoShape 83"/>
              <p:cNvSpPr/>
              <p:nvPr/>
            </p:nvSpPr>
            <p:spPr>
              <a:xfrm>
                <a:off x="0" y="0"/>
                <a:ext cx="854075" cy="792163"/>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rgbClr val="FF99CC"/>
              </a:solidFill>
              <a:ln w="12700" cap="flat">
                <a:solidFill>
                  <a:srgbClr val="000004"/>
                </a:solidFill>
                <a:prstDash val="solid"/>
                <a:miter lim="800000"/>
              </a:ln>
              <a:effectLst>
                <a:outerShdw blurRad="63500" dist="38099" dir="2700000" rotWithShape="0">
                  <a:srgbClr val="000004">
                    <a:alpha val="74998"/>
                  </a:srgbClr>
                </a:outerShdw>
              </a:effectLst>
            </p:spPr>
            <p:txBody>
              <a:bodyPr wrap="square" lIns="45719" tIns="45719" rIns="45719" bIns="45719" numCol="1" anchor="ctr">
                <a:noAutofit/>
              </a:bodyPr>
              <a:lstStyle/>
              <a:p/>
            </p:txBody>
          </p:sp>
          <p:sp>
            <p:nvSpPr>
              <p:cNvPr id="636" name="Text Box 84"/>
              <p:cNvSpPr txBox="1"/>
              <p:nvPr/>
            </p:nvSpPr>
            <p:spPr>
              <a:xfrm>
                <a:off x="801370" y="122030"/>
                <a:ext cx="988409" cy="338551"/>
              </a:xfrm>
              <a:prstGeom prst="rect">
                <a:avLst/>
              </a:prstGeom>
              <a:noFill/>
              <a:ln w="12700" cap="flat">
                <a:noFill/>
                <a:miter lim="400000"/>
              </a:ln>
              <a:effectLst/>
            </p:spPr>
            <p:txBody>
              <a:bodyPr wrap="none" lIns="45719" tIns="45719" rIns="45719" bIns="45719" numCol="1" anchor="ctr">
                <a:spAutoFit/>
              </a:bodyPr>
              <a:lstStyle>
                <a:lvl1pPr>
                  <a:defRPr sz="1600"/>
                </a:lvl1pPr>
              </a:lstStyle>
              <a:p>
                <a:r>
                  <a:t>64-bit word</a:t>
                </a:r>
              </a:p>
            </p:txBody>
          </p:sp>
        </p:grpSp>
        <p:grpSp>
          <p:nvGrpSpPr>
            <p:cNvPr id="663" name="Group 110"/>
            <p:cNvGrpSpPr/>
            <p:nvPr/>
          </p:nvGrpSpPr>
          <p:grpSpPr>
            <a:xfrm>
              <a:off x="-1" y="-7540"/>
              <a:ext cx="3993378" cy="451723"/>
              <a:chOff x="0" y="-7539"/>
              <a:chExt cx="3993376" cy="451721"/>
            </a:xfrm>
          </p:grpSpPr>
          <p:sp>
            <p:nvSpPr>
              <p:cNvPr id="638" name="Text Box 111"/>
              <p:cNvSpPr txBox="1"/>
              <p:nvPr/>
            </p:nvSpPr>
            <p:spPr>
              <a:xfrm>
                <a:off x="3843337" y="-7539"/>
                <a:ext cx="150039"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0</a:t>
                </a:r>
              </a:p>
            </p:txBody>
          </p:sp>
          <p:sp>
            <p:nvSpPr>
              <p:cNvPr id="639" name="Text Box 112"/>
              <p:cNvSpPr txBox="1"/>
              <p:nvPr/>
            </p:nvSpPr>
            <p:spPr>
              <a:xfrm>
                <a:off x="1947862"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31</a:t>
                </a:r>
              </a:p>
            </p:txBody>
          </p:sp>
          <p:sp>
            <p:nvSpPr>
              <p:cNvPr id="640" name="Text Box 113"/>
              <p:cNvSpPr txBox="1"/>
              <p:nvPr/>
            </p:nvSpPr>
            <p:spPr>
              <a:xfrm>
                <a:off x="3455987" y="-7539"/>
                <a:ext cx="150039"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7</a:t>
                </a:r>
              </a:p>
            </p:txBody>
          </p:sp>
          <p:sp>
            <p:nvSpPr>
              <p:cNvPr id="641" name="Text Box 114"/>
              <p:cNvSpPr txBox="1"/>
              <p:nvPr/>
            </p:nvSpPr>
            <p:spPr>
              <a:xfrm>
                <a:off x="3311525" y="-7539"/>
                <a:ext cx="150039"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8</a:t>
                </a:r>
              </a:p>
            </p:txBody>
          </p:sp>
          <p:sp>
            <p:nvSpPr>
              <p:cNvPr id="642" name="Text Box 115"/>
              <p:cNvSpPr txBox="1"/>
              <p:nvPr/>
            </p:nvSpPr>
            <p:spPr>
              <a:xfrm>
                <a:off x="2922587"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15</a:t>
                </a:r>
              </a:p>
            </p:txBody>
          </p:sp>
          <p:sp>
            <p:nvSpPr>
              <p:cNvPr id="643" name="Text Box 116"/>
              <p:cNvSpPr txBox="1"/>
              <p:nvPr/>
            </p:nvSpPr>
            <p:spPr>
              <a:xfrm>
                <a:off x="2740025"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16</a:t>
                </a:r>
              </a:p>
            </p:txBody>
          </p:sp>
          <p:sp>
            <p:nvSpPr>
              <p:cNvPr id="644" name="Text Box 117"/>
              <p:cNvSpPr txBox="1"/>
              <p:nvPr/>
            </p:nvSpPr>
            <p:spPr>
              <a:xfrm>
                <a:off x="2479675"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23</a:t>
                </a:r>
              </a:p>
            </p:txBody>
          </p:sp>
          <p:sp>
            <p:nvSpPr>
              <p:cNvPr id="645" name="Text Box 118"/>
              <p:cNvSpPr txBox="1"/>
              <p:nvPr/>
            </p:nvSpPr>
            <p:spPr>
              <a:xfrm>
                <a:off x="2312987"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24</a:t>
                </a:r>
              </a:p>
            </p:txBody>
          </p:sp>
          <p:sp>
            <p:nvSpPr>
              <p:cNvPr id="646" name="Text Box 119"/>
              <p:cNvSpPr txBox="1"/>
              <p:nvPr/>
            </p:nvSpPr>
            <p:spPr>
              <a:xfrm>
                <a:off x="1782762"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32</a:t>
                </a:r>
              </a:p>
            </p:txBody>
          </p:sp>
          <p:sp>
            <p:nvSpPr>
              <p:cNvPr id="647" name="Text Box 120"/>
              <p:cNvSpPr txBox="1"/>
              <p:nvPr/>
            </p:nvSpPr>
            <p:spPr>
              <a:xfrm>
                <a:off x="0"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63</a:t>
                </a:r>
              </a:p>
            </p:txBody>
          </p:sp>
          <p:sp>
            <p:nvSpPr>
              <p:cNvPr id="648" name="Text Box 121"/>
              <p:cNvSpPr txBox="1"/>
              <p:nvPr/>
            </p:nvSpPr>
            <p:spPr>
              <a:xfrm>
                <a:off x="1490662"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39</a:t>
                </a:r>
              </a:p>
            </p:txBody>
          </p:sp>
          <p:sp>
            <p:nvSpPr>
              <p:cNvPr id="649" name="Text Box 122"/>
              <p:cNvSpPr txBox="1"/>
              <p:nvPr/>
            </p:nvSpPr>
            <p:spPr>
              <a:xfrm>
                <a:off x="1293812"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40</a:t>
                </a:r>
              </a:p>
            </p:txBody>
          </p:sp>
          <p:sp>
            <p:nvSpPr>
              <p:cNvPr id="650" name="Text Box 123"/>
              <p:cNvSpPr txBox="1"/>
              <p:nvPr/>
            </p:nvSpPr>
            <p:spPr>
              <a:xfrm>
                <a:off x="974725"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47</a:t>
                </a:r>
              </a:p>
            </p:txBody>
          </p:sp>
          <p:sp>
            <p:nvSpPr>
              <p:cNvPr id="651" name="Text Box 124"/>
              <p:cNvSpPr txBox="1"/>
              <p:nvPr/>
            </p:nvSpPr>
            <p:spPr>
              <a:xfrm>
                <a:off x="806450"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48</a:t>
                </a:r>
              </a:p>
            </p:txBody>
          </p:sp>
          <p:sp>
            <p:nvSpPr>
              <p:cNvPr id="652" name="Text Box 125"/>
              <p:cNvSpPr txBox="1"/>
              <p:nvPr/>
            </p:nvSpPr>
            <p:spPr>
              <a:xfrm>
                <a:off x="501650"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55</a:t>
                </a:r>
              </a:p>
            </p:txBody>
          </p:sp>
          <p:sp>
            <p:nvSpPr>
              <p:cNvPr id="653" name="Text Box 126"/>
              <p:cNvSpPr txBox="1"/>
              <p:nvPr/>
            </p:nvSpPr>
            <p:spPr>
              <a:xfrm>
                <a:off x="301625" y="-7539"/>
                <a:ext cx="207747" cy="246218"/>
              </a:xfrm>
              <a:prstGeom prst="rect">
                <a:avLst/>
              </a:prstGeom>
              <a:noFill/>
              <a:ln w="12700" cap="flat">
                <a:noFill/>
                <a:miter lim="400000"/>
              </a:ln>
              <a:effectLst/>
            </p:spPr>
            <p:txBody>
              <a:bodyPr wrap="none" lIns="45719" tIns="45719" rIns="45719" bIns="45719" numCol="1" anchor="ctr">
                <a:spAutoFit/>
              </a:bodyPr>
              <a:lstStyle>
                <a:lvl1pPr>
                  <a:defRPr sz="1000"/>
                </a:lvl1pPr>
              </a:lstStyle>
              <a:p>
                <a:r>
                  <a:t>56</a:t>
                </a:r>
              </a:p>
            </p:txBody>
          </p:sp>
          <p:grpSp>
            <p:nvGrpSpPr>
              <p:cNvPr id="662" name="Group 128"/>
              <p:cNvGrpSpPr/>
              <p:nvPr/>
            </p:nvGrpSpPr>
            <p:grpSpPr>
              <a:xfrm>
                <a:off x="62230" y="199707"/>
                <a:ext cx="3883026" cy="244475"/>
                <a:chOff x="0" y="0"/>
                <a:chExt cx="3883025" cy="244474"/>
              </a:xfrm>
            </p:grpSpPr>
            <p:sp>
              <p:nvSpPr>
                <p:cNvPr id="654" name="Rectangle 129"/>
                <p:cNvSpPr/>
                <p:nvPr/>
              </p:nvSpPr>
              <p:spPr>
                <a:xfrm>
                  <a:off x="1931987"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55" name="Rectangle 130"/>
                <p:cNvSpPr/>
                <p:nvPr/>
              </p:nvSpPr>
              <p:spPr>
                <a:xfrm>
                  <a:off x="2419350"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56" name="Rectangle 131"/>
                <p:cNvSpPr/>
                <p:nvPr/>
              </p:nvSpPr>
              <p:spPr>
                <a:xfrm>
                  <a:off x="2906712"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57" name="Rectangle 132"/>
                <p:cNvSpPr/>
                <p:nvPr/>
              </p:nvSpPr>
              <p:spPr>
                <a:xfrm>
                  <a:off x="3394075" y="-1"/>
                  <a:ext cx="488951"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58" name="Rectangle 133"/>
                <p:cNvSpPr/>
                <p:nvPr/>
              </p:nvSpPr>
              <p:spPr>
                <a:xfrm>
                  <a:off x="-1"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59" name="Rectangle 134"/>
                <p:cNvSpPr/>
                <p:nvPr/>
              </p:nvSpPr>
              <p:spPr>
                <a:xfrm>
                  <a:off x="487362"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60" name="Rectangle 135"/>
                <p:cNvSpPr/>
                <p:nvPr/>
              </p:nvSpPr>
              <p:spPr>
                <a:xfrm>
                  <a:off x="974725"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sp>
              <p:nvSpPr>
                <p:cNvPr id="661" name="Rectangle 136"/>
                <p:cNvSpPr/>
                <p:nvPr/>
              </p:nvSpPr>
              <p:spPr>
                <a:xfrm>
                  <a:off x="1462087" y="-1"/>
                  <a:ext cx="487363" cy="244476"/>
                </a:xfrm>
                <a:prstGeom prst="rect">
                  <a:avLst/>
                </a:prstGeom>
                <a:solidFill>
                  <a:srgbClr val="FF99CC"/>
                </a:solidFill>
                <a:ln w="12700" cap="flat">
                  <a:solidFill>
                    <a:srgbClr val="000000"/>
                  </a:solidFill>
                  <a:prstDash val="solid"/>
                  <a:miter lim="800000"/>
                </a:ln>
                <a:effectLst/>
              </p:spPr>
              <p:txBody>
                <a:bodyPr wrap="square" lIns="45719" tIns="45719" rIns="45719" bIns="45719" numCol="1" anchor="ctr">
                  <a:noAutofit/>
                </a:bodyPr>
                <a:lstStyle/>
                <a:p/>
              </p:txBody>
            </p:sp>
          </p:grpSp>
        </p:grpSp>
      </p:gr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5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indefinite" fill="hold"/>
                                        <p:tgtEl>
                                          <p:spTgt spid="6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indefinite" fill="hold"/>
                                        <p:tgtEl>
                                          <p:spTgt spid="6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 grpId="0" animBg="1" advAuto="0"/>
      <p:bldP spid="634" grpId="0" animBg="1" advAuto="0"/>
      <p:bldP spid="664" grpId="0" animBg="1" advAuto="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435" name="Rectangle 30"/>
          <p:cNvSpPr txBox="1">
            <a:spLocks noGrp="1"/>
          </p:cNvSpPr>
          <p:nvPr>
            <p:ph type="title"/>
          </p:nvPr>
        </p:nvSpPr>
        <p:spPr>
          <a:xfrm>
            <a:off x="1881018" y="435679"/>
            <a:ext cx="7592095" cy="762001"/>
          </a:xfrm>
          <a:prstGeom prst="rect">
            <a:avLst/>
          </a:prstGeom>
        </p:spPr>
        <p:txBody>
          <a:bodyPr/>
          <a:lstStyle/>
          <a:p>
            <a:r>
              <a:t>Disk Operation (Multi-Platter View)</a:t>
            </a:r>
          </a:p>
        </p:txBody>
      </p:sp>
      <p:sp>
        <p:nvSpPr>
          <p:cNvPr id="1436" name="Line 4"/>
          <p:cNvSpPr/>
          <p:nvPr/>
        </p:nvSpPr>
        <p:spPr>
          <a:xfrm flipH="1">
            <a:off x="6742113" y="2720975"/>
            <a:ext cx="457201" cy="0"/>
          </a:xfrm>
          <a:prstGeom prst="line">
            <a:avLst/>
          </a:prstGeom>
          <a:ln w="38100">
            <a:solidFill>
              <a:srgbClr val="000000"/>
            </a:solidFill>
          </a:ln>
        </p:spPr>
        <p:txBody>
          <a:bodyPr lIns="45719" rIns="45719"/>
          <a:lstStyle/>
          <a:p/>
        </p:txBody>
      </p:sp>
      <p:sp>
        <p:nvSpPr>
          <p:cNvPr id="1437" name="Oval 5"/>
          <p:cNvSpPr/>
          <p:nvPr/>
        </p:nvSpPr>
        <p:spPr>
          <a:xfrm>
            <a:off x="6602413" y="2682875"/>
            <a:ext cx="304801" cy="76200"/>
          </a:xfrm>
          <a:prstGeom prst="ellipse">
            <a:avLst/>
          </a:prstGeom>
          <a:solidFill>
            <a:srgbClr val="00FFFF"/>
          </a:solidFill>
          <a:ln w="12700">
            <a:solidFill>
              <a:srgbClr val="000000"/>
            </a:solidFill>
          </a:ln>
        </p:spPr>
        <p:txBody>
          <a:bodyPr lIns="45719" rIns="45719" anchor="ctr"/>
          <a:lstStyle/>
          <a:p/>
        </p:txBody>
      </p:sp>
      <p:sp>
        <p:nvSpPr>
          <p:cNvPr id="1438" name="Line 6"/>
          <p:cNvSpPr/>
          <p:nvPr/>
        </p:nvSpPr>
        <p:spPr>
          <a:xfrm flipH="1">
            <a:off x="6745288" y="3279775"/>
            <a:ext cx="457201" cy="0"/>
          </a:xfrm>
          <a:prstGeom prst="line">
            <a:avLst/>
          </a:prstGeom>
          <a:ln w="38100">
            <a:solidFill>
              <a:srgbClr val="000000"/>
            </a:solidFill>
          </a:ln>
        </p:spPr>
        <p:txBody>
          <a:bodyPr lIns="45719" rIns="45719"/>
          <a:lstStyle/>
          <a:p/>
        </p:txBody>
      </p:sp>
      <p:sp>
        <p:nvSpPr>
          <p:cNvPr id="1439" name="Oval 7"/>
          <p:cNvSpPr/>
          <p:nvPr/>
        </p:nvSpPr>
        <p:spPr>
          <a:xfrm>
            <a:off x="6605588" y="3241675"/>
            <a:ext cx="304801" cy="76200"/>
          </a:xfrm>
          <a:prstGeom prst="ellipse">
            <a:avLst/>
          </a:prstGeom>
          <a:solidFill>
            <a:srgbClr val="00FFFF"/>
          </a:solidFill>
          <a:ln w="12700">
            <a:solidFill>
              <a:srgbClr val="000000"/>
            </a:solidFill>
          </a:ln>
        </p:spPr>
        <p:txBody>
          <a:bodyPr lIns="45719" rIns="45719" anchor="ctr"/>
          <a:lstStyle/>
          <a:p/>
        </p:txBody>
      </p:sp>
      <p:sp>
        <p:nvSpPr>
          <p:cNvPr id="1440" name="Line 8"/>
          <p:cNvSpPr/>
          <p:nvPr/>
        </p:nvSpPr>
        <p:spPr>
          <a:xfrm flipH="1">
            <a:off x="6742113" y="3889375"/>
            <a:ext cx="457201" cy="0"/>
          </a:xfrm>
          <a:prstGeom prst="line">
            <a:avLst/>
          </a:prstGeom>
          <a:ln w="38100">
            <a:solidFill>
              <a:srgbClr val="000000"/>
            </a:solidFill>
          </a:ln>
        </p:spPr>
        <p:txBody>
          <a:bodyPr lIns="45719" rIns="45719"/>
          <a:lstStyle/>
          <a:p/>
        </p:txBody>
      </p:sp>
      <p:sp>
        <p:nvSpPr>
          <p:cNvPr id="1441" name="Oval 9"/>
          <p:cNvSpPr/>
          <p:nvPr/>
        </p:nvSpPr>
        <p:spPr>
          <a:xfrm>
            <a:off x="6602413" y="3851275"/>
            <a:ext cx="304801" cy="76200"/>
          </a:xfrm>
          <a:prstGeom prst="ellipse">
            <a:avLst/>
          </a:prstGeom>
          <a:solidFill>
            <a:srgbClr val="00FFFF"/>
          </a:solidFill>
          <a:ln w="12700">
            <a:solidFill>
              <a:srgbClr val="000000"/>
            </a:solidFill>
          </a:ln>
        </p:spPr>
        <p:txBody>
          <a:bodyPr lIns="45719" rIns="45719" anchor="ctr"/>
          <a:lstStyle/>
          <a:p/>
        </p:txBody>
      </p:sp>
      <p:grpSp>
        <p:nvGrpSpPr>
          <p:cNvPr id="1445" name="AutoShape 10"/>
          <p:cNvGrpSpPr/>
          <p:nvPr/>
        </p:nvGrpSpPr>
        <p:grpSpPr>
          <a:xfrm>
            <a:off x="5627688" y="3736975"/>
            <a:ext cx="381001" cy="635001"/>
            <a:chOff x="0" y="0"/>
            <a:chExt cx="381000" cy="635000"/>
          </a:xfrm>
        </p:grpSpPr>
        <p:sp>
          <p:nvSpPr>
            <p:cNvPr id="1442" name="Shape"/>
            <p:cNvSpPr/>
            <p:nvPr/>
          </p:nvSpPr>
          <p:spPr>
            <a:xfrm>
              <a:off x="0" y="0"/>
              <a:ext cx="381001" cy="635001"/>
            </a:xfrm>
            <a:custGeom>
              <a:avLst/>
              <a:gdLst/>
              <a:ahLst/>
              <a:cxnLst>
                <a:cxn ang="0">
                  <a:pos x="wd2" y="hd2"/>
                </a:cxn>
                <a:cxn ang="5400000">
                  <a:pos x="wd2" y="hd2"/>
                </a:cxn>
                <a:cxn ang="10800000">
                  <a:pos x="wd2" y="hd2"/>
                </a:cxn>
                <a:cxn ang="16200000">
                  <a:pos x="wd2" y="hd2"/>
                </a:cxn>
              </a:cxnLst>
              <a:rect l="0" t="0" r="r" b="b"/>
              <a:pathLst>
                <a:path w="21600" h="21600" extrusionOk="0">
                  <a:moveTo>
                    <a:pt x="0" y="923"/>
                  </a:moveTo>
                  <a:cubicBezTo>
                    <a:pt x="0" y="413"/>
                    <a:pt x="4835" y="0"/>
                    <a:pt x="10800" y="0"/>
                  </a:cubicBezTo>
                  <a:cubicBezTo>
                    <a:pt x="16765" y="0"/>
                    <a:pt x="21600" y="413"/>
                    <a:pt x="21600" y="923"/>
                  </a:cubicBezTo>
                  <a:lnTo>
                    <a:pt x="21600" y="20677"/>
                  </a:lnTo>
                  <a:cubicBezTo>
                    <a:pt x="21600" y="21187"/>
                    <a:pt x="16765" y="21600"/>
                    <a:pt x="10800" y="21600"/>
                  </a:cubicBezTo>
                  <a:cubicBezTo>
                    <a:pt x="4835" y="21600"/>
                    <a:pt x="0" y="21187"/>
                    <a:pt x="0" y="20677"/>
                  </a:cubicBezTo>
                  <a:close/>
                </a:path>
              </a:pathLst>
            </a:custGeom>
            <a:solidFill>
              <a:srgbClr val="00FFFF"/>
            </a:solidFill>
            <a:ln w="12700" cap="flat">
              <a:noFill/>
              <a:miter lim="400000"/>
            </a:ln>
            <a:effectLst/>
          </p:spPr>
          <p:txBody>
            <a:bodyPr wrap="square" lIns="45719" tIns="45719" rIns="45719" bIns="45719" numCol="1" anchor="ctr">
              <a:noAutofit/>
            </a:bodyPr>
            <a:lstStyle/>
            <a:p/>
          </p:txBody>
        </p:sp>
        <p:sp>
          <p:nvSpPr>
            <p:cNvPr id="1443" name="Oval"/>
            <p:cNvSpPr/>
            <p:nvPr/>
          </p:nvSpPr>
          <p:spPr>
            <a:xfrm>
              <a:off x="0" y="-1"/>
              <a:ext cx="381000" cy="54271"/>
            </a:xfrm>
            <a:prstGeom prst="ellipse">
              <a:avLst/>
            </a:prstGeom>
            <a:solidFill>
              <a:schemeClr val="accent3">
                <a:lumOff val="44000"/>
                <a:alpha val="40000"/>
              </a:schemeClr>
            </a:solidFill>
            <a:ln w="12700" cap="flat">
              <a:noFill/>
              <a:miter lim="400000"/>
            </a:ln>
            <a:effectLst/>
          </p:spPr>
          <p:txBody>
            <a:bodyPr wrap="square" lIns="45719" tIns="45719" rIns="45719" bIns="45719" numCol="1" anchor="ctr">
              <a:noAutofit/>
            </a:bodyPr>
            <a:lstStyle/>
            <a:p/>
          </p:txBody>
        </p:sp>
        <p:sp>
          <p:nvSpPr>
            <p:cNvPr id="1444" name="Line"/>
            <p:cNvSpPr/>
            <p:nvPr/>
          </p:nvSpPr>
          <p:spPr>
            <a:xfrm>
              <a:off x="0" y="0"/>
              <a:ext cx="381001" cy="635001"/>
            </a:xfrm>
            <a:custGeom>
              <a:avLst/>
              <a:gdLst/>
              <a:ahLst/>
              <a:cxnLst>
                <a:cxn ang="0">
                  <a:pos x="wd2" y="hd2"/>
                </a:cxn>
                <a:cxn ang="5400000">
                  <a:pos x="wd2" y="hd2"/>
                </a:cxn>
                <a:cxn ang="10800000">
                  <a:pos x="wd2" y="hd2"/>
                </a:cxn>
                <a:cxn ang="16200000">
                  <a:pos x="wd2" y="hd2"/>
                </a:cxn>
              </a:cxnLst>
              <a:rect l="0" t="0" r="r" b="b"/>
              <a:pathLst>
                <a:path w="21600" h="21600" extrusionOk="0">
                  <a:moveTo>
                    <a:pt x="21600" y="923"/>
                  </a:moveTo>
                  <a:cubicBezTo>
                    <a:pt x="21600" y="1433"/>
                    <a:pt x="16765" y="1846"/>
                    <a:pt x="10800" y="1846"/>
                  </a:cubicBezTo>
                  <a:cubicBezTo>
                    <a:pt x="4835" y="1846"/>
                    <a:pt x="0" y="1433"/>
                    <a:pt x="0" y="923"/>
                  </a:cubicBezTo>
                  <a:cubicBezTo>
                    <a:pt x="0" y="413"/>
                    <a:pt x="4835" y="0"/>
                    <a:pt x="10800" y="0"/>
                  </a:cubicBezTo>
                  <a:cubicBezTo>
                    <a:pt x="16765" y="0"/>
                    <a:pt x="21600" y="413"/>
                    <a:pt x="21600" y="923"/>
                  </a:cubicBezTo>
                  <a:lnTo>
                    <a:pt x="21600" y="20677"/>
                  </a:lnTo>
                  <a:cubicBezTo>
                    <a:pt x="21600" y="21187"/>
                    <a:pt x="16765" y="21600"/>
                    <a:pt x="10800" y="21600"/>
                  </a:cubicBezTo>
                  <a:cubicBezTo>
                    <a:pt x="4835" y="21600"/>
                    <a:pt x="0" y="21187"/>
                    <a:pt x="0" y="20677"/>
                  </a:cubicBezTo>
                  <a:lnTo>
                    <a:pt x="0" y="923"/>
                  </a:lnTo>
                </a:path>
              </a:pathLst>
            </a:custGeom>
            <a:noFill/>
            <a:ln w="12700" cap="flat">
              <a:solidFill>
                <a:srgbClr val="000000"/>
              </a:solidFill>
              <a:prstDash val="solid"/>
              <a:round/>
            </a:ln>
            <a:effectLst/>
          </p:spPr>
          <p:txBody>
            <a:bodyPr wrap="square" lIns="45719" tIns="45719" rIns="45719" bIns="45719" numCol="1" anchor="ctr">
              <a:noAutofit/>
            </a:bodyPr>
            <a:lstStyle/>
            <a:p/>
          </p:txBody>
        </p:sp>
      </p:grpSp>
      <p:sp>
        <p:nvSpPr>
          <p:cNvPr id="1446" name="Oval 11"/>
          <p:cNvSpPr/>
          <p:nvPr/>
        </p:nvSpPr>
        <p:spPr>
          <a:xfrm>
            <a:off x="4598989" y="3546475"/>
            <a:ext cx="2387601" cy="431800"/>
          </a:xfrm>
          <a:prstGeom prst="ellipse">
            <a:avLst/>
          </a:prstGeom>
          <a:solidFill>
            <a:schemeClr val="accent3">
              <a:lumOff val="44000"/>
            </a:schemeClr>
          </a:solidFill>
          <a:ln w="12700">
            <a:solidFill>
              <a:srgbClr val="000000"/>
            </a:solidFill>
          </a:ln>
        </p:spPr>
        <p:txBody>
          <a:bodyPr lIns="45719" rIns="45719" anchor="ctr"/>
          <a:lstStyle/>
          <a:p/>
        </p:txBody>
      </p:sp>
      <p:sp>
        <p:nvSpPr>
          <p:cNvPr id="1447" name="Line 12"/>
          <p:cNvSpPr/>
          <p:nvPr/>
        </p:nvSpPr>
        <p:spPr>
          <a:xfrm>
            <a:off x="7199312" y="2479676"/>
            <a:ext cx="3176" cy="1409701"/>
          </a:xfrm>
          <a:prstGeom prst="line">
            <a:avLst/>
          </a:prstGeom>
          <a:ln w="38100">
            <a:solidFill>
              <a:srgbClr val="000000"/>
            </a:solidFill>
          </a:ln>
        </p:spPr>
        <p:txBody>
          <a:bodyPr lIns="45719" rIns="45719"/>
          <a:lstStyle/>
          <a:p/>
        </p:txBody>
      </p:sp>
      <p:sp>
        <p:nvSpPr>
          <p:cNvPr id="1448" name="Line 13"/>
          <p:cNvSpPr/>
          <p:nvPr/>
        </p:nvSpPr>
        <p:spPr>
          <a:xfrm flipH="1">
            <a:off x="6742113" y="3660775"/>
            <a:ext cx="457201" cy="0"/>
          </a:xfrm>
          <a:prstGeom prst="line">
            <a:avLst/>
          </a:prstGeom>
          <a:ln w="38100">
            <a:solidFill>
              <a:srgbClr val="000000"/>
            </a:solidFill>
          </a:ln>
        </p:spPr>
        <p:txBody>
          <a:bodyPr lIns="45719" rIns="45719"/>
          <a:lstStyle/>
          <a:p/>
        </p:txBody>
      </p:sp>
      <p:sp>
        <p:nvSpPr>
          <p:cNvPr id="1449" name="Oval 14"/>
          <p:cNvSpPr/>
          <p:nvPr/>
        </p:nvSpPr>
        <p:spPr>
          <a:xfrm>
            <a:off x="6602413" y="3622675"/>
            <a:ext cx="304801" cy="76200"/>
          </a:xfrm>
          <a:prstGeom prst="ellipse">
            <a:avLst/>
          </a:prstGeom>
          <a:solidFill>
            <a:srgbClr val="00FFFF"/>
          </a:solidFill>
          <a:ln w="12700">
            <a:solidFill>
              <a:srgbClr val="000000"/>
            </a:solidFill>
          </a:ln>
        </p:spPr>
        <p:txBody>
          <a:bodyPr lIns="45719" rIns="45719" anchor="ctr"/>
          <a:lstStyle/>
          <a:p/>
        </p:txBody>
      </p:sp>
      <p:sp>
        <p:nvSpPr>
          <p:cNvPr id="1450" name="Line 15"/>
          <p:cNvSpPr/>
          <p:nvPr/>
        </p:nvSpPr>
        <p:spPr>
          <a:xfrm>
            <a:off x="7202488" y="3165475"/>
            <a:ext cx="639763" cy="0"/>
          </a:xfrm>
          <a:prstGeom prst="line">
            <a:avLst/>
          </a:prstGeom>
          <a:ln w="38100">
            <a:solidFill>
              <a:srgbClr val="000000"/>
            </a:solidFill>
          </a:ln>
        </p:spPr>
        <p:txBody>
          <a:bodyPr lIns="45719" rIns="45719"/>
          <a:lstStyle/>
          <a:p/>
        </p:txBody>
      </p:sp>
      <p:grpSp>
        <p:nvGrpSpPr>
          <p:cNvPr id="1454" name="AutoShape 16"/>
          <p:cNvGrpSpPr/>
          <p:nvPr/>
        </p:nvGrpSpPr>
        <p:grpSpPr>
          <a:xfrm>
            <a:off x="5627688" y="3165475"/>
            <a:ext cx="381001" cy="635001"/>
            <a:chOff x="0" y="0"/>
            <a:chExt cx="381000" cy="635000"/>
          </a:xfrm>
        </p:grpSpPr>
        <p:sp>
          <p:nvSpPr>
            <p:cNvPr id="1451" name="Shape"/>
            <p:cNvSpPr/>
            <p:nvPr/>
          </p:nvSpPr>
          <p:spPr>
            <a:xfrm>
              <a:off x="0" y="0"/>
              <a:ext cx="381001" cy="635001"/>
            </a:xfrm>
            <a:custGeom>
              <a:avLst/>
              <a:gdLst/>
              <a:ahLst/>
              <a:cxnLst>
                <a:cxn ang="0">
                  <a:pos x="wd2" y="hd2"/>
                </a:cxn>
                <a:cxn ang="5400000">
                  <a:pos x="wd2" y="hd2"/>
                </a:cxn>
                <a:cxn ang="10800000">
                  <a:pos x="wd2" y="hd2"/>
                </a:cxn>
                <a:cxn ang="16200000">
                  <a:pos x="wd2" y="hd2"/>
                </a:cxn>
              </a:cxnLst>
              <a:rect l="0" t="0" r="r" b="b"/>
              <a:pathLst>
                <a:path w="21600" h="21600" extrusionOk="0">
                  <a:moveTo>
                    <a:pt x="0" y="923"/>
                  </a:moveTo>
                  <a:cubicBezTo>
                    <a:pt x="0" y="413"/>
                    <a:pt x="4835" y="0"/>
                    <a:pt x="10800" y="0"/>
                  </a:cubicBezTo>
                  <a:cubicBezTo>
                    <a:pt x="16765" y="0"/>
                    <a:pt x="21600" y="413"/>
                    <a:pt x="21600" y="923"/>
                  </a:cubicBezTo>
                  <a:lnTo>
                    <a:pt x="21600" y="20677"/>
                  </a:lnTo>
                  <a:cubicBezTo>
                    <a:pt x="21600" y="21187"/>
                    <a:pt x="16765" y="21600"/>
                    <a:pt x="10800" y="21600"/>
                  </a:cubicBezTo>
                  <a:cubicBezTo>
                    <a:pt x="4835" y="21600"/>
                    <a:pt x="0" y="21187"/>
                    <a:pt x="0" y="20677"/>
                  </a:cubicBezTo>
                  <a:close/>
                </a:path>
              </a:pathLst>
            </a:custGeom>
            <a:solidFill>
              <a:srgbClr val="00FFFF"/>
            </a:solidFill>
            <a:ln w="12700" cap="flat">
              <a:noFill/>
              <a:miter lim="400000"/>
            </a:ln>
            <a:effectLst/>
          </p:spPr>
          <p:txBody>
            <a:bodyPr wrap="square" lIns="45719" tIns="45719" rIns="45719" bIns="45719" numCol="1" anchor="ctr">
              <a:noAutofit/>
            </a:bodyPr>
            <a:lstStyle/>
            <a:p/>
          </p:txBody>
        </p:sp>
        <p:sp>
          <p:nvSpPr>
            <p:cNvPr id="1452" name="Oval"/>
            <p:cNvSpPr/>
            <p:nvPr/>
          </p:nvSpPr>
          <p:spPr>
            <a:xfrm>
              <a:off x="0" y="-1"/>
              <a:ext cx="381000" cy="54271"/>
            </a:xfrm>
            <a:prstGeom prst="ellipse">
              <a:avLst/>
            </a:prstGeom>
            <a:solidFill>
              <a:schemeClr val="accent3">
                <a:lumOff val="44000"/>
                <a:alpha val="40000"/>
              </a:schemeClr>
            </a:solidFill>
            <a:ln w="12700" cap="flat">
              <a:noFill/>
              <a:miter lim="400000"/>
            </a:ln>
            <a:effectLst/>
          </p:spPr>
          <p:txBody>
            <a:bodyPr wrap="square" lIns="45719" tIns="45719" rIns="45719" bIns="45719" numCol="1" anchor="ctr">
              <a:noAutofit/>
            </a:bodyPr>
            <a:lstStyle/>
            <a:p/>
          </p:txBody>
        </p:sp>
        <p:sp>
          <p:nvSpPr>
            <p:cNvPr id="1453" name="Line"/>
            <p:cNvSpPr/>
            <p:nvPr/>
          </p:nvSpPr>
          <p:spPr>
            <a:xfrm>
              <a:off x="0" y="0"/>
              <a:ext cx="381001" cy="635001"/>
            </a:xfrm>
            <a:custGeom>
              <a:avLst/>
              <a:gdLst/>
              <a:ahLst/>
              <a:cxnLst>
                <a:cxn ang="0">
                  <a:pos x="wd2" y="hd2"/>
                </a:cxn>
                <a:cxn ang="5400000">
                  <a:pos x="wd2" y="hd2"/>
                </a:cxn>
                <a:cxn ang="10800000">
                  <a:pos x="wd2" y="hd2"/>
                </a:cxn>
                <a:cxn ang="16200000">
                  <a:pos x="wd2" y="hd2"/>
                </a:cxn>
              </a:cxnLst>
              <a:rect l="0" t="0" r="r" b="b"/>
              <a:pathLst>
                <a:path w="21600" h="21600" extrusionOk="0">
                  <a:moveTo>
                    <a:pt x="21600" y="923"/>
                  </a:moveTo>
                  <a:cubicBezTo>
                    <a:pt x="21600" y="1433"/>
                    <a:pt x="16765" y="1846"/>
                    <a:pt x="10800" y="1846"/>
                  </a:cubicBezTo>
                  <a:cubicBezTo>
                    <a:pt x="4835" y="1846"/>
                    <a:pt x="0" y="1433"/>
                    <a:pt x="0" y="923"/>
                  </a:cubicBezTo>
                  <a:cubicBezTo>
                    <a:pt x="0" y="413"/>
                    <a:pt x="4835" y="0"/>
                    <a:pt x="10800" y="0"/>
                  </a:cubicBezTo>
                  <a:cubicBezTo>
                    <a:pt x="16765" y="0"/>
                    <a:pt x="21600" y="413"/>
                    <a:pt x="21600" y="923"/>
                  </a:cubicBezTo>
                  <a:lnTo>
                    <a:pt x="21600" y="20677"/>
                  </a:lnTo>
                  <a:cubicBezTo>
                    <a:pt x="21600" y="21187"/>
                    <a:pt x="16765" y="21600"/>
                    <a:pt x="10800" y="21600"/>
                  </a:cubicBezTo>
                  <a:cubicBezTo>
                    <a:pt x="4835" y="21600"/>
                    <a:pt x="0" y="21187"/>
                    <a:pt x="0" y="20677"/>
                  </a:cubicBezTo>
                  <a:lnTo>
                    <a:pt x="0" y="923"/>
                  </a:lnTo>
                </a:path>
              </a:pathLst>
            </a:custGeom>
            <a:noFill/>
            <a:ln w="12700" cap="flat">
              <a:solidFill>
                <a:srgbClr val="000000"/>
              </a:solidFill>
              <a:prstDash val="solid"/>
              <a:round/>
            </a:ln>
            <a:effectLst/>
          </p:spPr>
          <p:txBody>
            <a:bodyPr wrap="square" lIns="45719" tIns="45719" rIns="45719" bIns="45719" numCol="1" anchor="ctr">
              <a:noAutofit/>
            </a:bodyPr>
            <a:lstStyle/>
            <a:p/>
          </p:txBody>
        </p:sp>
      </p:grpSp>
      <p:sp>
        <p:nvSpPr>
          <p:cNvPr id="1455" name="Oval 17"/>
          <p:cNvSpPr/>
          <p:nvPr/>
        </p:nvSpPr>
        <p:spPr>
          <a:xfrm>
            <a:off x="4624389" y="2936875"/>
            <a:ext cx="2387601" cy="431800"/>
          </a:xfrm>
          <a:prstGeom prst="ellipse">
            <a:avLst/>
          </a:prstGeom>
          <a:solidFill>
            <a:schemeClr val="accent3">
              <a:lumOff val="44000"/>
            </a:schemeClr>
          </a:solidFill>
          <a:ln w="12700">
            <a:solidFill>
              <a:srgbClr val="000000"/>
            </a:solidFill>
          </a:ln>
        </p:spPr>
        <p:txBody>
          <a:bodyPr lIns="45719" rIns="45719" anchor="ctr"/>
          <a:lstStyle/>
          <a:p/>
        </p:txBody>
      </p:sp>
      <p:grpSp>
        <p:nvGrpSpPr>
          <p:cNvPr id="1459" name="AutoShape 18"/>
          <p:cNvGrpSpPr/>
          <p:nvPr/>
        </p:nvGrpSpPr>
        <p:grpSpPr>
          <a:xfrm>
            <a:off x="5627688" y="2593975"/>
            <a:ext cx="381001" cy="635001"/>
            <a:chOff x="0" y="0"/>
            <a:chExt cx="381000" cy="635000"/>
          </a:xfrm>
        </p:grpSpPr>
        <p:sp>
          <p:nvSpPr>
            <p:cNvPr id="1456" name="Shape"/>
            <p:cNvSpPr/>
            <p:nvPr/>
          </p:nvSpPr>
          <p:spPr>
            <a:xfrm>
              <a:off x="0" y="0"/>
              <a:ext cx="381001" cy="635001"/>
            </a:xfrm>
            <a:custGeom>
              <a:avLst/>
              <a:gdLst/>
              <a:ahLst/>
              <a:cxnLst>
                <a:cxn ang="0">
                  <a:pos x="wd2" y="hd2"/>
                </a:cxn>
                <a:cxn ang="5400000">
                  <a:pos x="wd2" y="hd2"/>
                </a:cxn>
                <a:cxn ang="10800000">
                  <a:pos x="wd2" y="hd2"/>
                </a:cxn>
                <a:cxn ang="16200000">
                  <a:pos x="wd2" y="hd2"/>
                </a:cxn>
              </a:cxnLst>
              <a:rect l="0" t="0" r="r" b="b"/>
              <a:pathLst>
                <a:path w="21600" h="21600" extrusionOk="0">
                  <a:moveTo>
                    <a:pt x="0" y="923"/>
                  </a:moveTo>
                  <a:cubicBezTo>
                    <a:pt x="0" y="413"/>
                    <a:pt x="4835" y="0"/>
                    <a:pt x="10800" y="0"/>
                  </a:cubicBezTo>
                  <a:cubicBezTo>
                    <a:pt x="16765" y="0"/>
                    <a:pt x="21600" y="413"/>
                    <a:pt x="21600" y="923"/>
                  </a:cubicBezTo>
                  <a:lnTo>
                    <a:pt x="21600" y="20677"/>
                  </a:lnTo>
                  <a:cubicBezTo>
                    <a:pt x="21600" y="21187"/>
                    <a:pt x="16765" y="21600"/>
                    <a:pt x="10800" y="21600"/>
                  </a:cubicBezTo>
                  <a:cubicBezTo>
                    <a:pt x="4835" y="21600"/>
                    <a:pt x="0" y="21187"/>
                    <a:pt x="0" y="20677"/>
                  </a:cubicBezTo>
                  <a:close/>
                </a:path>
              </a:pathLst>
            </a:custGeom>
            <a:solidFill>
              <a:srgbClr val="00FFFF"/>
            </a:solidFill>
            <a:ln w="12700" cap="flat">
              <a:noFill/>
              <a:miter lim="400000"/>
            </a:ln>
            <a:effectLst/>
          </p:spPr>
          <p:txBody>
            <a:bodyPr wrap="square" lIns="45719" tIns="45719" rIns="45719" bIns="45719" numCol="1" anchor="ctr">
              <a:noAutofit/>
            </a:bodyPr>
            <a:lstStyle/>
            <a:p/>
          </p:txBody>
        </p:sp>
        <p:sp>
          <p:nvSpPr>
            <p:cNvPr id="1457" name="Oval"/>
            <p:cNvSpPr/>
            <p:nvPr/>
          </p:nvSpPr>
          <p:spPr>
            <a:xfrm>
              <a:off x="0" y="-1"/>
              <a:ext cx="381000" cy="54271"/>
            </a:xfrm>
            <a:prstGeom prst="ellipse">
              <a:avLst/>
            </a:prstGeom>
            <a:solidFill>
              <a:schemeClr val="accent3">
                <a:lumOff val="44000"/>
                <a:alpha val="40000"/>
              </a:schemeClr>
            </a:solidFill>
            <a:ln w="12700" cap="flat">
              <a:noFill/>
              <a:miter lim="400000"/>
            </a:ln>
            <a:effectLst/>
          </p:spPr>
          <p:txBody>
            <a:bodyPr wrap="square" lIns="45719" tIns="45719" rIns="45719" bIns="45719" numCol="1" anchor="ctr">
              <a:noAutofit/>
            </a:bodyPr>
            <a:lstStyle/>
            <a:p/>
          </p:txBody>
        </p:sp>
        <p:sp>
          <p:nvSpPr>
            <p:cNvPr id="1458" name="Line"/>
            <p:cNvSpPr/>
            <p:nvPr/>
          </p:nvSpPr>
          <p:spPr>
            <a:xfrm>
              <a:off x="0" y="0"/>
              <a:ext cx="381001" cy="635001"/>
            </a:xfrm>
            <a:custGeom>
              <a:avLst/>
              <a:gdLst/>
              <a:ahLst/>
              <a:cxnLst>
                <a:cxn ang="0">
                  <a:pos x="wd2" y="hd2"/>
                </a:cxn>
                <a:cxn ang="5400000">
                  <a:pos x="wd2" y="hd2"/>
                </a:cxn>
                <a:cxn ang="10800000">
                  <a:pos x="wd2" y="hd2"/>
                </a:cxn>
                <a:cxn ang="16200000">
                  <a:pos x="wd2" y="hd2"/>
                </a:cxn>
              </a:cxnLst>
              <a:rect l="0" t="0" r="r" b="b"/>
              <a:pathLst>
                <a:path w="21600" h="21600" extrusionOk="0">
                  <a:moveTo>
                    <a:pt x="21600" y="923"/>
                  </a:moveTo>
                  <a:cubicBezTo>
                    <a:pt x="21600" y="1433"/>
                    <a:pt x="16765" y="1846"/>
                    <a:pt x="10800" y="1846"/>
                  </a:cubicBezTo>
                  <a:cubicBezTo>
                    <a:pt x="4835" y="1846"/>
                    <a:pt x="0" y="1433"/>
                    <a:pt x="0" y="923"/>
                  </a:cubicBezTo>
                  <a:cubicBezTo>
                    <a:pt x="0" y="413"/>
                    <a:pt x="4835" y="0"/>
                    <a:pt x="10800" y="0"/>
                  </a:cubicBezTo>
                  <a:cubicBezTo>
                    <a:pt x="16765" y="0"/>
                    <a:pt x="21600" y="413"/>
                    <a:pt x="21600" y="923"/>
                  </a:cubicBezTo>
                  <a:lnTo>
                    <a:pt x="21600" y="20677"/>
                  </a:lnTo>
                  <a:cubicBezTo>
                    <a:pt x="21600" y="21187"/>
                    <a:pt x="16765" y="21600"/>
                    <a:pt x="10800" y="21600"/>
                  </a:cubicBezTo>
                  <a:cubicBezTo>
                    <a:pt x="4835" y="21600"/>
                    <a:pt x="0" y="21187"/>
                    <a:pt x="0" y="20677"/>
                  </a:cubicBezTo>
                  <a:lnTo>
                    <a:pt x="0" y="923"/>
                  </a:lnTo>
                </a:path>
              </a:pathLst>
            </a:custGeom>
            <a:noFill/>
            <a:ln w="12700" cap="flat">
              <a:solidFill>
                <a:srgbClr val="000000"/>
              </a:solidFill>
              <a:prstDash val="solid"/>
              <a:round/>
            </a:ln>
            <a:effectLst/>
          </p:spPr>
          <p:txBody>
            <a:bodyPr wrap="square" lIns="45719" tIns="45719" rIns="45719" bIns="45719" numCol="1" anchor="ctr">
              <a:noAutofit/>
            </a:bodyPr>
            <a:lstStyle/>
            <a:p/>
          </p:txBody>
        </p:sp>
      </p:grpSp>
      <p:sp>
        <p:nvSpPr>
          <p:cNvPr id="1460" name="Oval 19"/>
          <p:cNvSpPr/>
          <p:nvPr/>
        </p:nvSpPr>
        <p:spPr>
          <a:xfrm>
            <a:off x="4586289" y="2390775"/>
            <a:ext cx="2387601" cy="431800"/>
          </a:xfrm>
          <a:prstGeom prst="ellipse">
            <a:avLst/>
          </a:prstGeom>
          <a:solidFill>
            <a:schemeClr val="accent3">
              <a:lumOff val="44000"/>
            </a:schemeClr>
          </a:solidFill>
          <a:ln w="12700">
            <a:solidFill>
              <a:srgbClr val="000000"/>
            </a:solidFill>
          </a:ln>
        </p:spPr>
        <p:txBody>
          <a:bodyPr lIns="45719" rIns="45719" anchor="ctr"/>
          <a:lstStyle/>
          <a:p/>
        </p:txBody>
      </p:sp>
      <p:grpSp>
        <p:nvGrpSpPr>
          <p:cNvPr id="1464" name="AutoShape 20"/>
          <p:cNvGrpSpPr/>
          <p:nvPr/>
        </p:nvGrpSpPr>
        <p:grpSpPr>
          <a:xfrm>
            <a:off x="5627688" y="1997075"/>
            <a:ext cx="381001" cy="635001"/>
            <a:chOff x="0" y="0"/>
            <a:chExt cx="381000" cy="635000"/>
          </a:xfrm>
        </p:grpSpPr>
        <p:sp>
          <p:nvSpPr>
            <p:cNvPr id="1461" name="Shape"/>
            <p:cNvSpPr/>
            <p:nvPr/>
          </p:nvSpPr>
          <p:spPr>
            <a:xfrm>
              <a:off x="0" y="0"/>
              <a:ext cx="381001" cy="635001"/>
            </a:xfrm>
            <a:custGeom>
              <a:avLst/>
              <a:gdLst/>
              <a:ahLst/>
              <a:cxnLst>
                <a:cxn ang="0">
                  <a:pos x="wd2" y="hd2"/>
                </a:cxn>
                <a:cxn ang="5400000">
                  <a:pos x="wd2" y="hd2"/>
                </a:cxn>
                <a:cxn ang="10800000">
                  <a:pos x="wd2" y="hd2"/>
                </a:cxn>
                <a:cxn ang="16200000">
                  <a:pos x="wd2" y="hd2"/>
                </a:cxn>
              </a:cxnLst>
              <a:rect l="0" t="0" r="r" b="b"/>
              <a:pathLst>
                <a:path w="21600" h="21600" extrusionOk="0">
                  <a:moveTo>
                    <a:pt x="0" y="923"/>
                  </a:moveTo>
                  <a:cubicBezTo>
                    <a:pt x="0" y="413"/>
                    <a:pt x="4835" y="0"/>
                    <a:pt x="10800" y="0"/>
                  </a:cubicBezTo>
                  <a:cubicBezTo>
                    <a:pt x="16765" y="0"/>
                    <a:pt x="21600" y="413"/>
                    <a:pt x="21600" y="923"/>
                  </a:cubicBezTo>
                  <a:lnTo>
                    <a:pt x="21600" y="20677"/>
                  </a:lnTo>
                  <a:cubicBezTo>
                    <a:pt x="21600" y="21187"/>
                    <a:pt x="16765" y="21600"/>
                    <a:pt x="10800" y="21600"/>
                  </a:cubicBezTo>
                  <a:cubicBezTo>
                    <a:pt x="4835" y="21600"/>
                    <a:pt x="0" y="21187"/>
                    <a:pt x="0" y="20677"/>
                  </a:cubicBezTo>
                  <a:close/>
                </a:path>
              </a:pathLst>
            </a:custGeom>
            <a:solidFill>
              <a:srgbClr val="00FFFF"/>
            </a:solidFill>
            <a:ln w="12700" cap="flat">
              <a:noFill/>
              <a:miter lim="400000"/>
            </a:ln>
            <a:effectLst/>
          </p:spPr>
          <p:txBody>
            <a:bodyPr wrap="square" lIns="45719" tIns="45719" rIns="45719" bIns="45719" numCol="1" anchor="ctr">
              <a:noAutofit/>
            </a:bodyPr>
            <a:lstStyle/>
            <a:p/>
          </p:txBody>
        </p:sp>
        <p:sp>
          <p:nvSpPr>
            <p:cNvPr id="1462" name="Oval"/>
            <p:cNvSpPr/>
            <p:nvPr/>
          </p:nvSpPr>
          <p:spPr>
            <a:xfrm>
              <a:off x="0" y="-1"/>
              <a:ext cx="381000" cy="54271"/>
            </a:xfrm>
            <a:prstGeom prst="ellipse">
              <a:avLst/>
            </a:prstGeom>
            <a:solidFill>
              <a:schemeClr val="accent3">
                <a:lumOff val="44000"/>
                <a:alpha val="40000"/>
              </a:schemeClr>
            </a:solidFill>
            <a:ln w="12700" cap="flat">
              <a:noFill/>
              <a:miter lim="400000"/>
            </a:ln>
            <a:effectLst/>
          </p:spPr>
          <p:txBody>
            <a:bodyPr wrap="square" lIns="45719" tIns="45719" rIns="45719" bIns="45719" numCol="1" anchor="ctr">
              <a:noAutofit/>
            </a:bodyPr>
            <a:lstStyle/>
            <a:p/>
          </p:txBody>
        </p:sp>
        <p:sp>
          <p:nvSpPr>
            <p:cNvPr id="1463" name="Line"/>
            <p:cNvSpPr/>
            <p:nvPr/>
          </p:nvSpPr>
          <p:spPr>
            <a:xfrm>
              <a:off x="0" y="0"/>
              <a:ext cx="381001" cy="635001"/>
            </a:xfrm>
            <a:custGeom>
              <a:avLst/>
              <a:gdLst/>
              <a:ahLst/>
              <a:cxnLst>
                <a:cxn ang="0">
                  <a:pos x="wd2" y="hd2"/>
                </a:cxn>
                <a:cxn ang="5400000">
                  <a:pos x="wd2" y="hd2"/>
                </a:cxn>
                <a:cxn ang="10800000">
                  <a:pos x="wd2" y="hd2"/>
                </a:cxn>
                <a:cxn ang="16200000">
                  <a:pos x="wd2" y="hd2"/>
                </a:cxn>
              </a:cxnLst>
              <a:rect l="0" t="0" r="r" b="b"/>
              <a:pathLst>
                <a:path w="21600" h="21600" extrusionOk="0">
                  <a:moveTo>
                    <a:pt x="21600" y="923"/>
                  </a:moveTo>
                  <a:cubicBezTo>
                    <a:pt x="21600" y="1433"/>
                    <a:pt x="16765" y="1846"/>
                    <a:pt x="10800" y="1846"/>
                  </a:cubicBezTo>
                  <a:cubicBezTo>
                    <a:pt x="4835" y="1846"/>
                    <a:pt x="0" y="1433"/>
                    <a:pt x="0" y="923"/>
                  </a:cubicBezTo>
                  <a:cubicBezTo>
                    <a:pt x="0" y="413"/>
                    <a:pt x="4835" y="0"/>
                    <a:pt x="10800" y="0"/>
                  </a:cubicBezTo>
                  <a:cubicBezTo>
                    <a:pt x="16765" y="0"/>
                    <a:pt x="21600" y="413"/>
                    <a:pt x="21600" y="923"/>
                  </a:cubicBezTo>
                  <a:lnTo>
                    <a:pt x="21600" y="20677"/>
                  </a:lnTo>
                  <a:cubicBezTo>
                    <a:pt x="21600" y="21187"/>
                    <a:pt x="16765" y="21600"/>
                    <a:pt x="10800" y="21600"/>
                  </a:cubicBezTo>
                  <a:cubicBezTo>
                    <a:pt x="4835" y="21600"/>
                    <a:pt x="0" y="21187"/>
                    <a:pt x="0" y="20677"/>
                  </a:cubicBezTo>
                  <a:lnTo>
                    <a:pt x="0" y="923"/>
                  </a:lnTo>
                </a:path>
              </a:pathLst>
            </a:custGeom>
            <a:noFill/>
            <a:ln w="12700" cap="flat">
              <a:solidFill>
                <a:srgbClr val="000000"/>
              </a:solidFill>
              <a:prstDash val="solid"/>
              <a:round/>
            </a:ln>
            <a:effectLst/>
          </p:spPr>
          <p:txBody>
            <a:bodyPr wrap="square" lIns="45719" tIns="45719" rIns="45719" bIns="45719" numCol="1" anchor="ctr">
              <a:noAutofit/>
            </a:bodyPr>
            <a:lstStyle/>
            <a:p/>
          </p:txBody>
        </p:sp>
      </p:grpSp>
      <p:sp>
        <p:nvSpPr>
          <p:cNvPr id="1465" name="Line 21"/>
          <p:cNvSpPr/>
          <p:nvPr/>
        </p:nvSpPr>
        <p:spPr>
          <a:xfrm flipH="1">
            <a:off x="6742113" y="2479675"/>
            <a:ext cx="457201" cy="0"/>
          </a:xfrm>
          <a:prstGeom prst="line">
            <a:avLst/>
          </a:prstGeom>
          <a:ln w="38100">
            <a:solidFill>
              <a:srgbClr val="000000"/>
            </a:solidFill>
          </a:ln>
        </p:spPr>
        <p:txBody>
          <a:bodyPr lIns="45719" rIns="45719"/>
          <a:lstStyle/>
          <a:p/>
        </p:txBody>
      </p:sp>
      <p:sp>
        <p:nvSpPr>
          <p:cNvPr id="1466" name="Oval 22"/>
          <p:cNvSpPr/>
          <p:nvPr/>
        </p:nvSpPr>
        <p:spPr>
          <a:xfrm>
            <a:off x="6589713" y="2441575"/>
            <a:ext cx="304801" cy="76200"/>
          </a:xfrm>
          <a:prstGeom prst="ellipse">
            <a:avLst/>
          </a:prstGeom>
          <a:solidFill>
            <a:srgbClr val="00FFFF"/>
          </a:solidFill>
          <a:ln w="12700">
            <a:solidFill>
              <a:srgbClr val="000000"/>
            </a:solidFill>
          </a:ln>
        </p:spPr>
        <p:txBody>
          <a:bodyPr lIns="45719" rIns="45719" anchor="ctr"/>
          <a:lstStyle/>
          <a:p/>
        </p:txBody>
      </p:sp>
      <p:sp>
        <p:nvSpPr>
          <p:cNvPr id="1467" name="Line 23"/>
          <p:cNvSpPr/>
          <p:nvPr/>
        </p:nvSpPr>
        <p:spPr>
          <a:xfrm flipH="1">
            <a:off x="6742113" y="3038475"/>
            <a:ext cx="457201" cy="0"/>
          </a:xfrm>
          <a:prstGeom prst="line">
            <a:avLst/>
          </a:prstGeom>
          <a:ln w="38100">
            <a:solidFill>
              <a:srgbClr val="000000"/>
            </a:solidFill>
          </a:ln>
        </p:spPr>
        <p:txBody>
          <a:bodyPr lIns="45719" rIns="45719"/>
          <a:lstStyle/>
          <a:p/>
        </p:txBody>
      </p:sp>
      <p:sp>
        <p:nvSpPr>
          <p:cNvPr id="1468" name="Oval 24"/>
          <p:cNvSpPr/>
          <p:nvPr/>
        </p:nvSpPr>
        <p:spPr>
          <a:xfrm>
            <a:off x="6602413" y="3000375"/>
            <a:ext cx="304801" cy="76200"/>
          </a:xfrm>
          <a:prstGeom prst="ellipse">
            <a:avLst/>
          </a:prstGeom>
          <a:solidFill>
            <a:srgbClr val="00FFFF"/>
          </a:solidFill>
          <a:ln w="12700">
            <a:solidFill>
              <a:srgbClr val="000000"/>
            </a:solidFill>
          </a:ln>
        </p:spPr>
        <p:txBody>
          <a:bodyPr lIns="45719" rIns="45719" anchor="ctr"/>
          <a:lstStyle/>
          <a:p/>
        </p:txBody>
      </p:sp>
      <p:sp>
        <p:nvSpPr>
          <p:cNvPr id="1469" name="Text Box 25"/>
          <p:cNvSpPr txBox="1"/>
          <p:nvPr/>
        </p:nvSpPr>
        <p:spPr>
          <a:xfrm>
            <a:off x="7341869" y="2827923"/>
            <a:ext cx="457816"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Arm</a:t>
            </a:r>
          </a:p>
        </p:txBody>
      </p:sp>
      <p:sp>
        <p:nvSpPr>
          <p:cNvPr id="1470" name="Text Box 26"/>
          <p:cNvSpPr txBox="1"/>
          <p:nvPr/>
        </p:nvSpPr>
        <p:spPr>
          <a:xfrm>
            <a:off x="6875747" y="1178603"/>
            <a:ext cx="2108837" cy="1077218"/>
          </a:xfrm>
          <a:prstGeom prst="rect">
            <a:avLst/>
          </a:prstGeom>
          <a:ln w="12700">
            <a:miter lim="400000"/>
          </a:ln>
        </p:spPr>
        <p:txBody>
          <a:bodyPr lIns="45719" rIns="45719" anchor="ctr">
            <a:spAutoFit/>
          </a:bodyPr>
          <a:lstStyle/>
          <a:p>
            <a:pPr>
              <a:defRPr sz="1600">
                <a:latin typeface="Calibri"/>
                <a:ea typeface="Calibri"/>
                <a:cs typeface="Calibri"/>
                <a:sym typeface="Calibri"/>
              </a:defRPr>
            </a:pPr>
            <a:r>
              <a:rPr sz="1600"/>
              <a:t>Read/write heads </a:t>
            </a:r>
            <a:endParaRPr sz="1600"/>
          </a:p>
          <a:p>
            <a:pPr>
              <a:defRPr sz="1600">
                <a:latin typeface="Calibri"/>
                <a:ea typeface="Calibri"/>
                <a:cs typeface="Calibri"/>
                <a:sym typeface="Calibri"/>
              </a:defRPr>
            </a:pPr>
            <a:r>
              <a:rPr sz="1600"/>
              <a:t>move in unison</a:t>
            </a:r>
            <a:endParaRPr sz="1600"/>
          </a:p>
          <a:p>
            <a:pPr>
              <a:defRPr sz="1600">
                <a:latin typeface="Calibri"/>
                <a:ea typeface="Calibri"/>
                <a:cs typeface="Calibri"/>
                <a:sym typeface="Calibri"/>
              </a:defRPr>
            </a:pPr>
            <a:r>
              <a:rPr sz="1600"/>
              <a:t>from cylinder to cylinder</a:t>
            </a:r>
            <a:endParaRPr sz="1600"/>
          </a:p>
        </p:txBody>
      </p:sp>
      <p:sp>
        <p:nvSpPr>
          <p:cNvPr id="1471" name="Line 27"/>
          <p:cNvSpPr/>
          <p:nvPr/>
        </p:nvSpPr>
        <p:spPr>
          <a:xfrm flipH="1">
            <a:off x="6884988" y="2165350"/>
            <a:ext cx="317501" cy="225426"/>
          </a:xfrm>
          <a:prstGeom prst="line">
            <a:avLst/>
          </a:prstGeom>
          <a:ln w="12700">
            <a:solidFill>
              <a:srgbClr val="000000"/>
            </a:solidFill>
            <a:tailEnd type="triangle"/>
          </a:ln>
        </p:spPr>
        <p:txBody>
          <a:bodyPr lIns="45719" rIns="45719"/>
          <a:lstStyle/>
          <a:p/>
        </p:txBody>
      </p:sp>
      <p:sp>
        <p:nvSpPr>
          <p:cNvPr id="1472" name="Text Box 28"/>
          <p:cNvSpPr txBox="1"/>
          <p:nvPr/>
        </p:nvSpPr>
        <p:spPr>
          <a:xfrm>
            <a:off x="6021381" y="4034423"/>
            <a:ext cx="723914"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Spindle</a:t>
            </a:r>
          </a:p>
        </p:txBody>
      </p:sp>
      <p:sp>
        <p:nvSpPr>
          <p:cNvPr id="1473" name="Line 29"/>
          <p:cNvSpPr/>
          <p:nvPr/>
        </p:nvSpPr>
        <p:spPr>
          <a:xfrm flipH="1">
            <a:off x="6808787" y="2165351"/>
            <a:ext cx="390526" cy="844551"/>
          </a:xfrm>
          <a:prstGeom prst="line">
            <a:avLst/>
          </a:prstGeom>
          <a:ln w="12700">
            <a:solidFill>
              <a:srgbClr val="000000"/>
            </a:solidFill>
            <a:tailEnd type="triangle"/>
          </a:ln>
        </p:spPr>
        <p:txBody>
          <a:bodyPr lIns="45719" rIns="45719"/>
          <a:lstStyle/>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5"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476" name="Rectangle 2"/>
          <p:cNvSpPr txBox="1">
            <a:spLocks noGrp="1"/>
          </p:cNvSpPr>
          <p:nvPr>
            <p:ph type="title"/>
          </p:nvPr>
        </p:nvSpPr>
        <p:spPr>
          <a:xfrm>
            <a:off x="1881018" y="435679"/>
            <a:ext cx="8092662" cy="762001"/>
          </a:xfrm>
          <a:prstGeom prst="rect">
            <a:avLst/>
          </a:prstGeom>
        </p:spPr>
        <p:txBody>
          <a:bodyPr/>
          <a:lstStyle/>
          <a:p>
            <a:r>
              <a:t>Disk Access – Service Time Components</a:t>
            </a:r>
          </a:p>
        </p:txBody>
      </p:sp>
      <p:sp>
        <p:nvSpPr>
          <p:cNvPr id="1477" name="Text Box 3"/>
          <p:cNvSpPr txBox="1"/>
          <p:nvPr/>
        </p:nvSpPr>
        <p:spPr>
          <a:xfrm>
            <a:off x="2103119" y="3946525"/>
            <a:ext cx="2042162" cy="400110"/>
          </a:xfrm>
          <a:prstGeom prst="rect">
            <a:avLst/>
          </a:prstGeom>
          <a:ln w="12700">
            <a:miter lim="400000"/>
          </a:ln>
        </p:spPr>
        <p:txBody>
          <a:bodyPr lIns="45719" rIns="45719">
            <a:spAutoFit/>
          </a:bodyPr>
          <a:lstStyle/>
          <a:p>
            <a:pPr algn="ctr">
              <a:spcBef>
                <a:spcPts val="1200"/>
              </a:spcBef>
              <a:defRPr sz="2000">
                <a:latin typeface="Calibri"/>
                <a:ea typeface="Calibri"/>
                <a:cs typeface="Calibri"/>
                <a:sym typeface="Calibri"/>
              </a:defRPr>
            </a:pPr>
            <a:r>
              <a:rPr sz="2000"/>
              <a:t>After </a:t>
            </a:r>
            <a:r>
              <a:rPr sz="2000">
                <a:solidFill>
                  <a:srgbClr val="0000FF"/>
                </a:solidFill>
              </a:rPr>
              <a:t>BLUE</a:t>
            </a:r>
            <a:r>
              <a:rPr sz="2000">
                <a:solidFill>
                  <a:schemeClr val="accent2"/>
                </a:solidFill>
              </a:rPr>
              <a:t> </a:t>
            </a:r>
            <a:r>
              <a:rPr sz="2000"/>
              <a:t>read</a:t>
            </a:r>
            <a:endParaRPr sz="2000"/>
          </a:p>
        </p:txBody>
      </p:sp>
      <p:sp>
        <p:nvSpPr>
          <p:cNvPr id="1478" name="Text Box 4"/>
          <p:cNvSpPr txBox="1"/>
          <p:nvPr/>
        </p:nvSpPr>
        <p:spPr>
          <a:xfrm>
            <a:off x="4312919" y="3946525"/>
            <a:ext cx="1737362" cy="400110"/>
          </a:xfrm>
          <a:prstGeom prst="rect">
            <a:avLst/>
          </a:prstGeom>
          <a:ln w="12700">
            <a:miter lim="400000"/>
          </a:ln>
        </p:spPr>
        <p:txBody>
          <a:bodyPr lIns="45719" rIns="45719">
            <a:spAutoFit/>
          </a:bodyPr>
          <a:lstStyle/>
          <a:p>
            <a:pPr algn="ctr">
              <a:spcBef>
                <a:spcPts val="1200"/>
              </a:spcBef>
              <a:defRPr sz="2000">
                <a:latin typeface="Calibri"/>
                <a:ea typeface="Calibri"/>
                <a:cs typeface="Calibri"/>
                <a:sym typeface="Calibri"/>
              </a:defRPr>
            </a:pPr>
            <a:r>
              <a:rPr sz="2000"/>
              <a:t>Seek for </a:t>
            </a:r>
            <a:r>
              <a:rPr sz="2000">
                <a:solidFill>
                  <a:srgbClr val="FF0000"/>
                </a:solidFill>
              </a:rPr>
              <a:t>RED</a:t>
            </a:r>
            <a:endParaRPr sz="2000">
              <a:solidFill>
                <a:srgbClr val="FF0000"/>
              </a:solidFill>
            </a:endParaRPr>
          </a:p>
        </p:txBody>
      </p:sp>
      <p:sp>
        <p:nvSpPr>
          <p:cNvPr id="1479" name="Text Box 5"/>
          <p:cNvSpPr txBox="1"/>
          <p:nvPr/>
        </p:nvSpPr>
        <p:spPr>
          <a:xfrm>
            <a:off x="6065519" y="3946525"/>
            <a:ext cx="2346962" cy="400110"/>
          </a:xfrm>
          <a:prstGeom prst="rect">
            <a:avLst/>
          </a:prstGeom>
          <a:ln w="12700">
            <a:miter lim="400000"/>
          </a:ln>
        </p:spPr>
        <p:txBody>
          <a:bodyPr lIns="45719" rIns="45719">
            <a:spAutoFit/>
          </a:bodyPr>
          <a:lstStyle>
            <a:lvl1pPr algn="ctr">
              <a:spcBef>
                <a:spcPts val="1200"/>
              </a:spcBef>
              <a:defRPr sz="2000">
                <a:latin typeface="Calibri"/>
                <a:ea typeface="Calibri"/>
                <a:cs typeface="Calibri"/>
                <a:sym typeface="Calibri"/>
              </a:defRPr>
            </a:lvl1pPr>
          </a:lstStyle>
          <a:p>
            <a:r>
              <a:t>Rotational latency</a:t>
            </a:r>
          </a:p>
        </p:txBody>
      </p:sp>
      <p:sp>
        <p:nvSpPr>
          <p:cNvPr id="1480" name="Text Box 6"/>
          <p:cNvSpPr txBox="1"/>
          <p:nvPr/>
        </p:nvSpPr>
        <p:spPr>
          <a:xfrm>
            <a:off x="8275319" y="3946525"/>
            <a:ext cx="2042162" cy="400110"/>
          </a:xfrm>
          <a:prstGeom prst="rect">
            <a:avLst/>
          </a:prstGeom>
          <a:ln w="12700">
            <a:miter lim="400000"/>
          </a:ln>
        </p:spPr>
        <p:txBody>
          <a:bodyPr lIns="45719" rIns="45719">
            <a:spAutoFit/>
          </a:bodyPr>
          <a:lstStyle/>
          <a:p>
            <a:pPr algn="ctr">
              <a:spcBef>
                <a:spcPts val="1200"/>
              </a:spcBef>
              <a:defRPr sz="2000">
                <a:latin typeface="Calibri"/>
                <a:ea typeface="Calibri"/>
                <a:cs typeface="Calibri"/>
                <a:sym typeface="Calibri"/>
              </a:defRPr>
            </a:pPr>
            <a:r>
              <a:rPr sz="2000"/>
              <a:t>After </a:t>
            </a:r>
            <a:r>
              <a:rPr sz="2000">
                <a:solidFill>
                  <a:srgbClr val="FF0000"/>
                </a:solidFill>
              </a:rPr>
              <a:t>RED</a:t>
            </a:r>
            <a:r>
              <a:rPr sz="2000"/>
              <a:t> read</a:t>
            </a:r>
            <a:endParaRPr sz="2000"/>
          </a:p>
        </p:txBody>
      </p:sp>
      <p:grpSp>
        <p:nvGrpSpPr>
          <p:cNvPr id="1497" name="Group 7"/>
          <p:cNvGrpSpPr/>
          <p:nvPr/>
        </p:nvGrpSpPr>
        <p:grpSpPr>
          <a:xfrm>
            <a:off x="2259648" y="1962151"/>
            <a:ext cx="1719415" cy="1944757"/>
            <a:chOff x="0" y="0"/>
            <a:chExt cx="1719413" cy="1944756"/>
          </a:xfrm>
        </p:grpSpPr>
        <p:grpSp>
          <p:nvGrpSpPr>
            <p:cNvPr id="1495" name="Group 8"/>
            <p:cNvGrpSpPr/>
            <p:nvPr/>
          </p:nvGrpSpPr>
          <p:grpSpPr>
            <a:xfrm>
              <a:off x="-1" y="129059"/>
              <a:ext cx="1719415" cy="1815698"/>
              <a:chOff x="0" y="0"/>
              <a:chExt cx="1719413" cy="1815697"/>
            </a:xfrm>
          </p:grpSpPr>
          <p:grpSp>
            <p:nvGrpSpPr>
              <p:cNvPr id="1492" name="Group 9"/>
              <p:cNvGrpSpPr/>
              <p:nvPr/>
            </p:nvGrpSpPr>
            <p:grpSpPr>
              <a:xfrm>
                <a:off x="-1" y="0"/>
                <a:ext cx="1719415" cy="1715131"/>
                <a:chOff x="0" y="0"/>
                <a:chExt cx="1719413" cy="1715131"/>
              </a:xfrm>
            </p:grpSpPr>
            <p:sp>
              <p:nvSpPr>
                <p:cNvPr id="1481" name="Oval 10"/>
                <p:cNvSpPr/>
                <p:nvPr/>
              </p:nvSpPr>
              <p:spPr>
                <a:xfrm>
                  <a:off x="2941" y="0"/>
                  <a:ext cx="1716473" cy="1713940"/>
                </a:xfrm>
                <a:prstGeom prst="ellipse">
                  <a:avLst/>
                </a:prstGeom>
                <a:solidFill>
                  <a:schemeClr val="accent3">
                    <a:lumOff val="44000"/>
                  </a:schemeClr>
                </a:solidFill>
                <a:ln w="9525" cap="flat">
                  <a:solidFill>
                    <a:srgbClr val="000000"/>
                  </a:solidFill>
                  <a:prstDash val="solid"/>
                  <a:round/>
                </a:ln>
                <a:effectLst>
                  <a:outerShdw blurRad="63500" dist="107762" dir="2700000" rotWithShape="0">
                    <a:srgbClr val="808080">
                      <a:alpha val="74998"/>
                    </a:srgbClr>
                  </a:outerShdw>
                </a:effectLst>
              </p:spPr>
              <p:txBody>
                <a:bodyPr wrap="square" lIns="45719" tIns="45719" rIns="45719" bIns="45719" numCol="1" anchor="ctr">
                  <a:noAutofit/>
                </a:bodyPr>
                <a:lstStyle/>
                <a:p/>
              </p:txBody>
            </p:sp>
            <p:sp>
              <p:nvSpPr>
                <p:cNvPr id="1482" name="Oval 11"/>
                <p:cNvSpPr/>
                <p:nvPr/>
              </p:nvSpPr>
              <p:spPr>
                <a:xfrm>
                  <a:off x="192468" y="178659"/>
                  <a:ext cx="1373179" cy="1372107"/>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483" name="Oval 12"/>
                <p:cNvSpPr/>
                <p:nvPr/>
              </p:nvSpPr>
              <p:spPr>
                <a:xfrm>
                  <a:off x="364115" y="350172"/>
                  <a:ext cx="1029885" cy="1029081"/>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484" name="Oval 13"/>
                <p:cNvSpPr/>
                <p:nvPr/>
              </p:nvSpPr>
              <p:spPr>
                <a:xfrm>
                  <a:off x="521458" y="539551"/>
                  <a:ext cx="686589" cy="686053"/>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485" name="Line 14"/>
                <p:cNvSpPr/>
                <p:nvPr/>
              </p:nvSpPr>
              <p:spPr>
                <a:xfrm flipH="1">
                  <a:off x="861177" y="0"/>
                  <a:ext cx="1" cy="1715132"/>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486" name="Line 15"/>
                <p:cNvSpPr/>
                <p:nvPr/>
              </p:nvSpPr>
              <p:spPr>
                <a:xfrm flipH="1">
                  <a:off x="436055" y="118147"/>
                  <a:ext cx="857567" cy="1485348"/>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487" name="Line 16"/>
                <p:cNvSpPr/>
                <p:nvPr/>
              </p:nvSpPr>
              <p:spPr>
                <a:xfrm flipH="1">
                  <a:off x="114664" y="435044"/>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488" name="Line 17"/>
                <p:cNvSpPr/>
                <p:nvPr/>
              </p:nvSpPr>
              <p:spPr>
                <a:xfrm flipH="1" flipV="1">
                  <a:off x="0" y="842638"/>
                  <a:ext cx="1716473" cy="1"/>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489" name="Line 18"/>
                <p:cNvSpPr/>
                <p:nvPr/>
              </p:nvSpPr>
              <p:spPr>
                <a:xfrm flipH="1" flipV="1">
                  <a:off x="126027" y="402885"/>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490" name="Line 19"/>
                <p:cNvSpPr/>
                <p:nvPr/>
              </p:nvSpPr>
              <p:spPr>
                <a:xfrm flipH="1" flipV="1">
                  <a:off x="451459" y="121721"/>
                  <a:ext cx="857566" cy="1485348"/>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491" name="Oval 20"/>
                <p:cNvSpPr/>
                <p:nvPr/>
              </p:nvSpPr>
              <p:spPr>
                <a:xfrm>
                  <a:off x="693105" y="711065"/>
                  <a:ext cx="343295" cy="343027"/>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grpSp>
          <p:sp>
            <p:nvSpPr>
              <p:cNvPr id="1493" name="Freeform 21"/>
              <p:cNvSpPr/>
              <p:nvPr/>
            </p:nvSpPr>
            <p:spPr>
              <a:xfrm>
                <a:off x="623117" y="347125"/>
                <a:ext cx="243561" cy="229935"/>
              </a:xfrm>
              <a:custGeom>
                <a:avLst/>
                <a:gdLst/>
                <a:ahLst/>
                <a:cxnLst>
                  <a:cxn ang="0">
                    <a:pos x="wd2" y="hd2"/>
                  </a:cxn>
                  <a:cxn ang="5400000">
                    <a:pos x="wd2" y="hd2"/>
                  </a:cxn>
                  <a:cxn ang="10800000">
                    <a:pos x="wd2" y="hd2"/>
                  </a:cxn>
                  <a:cxn ang="16200000">
                    <a:pos x="wd2" y="hd2"/>
                  </a:cxn>
                </a:cxnLst>
                <a:rect l="0" t="0" r="r" b="b"/>
                <a:pathLst>
                  <a:path w="21600" h="21600" extrusionOk="0">
                    <a:moveTo>
                      <a:pt x="8166" y="21600"/>
                    </a:moveTo>
                    <a:lnTo>
                      <a:pt x="0" y="6689"/>
                    </a:lnTo>
                    <a:lnTo>
                      <a:pt x="2766" y="5295"/>
                    </a:lnTo>
                    <a:lnTo>
                      <a:pt x="5927" y="3623"/>
                    </a:lnTo>
                    <a:lnTo>
                      <a:pt x="8166" y="2926"/>
                    </a:lnTo>
                    <a:lnTo>
                      <a:pt x="10537" y="1951"/>
                    </a:lnTo>
                    <a:lnTo>
                      <a:pt x="13434" y="1254"/>
                    </a:lnTo>
                    <a:lnTo>
                      <a:pt x="16068" y="697"/>
                    </a:lnTo>
                    <a:lnTo>
                      <a:pt x="20020" y="279"/>
                    </a:lnTo>
                    <a:lnTo>
                      <a:pt x="21600" y="0"/>
                    </a:lnTo>
                    <a:lnTo>
                      <a:pt x="21600" y="17977"/>
                    </a:lnTo>
                    <a:lnTo>
                      <a:pt x="19624" y="18255"/>
                    </a:lnTo>
                    <a:lnTo>
                      <a:pt x="18044" y="18255"/>
                    </a:lnTo>
                    <a:lnTo>
                      <a:pt x="16595" y="18395"/>
                    </a:lnTo>
                    <a:lnTo>
                      <a:pt x="14093" y="19231"/>
                    </a:lnTo>
                    <a:lnTo>
                      <a:pt x="11722" y="19928"/>
                    </a:lnTo>
                    <a:lnTo>
                      <a:pt x="9351" y="20903"/>
                    </a:lnTo>
                    <a:lnTo>
                      <a:pt x="8166" y="21600"/>
                    </a:lnTo>
                    <a:close/>
                  </a:path>
                </a:pathLst>
              </a:custGeom>
              <a:solidFill>
                <a:srgbClr val="0000FF"/>
              </a:solidFill>
              <a:ln w="9525" cap="flat">
                <a:solidFill>
                  <a:srgbClr val="000000"/>
                </a:solidFill>
                <a:prstDash val="solid"/>
                <a:round/>
              </a:ln>
              <a:effectLst/>
            </p:spPr>
            <p:txBody>
              <a:bodyPr wrap="square" lIns="45719" tIns="45719" rIns="45719" bIns="45719" numCol="1" anchor="t">
                <a:noAutofit/>
              </a:bodyPr>
              <a:lstStyle/>
              <a:p/>
            </p:txBody>
          </p:sp>
          <p:sp>
            <p:nvSpPr>
              <p:cNvPr id="1494" name="Freeform 22"/>
              <p:cNvSpPr/>
              <p:nvPr/>
            </p:nvSpPr>
            <p:spPr>
              <a:xfrm rot="19800000">
                <a:off x="832519" y="1464158"/>
                <a:ext cx="426232" cy="262571"/>
              </a:xfrm>
              <a:custGeom>
                <a:avLst/>
                <a:gdLst/>
                <a:ahLst/>
                <a:cxnLst>
                  <a:cxn ang="0">
                    <a:pos x="wd2" y="hd2"/>
                  </a:cxn>
                  <a:cxn ang="5400000">
                    <a:pos x="wd2" y="hd2"/>
                  </a:cxn>
                  <a:cxn ang="10800000">
                    <a:pos x="wd2" y="hd2"/>
                  </a:cxn>
                  <a:cxn ang="16200000">
                    <a:pos x="wd2" y="hd2"/>
                  </a:cxn>
                </a:cxnLst>
                <a:rect l="0" t="0" r="r" b="b"/>
                <a:pathLst>
                  <a:path w="21600" h="21600" extrusionOk="0">
                    <a:moveTo>
                      <a:pt x="0" y="12447"/>
                    </a:moveTo>
                    <a:lnTo>
                      <a:pt x="4440" y="0"/>
                    </a:lnTo>
                    <a:lnTo>
                      <a:pt x="6698" y="2075"/>
                    </a:lnTo>
                    <a:lnTo>
                      <a:pt x="8806" y="3661"/>
                    </a:lnTo>
                    <a:lnTo>
                      <a:pt x="11063" y="5125"/>
                    </a:lnTo>
                    <a:lnTo>
                      <a:pt x="12644" y="5858"/>
                    </a:lnTo>
                    <a:lnTo>
                      <a:pt x="14676" y="6834"/>
                    </a:lnTo>
                    <a:lnTo>
                      <a:pt x="16708" y="7322"/>
                    </a:lnTo>
                    <a:lnTo>
                      <a:pt x="18514" y="7932"/>
                    </a:lnTo>
                    <a:lnTo>
                      <a:pt x="19869" y="8054"/>
                    </a:lnTo>
                    <a:lnTo>
                      <a:pt x="21600" y="8054"/>
                    </a:lnTo>
                    <a:lnTo>
                      <a:pt x="21600" y="21600"/>
                    </a:lnTo>
                    <a:lnTo>
                      <a:pt x="18966" y="21600"/>
                    </a:lnTo>
                    <a:lnTo>
                      <a:pt x="17160" y="21478"/>
                    </a:lnTo>
                    <a:lnTo>
                      <a:pt x="15052" y="21112"/>
                    </a:lnTo>
                    <a:lnTo>
                      <a:pt x="12794" y="20380"/>
                    </a:lnTo>
                    <a:lnTo>
                      <a:pt x="10838" y="19647"/>
                    </a:lnTo>
                    <a:lnTo>
                      <a:pt x="8279" y="18549"/>
                    </a:lnTo>
                    <a:lnTo>
                      <a:pt x="5193" y="16841"/>
                    </a:lnTo>
                    <a:lnTo>
                      <a:pt x="3161" y="15376"/>
                    </a:lnTo>
                    <a:lnTo>
                      <a:pt x="1731" y="14156"/>
                    </a:lnTo>
                    <a:lnTo>
                      <a:pt x="0" y="12447"/>
                    </a:lnTo>
                    <a:close/>
                  </a:path>
                </a:pathLst>
              </a:custGeom>
              <a:solidFill>
                <a:srgbClr val="FF0000"/>
              </a:solidFill>
              <a:ln w="9525" cap="flat">
                <a:solidFill>
                  <a:srgbClr val="000000"/>
                </a:solidFill>
                <a:prstDash val="solid"/>
                <a:round/>
              </a:ln>
              <a:effectLst/>
            </p:spPr>
            <p:txBody>
              <a:bodyPr wrap="square" lIns="45719" tIns="45719" rIns="45719" bIns="45719" numCol="1" anchor="t">
                <a:noAutofit/>
              </a:bodyPr>
              <a:lstStyle/>
              <a:p/>
            </p:txBody>
          </p:sp>
        </p:grpSp>
        <p:sp>
          <p:nvSpPr>
            <p:cNvPr id="1496" name="AutoShape 23"/>
            <p:cNvSpPr/>
            <p:nvPr/>
          </p:nvSpPr>
          <p:spPr>
            <a:xfrm>
              <a:off x="725590" y="0"/>
              <a:ext cx="289600" cy="556292"/>
            </a:xfrm>
            <a:custGeom>
              <a:avLst/>
              <a:gdLst/>
              <a:ahLst/>
              <a:cxnLst>
                <a:cxn ang="0">
                  <a:pos x="wd2" y="hd2"/>
                </a:cxn>
                <a:cxn ang="5400000">
                  <a:pos x="wd2" y="hd2"/>
                </a:cxn>
                <a:cxn ang="10800000">
                  <a:pos x="wd2" y="hd2"/>
                </a:cxn>
                <a:cxn ang="16200000">
                  <a:pos x="wd2" y="hd2"/>
                </a:cxn>
              </a:cxnLst>
              <a:rect l="0" t="0" r="r" b="b"/>
              <a:pathLst>
                <a:path w="21600" h="21600" extrusionOk="0">
                  <a:moveTo>
                    <a:pt x="0" y="16194"/>
                  </a:moveTo>
                  <a:lnTo>
                    <a:pt x="5400" y="16194"/>
                  </a:lnTo>
                  <a:lnTo>
                    <a:pt x="5400" y="0"/>
                  </a:lnTo>
                  <a:lnTo>
                    <a:pt x="16200" y="0"/>
                  </a:lnTo>
                  <a:lnTo>
                    <a:pt x="16200" y="16194"/>
                  </a:lnTo>
                  <a:lnTo>
                    <a:pt x="21600" y="16194"/>
                  </a:lnTo>
                  <a:lnTo>
                    <a:pt x="10800" y="21600"/>
                  </a:lnTo>
                  <a:close/>
                </a:path>
              </a:pathLst>
            </a:custGeom>
            <a:solidFill>
              <a:srgbClr val="000000"/>
            </a:solidFill>
            <a:ln w="9525" cap="flat">
              <a:solidFill>
                <a:srgbClr val="000000"/>
              </a:solidFill>
              <a:prstDash val="solid"/>
              <a:miter lim="800000"/>
            </a:ln>
            <a:effectLst/>
          </p:spPr>
          <p:txBody>
            <a:bodyPr wrap="square" lIns="45719" tIns="45719" rIns="45719" bIns="45719" numCol="1" anchor="ctr">
              <a:noAutofit/>
            </a:bodyPr>
            <a:lstStyle/>
            <a:p/>
          </p:txBody>
        </p:sp>
      </p:grpSp>
      <p:grpSp>
        <p:nvGrpSpPr>
          <p:cNvPr id="1514" name="Group 24"/>
          <p:cNvGrpSpPr/>
          <p:nvPr/>
        </p:nvGrpSpPr>
        <p:grpSpPr>
          <a:xfrm>
            <a:off x="4309110" y="1600199"/>
            <a:ext cx="1719415" cy="2210588"/>
            <a:chOff x="0" y="0"/>
            <a:chExt cx="1719413" cy="2210586"/>
          </a:xfrm>
        </p:grpSpPr>
        <p:grpSp>
          <p:nvGrpSpPr>
            <p:cNvPr id="1512" name="Group 25"/>
            <p:cNvGrpSpPr/>
            <p:nvPr/>
          </p:nvGrpSpPr>
          <p:grpSpPr>
            <a:xfrm>
              <a:off x="-1" y="493123"/>
              <a:ext cx="1719415" cy="1717464"/>
              <a:chOff x="0" y="0"/>
              <a:chExt cx="1719413" cy="1717462"/>
            </a:xfrm>
          </p:grpSpPr>
          <p:grpSp>
            <p:nvGrpSpPr>
              <p:cNvPr id="1509" name="Group 26"/>
              <p:cNvGrpSpPr/>
              <p:nvPr/>
            </p:nvGrpSpPr>
            <p:grpSpPr>
              <a:xfrm>
                <a:off x="-1" y="0"/>
                <a:ext cx="1719415" cy="1717463"/>
                <a:chOff x="0" y="0"/>
                <a:chExt cx="1719413" cy="1717462"/>
              </a:xfrm>
            </p:grpSpPr>
            <p:sp>
              <p:nvSpPr>
                <p:cNvPr id="1498" name="Oval 27"/>
                <p:cNvSpPr/>
                <p:nvPr/>
              </p:nvSpPr>
              <p:spPr>
                <a:xfrm>
                  <a:off x="2941" y="0"/>
                  <a:ext cx="1716473" cy="1716272"/>
                </a:xfrm>
                <a:prstGeom prst="ellipse">
                  <a:avLst/>
                </a:prstGeom>
                <a:solidFill>
                  <a:schemeClr val="accent3">
                    <a:lumOff val="44000"/>
                  </a:schemeClr>
                </a:solidFill>
                <a:ln w="9525" cap="flat">
                  <a:solidFill>
                    <a:srgbClr val="000000"/>
                  </a:solidFill>
                  <a:prstDash val="solid"/>
                  <a:round/>
                </a:ln>
                <a:effectLst>
                  <a:outerShdw blurRad="63500" dist="107762" dir="2700000" rotWithShape="0">
                    <a:srgbClr val="808080">
                      <a:alpha val="74998"/>
                    </a:srgbClr>
                  </a:outerShdw>
                </a:effectLst>
              </p:spPr>
              <p:txBody>
                <a:bodyPr wrap="square" lIns="45719" tIns="45719" rIns="45719" bIns="45719" numCol="1" anchor="ctr">
                  <a:noAutofit/>
                </a:bodyPr>
                <a:lstStyle/>
                <a:p/>
              </p:txBody>
            </p:sp>
            <p:sp>
              <p:nvSpPr>
                <p:cNvPr id="1499" name="Oval 28"/>
                <p:cNvSpPr/>
                <p:nvPr/>
              </p:nvSpPr>
              <p:spPr>
                <a:xfrm>
                  <a:off x="192468" y="179970"/>
                  <a:ext cx="1373179" cy="1373019"/>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00" name="Oval 29"/>
                <p:cNvSpPr/>
                <p:nvPr/>
              </p:nvSpPr>
              <p:spPr>
                <a:xfrm>
                  <a:off x="364115" y="351597"/>
                  <a:ext cx="1029885" cy="1029765"/>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01" name="Oval 30"/>
                <p:cNvSpPr/>
                <p:nvPr/>
              </p:nvSpPr>
              <p:spPr>
                <a:xfrm>
                  <a:off x="521458" y="541102"/>
                  <a:ext cx="686589" cy="686509"/>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02" name="Line 31"/>
                <p:cNvSpPr/>
                <p:nvPr/>
              </p:nvSpPr>
              <p:spPr>
                <a:xfrm flipH="1">
                  <a:off x="861177" y="1191"/>
                  <a:ext cx="1" cy="1716272"/>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03" name="Line 32"/>
                <p:cNvSpPr/>
                <p:nvPr/>
              </p:nvSpPr>
              <p:spPr>
                <a:xfrm flipH="1">
                  <a:off x="435770" y="119418"/>
                  <a:ext cx="858137" cy="1486335"/>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04" name="Line 33"/>
                <p:cNvSpPr/>
                <p:nvPr/>
              </p:nvSpPr>
              <p:spPr>
                <a:xfrm flipH="1">
                  <a:off x="114664" y="436810"/>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05" name="Line 34"/>
                <p:cNvSpPr/>
                <p:nvPr/>
              </p:nvSpPr>
              <p:spPr>
                <a:xfrm flipH="1" flipV="1">
                  <a:off x="0" y="844390"/>
                  <a:ext cx="1716473" cy="1"/>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06" name="Line 35"/>
                <p:cNvSpPr/>
                <p:nvPr/>
              </p:nvSpPr>
              <p:spPr>
                <a:xfrm flipH="1" flipV="1">
                  <a:off x="126027" y="404630"/>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07" name="Line 36"/>
                <p:cNvSpPr/>
                <p:nvPr/>
              </p:nvSpPr>
              <p:spPr>
                <a:xfrm flipH="1" flipV="1">
                  <a:off x="451174" y="122994"/>
                  <a:ext cx="858136" cy="1486335"/>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08" name="Oval 37"/>
                <p:cNvSpPr/>
                <p:nvPr/>
              </p:nvSpPr>
              <p:spPr>
                <a:xfrm>
                  <a:off x="693105" y="712729"/>
                  <a:ext cx="343295" cy="343255"/>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grpSp>
          <p:sp>
            <p:nvSpPr>
              <p:cNvPr id="1510" name="Freeform 38"/>
              <p:cNvSpPr/>
              <p:nvPr/>
            </p:nvSpPr>
            <p:spPr>
              <a:xfrm rot="18000000">
                <a:off x="1181627" y="1267348"/>
                <a:ext cx="439392" cy="262868"/>
              </a:xfrm>
              <a:custGeom>
                <a:avLst/>
                <a:gdLst/>
                <a:ahLst/>
                <a:cxnLst>
                  <a:cxn ang="0">
                    <a:pos x="wd2" y="hd2"/>
                  </a:cxn>
                  <a:cxn ang="5400000">
                    <a:pos x="wd2" y="hd2"/>
                  </a:cxn>
                  <a:cxn ang="10800000">
                    <a:pos x="wd2" y="hd2"/>
                  </a:cxn>
                  <a:cxn ang="16200000">
                    <a:pos x="wd2" y="hd2"/>
                  </a:cxn>
                </a:cxnLst>
                <a:rect l="0" t="0" r="r" b="b"/>
                <a:pathLst>
                  <a:path w="21600" h="21600" extrusionOk="0">
                    <a:moveTo>
                      <a:pt x="0" y="12447"/>
                    </a:moveTo>
                    <a:lnTo>
                      <a:pt x="4440" y="0"/>
                    </a:lnTo>
                    <a:lnTo>
                      <a:pt x="6698" y="2075"/>
                    </a:lnTo>
                    <a:lnTo>
                      <a:pt x="8806" y="3661"/>
                    </a:lnTo>
                    <a:lnTo>
                      <a:pt x="11063" y="5125"/>
                    </a:lnTo>
                    <a:lnTo>
                      <a:pt x="12644" y="5858"/>
                    </a:lnTo>
                    <a:lnTo>
                      <a:pt x="14676" y="6834"/>
                    </a:lnTo>
                    <a:lnTo>
                      <a:pt x="16708" y="7322"/>
                    </a:lnTo>
                    <a:lnTo>
                      <a:pt x="18514" y="7932"/>
                    </a:lnTo>
                    <a:lnTo>
                      <a:pt x="19869" y="8054"/>
                    </a:lnTo>
                    <a:lnTo>
                      <a:pt x="21600" y="8054"/>
                    </a:lnTo>
                    <a:lnTo>
                      <a:pt x="21600" y="21600"/>
                    </a:lnTo>
                    <a:lnTo>
                      <a:pt x="18966" y="21600"/>
                    </a:lnTo>
                    <a:lnTo>
                      <a:pt x="17160" y="21478"/>
                    </a:lnTo>
                    <a:lnTo>
                      <a:pt x="15052" y="21112"/>
                    </a:lnTo>
                    <a:lnTo>
                      <a:pt x="12794" y="20380"/>
                    </a:lnTo>
                    <a:lnTo>
                      <a:pt x="10838" y="19647"/>
                    </a:lnTo>
                    <a:lnTo>
                      <a:pt x="8279" y="18549"/>
                    </a:lnTo>
                    <a:lnTo>
                      <a:pt x="5193" y="16841"/>
                    </a:lnTo>
                    <a:lnTo>
                      <a:pt x="3161" y="15376"/>
                    </a:lnTo>
                    <a:lnTo>
                      <a:pt x="1731" y="14156"/>
                    </a:lnTo>
                    <a:lnTo>
                      <a:pt x="0" y="12447"/>
                    </a:lnTo>
                    <a:close/>
                  </a:path>
                </a:pathLst>
              </a:custGeom>
              <a:solidFill>
                <a:srgbClr val="FF0000"/>
              </a:solidFill>
              <a:ln w="9525" cap="flat">
                <a:solidFill>
                  <a:srgbClr val="000000"/>
                </a:solidFill>
                <a:prstDash val="solid"/>
                <a:round/>
              </a:ln>
              <a:effectLst/>
            </p:spPr>
            <p:txBody>
              <a:bodyPr wrap="square" lIns="45719" tIns="45719" rIns="45719" bIns="45719" numCol="1" anchor="t">
                <a:noAutofit/>
              </a:bodyPr>
              <a:lstStyle/>
              <a:p/>
            </p:txBody>
          </p:sp>
          <p:sp>
            <p:nvSpPr>
              <p:cNvPr id="1511" name="Freeform 39"/>
              <p:cNvSpPr/>
              <p:nvPr/>
            </p:nvSpPr>
            <p:spPr>
              <a:xfrm rot="19800000">
                <a:off x="444902" y="459880"/>
                <a:ext cx="243561" cy="230088"/>
              </a:xfrm>
              <a:custGeom>
                <a:avLst/>
                <a:gdLst/>
                <a:ahLst/>
                <a:cxnLst>
                  <a:cxn ang="0">
                    <a:pos x="wd2" y="hd2"/>
                  </a:cxn>
                  <a:cxn ang="5400000">
                    <a:pos x="wd2" y="hd2"/>
                  </a:cxn>
                  <a:cxn ang="10800000">
                    <a:pos x="wd2" y="hd2"/>
                  </a:cxn>
                  <a:cxn ang="16200000">
                    <a:pos x="wd2" y="hd2"/>
                  </a:cxn>
                </a:cxnLst>
                <a:rect l="0" t="0" r="r" b="b"/>
                <a:pathLst>
                  <a:path w="21600" h="21600" extrusionOk="0">
                    <a:moveTo>
                      <a:pt x="8166" y="21600"/>
                    </a:moveTo>
                    <a:lnTo>
                      <a:pt x="0" y="6689"/>
                    </a:lnTo>
                    <a:lnTo>
                      <a:pt x="2766" y="5295"/>
                    </a:lnTo>
                    <a:lnTo>
                      <a:pt x="5927" y="3623"/>
                    </a:lnTo>
                    <a:lnTo>
                      <a:pt x="8166" y="2926"/>
                    </a:lnTo>
                    <a:lnTo>
                      <a:pt x="10537" y="1951"/>
                    </a:lnTo>
                    <a:lnTo>
                      <a:pt x="13434" y="1254"/>
                    </a:lnTo>
                    <a:lnTo>
                      <a:pt x="16068" y="697"/>
                    </a:lnTo>
                    <a:lnTo>
                      <a:pt x="20020" y="279"/>
                    </a:lnTo>
                    <a:lnTo>
                      <a:pt x="21600" y="0"/>
                    </a:lnTo>
                    <a:lnTo>
                      <a:pt x="21600" y="17977"/>
                    </a:lnTo>
                    <a:lnTo>
                      <a:pt x="19624" y="18255"/>
                    </a:lnTo>
                    <a:lnTo>
                      <a:pt x="18044" y="18255"/>
                    </a:lnTo>
                    <a:lnTo>
                      <a:pt x="16595" y="18395"/>
                    </a:lnTo>
                    <a:lnTo>
                      <a:pt x="14093" y="19231"/>
                    </a:lnTo>
                    <a:lnTo>
                      <a:pt x="11722" y="19928"/>
                    </a:lnTo>
                    <a:lnTo>
                      <a:pt x="9351" y="20903"/>
                    </a:lnTo>
                    <a:lnTo>
                      <a:pt x="8166" y="21600"/>
                    </a:lnTo>
                    <a:close/>
                  </a:path>
                </a:pathLst>
              </a:custGeom>
              <a:solidFill>
                <a:srgbClr val="0000FF"/>
              </a:solidFill>
              <a:ln w="9525" cap="flat">
                <a:solidFill>
                  <a:srgbClr val="000000"/>
                </a:solidFill>
                <a:prstDash val="solid"/>
                <a:round/>
              </a:ln>
              <a:effectLst/>
            </p:spPr>
            <p:txBody>
              <a:bodyPr wrap="square" lIns="45719" tIns="45719" rIns="45719" bIns="45719" numCol="1" anchor="t">
                <a:noAutofit/>
              </a:bodyPr>
              <a:lstStyle/>
              <a:p/>
            </p:txBody>
          </p:sp>
        </p:grpSp>
        <p:sp>
          <p:nvSpPr>
            <p:cNvPr id="1513" name="AutoShape 40"/>
            <p:cNvSpPr/>
            <p:nvPr/>
          </p:nvSpPr>
          <p:spPr>
            <a:xfrm>
              <a:off x="721135" y="0"/>
              <a:ext cx="289600" cy="556662"/>
            </a:xfrm>
            <a:custGeom>
              <a:avLst/>
              <a:gdLst/>
              <a:ahLst/>
              <a:cxnLst>
                <a:cxn ang="0">
                  <a:pos x="wd2" y="hd2"/>
                </a:cxn>
                <a:cxn ang="5400000">
                  <a:pos x="wd2" y="hd2"/>
                </a:cxn>
                <a:cxn ang="10800000">
                  <a:pos x="wd2" y="hd2"/>
                </a:cxn>
                <a:cxn ang="16200000">
                  <a:pos x="wd2" y="hd2"/>
                </a:cxn>
              </a:cxnLst>
              <a:rect l="0" t="0" r="r" b="b"/>
              <a:pathLst>
                <a:path w="21600" h="21600" extrusionOk="0">
                  <a:moveTo>
                    <a:pt x="0" y="16197"/>
                  </a:moveTo>
                  <a:lnTo>
                    <a:pt x="5400" y="16197"/>
                  </a:lnTo>
                  <a:lnTo>
                    <a:pt x="5400" y="0"/>
                  </a:lnTo>
                  <a:lnTo>
                    <a:pt x="16200" y="0"/>
                  </a:lnTo>
                  <a:lnTo>
                    <a:pt x="16200" y="16197"/>
                  </a:lnTo>
                  <a:lnTo>
                    <a:pt x="21600" y="16197"/>
                  </a:lnTo>
                  <a:lnTo>
                    <a:pt x="10800" y="21600"/>
                  </a:lnTo>
                  <a:close/>
                </a:path>
              </a:pathLst>
            </a:custGeom>
            <a:solidFill>
              <a:srgbClr val="000000"/>
            </a:solidFill>
            <a:ln w="9525" cap="flat">
              <a:solidFill>
                <a:srgbClr val="000000"/>
              </a:solidFill>
              <a:prstDash val="solid"/>
              <a:miter lim="800000"/>
            </a:ln>
            <a:effectLst/>
          </p:spPr>
          <p:txBody>
            <a:bodyPr wrap="square" lIns="45719" tIns="45719" rIns="45719" bIns="45719" numCol="1" anchor="ctr">
              <a:noAutofit/>
            </a:bodyPr>
            <a:lstStyle/>
            <a:p/>
          </p:txBody>
        </p:sp>
      </p:grpSp>
      <p:grpSp>
        <p:nvGrpSpPr>
          <p:cNvPr id="1532" name="Group 41"/>
          <p:cNvGrpSpPr/>
          <p:nvPr/>
        </p:nvGrpSpPr>
        <p:grpSpPr>
          <a:xfrm>
            <a:off x="6357938" y="1625599"/>
            <a:ext cx="1720049" cy="2185184"/>
            <a:chOff x="0" y="0"/>
            <a:chExt cx="1720048" cy="2185182"/>
          </a:xfrm>
        </p:grpSpPr>
        <p:grpSp>
          <p:nvGrpSpPr>
            <p:cNvPr id="1530" name="Group 42"/>
            <p:cNvGrpSpPr/>
            <p:nvPr/>
          </p:nvGrpSpPr>
          <p:grpSpPr>
            <a:xfrm>
              <a:off x="-1" y="463421"/>
              <a:ext cx="1720050" cy="1721762"/>
              <a:chOff x="0" y="0"/>
              <a:chExt cx="1720048" cy="1721761"/>
            </a:xfrm>
          </p:grpSpPr>
          <p:grpSp>
            <p:nvGrpSpPr>
              <p:cNvPr id="1526" name="Group 43"/>
              <p:cNvGrpSpPr/>
              <p:nvPr/>
            </p:nvGrpSpPr>
            <p:grpSpPr>
              <a:xfrm>
                <a:off x="634" y="4456"/>
                <a:ext cx="1719415" cy="1717306"/>
                <a:chOff x="0" y="0"/>
                <a:chExt cx="1719413" cy="1717305"/>
              </a:xfrm>
            </p:grpSpPr>
            <p:sp>
              <p:nvSpPr>
                <p:cNvPr id="1515" name="Oval 44"/>
                <p:cNvSpPr/>
                <p:nvPr/>
              </p:nvSpPr>
              <p:spPr>
                <a:xfrm>
                  <a:off x="2941" y="0"/>
                  <a:ext cx="1716473" cy="1716113"/>
                </a:xfrm>
                <a:prstGeom prst="ellipse">
                  <a:avLst/>
                </a:prstGeom>
                <a:solidFill>
                  <a:schemeClr val="accent3">
                    <a:lumOff val="44000"/>
                  </a:schemeClr>
                </a:solidFill>
                <a:ln w="9525" cap="flat">
                  <a:solidFill>
                    <a:srgbClr val="000000"/>
                  </a:solidFill>
                  <a:prstDash val="solid"/>
                  <a:round/>
                </a:ln>
                <a:effectLst>
                  <a:outerShdw blurRad="63500" dist="107762" dir="2700000" rotWithShape="0">
                    <a:srgbClr val="808080">
                      <a:alpha val="74998"/>
                    </a:srgbClr>
                  </a:outerShdw>
                </a:effectLst>
              </p:spPr>
              <p:txBody>
                <a:bodyPr wrap="square" lIns="45719" tIns="45719" rIns="45719" bIns="45719" numCol="1" anchor="ctr">
                  <a:noAutofit/>
                </a:bodyPr>
                <a:lstStyle/>
                <a:p/>
              </p:txBody>
            </p:sp>
            <p:sp>
              <p:nvSpPr>
                <p:cNvPr id="1516" name="Oval 45"/>
                <p:cNvSpPr/>
                <p:nvPr/>
              </p:nvSpPr>
              <p:spPr>
                <a:xfrm>
                  <a:off x="192468" y="178885"/>
                  <a:ext cx="1373179" cy="1373846"/>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17" name="Oval 46"/>
                <p:cNvSpPr/>
                <p:nvPr/>
              </p:nvSpPr>
              <p:spPr>
                <a:xfrm>
                  <a:off x="364115" y="350616"/>
                  <a:ext cx="1029885" cy="1030385"/>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18" name="Oval 47"/>
                <p:cNvSpPr/>
                <p:nvPr/>
              </p:nvSpPr>
              <p:spPr>
                <a:xfrm>
                  <a:off x="521458" y="540235"/>
                  <a:ext cx="686589" cy="686923"/>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19" name="Line 48"/>
                <p:cNvSpPr/>
                <p:nvPr/>
              </p:nvSpPr>
              <p:spPr>
                <a:xfrm flipH="1">
                  <a:off x="861177" y="0"/>
                  <a:ext cx="1" cy="1717306"/>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20" name="Line 49"/>
                <p:cNvSpPr/>
                <p:nvPr/>
              </p:nvSpPr>
              <p:spPr>
                <a:xfrm flipH="1">
                  <a:off x="435511" y="118297"/>
                  <a:ext cx="858654" cy="1487231"/>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21" name="Line 50"/>
                <p:cNvSpPr/>
                <p:nvPr/>
              </p:nvSpPr>
              <p:spPr>
                <a:xfrm flipH="1">
                  <a:off x="114664" y="436140"/>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22" name="Line 51"/>
                <p:cNvSpPr/>
                <p:nvPr/>
              </p:nvSpPr>
              <p:spPr>
                <a:xfrm flipH="1" flipV="1">
                  <a:off x="0" y="843706"/>
                  <a:ext cx="1716473" cy="1"/>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23" name="Line 52"/>
                <p:cNvSpPr/>
                <p:nvPr/>
              </p:nvSpPr>
              <p:spPr>
                <a:xfrm flipH="1" flipV="1">
                  <a:off x="126027" y="403940"/>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24" name="Line 53"/>
                <p:cNvSpPr/>
                <p:nvPr/>
              </p:nvSpPr>
              <p:spPr>
                <a:xfrm flipH="1" flipV="1">
                  <a:off x="450915" y="121876"/>
                  <a:ext cx="858654" cy="1487230"/>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25" name="Oval 54"/>
                <p:cNvSpPr/>
                <p:nvPr/>
              </p:nvSpPr>
              <p:spPr>
                <a:xfrm>
                  <a:off x="693105" y="711966"/>
                  <a:ext cx="343295" cy="343463"/>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grpSp>
          <p:sp>
            <p:nvSpPr>
              <p:cNvPr id="1527" name="Freeform 55"/>
              <p:cNvSpPr/>
              <p:nvPr/>
            </p:nvSpPr>
            <p:spPr>
              <a:xfrm rot="10800000">
                <a:off x="859887" y="8911"/>
                <a:ext cx="435142" cy="280728"/>
              </a:xfrm>
              <a:custGeom>
                <a:avLst/>
                <a:gdLst/>
                <a:ahLst/>
                <a:cxnLst>
                  <a:cxn ang="0">
                    <a:pos x="wd2" y="hd2"/>
                  </a:cxn>
                  <a:cxn ang="5400000">
                    <a:pos x="wd2" y="hd2"/>
                  </a:cxn>
                  <a:cxn ang="10800000">
                    <a:pos x="wd2" y="hd2"/>
                  </a:cxn>
                  <a:cxn ang="16200000">
                    <a:pos x="wd2" y="hd2"/>
                  </a:cxn>
                </a:cxnLst>
                <a:rect l="0" t="0" r="r" b="b"/>
                <a:pathLst>
                  <a:path w="21600" h="21600" extrusionOk="0">
                    <a:moveTo>
                      <a:pt x="0" y="12447"/>
                    </a:moveTo>
                    <a:lnTo>
                      <a:pt x="4440" y="0"/>
                    </a:lnTo>
                    <a:lnTo>
                      <a:pt x="6698" y="2075"/>
                    </a:lnTo>
                    <a:lnTo>
                      <a:pt x="8806" y="3661"/>
                    </a:lnTo>
                    <a:lnTo>
                      <a:pt x="11063" y="5125"/>
                    </a:lnTo>
                    <a:lnTo>
                      <a:pt x="12644" y="5858"/>
                    </a:lnTo>
                    <a:lnTo>
                      <a:pt x="14676" y="6834"/>
                    </a:lnTo>
                    <a:lnTo>
                      <a:pt x="16708" y="7322"/>
                    </a:lnTo>
                    <a:lnTo>
                      <a:pt x="18514" y="7932"/>
                    </a:lnTo>
                    <a:lnTo>
                      <a:pt x="19869" y="8054"/>
                    </a:lnTo>
                    <a:lnTo>
                      <a:pt x="21600" y="8054"/>
                    </a:lnTo>
                    <a:lnTo>
                      <a:pt x="21600" y="21600"/>
                    </a:lnTo>
                    <a:lnTo>
                      <a:pt x="18966" y="21600"/>
                    </a:lnTo>
                    <a:lnTo>
                      <a:pt x="17160" y="21478"/>
                    </a:lnTo>
                    <a:lnTo>
                      <a:pt x="15052" y="21112"/>
                    </a:lnTo>
                    <a:lnTo>
                      <a:pt x="12794" y="20380"/>
                    </a:lnTo>
                    <a:lnTo>
                      <a:pt x="10838" y="19647"/>
                    </a:lnTo>
                    <a:lnTo>
                      <a:pt x="8279" y="18549"/>
                    </a:lnTo>
                    <a:lnTo>
                      <a:pt x="5193" y="16841"/>
                    </a:lnTo>
                    <a:lnTo>
                      <a:pt x="3161" y="15376"/>
                    </a:lnTo>
                    <a:lnTo>
                      <a:pt x="1731" y="14156"/>
                    </a:lnTo>
                    <a:lnTo>
                      <a:pt x="0" y="12447"/>
                    </a:lnTo>
                    <a:close/>
                  </a:path>
                </a:pathLst>
              </a:custGeom>
              <a:solidFill>
                <a:srgbClr val="FF0000"/>
              </a:solidFill>
              <a:ln w="9525" cap="flat">
                <a:solidFill>
                  <a:srgbClr val="000000"/>
                </a:solidFill>
                <a:prstDash val="solid"/>
                <a:round/>
              </a:ln>
              <a:effectLst/>
            </p:spPr>
            <p:txBody>
              <a:bodyPr wrap="square" lIns="45719" tIns="45719" rIns="45719" bIns="45719" numCol="1" anchor="t">
                <a:noAutofit/>
              </a:bodyPr>
              <a:lstStyle/>
              <a:p/>
            </p:txBody>
          </p:sp>
          <p:sp>
            <p:nvSpPr>
              <p:cNvPr id="1528" name="Freeform 56"/>
              <p:cNvSpPr/>
              <p:nvPr/>
            </p:nvSpPr>
            <p:spPr>
              <a:xfrm>
                <a:off x="610386" y="1179347"/>
                <a:ext cx="252472" cy="206461"/>
              </a:xfrm>
              <a:custGeom>
                <a:avLst/>
                <a:gdLst/>
                <a:ahLst/>
                <a:cxnLst>
                  <a:cxn ang="0">
                    <a:pos x="wd2" y="hd2"/>
                  </a:cxn>
                  <a:cxn ang="5400000">
                    <a:pos x="wd2" y="hd2"/>
                  </a:cxn>
                  <a:cxn ang="10800000">
                    <a:pos x="wd2" y="hd2"/>
                  </a:cxn>
                  <a:cxn ang="16200000">
                    <a:pos x="wd2" y="hd2"/>
                  </a:cxn>
                </a:cxnLst>
                <a:rect l="0" t="0" r="r" b="b"/>
                <a:pathLst>
                  <a:path w="21600" h="21600" extrusionOk="0">
                    <a:moveTo>
                      <a:pt x="0" y="13209"/>
                    </a:moveTo>
                    <a:lnTo>
                      <a:pt x="6353" y="0"/>
                    </a:lnTo>
                    <a:lnTo>
                      <a:pt x="9529" y="2331"/>
                    </a:lnTo>
                    <a:lnTo>
                      <a:pt x="12960" y="3729"/>
                    </a:lnTo>
                    <a:lnTo>
                      <a:pt x="16264" y="4817"/>
                    </a:lnTo>
                    <a:lnTo>
                      <a:pt x="21600" y="5594"/>
                    </a:lnTo>
                    <a:lnTo>
                      <a:pt x="21600" y="21600"/>
                    </a:lnTo>
                    <a:lnTo>
                      <a:pt x="17915" y="21134"/>
                    </a:lnTo>
                    <a:lnTo>
                      <a:pt x="13341" y="20201"/>
                    </a:lnTo>
                    <a:lnTo>
                      <a:pt x="9402" y="18803"/>
                    </a:lnTo>
                    <a:lnTo>
                      <a:pt x="4828" y="16783"/>
                    </a:lnTo>
                    <a:lnTo>
                      <a:pt x="2922" y="15850"/>
                    </a:lnTo>
                    <a:lnTo>
                      <a:pt x="0" y="13209"/>
                    </a:lnTo>
                    <a:close/>
                  </a:path>
                </a:pathLst>
              </a:custGeom>
              <a:solidFill>
                <a:srgbClr val="0000FF"/>
              </a:solidFill>
              <a:ln w="9525" cap="flat">
                <a:solidFill>
                  <a:srgbClr val="000000"/>
                </a:solidFill>
                <a:prstDash val="solid"/>
                <a:round/>
              </a:ln>
              <a:effectLst/>
            </p:spPr>
            <p:txBody>
              <a:bodyPr wrap="square" lIns="45719" tIns="45719" rIns="45719" bIns="45719" numCol="1" anchor="t">
                <a:noAutofit/>
              </a:bodyPr>
              <a:lstStyle/>
              <a:p/>
            </p:txBody>
          </p:sp>
          <p:sp>
            <p:nvSpPr>
              <p:cNvPr id="1529" name="Freeform 57"/>
              <p:cNvSpPr/>
              <p:nvPr/>
            </p:nvSpPr>
            <p:spPr>
              <a:xfrm>
                <a:off x="0" y="0"/>
                <a:ext cx="859888" cy="1296688"/>
              </a:xfrm>
              <a:custGeom>
                <a:avLst/>
                <a:gdLst/>
                <a:ahLst/>
                <a:cxnLst>
                  <a:cxn ang="0">
                    <a:pos x="wd2" y="hd2"/>
                  </a:cxn>
                  <a:cxn ang="5400000">
                    <a:pos x="wd2" y="hd2"/>
                  </a:cxn>
                  <a:cxn ang="10800000">
                    <a:pos x="wd2" y="hd2"/>
                  </a:cxn>
                  <a:cxn ang="16200000">
                    <a:pos x="wd2" y="hd2"/>
                  </a:cxn>
                </a:cxnLst>
                <a:rect l="0" t="0" r="r" b="b"/>
                <a:pathLst>
                  <a:path w="21600" h="21600" extrusionOk="0">
                    <a:moveTo>
                      <a:pt x="2984" y="21600"/>
                    </a:moveTo>
                    <a:lnTo>
                      <a:pt x="7013" y="20041"/>
                    </a:lnTo>
                    <a:lnTo>
                      <a:pt x="6790" y="19794"/>
                    </a:lnTo>
                    <a:lnTo>
                      <a:pt x="6230" y="19052"/>
                    </a:lnTo>
                    <a:lnTo>
                      <a:pt x="5820" y="18334"/>
                    </a:lnTo>
                    <a:lnTo>
                      <a:pt x="5484" y="17592"/>
                    </a:lnTo>
                    <a:lnTo>
                      <a:pt x="5223" y="16998"/>
                    </a:lnTo>
                    <a:lnTo>
                      <a:pt x="5036" y="16181"/>
                    </a:lnTo>
                    <a:lnTo>
                      <a:pt x="4887" y="15192"/>
                    </a:lnTo>
                    <a:lnTo>
                      <a:pt x="4812" y="13955"/>
                    </a:lnTo>
                    <a:lnTo>
                      <a:pt x="4999" y="12990"/>
                    </a:lnTo>
                    <a:lnTo>
                      <a:pt x="5223" y="12099"/>
                    </a:lnTo>
                    <a:lnTo>
                      <a:pt x="5782" y="10738"/>
                    </a:lnTo>
                    <a:lnTo>
                      <a:pt x="6678" y="9328"/>
                    </a:lnTo>
                    <a:lnTo>
                      <a:pt x="7498" y="8363"/>
                    </a:lnTo>
                    <a:lnTo>
                      <a:pt x="8692" y="7274"/>
                    </a:lnTo>
                    <a:lnTo>
                      <a:pt x="9849" y="6384"/>
                    </a:lnTo>
                    <a:lnTo>
                      <a:pt x="11378" y="5493"/>
                    </a:lnTo>
                    <a:lnTo>
                      <a:pt x="12609" y="4899"/>
                    </a:lnTo>
                    <a:lnTo>
                      <a:pt x="14213" y="4280"/>
                    </a:lnTo>
                    <a:lnTo>
                      <a:pt x="16191" y="3687"/>
                    </a:lnTo>
                    <a:lnTo>
                      <a:pt x="18093" y="3340"/>
                    </a:lnTo>
                    <a:lnTo>
                      <a:pt x="20332" y="3093"/>
                    </a:lnTo>
                    <a:lnTo>
                      <a:pt x="21600" y="3043"/>
                    </a:lnTo>
                    <a:lnTo>
                      <a:pt x="21600" y="0"/>
                    </a:lnTo>
                    <a:lnTo>
                      <a:pt x="19996" y="0"/>
                    </a:lnTo>
                    <a:lnTo>
                      <a:pt x="18914" y="148"/>
                    </a:lnTo>
                    <a:lnTo>
                      <a:pt x="17907" y="272"/>
                    </a:lnTo>
                    <a:lnTo>
                      <a:pt x="16526" y="421"/>
                    </a:lnTo>
                    <a:lnTo>
                      <a:pt x="14400" y="816"/>
                    </a:lnTo>
                    <a:lnTo>
                      <a:pt x="13206" y="1188"/>
                    </a:lnTo>
                    <a:lnTo>
                      <a:pt x="11938" y="1534"/>
                    </a:lnTo>
                    <a:lnTo>
                      <a:pt x="10520" y="2128"/>
                    </a:lnTo>
                    <a:lnTo>
                      <a:pt x="9289" y="2598"/>
                    </a:lnTo>
                    <a:lnTo>
                      <a:pt x="8170" y="3167"/>
                    </a:lnTo>
                    <a:lnTo>
                      <a:pt x="7051" y="3786"/>
                    </a:lnTo>
                    <a:lnTo>
                      <a:pt x="6230" y="4305"/>
                    </a:lnTo>
                    <a:lnTo>
                      <a:pt x="5447" y="4874"/>
                    </a:lnTo>
                    <a:lnTo>
                      <a:pt x="4701" y="5493"/>
                    </a:lnTo>
                    <a:lnTo>
                      <a:pt x="3880" y="6210"/>
                    </a:lnTo>
                    <a:lnTo>
                      <a:pt x="3096" y="6977"/>
                    </a:lnTo>
                    <a:lnTo>
                      <a:pt x="2350" y="7868"/>
                    </a:lnTo>
                    <a:lnTo>
                      <a:pt x="1679" y="8833"/>
                    </a:lnTo>
                    <a:lnTo>
                      <a:pt x="783" y="10614"/>
                    </a:lnTo>
                    <a:lnTo>
                      <a:pt x="336" y="11926"/>
                    </a:lnTo>
                    <a:lnTo>
                      <a:pt x="187" y="12816"/>
                    </a:lnTo>
                    <a:lnTo>
                      <a:pt x="0" y="14029"/>
                    </a:lnTo>
                    <a:lnTo>
                      <a:pt x="0" y="15118"/>
                    </a:lnTo>
                    <a:lnTo>
                      <a:pt x="224" y="16454"/>
                    </a:lnTo>
                    <a:lnTo>
                      <a:pt x="634" y="17740"/>
                    </a:lnTo>
                    <a:lnTo>
                      <a:pt x="895" y="18458"/>
                    </a:lnTo>
                    <a:lnTo>
                      <a:pt x="1567" y="19670"/>
                    </a:lnTo>
                    <a:lnTo>
                      <a:pt x="2126" y="20561"/>
                    </a:lnTo>
                    <a:lnTo>
                      <a:pt x="2686" y="21229"/>
                    </a:lnTo>
                    <a:lnTo>
                      <a:pt x="2984" y="21600"/>
                    </a:lnTo>
                    <a:close/>
                  </a:path>
                </a:pathLst>
              </a:custGeom>
              <a:solidFill>
                <a:srgbClr val="808080"/>
              </a:solidFill>
              <a:ln w="9525" cap="flat">
                <a:solidFill>
                  <a:srgbClr val="000000"/>
                </a:solidFill>
                <a:prstDash val="solid"/>
                <a:miter lim="800000"/>
              </a:ln>
              <a:effectLst/>
            </p:spPr>
            <p:txBody>
              <a:bodyPr wrap="square" lIns="45719" tIns="45719" rIns="45719" bIns="45719" numCol="1" anchor="t">
                <a:noAutofit/>
              </a:bodyPr>
              <a:lstStyle/>
              <a:p/>
            </p:txBody>
          </p:sp>
        </p:grpSp>
        <p:sp>
          <p:nvSpPr>
            <p:cNvPr id="1531" name="AutoShape 58"/>
            <p:cNvSpPr/>
            <p:nvPr/>
          </p:nvSpPr>
          <p:spPr>
            <a:xfrm>
              <a:off x="726225" y="0"/>
              <a:ext cx="289600" cy="556996"/>
            </a:xfrm>
            <a:custGeom>
              <a:avLst/>
              <a:gdLst/>
              <a:ahLst/>
              <a:cxnLst>
                <a:cxn ang="0">
                  <a:pos x="wd2" y="hd2"/>
                </a:cxn>
                <a:cxn ang="5400000">
                  <a:pos x="wd2" y="hd2"/>
                </a:cxn>
                <a:cxn ang="10800000">
                  <a:pos x="wd2" y="hd2"/>
                </a:cxn>
                <a:cxn ang="16200000">
                  <a:pos x="wd2" y="hd2"/>
                </a:cxn>
              </a:cxnLst>
              <a:rect l="0" t="0" r="r" b="b"/>
              <a:pathLst>
                <a:path w="21600" h="21600" extrusionOk="0">
                  <a:moveTo>
                    <a:pt x="0" y="16201"/>
                  </a:moveTo>
                  <a:lnTo>
                    <a:pt x="5400" y="16201"/>
                  </a:lnTo>
                  <a:lnTo>
                    <a:pt x="5400" y="0"/>
                  </a:lnTo>
                  <a:lnTo>
                    <a:pt x="16200" y="0"/>
                  </a:lnTo>
                  <a:lnTo>
                    <a:pt x="16200" y="16201"/>
                  </a:lnTo>
                  <a:lnTo>
                    <a:pt x="21600" y="16201"/>
                  </a:lnTo>
                  <a:lnTo>
                    <a:pt x="10800" y="21600"/>
                  </a:lnTo>
                  <a:close/>
                </a:path>
              </a:pathLst>
            </a:custGeom>
            <a:solidFill>
              <a:srgbClr val="000000"/>
            </a:solidFill>
            <a:ln w="9525" cap="flat">
              <a:solidFill>
                <a:srgbClr val="000000"/>
              </a:solidFill>
              <a:prstDash val="solid"/>
              <a:miter lim="800000"/>
            </a:ln>
            <a:effectLst/>
          </p:spPr>
          <p:txBody>
            <a:bodyPr wrap="square" lIns="45719" tIns="45719" rIns="45719" bIns="45719" numCol="1" anchor="ctr">
              <a:noAutofit/>
            </a:bodyPr>
            <a:lstStyle/>
            <a:p/>
          </p:txBody>
        </p:sp>
      </p:grpSp>
      <p:grpSp>
        <p:nvGrpSpPr>
          <p:cNvPr id="1549" name="Group 59"/>
          <p:cNvGrpSpPr/>
          <p:nvPr/>
        </p:nvGrpSpPr>
        <p:grpSpPr>
          <a:xfrm>
            <a:off x="8408035" y="1649414"/>
            <a:ext cx="1719415" cy="2161375"/>
            <a:chOff x="0" y="0"/>
            <a:chExt cx="1719413" cy="2161374"/>
          </a:xfrm>
        </p:grpSpPr>
        <p:grpSp>
          <p:nvGrpSpPr>
            <p:cNvPr id="1547" name="Group 60"/>
            <p:cNvGrpSpPr/>
            <p:nvPr/>
          </p:nvGrpSpPr>
          <p:grpSpPr>
            <a:xfrm>
              <a:off x="-1" y="443798"/>
              <a:ext cx="1719415" cy="1717577"/>
              <a:chOff x="0" y="0"/>
              <a:chExt cx="1719413" cy="1717576"/>
            </a:xfrm>
          </p:grpSpPr>
          <p:grpSp>
            <p:nvGrpSpPr>
              <p:cNvPr id="1544" name="Group 61"/>
              <p:cNvGrpSpPr/>
              <p:nvPr/>
            </p:nvGrpSpPr>
            <p:grpSpPr>
              <a:xfrm>
                <a:off x="-1" y="1484"/>
                <a:ext cx="1719415" cy="1716093"/>
                <a:chOff x="0" y="0"/>
                <a:chExt cx="1719413" cy="1716091"/>
              </a:xfrm>
            </p:grpSpPr>
            <p:sp>
              <p:nvSpPr>
                <p:cNvPr id="1533" name="Oval 62"/>
                <p:cNvSpPr/>
                <p:nvPr/>
              </p:nvSpPr>
              <p:spPr>
                <a:xfrm>
                  <a:off x="2941" y="1191"/>
                  <a:ext cx="1716473" cy="1714901"/>
                </a:xfrm>
                <a:prstGeom prst="ellipse">
                  <a:avLst/>
                </a:prstGeom>
                <a:solidFill>
                  <a:schemeClr val="accent3">
                    <a:lumOff val="44000"/>
                  </a:schemeClr>
                </a:solidFill>
                <a:ln w="9525" cap="flat">
                  <a:solidFill>
                    <a:srgbClr val="000000"/>
                  </a:solidFill>
                  <a:prstDash val="solid"/>
                  <a:round/>
                </a:ln>
                <a:effectLst>
                  <a:outerShdw blurRad="63500" dist="107762" dir="2700000" rotWithShape="0">
                    <a:srgbClr val="808080">
                      <a:alpha val="74998"/>
                    </a:srgbClr>
                  </a:outerShdw>
                </a:effectLst>
              </p:spPr>
              <p:txBody>
                <a:bodyPr wrap="square" lIns="45719" tIns="45719" rIns="45719" bIns="45719" numCol="1" anchor="ctr">
                  <a:noAutofit/>
                </a:bodyPr>
                <a:lstStyle/>
                <a:p/>
              </p:txBody>
            </p:sp>
            <p:sp>
              <p:nvSpPr>
                <p:cNvPr id="1534" name="Oval 63"/>
                <p:cNvSpPr/>
                <p:nvPr/>
              </p:nvSpPr>
              <p:spPr>
                <a:xfrm>
                  <a:off x="192468" y="178759"/>
                  <a:ext cx="1373179" cy="1372875"/>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35" name="Oval 64"/>
                <p:cNvSpPr/>
                <p:nvPr/>
              </p:nvSpPr>
              <p:spPr>
                <a:xfrm>
                  <a:off x="364115" y="350368"/>
                  <a:ext cx="1029885" cy="1029657"/>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36" name="Oval 65"/>
                <p:cNvSpPr/>
                <p:nvPr/>
              </p:nvSpPr>
              <p:spPr>
                <a:xfrm>
                  <a:off x="521458" y="539854"/>
                  <a:ext cx="686589" cy="686437"/>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sp>
              <p:nvSpPr>
                <p:cNvPr id="1537" name="Line 66"/>
                <p:cNvSpPr/>
                <p:nvPr/>
              </p:nvSpPr>
              <p:spPr>
                <a:xfrm flipH="1">
                  <a:off x="861177" y="0"/>
                  <a:ext cx="1" cy="1716093"/>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38" name="Line 67"/>
                <p:cNvSpPr/>
                <p:nvPr/>
              </p:nvSpPr>
              <p:spPr>
                <a:xfrm flipH="1">
                  <a:off x="435815" y="118214"/>
                  <a:ext cx="858047" cy="1486180"/>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39" name="Line 68"/>
                <p:cNvSpPr/>
                <p:nvPr/>
              </p:nvSpPr>
              <p:spPr>
                <a:xfrm flipH="1">
                  <a:off x="114664" y="435528"/>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40" name="Line 69"/>
                <p:cNvSpPr/>
                <p:nvPr/>
              </p:nvSpPr>
              <p:spPr>
                <a:xfrm flipH="1" flipV="1">
                  <a:off x="0" y="843110"/>
                  <a:ext cx="1716473" cy="1"/>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41" name="Line 70"/>
                <p:cNvSpPr/>
                <p:nvPr/>
              </p:nvSpPr>
              <p:spPr>
                <a:xfrm flipH="1" flipV="1">
                  <a:off x="126027" y="403351"/>
                  <a:ext cx="1486509" cy="858237"/>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42" name="Line 71"/>
                <p:cNvSpPr/>
                <p:nvPr/>
              </p:nvSpPr>
              <p:spPr>
                <a:xfrm flipH="1" flipV="1">
                  <a:off x="451218" y="121789"/>
                  <a:ext cx="858047" cy="1486180"/>
                </a:xfrm>
                <a:prstGeom prst="line">
                  <a:avLst/>
                </a:prstGeom>
                <a:noFill/>
                <a:ln w="9525" cap="flat">
                  <a:solidFill>
                    <a:srgbClr val="000000"/>
                  </a:solidFill>
                  <a:prstDash val="solid"/>
                  <a:round/>
                </a:ln>
                <a:effectLst/>
              </p:spPr>
              <p:txBody>
                <a:bodyPr wrap="square" lIns="45719" tIns="45719" rIns="45719" bIns="45719" numCol="1" anchor="t">
                  <a:noAutofit/>
                </a:bodyPr>
                <a:lstStyle/>
                <a:p/>
              </p:txBody>
            </p:sp>
            <p:sp>
              <p:nvSpPr>
                <p:cNvPr id="1543" name="Oval 72"/>
                <p:cNvSpPr/>
                <p:nvPr/>
              </p:nvSpPr>
              <p:spPr>
                <a:xfrm>
                  <a:off x="693105" y="711463"/>
                  <a:ext cx="343295" cy="343219"/>
                </a:xfrm>
                <a:prstGeom prst="ellipse">
                  <a:avLst/>
                </a:prstGeom>
                <a:solidFill>
                  <a:schemeClr val="accent3">
                    <a:lumOff val="44000"/>
                  </a:schemeClr>
                </a:solidFill>
                <a:ln w="9525" cap="flat">
                  <a:solidFill>
                    <a:srgbClr val="000000"/>
                  </a:solidFill>
                  <a:prstDash val="solid"/>
                  <a:round/>
                </a:ln>
                <a:effectLst/>
              </p:spPr>
              <p:txBody>
                <a:bodyPr wrap="square" lIns="45719" tIns="45719" rIns="45719" bIns="45719" numCol="1" anchor="ctr">
                  <a:noAutofit/>
                </a:bodyPr>
                <a:lstStyle/>
                <a:p/>
              </p:txBody>
            </p:sp>
          </p:grpSp>
          <p:sp>
            <p:nvSpPr>
              <p:cNvPr id="1545" name="Freeform 73"/>
              <p:cNvSpPr/>
              <p:nvPr/>
            </p:nvSpPr>
            <p:spPr>
              <a:xfrm>
                <a:off x="440447" y="0"/>
                <a:ext cx="421776" cy="271623"/>
              </a:xfrm>
              <a:custGeom>
                <a:avLst/>
                <a:gdLst/>
                <a:ahLst/>
                <a:cxnLst>
                  <a:cxn ang="0">
                    <a:pos x="wd2" y="hd2"/>
                  </a:cxn>
                  <a:cxn ang="5400000">
                    <a:pos x="wd2" y="hd2"/>
                  </a:cxn>
                  <a:cxn ang="10800000">
                    <a:pos x="wd2" y="hd2"/>
                  </a:cxn>
                  <a:cxn ang="16200000">
                    <a:pos x="wd2" y="hd2"/>
                  </a:cxn>
                </a:cxnLst>
                <a:rect l="0" t="0" r="r" b="b"/>
                <a:pathLst>
                  <a:path w="21600" h="21600" extrusionOk="0">
                    <a:moveTo>
                      <a:pt x="21600" y="14164"/>
                    </a:moveTo>
                    <a:lnTo>
                      <a:pt x="21600" y="0"/>
                    </a:lnTo>
                    <a:lnTo>
                      <a:pt x="19090" y="118"/>
                    </a:lnTo>
                    <a:lnTo>
                      <a:pt x="16656" y="354"/>
                    </a:lnTo>
                    <a:lnTo>
                      <a:pt x="13918" y="1062"/>
                    </a:lnTo>
                    <a:lnTo>
                      <a:pt x="10420" y="2243"/>
                    </a:lnTo>
                    <a:lnTo>
                      <a:pt x="6997" y="3659"/>
                    </a:lnTo>
                    <a:lnTo>
                      <a:pt x="4944" y="4957"/>
                    </a:lnTo>
                    <a:lnTo>
                      <a:pt x="2738" y="6374"/>
                    </a:lnTo>
                    <a:lnTo>
                      <a:pt x="0" y="8852"/>
                    </a:lnTo>
                    <a:lnTo>
                      <a:pt x="4792" y="21600"/>
                    </a:lnTo>
                    <a:lnTo>
                      <a:pt x="7454" y="19475"/>
                    </a:lnTo>
                    <a:lnTo>
                      <a:pt x="10039" y="17705"/>
                    </a:lnTo>
                    <a:lnTo>
                      <a:pt x="13006" y="16289"/>
                    </a:lnTo>
                    <a:lnTo>
                      <a:pt x="15059" y="15344"/>
                    </a:lnTo>
                    <a:lnTo>
                      <a:pt x="18406" y="14518"/>
                    </a:lnTo>
                    <a:lnTo>
                      <a:pt x="21600" y="14164"/>
                    </a:lnTo>
                    <a:close/>
                  </a:path>
                </a:pathLst>
              </a:custGeom>
              <a:solidFill>
                <a:srgbClr val="FF0000"/>
              </a:solidFill>
              <a:ln w="9525" cap="flat">
                <a:solidFill>
                  <a:srgbClr val="000000"/>
                </a:solidFill>
                <a:prstDash val="solid"/>
                <a:round/>
              </a:ln>
              <a:effectLst/>
            </p:spPr>
            <p:txBody>
              <a:bodyPr wrap="square" lIns="45719" tIns="45719" rIns="45719" bIns="45719" numCol="1" anchor="t">
                <a:noAutofit/>
              </a:bodyPr>
              <a:lstStyle/>
              <a:p/>
            </p:txBody>
          </p:sp>
          <p:sp>
            <p:nvSpPr>
              <p:cNvPr id="1546" name="Freeform 74"/>
              <p:cNvSpPr/>
              <p:nvPr/>
            </p:nvSpPr>
            <p:spPr>
              <a:xfrm>
                <a:off x="1050833" y="1012275"/>
                <a:ext cx="285145" cy="298340"/>
              </a:xfrm>
              <a:custGeom>
                <a:avLst/>
                <a:gdLst/>
                <a:ahLst/>
                <a:cxnLst>
                  <a:cxn ang="0">
                    <a:pos x="wd2" y="hd2"/>
                  </a:cxn>
                  <a:cxn ang="5400000">
                    <a:pos x="wd2" y="hd2"/>
                  </a:cxn>
                  <a:cxn ang="10800000">
                    <a:pos x="wd2" y="hd2"/>
                  </a:cxn>
                  <a:cxn ang="16200000">
                    <a:pos x="wd2" y="hd2"/>
                  </a:cxn>
                </a:cxnLst>
                <a:rect l="0" t="0" r="r" b="b"/>
                <a:pathLst>
                  <a:path w="21600" h="21600" extrusionOk="0">
                    <a:moveTo>
                      <a:pt x="0" y="11284"/>
                    </a:moveTo>
                    <a:lnTo>
                      <a:pt x="6412" y="21600"/>
                    </a:lnTo>
                    <a:lnTo>
                      <a:pt x="10462" y="19666"/>
                    </a:lnTo>
                    <a:lnTo>
                      <a:pt x="13838" y="16442"/>
                    </a:lnTo>
                    <a:lnTo>
                      <a:pt x="17550" y="12573"/>
                    </a:lnTo>
                    <a:lnTo>
                      <a:pt x="20588" y="8060"/>
                    </a:lnTo>
                    <a:lnTo>
                      <a:pt x="21600" y="6125"/>
                    </a:lnTo>
                    <a:lnTo>
                      <a:pt x="9787" y="0"/>
                    </a:lnTo>
                    <a:lnTo>
                      <a:pt x="8437" y="2579"/>
                    </a:lnTo>
                    <a:lnTo>
                      <a:pt x="6075" y="5481"/>
                    </a:lnTo>
                    <a:lnTo>
                      <a:pt x="3037" y="8704"/>
                    </a:lnTo>
                    <a:lnTo>
                      <a:pt x="0" y="11284"/>
                    </a:lnTo>
                    <a:close/>
                  </a:path>
                </a:pathLst>
              </a:custGeom>
              <a:solidFill>
                <a:srgbClr val="0000FF"/>
              </a:solidFill>
              <a:ln w="9525" cap="flat">
                <a:solidFill>
                  <a:srgbClr val="000000"/>
                </a:solidFill>
                <a:prstDash val="solid"/>
                <a:round/>
              </a:ln>
              <a:effectLst/>
            </p:spPr>
            <p:txBody>
              <a:bodyPr wrap="square" lIns="45719" tIns="45719" rIns="45719" bIns="45719" numCol="1" anchor="t">
                <a:noAutofit/>
              </a:bodyPr>
              <a:lstStyle/>
              <a:p/>
            </p:txBody>
          </p:sp>
        </p:grpSp>
        <p:sp>
          <p:nvSpPr>
            <p:cNvPr id="1548" name="AutoShape 75"/>
            <p:cNvSpPr/>
            <p:nvPr/>
          </p:nvSpPr>
          <p:spPr>
            <a:xfrm>
              <a:off x="716680" y="0"/>
              <a:ext cx="289600" cy="556603"/>
            </a:xfrm>
            <a:custGeom>
              <a:avLst/>
              <a:gdLst/>
              <a:ahLst/>
              <a:cxnLst>
                <a:cxn ang="0">
                  <a:pos x="wd2" y="hd2"/>
                </a:cxn>
                <a:cxn ang="5400000">
                  <a:pos x="wd2" y="hd2"/>
                </a:cxn>
                <a:cxn ang="10800000">
                  <a:pos x="wd2" y="hd2"/>
                </a:cxn>
                <a:cxn ang="16200000">
                  <a:pos x="wd2" y="hd2"/>
                </a:cxn>
              </a:cxnLst>
              <a:rect l="0" t="0" r="r" b="b"/>
              <a:pathLst>
                <a:path w="21600" h="21600" extrusionOk="0">
                  <a:moveTo>
                    <a:pt x="0" y="16197"/>
                  </a:moveTo>
                  <a:lnTo>
                    <a:pt x="5400" y="16197"/>
                  </a:lnTo>
                  <a:lnTo>
                    <a:pt x="5400" y="0"/>
                  </a:lnTo>
                  <a:lnTo>
                    <a:pt x="16200" y="0"/>
                  </a:lnTo>
                  <a:lnTo>
                    <a:pt x="16200" y="16197"/>
                  </a:lnTo>
                  <a:lnTo>
                    <a:pt x="21600" y="16197"/>
                  </a:lnTo>
                  <a:lnTo>
                    <a:pt x="10800" y="21600"/>
                  </a:lnTo>
                  <a:close/>
                </a:path>
              </a:pathLst>
            </a:custGeom>
            <a:solidFill>
              <a:srgbClr val="000000"/>
            </a:solidFill>
            <a:ln w="9525" cap="flat">
              <a:solidFill>
                <a:srgbClr val="000000"/>
              </a:solidFill>
              <a:prstDash val="solid"/>
              <a:miter lim="800000"/>
            </a:ln>
            <a:effectLst/>
          </p:spPr>
          <p:txBody>
            <a:bodyPr wrap="square" lIns="45719" tIns="45719" rIns="45719" bIns="45719" numCol="1" anchor="ctr">
              <a:noAutofit/>
            </a:bodyPr>
            <a:lstStyle/>
            <a:p/>
          </p:txBody>
        </p:sp>
      </p:grpSp>
      <p:grpSp>
        <p:nvGrpSpPr>
          <p:cNvPr id="1553" name="AutoShape 76"/>
          <p:cNvGrpSpPr/>
          <p:nvPr/>
        </p:nvGrpSpPr>
        <p:grpSpPr>
          <a:xfrm>
            <a:off x="1904919" y="2065338"/>
            <a:ext cx="304882" cy="1717520"/>
            <a:chOff x="0" y="0"/>
            <a:chExt cx="304880" cy="1717519"/>
          </a:xfrm>
        </p:grpSpPr>
        <p:sp>
          <p:nvSpPr>
            <p:cNvPr id="1550" name="Shape"/>
            <p:cNvSpPr/>
            <p:nvPr/>
          </p:nvSpPr>
          <p:spPr>
            <a:xfrm>
              <a:off x="0" y="0"/>
              <a:ext cx="304881" cy="1717519"/>
            </a:xfrm>
            <a:custGeom>
              <a:avLst/>
              <a:gdLst/>
              <a:ahLst/>
              <a:cxnLst>
                <a:cxn ang="0">
                  <a:pos x="wd2" y="hd2"/>
                </a:cxn>
                <a:cxn ang="5400000">
                  <a:pos x="wd2" y="hd2"/>
                </a:cxn>
                <a:cxn ang="10800000">
                  <a:pos x="wd2" y="hd2"/>
                </a:cxn>
                <a:cxn ang="16200000">
                  <a:pos x="wd2" y="hd2"/>
                </a:cxn>
              </a:cxnLst>
              <a:rect l="0" t="0" r="r" b="b"/>
              <a:pathLst>
                <a:path w="19358" h="21600" extrusionOk="0">
                  <a:moveTo>
                    <a:pt x="5" y="7714"/>
                  </a:moveTo>
                  <a:cubicBezTo>
                    <a:pt x="5" y="10984"/>
                    <a:pt x="5175" y="13898"/>
                    <a:pt x="12907" y="14988"/>
                  </a:cubicBezTo>
                  <a:lnTo>
                    <a:pt x="12907" y="12784"/>
                  </a:lnTo>
                  <a:lnTo>
                    <a:pt x="19358" y="17633"/>
                  </a:lnTo>
                  <a:lnTo>
                    <a:pt x="12907" y="21600"/>
                  </a:lnTo>
                  <a:lnTo>
                    <a:pt x="12907" y="19396"/>
                  </a:lnTo>
                  <a:cubicBezTo>
                    <a:pt x="5175" y="18306"/>
                    <a:pt x="5" y="15392"/>
                    <a:pt x="5" y="12123"/>
                  </a:cubicBezTo>
                  <a:close/>
                  <a:moveTo>
                    <a:pt x="19358" y="4408"/>
                  </a:moveTo>
                  <a:cubicBezTo>
                    <a:pt x="10799" y="4408"/>
                    <a:pt x="3257" y="6649"/>
                    <a:pt x="812" y="9919"/>
                  </a:cubicBezTo>
                  <a:lnTo>
                    <a:pt x="812" y="9919"/>
                  </a:lnTo>
                  <a:cubicBezTo>
                    <a:pt x="-2242" y="5836"/>
                    <a:pt x="3586" y="1539"/>
                    <a:pt x="13829" y="322"/>
                  </a:cubicBezTo>
                  <a:cubicBezTo>
                    <a:pt x="15623" y="108"/>
                    <a:pt x="17486" y="0"/>
                    <a:pt x="19358" y="0"/>
                  </a:cubicBezTo>
                  <a:close/>
                </a:path>
              </a:pathLst>
            </a:custGeom>
            <a:solidFill>
              <a:srgbClr val="F7F5CD"/>
            </a:solidFill>
            <a:ln w="12700" cap="flat">
              <a:noFill/>
              <a:miter lim="400000"/>
            </a:ln>
            <a:effectLst/>
          </p:spPr>
          <p:txBody>
            <a:bodyPr wrap="square" lIns="45719" tIns="45719" rIns="45719" bIns="45719" numCol="1" anchor="ctr">
              <a:noAutofit/>
            </a:bodyPr>
            <a:lstStyle/>
            <a:p/>
          </p:txBody>
        </p:sp>
        <p:sp>
          <p:nvSpPr>
            <p:cNvPr id="1551" name="Shape"/>
            <p:cNvSpPr/>
            <p:nvPr/>
          </p:nvSpPr>
          <p:spPr>
            <a:xfrm>
              <a:off x="0" y="0"/>
              <a:ext cx="304881" cy="788671"/>
            </a:xfrm>
            <a:custGeom>
              <a:avLst/>
              <a:gdLst/>
              <a:ahLst/>
              <a:cxnLst>
                <a:cxn ang="0">
                  <a:pos x="wd2" y="hd2"/>
                </a:cxn>
                <a:cxn ang="5400000">
                  <a:pos x="wd2" y="hd2"/>
                </a:cxn>
                <a:cxn ang="10800000">
                  <a:pos x="wd2" y="hd2"/>
                </a:cxn>
                <a:cxn ang="16200000">
                  <a:pos x="wd2" y="hd2"/>
                </a:cxn>
              </a:cxnLst>
              <a:rect l="0" t="0" r="r" b="b"/>
              <a:pathLst>
                <a:path w="19358" h="21600" extrusionOk="0">
                  <a:moveTo>
                    <a:pt x="19358" y="9600"/>
                  </a:moveTo>
                  <a:cubicBezTo>
                    <a:pt x="10799" y="9600"/>
                    <a:pt x="3257" y="14480"/>
                    <a:pt x="812" y="21600"/>
                  </a:cubicBezTo>
                  <a:lnTo>
                    <a:pt x="812" y="21600"/>
                  </a:lnTo>
                  <a:cubicBezTo>
                    <a:pt x="-2242" y="12708"/>
                    <a:pt x="3586" y="3351"/>
                    <a:pt x="13829" y="700"/>
                  </a:cubicBezTo>
                  <a:cubicBezTo>
                    <a:pt x="15623" y="236"/>
                    <a:pt x="17486" y="0"/>
                    <a:pt x="19358" y="0"/>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p:txBody>
        </p:sp>
        <p:sp>
          <p:nvSpPr>
            <p:cNvPr id="1552" name="Line"/>
            <p:cNvSpPr/>
            <p:nvPr/>
          </p:nvSpPr>
          <p:spPr>
            <a:xfrm>
              <a:off x="80" y="0"/>
              <a:ext cx="304801" cy="1717520"/>
            </a:xfrm>
            <a:custGeom>
              <a:avLst/>
              <a:gdLst/>
              <a:ahLst/>
              <a:cxnLst>
                <a:cxn ang="0">
                  <a:pos x="wd2" y="hd2"/>
                </a:cxn>
                <a:cxn ang="5400000">
                  <a:pos x="wd2" y="hd2"/>
                </a:cxn>
                <a:cxn ang="10800000">
                  <a:pos x="wd2" y="hd2"/>
                </a:cxn>
                <a:cxn ang="16200000">
                  <a:pos x="wd2" y="hd2"/>
                </a:cxn>
              </a:cxnLst>
              <a:rect l="0" t="0" r="r" b="b"/>
              <a:pathLst>
                <a:path w="21600" h="21600" extrusionOk="0">
                  <a:moveTo>
                    <a:pt x="0" y="7714"/>
                  </a:moveTo>
                  <a:cubicBezTo>
                    <a:pt x="0" y="10984"/>
                    <a:pt x="5770" y="13898"/>
                    <a:pt x="14400" y="14988"/>
                  </a:cubicBezTo>
                  <a:lnTo>
                    <a:pt x="14400" y="12784"/>
                  </a:lnTo>
                  <a:lnTo>
                    <a:pt x="21600" y="17633"/>
                  </a:lnTo>
                  <a:lnTo>
                    <a:pt x="14400" y="21600"/>
                  </a:lnTo>
                  <a:lnTo>
                    <a:pt x="14400" y="19396"/>
                  </a:lnTo>
                  <a:cubicBezTo>
                    <a:pt x="5770" y="18306"/>
                    <a:pt x="0" y="15392"/>
                    <a:pt x="0" y="12123"/>
                  </a:cubicBezTo>
                  <a:lnTo>
                    <a:pt x="0" y="7714"/>
                  </a:lnTo>
                  <a:cubicBezTo>
                    <a:pt x="0" y="3454"/>
                    <a:pt x="9671" y="0"/>
                    <a:pt x="21600" y="0"/>
                  </a:cubicBezTo>
                  <a:lnTo>
                    <a:pt x="21600" y="4408"/>
                  </a:lnTo>
                  <a:cubicBezTo>
                    <a:pt x="12048" y="4408"/>
                    <a:pt x="3630" y="6649"/>
                    <a:pt x="900" y="9919"/>
                  </a:cubicBezTo>
                </a:path>
              </a:pathLst>
            </a:custGeom>
            <a:noFill/>
            <a:ln w="9525" cap="flat">
              <a:solidFill>
                <a:srgbClr val="000000"/>
              </a:solidFill>
              <a:prstDash val="solid"/>
              <a:miter lim="800000"/>
            </a:ln>
            <a:effectLst/>
          </p:spPr>
          <p:txBody>
            <a:bodyPr wrap="square" lIns="45719" tIns="45719" rIns="45719" bIns="45719" numCol="1" anchor="ctr">
              <a:noAutofit/>
            </a:bodyPr>
            <a:lstStyle/>
            <a:p/>
          </p:txBody>
        </p:sp>
      </p:grpSp>
      <p:sp>
        <p:nvSpPr>
          <p:cNvPr id="1554" name="TextBox 83"/>
          <p:cNvSpPr txBox="1"/>
          <p:nvPr/>
        </p:nvSpPr>
        <p:spPr>
          <a:xfrm>
            <a:off x="2228373" y="5341204"/>
            <a:ext cx="1786706"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t>Data transfer</a:t>
            </a:r>
          </a:p>
        </p:txBody>
      </p:sp>
      <p:sp>
        <p:nvSpPr>
          <p:cNvPr id="1555" name="TextBox 84"/>
          <p:cNvSpPr txBox="1"/>
          <p:nvPr/>
        </p:nvSpPr>
        <p:spPr>
          <a:xfrm>
            <a:off x="4820574" y="5341204"/>
            <a:ext cx="696664"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t>Seek</a:t>
            </a:r>
          </a:p>
        </p:txBody>
      </p:sp>
      <p:sp>
        <p:nvSpPr>
          <p:cNvPr id="1556" name="TextBox 85"/>
          <p:cNvSpPr txBox="1"/>
          <p:nvPr/>
        </p:nvSpPr>
        <p:spPr>
          <a:xfrm>
            <a:off x="6446519" y="5341204"/>
            <a:ext cx="1565132" cy="830997"/>
          </a:xfrm>
          <a:prstGeom prst="rect">
            <a:avLst/>
          </a:prstGeom>
          <a:ln w="12700">
            <a:miter lim="400000"/>
          </a:ln>
        </p:spPr>
        <p:txBody>
          <a:bodyPr lIns="45719" rIns="45719">
            <a:spAutoFit/>
          </a:bodyPr>
          <a:lstStyle/>
          <a:p>
            <a:pPr algn="ctr">
              <a:defRPr>
                <a:latin typeface="Calibri"/>
                <a:ea typeface="Calibri"/>
                <a:cs typeface="Calibri"/>
                <a:sym typeface="Calibri"/>
              </a:defRPr>
            </a:pPr>
            <a:r>
              <a:t>Rotational </a:t>
            </a:r>
          </a:p>
          <a:p>
            <a:pPr algn="ctr">
              <a:defRPr>
                <a:latin typeface="Calibri"/>
                <a:ea typeface="Calibri"/>
                <a:cs typeface="Calibri"/>
                <a:sym typeface="Calibri"/>
              </a:defRPr>
            </a:pPr>
            <a:r>
              <a:t>latency</a:t>
            </a:r>
          </a:p>
        </p:txBody>
      </p:sp>
      <p:sp>
        <p:nvSpPr>
          <p:cNvPr id="1557" name="TextBox 86"/>
          <p:cNvSpPr txBox="1"/>
          <p:nvPr/>
        </p:nvSpPr>
        <p:spPr>
          <a:xfrm>
            <a:off x="8400572" y="5341204"/>
            <a:ext cx="1786706" cy="461665"/>
          </a:xfrm>
          <a:prstGeom prst="rect">
            <a:avLst/>
          </a:prstGeom>
          <a:ln w="12700">
            <a:miter lim="400000"/>
          </a:ln>
        </p:spPr>
        <p:txBody>
          <a:bodyPr wrap="none" lIns="45719" rIns="45719">
            <a:spAutoFit/>
          </a:bodyPr>
          <a:lstStyle>
            <a:lvl1pPr>
              <a:defRPr>
                <a:latin typeface="Calibri"/>
                <a:ea typeface="Calibri"/>
                <a:cs typeface="Calibri"/>
                <a:sym typeface="Calibri"/>
              </a:defRPr>
            </a:lvl1pPr>
          </a:lstStyle>
          <a:p>
            <a:r>
              <a:t>Data transfer</a:t>
            </a:r>
          </a:p>
        </p:txBody>
      </p:sp>
      <p:sp>
        <p:nvSpPr>
          <p:cNvPr id="1558" name="Straight Arrow Connector 88"/>
          <p:cNvSpPr/>
          <p:nvPr/>
        </p:nvSpPr>
        <p:spPr>
          <a:xfrm flipV="1">
            <a:off x="3125690" y="4574005"/>
            <a:ext cx="1" cy="767835"/>
          </a:xfrm>
          <a:prstGeom prst="line">
            <a:avLst/>
          </a:prstGeom>
          <a:ln w="25400">
            <a:solidFill>
              <a:srgbClr val="000000"/>
            </a:solidFill>
            <a:tailEnd type="triangle"/>
          </a:ln>
        </p:spPr>
        <p:txBody>
          <a:bodyPr lIns="45719" rIns="45719"/>
          <a:lstStyle/>
          <a:p/>
        </p:txBody>
      </p:sp>
      <p:sp>
        <p:nvSpPr>
          <p:cNvPr id="1559" name="Straight Arrow Connector 89"/>
          <p:cNvSpPr/>
          <p:nvPr/>
        </p:nvSpPr>
        <p:spPr>
          <a:xfrm flipV="1">
            <a:off x="5185350" y="4632701"/>
            <a:ext cx="1" cy="773670"/>
          </a:xfrm>
          <a:prstGeom prst="line">
            <a:avLst/>
          </a:prstGeom>
          <a:ln w="25400">
            <a:solidFill>
              <a:srgbClr val="000000"/>
            </a:solidFill>
            <a:tailEnd type="triangle"/>
          </a:ln>
        </p:spPr>
        <p:txBody>
          <a:bodyPr lIns="45719" rIns="45719"/>
          <a:lstStyle/>
          <a:p/>
        </p:txBody>
      </p:sp>
      <p:sp>
        <p:nvSpPr>
          <p:cNvPr id="1560" name="Straight Arrow Connector 90"/>
          <p:cNvSpPr/>
          <p:nvPr/>
        </p:nvSpPr>
        <p:spPr>
          <a:xfrm flipV="1">
            <a:off x="7235859" y="4632701"/>
            <a:ext cx="1" cy="773670"/>
          </a:xfrm>
          <a:prstGeom prst="line">
            <a:avLst/>
          </a:prstGeom>
          <a:ln w="25400">
            <a:solidFill>
              <a:srgbClr val="000000"/>
            </a:solidFill>
            <a:tailEnd type="triangle"/>
          </a:ln>
        </p:spPr>
        <p:txBody>
          <a:bodyPr lIns="45719" rIns="45719"/>
          <a:lstStyle/>
          <a:p/>
        </p:txBody>
      </p:sp>
      <p:sp>
        <p:nvSpPr>
          <p:cNvPr id="1561" name="Straight Arrow Connector 91"/>
          <p:cNvSpPr/>
          <p:nvPr/>
        </p:nvSpPr>
        <p:spPr>
          <a:xfrm flipV="1">
            <a:off x="9285321" y="4644370"/>
            <a:ext cx="1" cy="773669"/>
          </a:xfrm>
          <a:prstGeom prst="line">
            <a:avLst/>
          </a:prstGeom>
          <a:ln w="25400">
            <a:solidFill>
              <a:srgbClr val="000000"/>
            </a:solidFill>
            <a:tailEnd type="triangle"/>
          </a:ln>
        </p:spPr>
        <p:txBody>
          <a:bodyPr lIns="45719" rIns="45719"/>
          <a:lstStyle/>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5"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566" name="Rectangle 1028"/>
          <p:cNvSpPr txBox="1">
            <a:spLocks noGrp="1"/>
          </p:cNvSpPr>
          <p:nvPr>
            <p:ph type="title"/>
          </p:nvPr>
        </p:nvSpPr>
        <p:spPr>
          <a:xfrm>
            <a:off x="1881018" y="435679"/>
            <a:ext cx="7592095" cy="762001"/>
          </a:xfrm>
          <a:prstGeom prst="rect">
            <a:avLst/>
          </a:prstGeom>
        </p:spPr>
        <p:txBody>
          <a:bodyPr/>
          <a:lstStyle/>
          <a:p>
            <a:r>
              <a:t>Disk Access Time</a:t>
            </a:r>
          </a:p>
        </p:txBody>
      </p:sp>
      <p:sp>
        <p:nvSpPr>
          <p:cNvPr id="1567" name="Rectangle 1029"/>
          <p:cNvSpPr txBox="1">
            <a:spLocks noGrp="1"/>
          </p:cNvSpPr>
          <p:nvPr>
            <p:ph type="body" idx="1"/>
          </p:nvPr>
        </p:nvSpPr>
        <p:spPr>
          <a:xfrm>
            <a:off x="1920876" y="1362075"/>
            <a:ext cx="8366125" cy="4972050"/>
          </a:xfrm>
          <a:prstGeom prst="rect">
            <a:avLst/>
          </a:prstGeom>
        </p:spPr>
        <p:txBody>
          <a:bodyPr/>
          <a:lstStyle/>
          <a:p>
            <a:pPr marL="332740" indent="-332740" defTabSz="887095">
              <a:defRPr sz="2330"/>
            </a:pPr>
            <a:r>
              <a:t>Average time to access some target sector approximated by:</a:t>
            </a:r>
          </a:p>
          <a:p>
            <a:pPr marL="720725" lvl="1" indent="-276860" defTabSz="887095">
              <a:spcBef>
                <a:spcPts val="400"/>
              </a:spcBef>
              <a:defRPr sz="1940" b="0"/>
            </a:pPr>
            <a:r>
              <a:t>T</a:t>
            </a:r>
            <a:r>
              <a:rPr baseline="-26000"/>
              <a:t>access</a:t>
            </a:r>
            <a:r>
              <a:t>  =  T</a:t>
            </a:r>
            <a:r>
              <a:rPr baseline="-26000"/>
              <a:t>avg seek</a:t>
            </a:r>
            <a:r>
              <a:t> +  T</a:t>
            </a:r>
            <a:r>
              <a:rPr baseline="-26000"/>
              <a:t>avg rotation</a:t>
            </a:r>
            <a:r>
              <a:t> + T</a:t>
            </a:r>
            <a:r>
              <a:rPr baseline="-26000"/>
              <a:t>avg transfer</a:t>
            </a:r>
            <a:r>
              <a:t> </a:t>
            </a:r>
          </a:p>
          <a:p>
            <a:pPr marL="332740" indent="-332740" defTabSz="887095">
              <a:defRPr sz="2330">
                <a:solidFill>
                  <a:srgbClr val="C00000"/>
                </a:solidFill>
              </a:defRPr>
            </a:pPr>
            <a:r>
              <a:t>Seek time </a:t>
            </a:r>
            <a:r>
              <a:rPr>
                <a:solidFill>
                  <a:srgbClr val="000000"/>
                </a:solidFill>
              </a:rPr>
              <a:t>(T</a:t>
            </a:r>
            <a:r>
              <a:rPr baseline="-26000">
                <a:solidFill>
                  <a:srgbClr val="000000"/>
                </a:solidFill>
              </a:rPr>
              <a:t>avg seek</a:t>
            </a:r>
            <a:r>
              <a:rPr>
                <a:solidFill>
                  <a:srgbClr val="000000"/>
                </a:solidFill>
              </a:rPr>
              <a:t>)</a:t>
            </a:r>
            <a:endParaRPr>
              <a:solidFill>
                <a:srgbClr val="000000"/>
              </a:solidFill>
            </a:endParaRPr>
          </a:p>
          <a:p>
            <a:pPr marL="720725" lvl="1" indent="-276860" defTabSz="887095">
              <a:spcBef>
                <a:spcPts val="400"/>
              </a:spcBef>
              <a:defRPr sz="1940" b="0"/>
            </a:pPr>
            <a:r>
              <a:t>Time to position heads over cylinder containing target sector.</a:t>
            </a:r>
          </a:p>
          <a:p>
            <a:pPr marL="720725" lvl="1" indent="-276860" defTabSz="887095">
              <a:spcBef>
                <a:spcPts val="400"/>
              </a:spcBef>
              <a:defRPr sz="1940" b="0"/>
            </a:pPr>
            <a:r>
              <a:t>Typical  T</a:t>
            </a:r>
            <a:r>
              <a:rPr baseline="-26000"/>
              <a:t>avg seek</a:t>
            </a:r>
            <a:r>
              <a:t> is 3—9 ms</a:t>
            </a:r>
          </a:p>
          <a:p>
            <a:pPr marL="332740" indent="-332740" defTabSz="887095">
              <a:defRPr sz="2330">
                <a:solidFill>
                  <a:srgbClr val="C00000"/>
                </a:solidFill>
              </a:defRPr>
            </a:pPr>
            <a:r>
              <a:t>Rotational latency </a:t>
            </a:r>
            <a:r>
              <a:rPr>
                <a:solidFill>
                  <a:srgbClr val="000000"/>
                </a:solidFill>
              </a:rPr>
              <a:t>(T</a:t>
            </a:r>
            <a:r>
              <a:rPr baseline="-26000">
                <a:solidFill>
                  <a:srgbClr val="000000"/>
                </a:solidFill>
              </a:rPr>
              <a:t>avg rotation</a:t>
            </a:r>
            <a:r>
              <a:rPr>
                <a:solidFill>
                  <a:srgbClr val="000000"/>
                </a:solidFill>
              </a:rPr>
              <a:t>)</a:t>
            </a:r>
            <a:endParaRPr>
              <a:solidFill>
                <a:srgbClr val="000000"/>
              </a:solidFill>
            </a:endParaRPr>
          </a:p>
          <a:p>
            <a:pPr marL="720725" lvl="1" indent="-276860" defTabSz="887095">
              <a:spcBef>
                <a:spcPts val="400"/>
              </a:spcBef>
              <a:defRPr sz="1940" b="0"/>
            </a:pPr>
            <a:r>
              <a:t>Time waiting for first bit of target sector to pass under r/w head.</a:t>
            </a:r>
          </a:p>
          <a:p>
            <a:pPr marL="720725" lvl="1" indent="-276860" defTabSz="887095">
              <a:spcBef>
                <a:spcPts val="400"/>
              </a:spcBef>
              <a:defRPr sz="1940" b="0"/>
            </a:pPr>
            <a:r>
              <a:t>T</a:t>
            </a:r>
            <a:r>
              <a:rPr baseline="-26000"/>
              <a:t>avg rotation</a:t>
            </a:r>
            <a:r>
              <a:t> = 1/2 x 1/RPMs x 60 sec/1 min</a:t>
            </a:r>
          </a:p>
          <a:p>
            <a:pPr marL="720725" lvl="1" indent="-276860" defTabSz="887095">
              <a:spcBef>
                <a:spcPts val="400"/>
              </a:spcBef>
              <a:defRPr sz="1940" b="0"/>
            </a:pPr>
            <a:r>
              <a:t>Typical rotational rate = 7,200 RPMs</a:t>
            </a:r>
          </a:p>
          <a:p>
            <a:pPr marL="332740" indent="-332740" defTabSz="887095">
              <a:defRPr sz="2330">
                <a:solidFill>
                  <a:srgbClr val="C00000"/>
                </a:solidFill>
              </a:defRPr>
            </a:pPr>
            <a:r>
              <a:t>Transfer time </a:t>
            </a:r>
            <a:r>
              <a:rPr>
                <a:solidFill>
                  <a:srgbClr val="000000"/>
                </a:solidFill>
              </a:rPr>
              <a:t>(T</a:t>
            </a:r>
            <a:r>
              <a:rPr baseline="-26000">
                <a:solidFill>
                  <a:srgbClr val="000000"/>
                </a:solidFill>
              </a:rPr>
              <a:t>avg transfer</a:t>
            </a:r>
            <a:r>
              <a:rPr>
                <a:solidFill>
                  <a:srgbClr val="000000"/>
                </a:solidFill>
              </a:rPr>
              <a:t>)	</a:t>
            </a:r>
            <a:endParaRPr>
              <a:solidFill>
                <a:srgbClr val="000000"/>
              </a:solidFill>
            </a:endParaRPr>
          </a:p>
          <a:p>
            <a:pPr marL="720725" lvl="1" indent="-276860" defTabSz="887095">
              <a:spcBef>
                <a:spcPts val="400"/>
              </a:spcBef>
              <a:defRPr sz="1940" b="0"/>
            </a:pPr>
            <a:r>
              <a:t>Time to read the bits in the target sector.</a:t>
            </a:r>
          </a:p>
          <a:p>
            <a:pPr marL="720725" lvl="1" indent="-276860" defTabSz="887095">
              <a:spcBef>
                <a:spcPts val="400"/>
              </a:spcBef>
              <a:defRPr sz="1940" b="0"/>
            </a:pPr>
            <a:r>
              <a:t>T</a:t>
            </a:r>
            <a:r>
              <a:rPr baseline="-26000"/>
              <a:t>avg transfer</a:t>
            </a:r>
            <a:r>
              <a:t> = </a:t>
            </a:r>
            <a:r>
              <a:rPr>
                <a:solidFill>
                  <a:srgbClr val="00B050"/>
                </a:solidFill>
              </a:rPr>
              <a:t>1/RPM </a:t>
            </a:r>
            <a:r>
              <a:t>x </a:t>
            </a:r>
            <a:r>
              <a:rPr>
                <a:solidFill>
                  <a:schemeClr val="accent2"/>
                </a:solidFill>
              </a:rPr>
              <a:t>1/(avg # sectors/track) </a:t>
            </a:r>
            <a:r>
              <a:t>x 60 secs/1 min</a:t>
            </a:r>
          </a:p>
        </p:txBody>
      </p:sp>
      <p:sp>
        <p:nvSpPr>
          <p:cNvPr id="1568" name="Straight Arrow Connector 2"/>
          <p:cNvSpPr/>
          <p:nvPr/>
        </p:nvSpPr>
        <p:spPr>
          <a:xfrm flipV="1">
            <a:off x="4097078" y="6071191"/>
            <a:ext cx="101010" cy="191386"/>
          </a:xfrm>
          <a:prstGeom prst="line">
            <a:avLst/>
          </a:prstGeom>
          <a:ln w="25400">
            <a:solidFill>
              <a:srgbClr val="00B050"/>
            </a:solidFill>
            <a:tailEnd type="triangle"/>
          </a:ln>
        </p:spPr>
        <p:txBody>
          <a:bodyPr lIns="45719" rIns="45719"/>
          <a:lstStyle/>
          <a:p/>
        </p:txBody>
      </p:sp>
      <p:sp>
        <p:nvSpPr>
          <p:cNvPr id="1569" name="TextBox 4"/>
          <p:cNvSpPr txBox="1"/>
          <p:nvPr/>
        </p:nvSpPr>
        <p:spPr>
          <a:xfrm>
            <a:off x="1766422" y="6195864"/>
            <a:ext cx="3259865" cy="369332"/>
          </a:xfrm>
          <a:prstGeom prst="rect">
            <a:avLst/>
          </a:prstGeom>
          <a:ln w="12700">
            <a:miter lim="400000"/>
          </a:ln>
        </p:spPr>
        <p:txBody>
          <a:bodyPr wrap="none" lIns="45719" rIns="45719">
            <a:spAutoFit/>
          </a:bodyPr>
          <a:lstStyle>
            <a:lvl1pPr>
              <a:defRPr sz="1800" b="0">
                <a:solidFill>
                  <a:srgbClr val="00B050"/>
                </a:solidFill>
                <a:latin typeface="Calibri"/>
                <a:ea typeface="Calibri"/>
                <a:cs typeface="Calibri"/>
                <a:sym typeface="Calibri"/>
              </a:defRPr>
            </a:lvl1pPr>
          </a:lstStyle>
          <a:p>
            <a:r>
              <a:t>time for one rotation (in minutes)</a:t>
            </a:r>
          </a:p>
        </p:txBody>
      </p:sp>
      <p:sp>
        <p:nvSpPr>
          <p:cNvPr id="1570" name="Straight Arrow Connector 7"/>
          <p:cNvSpPr/>
          <p:nvPr/>
        </p:nvSpPr>
        <p:spPr>
          <a:xfrm flipV="1">
            <a:off x="5581473" y="6071192"/>
            <a:ext cx="1" cy="191385"/>
          </a:xfrm>
          <a:prstGeom prst="line">
            <a:avLst/>
          </a:prstGeom>
          <a:ln w="25400">
            <a:solidFill>
              <a:schemeClr val="accent2"/>
            </a:solidFill>
            <a:tailEnd type="triangle"/>
          </a:ln>
        </p:spPr>
        <p:txBody>
          <a:bodyPr lIns="45719" rIns="45719"/>
          <a:lstStyle/>
          <a:p/>
        </p:txBody>
      </p:sp>
      <p:sp>
        <p:nvSpPr>
          <p:cNvPr id="1571" name="TextBox 8"/>
          <p:cNvSpPr txBox="1"/>
          <p:nvPr/>
        </p:nvSpPr>
        <p:spPr>
          <a:xfrm>
            <a:off x="5156435" y="6195864"/>
            <a:ext cx="3072314" cy="369332"/>
          </a:xfrm>
          <a:prstGeom prst="rect">
            <a:avLst/>
          </a:prstGeom>
          <a:ln w="12700">
            <a:miter lim="400000"/>
          </a:ln>
        </p:spPr>
        <p:txBody>
          <a:bodyPr wrap="none" lIns="45719" rIns="45719">
            <a:spAutoFit/>
          </a:bodyPr>
          <a:lstStyle>
            <a:lvl1pPr>
              <a:defRPr sz="1800" b="0">
                <a:solidFill>
                  <a:schemeClr val="accent2"/>
                </a:solidFill>
                <a:latin typeface="Calibri"/>
                <a:ea typeface="Calibri"/>
                <a:cs typeface="Calibri"/>
                <a:sym typeface="Calibri"/>
              </a:defRPr>
            </a:lvl1pPr>
          </a:lstStyle>
          <a:p>
            <a:r>
              <a:t>fraction of a rotation to be read</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1567">
                                            <p:txEl>
                                              <p:pRg st="5" end="5"/>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indefinite" fill="hold"/>
                                        <p:tgtEl>
                                          <p:spTgt spid="1567">
                                            <p:txEl>
                                              <p:pRg st="6" end="6"/>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indefinite" fill="hold"/>
                                        <p:tgtEl>
                                          <p:spTgt spid="1567">
                                            <p:txEl>
                                              <p:pRg st="7" end="7"/>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indefinite" fill="hold"/>
                                        <p:tgtEl>
                                          <p:spTgt spid="1567">
                                            <p:txEl>
                                              <p:pRg st="8" end="8"/>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indefinite" fill="hold"/>
                                        <p:tgtEl>
                                          <p:spTgt spid="1567">
                                            <p:txEl>
                                              <p:pRg st="9" end="9"/>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indefinite" fill="hold"/>
                                        <p:tgtEl>
                                          <p:spTgt spid="1567">
                                            <p:txEl>
                                              <p:pRg st="10" end="10"/>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indefinite" fill="hold"/>
                                        <p:tgtEl>
                                          <p:spTgt spid="1567">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indefinite" fill="hold"/>
                                        <p:tgtEl>
                                          <p:spTgt spid="1568"/>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indefinite" fill="hold"/>
                                        <p:tgtEl>
                                          <p:spTgt spid="156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indefinite" fill="hold"/>
                                        <p:tgtEl>
                                          <p:spTgt spid="1570"/>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indefinite" fill="hold"/>
                                        <p:tgtEl>
                                          <p:spTgt spid="15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 grpId="0" bldLvl="5" animBg="1" advAuto="0" build="p"/>
      <p:bldP spid="1568" grpId="0" animBg="1" advAuto="0"/>
      <p:bldP spid="1569" grpId="0" animBg="1" advAuto="0"/>
      <p:bldP spid="1570" grpId="0" animBg="1" advAuto="0"/>
      <p:bldP spid="1571" grpId="0" animBg="1" advAuto="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574" name="Rectangle 1028"/>
          <p:cNvSpPr txBox="1">
            <a:spLocks noGrp="1"/>
          </p:cNvSpPr>
          <p:nvPr>
            <p:ph type="title"/>
          </p:nvPr>
        </p:nvSpPr>
        <p:spPr>
          <a:xfrm>
            <a:off x="1881018" y="435679"/>
            <a:ext cx="7592095" cy="762001"/>
          </a:xfrm>
          <a:prstGeom prst="rect">
            <a:avLst/>
          </a:prstGeom>
        </p:spPr>
        <p:txBody>
          <a:bodyPr/>
          <a:lstStyle/>
          <a:p>
            <a:r>
              <a:t>Disk Access Time Example</a:t>
            </a:r>
          </a:p>
        </p:txBody>
      </p:sp>
      <p:sp>
        <p:nvSpPr>
          <p:cNvPr id="1575" name="Rectangle 1029"/>
          <p:cNvSpPr txBox="1">
            <a:spLocks noGrp="1"/>
          </p:cNvSpPr>
          <p:nvPr>
            <p:ph type="body" idx="1"/>
          </p:nvPr>
        </p:nvSpPr>
        <p:spPr>
          <a:xfrm>
            <a:off x="1920876" y="1288502"/>
            <a:ext cx="8747125" cy="4972051"/>
          </a:xfrm>
          <a:prstGeom prst="rect">
            <a:avLst/>
          </a:prstGeom>
        </p:spPr>
        <p:txBody>
          <a:bodyPr/>
          <a:lstStyle/>
          <a:p>
            <a:pPr marL="305435" indent="-305435" defTabSz="814070">
              <a:defRPr sz="2135"/>
            </a:pPr>
            <a:r>
              <a:t>Given:</a:t>
            </a:r>
          </a:p>
          <a:p>
            <a:pPr marL="661035" lvl="1" indent="-254000" defTabSz="814070">
              <a:spcBef>
                <a:spcPts val="400"/>
              </a:spcBef>
              <a:defRPr sz="1780" b="0"/>
            </a:pPr>
            <a:r>
              <a:t>Rotational rate = 7,200 RPM</a:t>
            </a:r>
          </a:p>
          <a:p>
            <a:pPr marL="661035" lvl="1" indent="-254000" defTabSz="814070">
              <a:spcBef>
                <a:spcPts val="400"/>
              </a:spcBef>
              <a:defRPr sz="1780" b="0"/>
            </a:pPr>
            <a:r>
              <a:t>Average seek time = </a:t>
            </a:r>
            <a:r>
              <a:rPr>
                <a:solidFill>
                  <a:srgbClr val="C00000"/>
                </a:solidFill>
              </a:rPr>
              <a:t>9 ms</a:t>
            </a:r>
            <a:endParaRPr>
              <a:solidFill>
                <a:srgbClr val="C00000"/>
              </a:solidFill>
            </a:endParaRPr>
          </a:p>
          <a:p>
            <a:pPr marL="661035" lvl="1" indent="-254000" defTabSz="814070">
              <a:spcBef>
                <a:spcPts val="400"/>
              </a:spcBef>
              <a:defRPr sz="1780" b="0"/>
            </a:pPr>
            <a:r>
              <a:t>Avg # sectors/track = 400</a:t>
            </a:r>
          </a:p>
          <a:p>
            <a:pPr marL="305435" indent="-305435" defTabSz="814070">
              <a:defRPr sz="2135"/>
            </a:pPr>
            <a:r>
              <a:t>Derived:</a:t>
            </a:r>
          </a:p>
          <a:p>
            <a:pPr marL="661035" lvl="1" indent="-254000" defTabSz="814070">
              <a:spcBef>
                <a:spcPts val="400"/>
              </a:spcBef>
              <a:defRPr sz="1780" b="0"/>
            </a:pPr>
            <a:r>
              <a:t>T</a:t>
            </a:r>
            <a:r>
              <a:rPr baseline="-27000"/>
              <a:t>avg rotation</a:t>
            </a:r>
            <a:r>
              <a:t> = 1/2 x (60 secs/7200 RPM) x 1000 ms/sec = </a:t>
            </a:r>
            <a:r>
              <a:rPr>
                <a:solidFill>
                  <a:srgbClr val="C00000"/>
                </a:solidFill>
              </a:rPr>
              <a:t>4 ms</a:t>
            </a:r>
            <a:endParaRPr>
              <a:solidFill>
                <a:srgbClr val="C00000"/>
              </a:solidFill>
            </a:endParaRPr>
          </a:p>
          <a:p>
            <a:pPr marL="661035" lvl="1" indent="-254000" defTabSz="814070">
              <a:spcBef>
                <a:spcPts val="400"/>
              </a:spcBef>
              <a:defRPr sz="1780" b="0"/>
            </a:pPr>
            <a:r>
              <a:t>T</a:t>
            </a:r>
            <a:r>
              <a:rPr baseline="-27000"/>
              <a:t>avg transfer</a:t>
            </a:r>
            <a:r>
              <a:t> = 60/7200 x 1/400 x 1000 ms/sec = </a:t>
            </a:r>
            <a:r>
              <a:rPr>
                <a:solidFill>
                  <a:srgbClr val="C00000"/>
                </a:solidFill>
              </a:rPr>
              <a:t>0.02 ms</a:t>
            </a:r>
            <a:endParaRPr>
              <a:solidFill>
                <a:srgbClr val="C00000"/>
              </a:solidFill>
            </a:endParaRPr>
          </a:p>
          <a:p>
            <a:pPr marL="661035" lvl="1" indent="-254000" defTabSz="814070">
              <a:spcBef>
                <a:spcPts val="400"/>
              </a:spcBef>
              <a:defRPr sz="1780" b="0"/>
            </a:pPr>
            <a:r>
              <a:t>T</a:t>
            </a:r>
            <a:r>
              <a:rPr baseline="-27000"/>
              <a:t>access</a:t>
            </a:r>
            <a:r>
              <a:t>  = </a:t>
            </a:r>
            <a:r>
              <a:rPr>
                <a:solidFill>
                  <a:srgbClr val="C00000"/>
                </a:solidFill>
              </a:rPr>
              <a:t>9 ms + 4 ms + 0.02 ms</a:t>
            </a:r>
            <a:endParaRPr>
              <a:solidFill>
                <a:srgbClr val="C00000"/>
              </a:solidFill>
            </a:endParaRPr>
          </a:p>
          <a:p>
            <a:pPr marL="305435" indent="-305435" defTabSz="814070">
              <a:defRPr sz="2135"/>
            </a:pPr>
            <a:r>
              <a:t>Important points:</a:t>
            </a:r>
          </a:p>
          <a:p>
            <a:pPr marL="661035" lvl="1" indent="-254000" defTabSz="814070">
              <a:spcBef>
                <a:spcPts val="400"/>
              </a:spcBef>
              <a:defRPr sz="1780" b="0"/>
            </a:pPr>
            <a:r>
              <a:t>Access time dominated by seek time and rotational latency.</a:t>
            </a:r>
          </a:p>
          <a:p>
            <a:pPr marL="661035" lvl="1" indent="-254000" defTabSz="814070">
              <a:spcBef>
                <a:spcPts val="400"/>
              </a:spcBef>
              <a:defRPr sz="1780" b="0"/>
            </a:pPr>
            <a:r>
              <a:t>First bit in a sector is the most expensive, the rest are free.</a:t>
            </a:r>
          </a:p>
          <a:p>
            <a:pPr marL="661035" lvl="1" indent="-254000" defTabSz="814070">
              <a:spcBef>
                <a:spcPts val="400"/>
              </a:spcBef>
              <a:defRPr sz="1780" i="1">
                <a:solidFill>
                  <a:srgbClr val="404040"/>
                </a:solidFill>
              </a:defRPr>
            </a:pPr>
            <a:r>
              <a:t>SRAM access time is about  4 ns/doubleword, DRAM about  60 ns</a:t>
            </a:r>
            <a:endParaRPr b="0"/>
          </a:p>
          <a:p>
            <a:pPr marL="1017270" lvl="2" indent="-203200" defTabSz="814070">
              <a:spcBef>
                <a:spcPts val="400"/>
              </a:spcBef>
              <a:buClrTx/>
              <a:defRPr sz="1780" i="1">
                <a:solidFill>
                  <a:srgbClr val="404040"/>
                </a:solidFill>
              </a:defRPr>
            </a:pPr>
            <a:r>
              <a:t>Disk is about 40,000 times slower than SRAM, </a:t>
            </a:r>
            <a:endParaRPr b="0"/>
          </a:p>
          <a:p>
            <a:pPr marL="1017270" lvl="2" indent="-203200" defTabSz="814070">
              <a:spcBef>
                <a:spcPts val="400"/>
              </a:spcBef>
              <a:buClrTx/>
              <a:defRPr sz="1780" i="1">
                <a:solidFill>
                  <a:srgbClr val="404040"/>
                </a:solidFill>
              </a:defRPr>
            </a:pPr>
            <a:r>
              <a:t>2,500 times slower than DRAM.</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1575">
                                            <p:txEl>
                                              <p:pRg st="8" end="8"/>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indefinite" fill="hold"/>
                                        <p:tgtEl>
                                          <p:spTgt spid="1575">
                                            <p:txEl>
                                              <p:pRg st="9" end="9"/>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indefinite" fill="hold"/>
                                        <p:tgtEl>
                                          <p:spTgt spid="1575">
                                            <p:txEl>
                                              <p:pRg st="10" end="10"/>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indefinite" fill="hold"/>
                                        <p:tgtEl>
                                          <p:spTgt spid="1575">
                                            <p:txEl>
                                              <p:pRg st="11" end="11"/>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indefinite" fill="hold"/>
                                        <p:tgtEl>
                                          <p:spTgt spid="1575">
                                            <p:txEl>
                                              <p:pRg st="12" end="12"/>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indefinite" fill="hold"/>
                                        <p:tgtEl>
                                          <p:spTgt spid="157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5" grpId="0" bldLvl="5" animBg="1" advAuto="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5"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346" name="Rectangle 4"/>
          <p:cNvSpPr txBox="1">
            <a:spLocks noGrp="1"/>
          </p:cNvSpPr>
          <p:nvPr>
            <p:ph type="title"/>
          </p:nvPr>
        </p:nvSpPr>
        <p:spPr>
          <a:xfrm>
            <a:off x="1881018" y="457200"/>
            <a:ext cx="7592095" cy="762000"/>
          </a:xfrm>
          <a:prstGeom prst="rect">
            <a:avLst/>
          </a:prstGeom>
        </p:spPr>
        <p:txBody>
          <a:bodyPr/>
          <a:lstStyle/>
          <a:p>
            <a:r>
              <a:t>Disk Capacity</a:t>
            </a:r>
          </a:p>
        </p:txBody>
      </p:sp>
      <p:sp>
        <p:nvSpPr>
          <p:cNvPr id="1347" name="Rectangle 5"/>
          <p:cNvSpPr txBox="1">
            <a:spLocks noGrp="1"/>
          </p:cNvSpPr>
          <p:nvPr>
            <p:ph type="body" idx="1"/>
          </p:nvPr>
        </p:nvSpPr>
        <p:spPr>
          <a:xfrm>
            <a:off x="1920876" y="1362075"/>
            <a:ext cx="8079717" cy="4972050"/>
          </a:xfrm>
          <a:prstGeom prst="rect">
            <a:avLst/>
          </a:prstGeom>
        </p:spPr>
        <p:txBody>
          <a:bodyPr/>
          <a:lstStyle/>
          <a:p>
            <a:pPr>
              <a:defRPr>
                <a:solidFill>
                  <a:srgbClr val="C00000"/>
                </a:solidFill>
              </a:defRPr>
            </a:pPr>
            <a:r>
              <a:t>Capacity</a:t>
            </a:r>
            <a:r>
              <a:rPr>
                <a:solidFill>
                  <a:srgbClr val="000000"/>
                </a:solidFill>
              </a:rPr>
              <a:t>: maximum number of bits that can be stored.</a:t>
            </a:r>
            <a:endParaRPr>
              <a:solidFill>
                <a:srgbClr val="000000"/>
              </a:solidFill>
            </a:endParaRPr>
          </a:p>
          <a:p>
            <a:pPr marL="742950" lvl="1" indent="-285750">
              <a:spcBef>
                <a:spcPts val="400"/>
              </a:spcBef>
              <a:defRPr sz="2000" b="0"/>
            </a:pPr>
            <a:r>
              <a:t>Vendors express capacity in units of gigabytes (GB) or terabytes (TB),  where 1 GB = 10</a:t>
            </a:r>
            <a:r>
              <a:rPr baseline="30000"/>
              <a:t>9</a:t>
            </a:r>
            <a:r>
              <a:t> Bytes and 1 TB = 10</a:t>
            </a:r>
            <a:r>
              <a:rPr baseline="30000"/>
              <a:t>12</a:t>
            </a:r>
            <a:r>
              <a:t> Bytes </a:t>
            </a:r>
          </a:p>
          <a:p>
            <a:r>
              <a:t>Capacity is determined by these technology factors:</a:t>
            </a:r>
          </a:p>
          <a:p>
            <a:pPr marL="742950" lvl="1" indent="-285750">
              <a:spcBef>
                <a:spcPts val="400"/>
              </a:spcBef>
              <a:defRPr sz="2000" b="0">
                <a:solidFill>
                  <a:srgbClr val="C00000"/>
                </a:solidFill>
              </a:defRPr>
            </a:pPr>
            <a:r>
              <a:t>Recording density </a:t>
            </a:r>
            <a:r>
              <a:rPr>
                <a:solidFill>
                  <a:srgbClr val="000000"/>
                </a:solidFill>
              </a:rPr>
              <a:t>(bits/in): number of bits that can be squeezed into a 1 inch segment of a track.</a:t>
            </a:r>
            <a:endParaRPr>
              <a:solidFill>
                <a:srgbClr val="000000"/>
              </a:solidFill>
            </a:endParaRPr>
          </a:p>
          <a:p>
            <a:pPr marL="742950" lvl="1" indent="-285750">
              <a:spcBef>
                <a:spcPts val="400"/>
              </a:spcBef>
              <a:defRPr sz="2000" b="0">
                <a:solidFill>
                  <a:srgbClr val="C00000"/>
                </a:solidFill>
              </a:defRPr>
            </a:pPr>
            <a:r>
              <a:t>Track density </a:t>
            </a:r>
            <a:r>
              <a:rPr>
                <a:solidFill>
                  <a:srgbClr val="000000"/>
                </a:solidFill>
              </a:rPr>
              <a:t>(tracks/in): number of tracks that can be squeezed into a 1 inch radial segment.</a:t>
            </a:r>
            <a:endParaRPr>
              <a:solidFill>
                <a:srgbClr val="000000"/>
              </a:solidFill>
            </a:endParaRPr>
          </a:p>
          <a:p>
            <a:pPr marL="742950" lvl="1" indent="-285750">
              <a:spcBef>
                <a:spcPts val="400"/>
              </a:spcBef>
              <a:defRPr sz="2000" b="0">
                <a:solidFill>
                  <a:srgbClr val="C00000"/>
                </a:solidFill>
              </a:defRPr>
            </a:pPr>
            <a:r>
              <a:t>Areal density </a:t>
            </a:r>
            <a:r>
              <a:rPr>
                <a:solidFill>
                  <a:srgbClr val="000000"/>
                </a:solidFill>
              </a:rPr>
              <a:t>(bits/in</a:t>
            </a:r>
            <a:r>
              <a:rPr baseline="30000">
                <a:solidFill>
                  <a:srgbClr val="000000"/>
                </a:solidFill>
              </a:rPr>
              <a:t>2</a:t>
            </a:r>
            <a:r>
              <a:rPr>
                <a:solidFill>
                  <a:srgbClr val="000000"/>
                </a:solidFill>
              </a:rPr>
              <a:t>): product of </a:t>
            </a:r>
            <a:br>
              <a:rPr>
                <a:solidFill>
                  <a:srgbClr val="000000"/>
                </a:solidFill>
              </a:rPr>
            </a:br>
            <a:r>
              <a:rPr>
                <a:solidFill>
                  <a:srgbClr val="000000"/>
                </a:solidFill>
              </a:rPr>
              <a:t>recording and track density.</a:t>
            </a:r>
            <a:endParaRPr>
              <a:solidFill>
                <a:srgbClr val="000000"/>
              </a:solidFill>
            </a:endParaRPr>
          </a:p>
        </p:txBody>
      </p:sp>
      <p:grpSp>
        <p:nvGrpSpPr>
          <p:cNvPr id="1359" name="Group 2"/>
          <p:cNvGrpSpPr/>
          <p:nvPr/>
        </p:nvGrpSpPr>
        <p:grpSpPr>
          <a:xfrm>
            <a:off x="7297262" y="4169979"/>
            <a:ext cx="2945055" cy="2506720"/>
            <a:chOff x="0" y="0"/>
            <a:chExt cx="2945054" cy="2506719"/>
          </a:xfrm>
        </p:grpSpPr>
        <p:sp>
          <p:nvSpPr>
            <p:cNvPr id="1348" name="Oval 4"/>
            <p:cNvSpPr/>
            <p:nvPr/>
          </p:nvSpPr>
          <p:spPr>
            <a:xfrm>
              <a:off x="1040635" y="640878"/>
              <a:ext cx="1249609" cy="1223888"/>
            </a:xfrm>
            <a:prstGeom prst="ellipse">
              <a:avLst/>
            </a:prstGeom>
            <a:noFill/>
            <a:ln w="12700" cap="flat">
              <a:solidFill>
                <a:srgbClr val="000000"/>
              </a:solidFill>
              <a:prstDash val="solid"/>
              <a:round/>
            </a:ln>
            <a:effectLst/>
          </p:spPr>
          <p:txBody>
            <a:bodyPr wrap="square" lIns="45719" tIns="45719" rIns="45719" bIns="45719" numCol="1" anchor="ctr">
              <a:noAutofit/>
            </a:bodyPr>
            <a:lstStyle/>
            <a:p/>
          </p:txBody>
        </p:sp>
        <p:sp>
          <p:nvSpPr>
            <p:cNvPr id="1349" name="Oval 5"/>
            <p:cNvSpPr/>
            <p:nvPr/>
          </p:nvSpPr>
          <p:spPr>
            <a:xfrm>
              <a:off x="385823" y="0"/>
              <a:ext cx="2559231" cy="2506719"/>
            </a:xfrm>
            <a:prstGeom prst="ellipse">
              <a:avLst/>
            </a:prstGeom>
            <a:noFill/>
            <a:ln w="38100" cap="flat">
              <a:solidFill>
                <a:srgbClr val="000000"/>
              </a:solidFill>
              <a:prstDash val="solid"/>
              <a:round/>
            </a:ln>
            <a:effectLst/>
          </p:spPr>
          <p:txBody>
            <a:bodyPr wrap="square" lIns="45719" tIns="45719" rIns="45719" bIns="45719" numCol="1" anchor="ctr">
              <a:noAutofit/>
            </a:bodyPr>
            <a:lstStyle/>
            <a:p/>
          </p:txBody>
        </p:sp>
        <p:sp>
          <p:nvSpPr>
            <p:cNvPr id="1350" name="Oval 6"/>
            <p:cNvSpPr/>
            <p:nvPr/>
          </p:nvSpPr>
          <p:spPr>
            <a:xfrm>
              <a:off x="514427" y="125389"/>
              <a:ext cx="2302024" cy="2254868"/>
            </a:xfrm>
            <a:prstGeom prst="ellipse">
              <a:avLst/>
            </a:prstGeom>
            <a:noFill/>
            <a:ln w="12700" cap="flat">
              <a:solidFill>
                <a:srgbClr val="000000"/>
              </a:solidFill>
              <a:prstDash val="solid"/>
              <a:round/>
            </a:ln>
            <a:effectLst/>
          </p:spPr>
          <p:txBody>
            <a:bodyPr wrap="square" lIns="45719" tIns="45719" rIns="45719" bIns="45719" numCol="1" anchor="ctr">
              <a:noAutofit/>
            </a:bodyPr>
            <a:lstStyle/>
            <a:p/>
          </p:txBody>
        </p:sp>
        <p:sp>
          <p:nvSpPr>
            <p:cNvPr id="1351" name="Oval 7"/>
            <p:cNvSpPr/>
            <p:nvPr/>
          </p:nvSpPr>
          <p:spPr>
            <a:xfrm>
              <a:off x="643032" y="250779"/>
              <a:ext cx="2045885" cy="2004089"/>
            </a:xfrm>
            <a:prstGeom prst="ellipse">
              <a:avLst/>
            </a:prstGeom>
            <a:noFill/>
            <a:ln w="12700" cap="flat">
              <a:solidFill>
                <a:srgbClr val="000000"/>
              </a:solidFill>
              <a:prstDash val="solid"/>
              <a:round/>
            </a:ln>
            <a:effectLst/>
          </p:spPr>
          <p:txBody>
            <a:bodyPr wrap="square" lIns="45719" tIns="45719" rIns="45719" bIns="45719" numCol="1" anchor="ctr">
              <a:noAutofit/>
            </a:bodyPr>
            <a:lstStyle/>
            <a:p/>
          </p:txBody>
        </p:sp>
        <p:sp>
          <p:nvSpPr>
            <p:cNvPr id="1352" name="Oval 8"/>
            <p:cNvSpPr/>
            <p:nvPr/>
          </p:nvSpPr>
          <p:spPr>
            <a:xfrm>
              <a:off x="771637" y="377240"/>
              <a:ext cx="1788675" cy="1752239"/>
            </a:xfrm>
            <a:prstGeom prst="ellipse">
              <a:avLst/>
            </a:prstGeom>
            <a:noFill/>
            <a:ln w="12700" cap="flat">
              <a:solidFill>
                <a:srgbClr val="000000"/>
              </a:solidFill>
              <a:prstDash val="solid"/>
              <a:round/>
            </a:ln>
            <a:effectLst/>
          </p:spPr>
          <p:txBody>
            <a:bodyPr wrap="square" lIns="45719" tIns="45719" rIns="45719" bIns="45719" numCol="1" anchor="ctr">
              <a:noAutofit/>
            </a:bodyPr>
            <a:lstStyle/>
            <a:p/>
          </p:txBody>
        </p:sp>
        <p:sp>
          <p:nvSpPr>
            <p:cNvPr id="1353" name="Oval 9"/>
            <p:cNvSpPr/>
            <p:nvPr/>
          </p:nvSpPr>
          <p:spPr>
            <a:xfrm>
              <a:off x="899170" y="502630"/>
              <a:ext cx="1532539" cy="1500387"/>
            </a:xfrm>
            <a:prstGeom prst="ellipse">
              <a:avLst/>
            </a:prstGeom>
            <a:noFill/>
            <a:ln w="38100" cap="flat">
              <a:solidFill>
                <a:srgbClr val="000000"/>
              </a:solidFill>
              <a:prstDash val="solid"/>
              <a:round/>
            </a:ln>
            <a:effectLst/>
          </p:spPr>
          <p:txBody>
            <a:bodyPr wrap="square" lIns="45719" tIns="45719" rIns="45719" bIns="45719" numCol="1" anchor="ctr">
              <a:noAutofit/>
            </a:bodyPr>
            <a:lstStyle/>
            <a:p/>
          </p:txBody>
        </p:sp>
        <p:sp>
          <p:nvSpPr>
            <p:cNvPr id="1354" name="Oval 10"/>
            <p:cNvSpPr/>
            <p:nvPr/>
          </p:nvSpPr>
          <p:spPr>
            <a:xfrm>
              <a:off x="1156379" y="754480"/>
              <a:ext cx="1018121" cy="997759"/>
            </a:xfrm>
            <a:prstGeom prst="ellipse">
              <a:avLst/>
            </a:prstGeom>
            <a:noFill/>
            <a:ln w="12700" cap="flat">
              <a:solidFill>
                <a:srgbClr val="000000"/>
              </a:solidFill>
              <a:prstDash val="solid"/>
              <a:round/>
            </a:ln>
            <a:effectLst/>
          </p:spPr>
          <p:txBody>
            <a:bodyPr wrap="square" lIns="45719" tIns="45719" rIns="45719" bIns="45719" numCol="1" anchor="ctr">
              <a:noAutofit/>
            </a:bodyPr>
            <a:lstStyle/>
            <a:p/>
          </p:txBody>
        </p:sp>
        <p:sp>
          <p:nvSpPr>
            <p:cNvPr id="1355" name="Oval 11"/>
            <p:cNvSpPr/>
            <p:nvPr/>
          </p:nvSpPr>
          <p:spPr>
            <a:xfrm>
              <a:off x="1291414" y="865937"/>
              <a:ext cx="761983" cy="745907"/>
            </a:xfrm>
            <a:prstGeom prst="ellipse">
              <a:avLst/>
            </a:prstGeom>
            <a:solidFill>
              <a:srgbClr val="00FFFF"/>
            </a:solidFill>
            <a:ln w="38100" cap="flat">
              <a:solidFill>
                <a:srgbClr val="000000"/>
              </a:solidFill>
              <a:prstDash val="solid"/>
              <a:round/>
            </a:ln>
            <a:effectLst/>
          </p:spPr>
          <p:txBody>
            <a:bodyPr wrap="square" lIns="45719" tIns="45719" rIns="45719" bIns="45719" numCol="1" anchor="ctr">
              <a:noAutofit/>
            </a:bodyPr>
            <a:lstStyle/>
            <a:p>
              <a:pPr>
                <a:defRPr sz="1600">
                  <a:latin typeface="Calibri"/>
                  <a:ea typeface="Calibri"/>
                  <a:cs typeface="Calibri"/>
                  <a:sym typeface="Calibri"/>
                </a:defRPr>
              </a:pPr>
              <a:endParaRPr sz="1600"/>
            </a:p>
          </p:txBody>
        </p:sp>
        <p:sp>
          <p:nvSpPr>
            <p:cNvPr id="1356" name="Line 13"/>
            <p:cNvSpPr/>
            <p:nvPr/>
          </p:nvSpPr>
          <p:spPr>
            <a:xfrm>
              <a:off x="451197" y="275428"/>
              <a:ext cx="668744" cy="456547"/>
            </a:xfrm>
            <a:prstGeom prst="line">
              <a:avLst/>
            </a:prstGeom>
            <a:noFill/>
            <a:ln w="12700" cap="flat">
              <a:solidFill>
                <a:srgbClr val="000000"/>
              </a:solidFill>
              <a:prstDash val="solid"/>
              <a:round/>
              <a:tailEnd type="triangle" w="med" len="med"/>
            </a:ln>
            <a:effectLst/>
          </p:spPr>
          <p:txBody>
            <a:bodyPr wrap="square" lIns="45719" tIns="45719" rIns="45719" bIns="45719" numCol="1" anchor="t">
              <a:noAutofit/>
            </a:bodyPr>
            <a:lstStyle/>
            <a:p/>
          </p:txBody>
        </p:sp>
        <p:sp>
          <p:nvSpPr>
            <p:cNvPr id="1357" name="Line 14"/>
            <p:cNvSpPr/>
            <p:nvPr/>
          </p:nvSpPr>
          <p:spPr>
            <a:xfrm>
              <a:off x="635531" y="275428"/>
              <a:ext cx="454404" cy="300078"/>
            </a:xfrm>
            <a:prstGeom prst="line">
              <a:avLst/>
            </a:prstGeom>
            <a:noFill/>
            <a:ln w="12700" cap="flat">
              <a:solidFill>
                <a:srgbClr val="000000"/>
              </a:solidFill>
              <a:prstDash val="solid"/>
              <a:round/>
              <a:tailEnd type="triangle" w="med" len="med"/>
            </a:ln>
            <a:effectLst/>
          </p:spPr>
          <p:txBody>
            <a:bodyPr wrap="square" lIns="45719" tIns="45719" rIns="45719" bIns="45719" numCol="1" anchor="t">
              <a:noAutofit/>
            </a:bodyPr>
            <a:lstStyle/>
            <a:p/>
          </p:txBody>
        </p:sp>
        <p:sp>
          <p:nvSpPr>
            <p:cNvPr id="1358" name="Text Box 15"/>
            <p:cNvSpPr txBox="1"/>
            <p:nvPr/>
          </p:nvSpPr>
          <p:spPr>
            <a:xfrm>
              <a:off x="0" y="24703"/>
              <a:ext cx="640463" cy="338552"/>
            </a:xfrm>
            <a:prstGeom prst="rect">
              <a:avLst/>
            </a:prstGeom>
            <a:noFill/>
            <a:ln w="12700" cap="flat">
              <a:noFill/>
              <a:miter lim="400000"/>
            </a:ln>
            <a:effectLst/>
          </p:spPr>
          <p:txBody>
            <a:bodyPr wrap="square" lIns="45719" tIns="45719" rIns="45719" bIns="45719" numCol="1" anchor="ctr">
              <a:spAutoFit/>
            </a:bodyPr>
            <a:lstStyle>
              <a:lvl1pPr>
                <a:defRPr sz="1600">
                  <a:latin typeface="Calibri"/>
                  <a:ea typeface="Calibri"/>
                  <a:cs typeface="Calibri"/>
                  <a:sym typeface="Calibri"/>
                </a:defRPr>
              </a:lvl1pPr>
            </a:lstStyle>
            <a:p>
              <a:r>
                <a:t>Tracks</a:t>
              </a:r>
            </a:p>
          </p:txBody>
        </p:sp>
      </p:gr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362" name="Rectangle 27"/>
          <p:cNvSpPr txBox="1">
            <a:spLocks noGrp="1"/>
          </p:cNvSpPr>
          <p:nvPr>
            <p:ph type="title"/>
          </p:nvPr>
        </p:nvSpPr>
        <p:spPr>
          <a:xfrm>
            <a:off x="1881018" y="435679"/>
            <a:ext cx="7592095" cy="762001"/>
          </a:xfrm>
          <a:prstGeom prst="rect">
            <a:avLst/>
          </a:prstGeom>
        </p:spPr>
        <p:txBody>
          <a:bodyPr/>
          <a:lstStyle/>
          <a:p>
            <a:r>
              <a:t>Disk Operation (Single-Platter View)</a:t>
            </a:r>
          </a:p>
        </p:txBody>
      </p:sp>
      <p:sp>
        <p:nvSpPr>
          <p:cNvPr id="1363" name="Oval 4"/>
          <p:cNvSpPr/>
          <p:nvPr/>
        </p:nvSpPr>
        <p:spPr>
          <a:xfrm>
            <a:off x="4486275" y="2722564"/>
            <a:ext cx="1851026" cy="1812927"/>
          </a:xfrm>
          <a:prstGeom prst="ellipse">
            <a:avLst/>
          </a:prstGeom>
          <a:solidFill>
            <a:schemeClr val="accent3">
              <a:lumOff val="44000"/>
            </a:schemeClr>
          </a:solidFill>
          <a:ln w="12700">
            <a:solidFill>
              <a:srgbClr val="000000"/>
            </a:solidFill>
          </a:ln>
        </p:spPr>
        <p:txBody>
          <a:bodyPr lIns="45719" rIns="45719" anchor="ctr"/>
          <a:lstStyle/>
          <a:p/>
        </p:txBody>
      </p:sp>
      <p:sp>
        <p:nvSpPr>
          <p:cNvPr id="1364" name="Oval 6"/>
          <p:cNvSpPr/>
          <p:nvPr/>
        </p:nvSpPr>
        <p:spPr>
          <a:xfrm>
            <a:off x="3516314" y="1773239"/>
            <a:ext cx="3790951" cy="3713163"/>
          </a:xfrm>
          <a:prstGeom prst="ellipse">
            <a:avLst/>
          </a:prstGeom>
          <a:ln w="38100">
            <a:solidFill>
              <a:srgbClr val="000000"/>
            </a:solidFill>
          </a:ln>
        </p:spPr>
        <p:txBody>
          <a:bodyPr lIns="45719" rIns="45719" anchor="ctr"/>
          <a:lstStyle/>
          <a:p/>
        </p:txBody>
      </p:sp>
      <p:sp>
        <p:nvSpPr>
          <p:cNvPr id="1365" name="Oval 7"/>
          <p:cNvSpPr/>
          <p:nvPr/>
        </p:nvSpPr>
        <p:spPr>
          <a:xfrm>
            <a:off x="3706814" y="1958975"/>
            <a:ext cx="3409951" cy="3340101"/>
          </a:xfrm>
          <a:prstGeom prst="ellipse">
            <a:avLst/>
          </a:prstGeom>
          <a:ln w="12700">
            <a:solidFill>
              <a:srgbClr val="000000"/>
            </a:solidFill>
          </a:ln>
        </p:spPr>
        <p:txBody>
          <a:bodyPr lIns="45719" rIns="45719" anchor="ctr"/>
          <a:lstStyle/>
          <a:p/>
        </p:txBody>
      </p:sp>
      <p:sp>
        <p:nvSpPr>
          <p:cNvPr id="1366" name="Oval 8"/>
          <p:cNvSpPr/>
          <p:nvPr/>
        </p:nvSpPr>
        <p:spPr>
          <a:xfrm>
            <a:off x="3897314" y="2144714"/>
            <a:ext cx="3030539" cy="2968627"/>
          </a:xfrm>
          <a:prstGeom prst="ellipse">
            <a:avLst/>
          </a:prstGeom>
          <a:ln w="12700">
            <a:solidFill>
              <a:srgbClr val="000000"/>
            </a:solidFill>
          </a:ln>
        </p:spPr>
        <p:txBody>
          <a:bodyPr lIns="45719" rIns="45719" anchor="ctr"/>
          <a:lstStyle/>
          <a:p/>
        </p:txBody>
      </p:sp>
      <p:sp>
        <p:nvSpPr>
          <p:cNvPr id="1367" name="Oval 9"/>
          <p:cNvSpPr/>
          <p:nvPr/>
        </p:nvSpPr>
        <p:spPr>
          <a:xfrm>
            <a:off x="4087814" y="2332039"/>
            <a:ext cx="2649539" cy="2595563"/>
          </a:xfrm>
          <a:prstGeom prst="ellipse">
            <a:avLst/>
          </a:prstGeom>
          <a:ln w="12700">
            <a:solidFill>
              <a:srgbClr val="000000"/>
            </a:solidFill>
          </a:ln>
        </p:spPr>
        <p:txBody>
          <a:bodyPr lIns="45719" rIns="45719" anchor="ctr"/>
          <a:lstStyle/>
          <a:p/>
        </p:txBody>
      </p:sp>
      <p:sp>
        <p:nvSpPr>
          <p:cNvPr id="1368" name="Oval 10"/>
          <p:cNvSpPr/>
          <p:nvPr/>
        </p:nvSpPr>
        <p:spPr>
          <a:xfrm>
            <a:off x="4276725" y="2517775"/>
            <a:ext cx="2270126" cy="2222500"/>
          </a:xfrm>
          <a:prstGeom prst="ellipse">
            <a:avLst/>
          </a:prstGeom>
          <a:ln w="12700">
            <a:solidFill>
              <a:srgbClr val="000000"/>
            </a:solidFill>
          </a:ln>
        </p:spPr>
        <p:txBody>
          <a:bodyPr lIns="45719" rIns="45719" anchor="ctr"/>
          <a:lstStyle/>
          <a:p/>
        </p:txBody>
      </p:sp>
      <p:sp>
        <p:nvSpPr>
          <p:cNvPr id="1369" name="Oval 11"/>
          <p:cNvSpPr/>
          <p:nvPr/>
        </p:nvSpPr>
        <p:spPr>
          <a:xfrm>
            <a:off x="4657724" y="2890839"/>
            <a:ext cx="1508128" cy="1477963"/>
          </a:xfrm>
          <a:prstGeom prst="ellipse">
            <a:avLst/>
          </a:prstGeom>
          <a:ln w="12700">
            <a:solidFill>
              <a:srgbClr val="000000"/>
            </a:solidFill>
          </a:ln>
        </p:spPr>
        <p:txBody>
          <a:bodyPr lIns="45719" rIns="45719" anchor="ctr"/>
          <a:lstStyle/>
          <a:p/>
        </p:txBody>
      </p:sp>
      <p:sp>
        <p:nvSpPr>
          <p:cNvPr id="1370" name="Arc 13"/>
          <p:cNvSpPr/>
          <p:nvPr/>
        </p:nvSpPr>
        <p:spPr>
          <a:xfrm rot="19720062">
            <a:off x="3285488" y="2129858"/>
            <a:ext cx="1230344" cy="30362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3766" y="8488"/>
                  <a:pt x="12238" y="15"/>
                  <a:pt x="21600" y="0"/>
                </a:cubicBezTo>
              </a:path>
            </a:pathLst>
          </a:custGeom>
          <a:ln w="28575">
            <a:solidFill>
              <a:srgbClr val="00FFFF"/>
            </a:solidFill>
            <a:prstDash val="dash"/>
            <a:tailEnd type="triangle"/>
          </a:ln>
        </p:spPr>
        <p:txBody>
          <a:bodyPr lIns="45719" rIns="45719" anchor="ctr"/>
          <a:lstStyle/>
          <a:p/>
        </p:txBody>
      </p:sp>
      <p:sp>
        <p:nvSpPr>
          <p:cNvPr id="1371" name="Rectangle 14"/>
          <p:cNvSpPr txBox="1"/>
          <p:nvPr/>
        </p:nvSpPr>
        <p:spPr>
          <a:xfrm>
            <a:off x="2027236" y="1647825"/>
            <a:ext cx="1643066" cy="828432"/>
          </a:xfrm>
          <a:prstGeom prst="rect">
            <a:avLst/>
          </a:prstGeom>
          <a:ln w="12700">
            <a:miter lim="400000"/>
          </a:ln>
        </p:spPr>
        <p:txBody>
          <a:bodyPr lIns="44450" tIns="44450" rIns="44450" bIns="44450">
            <a:spAutoFit/>
          </a:bodyPr>
          <a:lstStyle/>
          <a:p>
            <a:pPr>
              <a:defRPr sz="1600">
                <a:latin typeface="Calibri"/>
                <a:ea typeface="Calibri"/>
                <a:cs typeface="Calibri"/>
                <a:sym typeface="Calibri"/>
              </a:defRPr>
            </a:pPr>
            <a:r>
              <a:rPr sz="1600"/>
              <a:t>The disk surface </a:t>
            </a:r>
            <a:endParaRPr sz="1600"/>
          </a:p>
          <a:p>
            <a:pPr>
              <a:defRPr sz="1600">
                <a:latin typeface="Calibri"/>
                <a:ea typeface="Calibri"/>
                <a:cs typeface="Calibri"/>
                <a:sym typeface="Calibri"/>
              </a:defRPr>
            </a:pPr>
            <a:r>
              <a:rPr sz="1600"/>
              <a:t>spins at a fixed</a:t>
            </a:r>
            <a:endParaRPr sz="1600"/>
          </a:p>
          <a:p>
            <a:pPr>
              <a:defRPr sz="1600">
                <a:latin typeface="Calibri"/>
                <a:ea typeface="Calibri"/>
                <a:cs typeface="Calibri"/>
                <a:sym typeface="Calibri"/>
              </a:defRPr>
            </a:pPr>
            <a:r>
              <a:rPr sz="1600"/>
              <a:t>rotational rate</a:t>
            </a:r>
            <a:endParaRPr sz="1600"/>
          </a:p>
        </p:txBody>
      </p:sp>
      <p:sp>
        <p:nvSpPr>
          <p:cNvPr id="1372" name="Oval 32"/>
          <p:cNvSpPr/>
          <p:nvPr/>
        </p:nvSpPr>
        <p:spPr>
          <a:xfrm>
            <a:off x="4826792" y="3098800"/>
            <a:ext cx="1128716" cy="1104900"/>
          </a:xfrm>
          <a:prstGeom prst="ellipse">
            <a:avLst/>
          </a:prstGeom>
          <a:solidFill>
            <a:srgbClr val="00FFFF"/>
          </a:solidFill>
          <a:ln w="38100">
            <a:solidFill>
              <a:srgbClr val="000000"/>
            </a:solidFill>
          </a:ln>
        </p:spPr>
        <p:txBody>
          <a:bodyPr lIns="45719" rIns="45719" anchor="ctr"/>
          <a:lstStyle/>
          <a:p>
            <a:pPr>
              <a:defRPr sz="1600"/>
            </a:pPr>
            <a:endParaRPr sz="1600"/>
          </a:p>
        </p:txBody>
      </p:sp>
      <p:grpSp>
        <p:nvGrpSpPr>
          <p:cNvPr id="1377" name="Group 98"/>
          <p:cNvGrpSpPr/>
          <p:nvPr/>
        </p:nvGrpSpPr>
        <p:grpSpPr>
          <a:xfrm>
            <a:off x="5847289" y="1787526"/>
            <a:ext cx="4165076" cy="3635133"/>
            <a:chOff x="354485" y="0"/>
            <a:chExt cx="4165075" cy="3635132"/>
          </a:xfrm>
        </p:grpSpPr>
        <p:grpSp>
          <p:nvGrpSpPr>
            <p:cNvPr id="1375" name="Group 67"/>
            <p:cNvGrpSpPr/>
            <p:nvPr/>
          </p:nvGrpSpPr>
          <p:grpSpPr>
            <a:xfrm>
              <a:off x="354485" y="2429157"/>
              <a:ext cx="4165075" cy="1205975"/>
              <a:chOff x="354485" y="-72450"/>
              <a:chExt cx="4165074" cy="1205973"/>
            </a:xfrm>
          </p:grpSpPr>
          <p:sp>
            <p:nvSpPr>
              <p:cNvPr id="1373" name="Rectangle 5"/>
              <p:cNvSpPr txBox="1"/>
              <p:nvPr/>
            </p:nvSpPr>
            <p:spPr>
              <a:xfrm>
                <a:off x="1665232" y="305092"/>
                <a:ext cx="2854327" cy="828431"/>
              </a:xfrm>
              <a:prstGeom prst="rect">
                <a:avLst/>
              </a:prstGeom>
              <a:noFill/>
              <a:ln w="12700" cap="flat">
                <a:noFill/>
                <a:miter lim="400000"/>
              </a:ln>
              <a:effectLst/>
            </p:spPr>
            <p:txBody>
              <a:bodyPr wrap="square" lIns="44450" tIns="44450" rIns="44450" bIns="44450" numCol="1" anchor="t">
                <a:spAutoFit/>
              </a:bodyPr>
              <a:lstStyle>
                <a:lvl1pPr>
                  <a:defRPr sz="1600">
                    <a:latin typeface="Calibri"/>
                    <a:ea typeface="Calibri"/>
                    <a:cs typeface="Calibri"/>
                    <a:sym typeface="Calibri"/>
                  </a:defRPr>
                </a:lvl1pPr>
              </a:lstStyle>
              <a:p>
                <a:r>
                  <a:t>By moving radially, the arm can position the read/write head over any track.</a:t>
                </a:r>
              </a:p>
            </p:txBody>
          </p:sp>
          <p:sp>
            <p:nvSpPr>
              <p:cNvPr id="1374" name="Arc 16"/>
              <p:cNvSpPr/>
              <p:nvPr/>
            </p:nvSpPr>
            <p:spPr>
              <a:xfrm rot="13622162" flipH="1">
                <a:off x="-95037" y="377072"/>
                <a:ext cx="1131888" cy="23284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2222" y="8244"/>
                      <a:pt x="6356" y="0"/>
                      <a:pt x="10835" y="0"/>
                    </a:cubicBezTo>
                    <a:cubicBezTo>
                      <a:pt x="15264" y="0"/>
                      <a:pt x="19361" y="8067"/>
                      <a:pt x="21600" y="21193"/>
                    </a:cubicBezTo>
                  </a:path>
                </a:pathLst>
              </a:custGeom>
              <a:noFill/>
              <a:ln w="28575" cap="flat">
                <a:solidFill>
                  <a:srgbClr val="00FFFF"/>
                </a:solidFill>
                <a:prstDash val="dash"/>
                <a:round/>
                <a:headEnd type="triangle" w="med" len="med"/>
                <a:tailEnd type="triangle" w="med" len="med"/>
              </a:ln>
              <a:effectLst/>
            </p:spPr>
            <p:txBody>
              <a:bodyPr wrap="square" lIns="45719" tIns="45719" rIns="45719" bIns="45719" numCol="1" anchor="ctr">
                <a:noAutofit/>
              </a:bodyPr>
              <a:lstStyle/>
              <a:p>
                <a:pPr>
                  <a:defRPr>
                    <a:latin typeface="Calibri"/>
                    <a:ea typeface="Calibri"/>
                    <a:cs typeface="Calibri"/>
                    <a:sym typeface="Calibri"/>
                  </a:defRPr>
                </a:pPr>
              </a:p>
            </p:txBody>
          </p:sp>
        </p:grpSp>
        <p:sp>
          <p:nvSpPr>
            <p:cNvPr id="1376" name="Rectangle 15"/>
            <p:cNvSpPr txBox="1"/>
            <p:nvPr/>
          </p:nvSpPr>
          <p:spPr>
            <a:xfrm>
              <a:off x="1798582" y="0"/>
              <a:ext cx="2171998" cy="1314054"/>
            </a:xfrm>
            <a:prstGeom prst="rect">
              <a:avLst/>
            </a:prstGeom>
            <a:noFill/>
            <a:ln w="12700" cap="flat">
              <a:noFill/>
              <a:miter lim="400000"/>
            </a:ln>
            <a:effectLst/>
          </p:spPr>
          <p:txBody>
            <a:bodyPr wrap="none" lIns="44450" tIns="44450" rIns="44450" bIns="44450" numCol="1" anchor="t">
              <a:spAutoFit/>
            </a:bodyPr>
            <a:lstStyle/>
            <a:p>
              <a:pPr>
                <a:defRPr sz="1600">
                  <a:latin typeface="Calibri"/>
                  <a:ea typeface="Calibri"/>
                  <a:cs typeface="Calibri"/>
                  <a:sym typeface="Calibri"/>
                </a:defRPr>
              </a:pPr>
              <a:r>
                <a:rPr sz="1600"/>
                <a:t>The read/write </a:t>
              </a:r>
              <a:r>
                <a:rPr sz="1600" i="1"/>
                <a:t>head</a:t>
              </a:r>
              <a:endParaRPr sz="1600" i="1"/>
            </a:p>
            <a:p>
              <a:pPr>
                <a:defRPr sz="1600">
                  <a:latin typeface="Calibri"/>
                  <a:ea typeface="Calibri"/>
                  <a:cs typeface="Calibri"/>
                  <a:sym typeface="Calibri"/>
                </a:defRPr>
              </a:pPr>
              <a:r>
                <a:rPr sz="1600"/>
                <a:t>is attached to the end</a:t>
              </a:r>
              <a:endParaRPr sz="1600"/>
            </a:p>
            <a:p>
              <a:pPr>
                <a:defRPr sz="1600">
                  <a:latin typeface="Calibri"/>
                  <a:ea typeface="Calibri"/>
                  <a:cs typeface="Calibri"/>
                  <a:sym typeface="Calibri"/>
                </a:defRPr>
              </a:pPr>
              <a:r>
                <a:rPr sz="1600"/>
                <a:t>of the </a:t>
              </a:r>
              <a:r>
                <a:rPr sz="1600" i="1"/>
                <a:t>arm</a:t>
              </a:r>
              <a:r>
                <a:rPr sz="1600"/>
                <a:t> and flies over</a:t>
              </a:r>
              <a:endParaRPr sz="1600"/>
            </a:p>
            <a:p>
              <a:pPr>
                <a:defRPr sz="1600">
                  <a:latin typeface="Calibri"/>
                  <a:ea typeface="Calibri"/>
                  <a:cs typeface="Calibri"/>
                  <a:sym typeface="Calibri"/>
                </a:defRPr>
              </a:pPr>
              <a:r>
                <a:rPr sz="1600"/>
                <a:t>the disk surface on</a:t>
              </a:r>
              <a:endParaRPr sz="1600"/>
            </a:p>
            <a:p>
              <a:pPr>
                <a:defRPr sz="1600">
                  <a:latin typeface="Calibri"/>
                  <a:ea typeface="Calibri"/>
                  <a:cs typeface="Calibri"/>
                  <a:sym typeface="Calibri"/>
                </a:defRPr>
              </a:pPr>
              <a:r>
                <a:rPr sz="1600"/>
                <a:t>a thin cushion of air.</a:t>
              </a:r>
              <a:endParaRPr sz="1600"/>
            </a:p>
          </p:txBody>
        </p:sp>
      </p:grpSp>
      <p:grpSp>
        <p:nvGrpSpPr>
          <p:cNvPr id="1382" name="Group 46"/>
          <p:cNvGrpSpPr/>
          <p:nvPr/>
        </p:nvGrpSpPr>
        <p:grpSpPr>
          <a:xfrm>
            <a:off x="6054709" y="3150176"/>
            <a:ext cx="1680469" cy="1652167"/>
            <a:chOff x="0" y="0"/>
            <a:chExt cx="1680468" cy="1652166"/>
          </a:xfrm>
        </p:grpSpPr>
        <p:grpSp>
          <p:nvGrpSpPr>
            <p:cNvPr id="1380" name="Group 23"/>
            <p:cNvGrpSpPr/>
            <p:nvPr/>
          </p:nvGrpSpPr>
          <p:grpSpPr>
            <a:xfrm>
              <a:off x="-1" y="0"/>
              <a:ext cx="1680470" cy="1652167"/>
              <a:chOff x="0" y="0"/>
              <a:chExt cx="1680468" cy="1652165"/>
            </a:xfrm>
          </p:grpSpPr>
          <p:sp>
            <p:nvSpPr>
              <p:cNvPr id="1378" name="Oval 24"/>
              <p:cNvSpPr/>
              <p:nvPr/>
            </p:nvSpPr>
            <p:spPr>
              <a:xfrm rot="18940150">
                <a:off x="42074" y="1406891"/>
                <a:ext cx="203201" cy="203201"/>
              </a:xfrm>
              <a:prstGeom prst="ellipse">
                <a:avLst/>
              </a:prstGeom>
              <a:solidFill>
                <a:srgbClr val="00FFFF"/>
              </a:solidFill>
              <a:ln w="12700" cap="flat">
                <a:solidFill>
                  <a:srgbClr val="000000"/>
                </a:solidFill>
                <a:prstDash val="solid"/>
                <a:round/>
              </a:ln>
              <a:effectLst/>
            </p:spPr>
            <p:txBody>
              <a:bodyPr wrap="square" lIns="45719" tIns="45719" rIns="45719" bIns="45719" numCol="1" anchor="ctr">
                <a:noAutofit/>
              </a:bodyPr>
              <a:lstStyle/>
              <a:p/>
            </p:txBody>
          </p:sp>
          <p:sp>
            <p:nvSpPr>
              <p:cNvPr id="1379" name="Rectangle 25"/>
              <p:cNvSpPr/>
              <p:nvPr/>
            </p:nvSpPr>
            <p:spPr>
              <a:xfrm rot="18940150">
                <a:off x="-99961" y="696854"/>
                <a:ext cx="2035175" cy="100013"/>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1381" name="Oval 26"/>
            <p:cNvSpPr/>
            <p:nvPr/>
          </p:nvSpPr>
          <p:spPr>
            <a:xfrm>
              <a:off x="1595453" y="59749"/>
              <a:ext cx="36513" cy="36513"/>
            </a:xfrm>
            <a:prstGeom prst="ellipse">
              <a:avLst/>
            </a:prstGeom>
            <a:solidFill>
              <a:srgbClr val="000000"/>
            </a:solidFill>
            <a:ln w="25400" cap="flat">
              <a:solidFill>
                <a:srgbClr val="000000"/>
              </a:solidFill>
              <a:prstDash val="solid"/>
              <a:round/>
            </a:ln>
            <a:effectLst/>
          </p:spPr>
          <p:txBody>
            <a:bodyPr wrap="square" lIns="45719" tIns="45719" rIns="45719" bIns="45719" numCol="1" anchor="ctr">
              <a:noAutofit/>
            </a:bodyPr>
            <a:lstStyle/>
            <a:p/>
          </p:txBody>
        </p:sp>
      </p:grpSp>
      <p:grpSp>
        <p:nvGrpSpPr>
          <p:cNvPr id="1387" name="Group 47"/>
          <p:cNvGrpSpPr/>
          <p:nvPr/>
        </p:nvGrpSpPr>
        <p:grpSpPr>
          <a:xfrm>
            <a:off x="6411913" y="3121780"/>
            <a:ext cx="1299413" cy="1949099"/>
            <a:chOff x="0" y="0"/>
            <a:chExt cx="1299412" cy="1949097"/>
          </a:xfrm>
        </p:grpSpPr>
        <p:grpSp>
          <p:nvGrpSpPr>
            <p:cNvPr id="1385" name="Group 48"/>
            <p:cNvGrpSpPr/>
            <p:nvPr/>
          </p:nvGrpSpPr>
          <p:grpSpPr>
            <a:xfrm>
              <a:off x="0" y="-1"/>
              <a:ext cx="1299413" cy="1949099"/>
              <a:chOff x="0" y="0"/>
              <a:chExt cx="1299412" cy="1949097"/>
            </a:xfrm>
          </p:grpSpPr>
          <p:sp>
            <p:nvSpPr>
              <p:cNvPr id="1383" name="Oval 49"/>
              <p:cNvSpPr/>
              <p:nvPr/>
            </p:nvSpPr>
            <p:spPr>
              <a:xfrm rot="18130983">
                <a:off x="38504" y="1707393"/>
                <a:ext cx="203201" cy="203201"/>
              </a:xfrm>
              <a:prstGeom prst="ellipse">
                <a:avLst/>
              </a:prstGeom>
              <a:solidFill>
                <a:srgbClr val="00FFFF"/>
              </a:solidFill>
              <a:ln w="12700" cap="flat">
                <a:solidFill>
                  <a:srgbClr val="000000"/>
                </a:solidFill>
                <a:prstDash val="solid"/>
                <a:round/>
              </a:ln>
              <a:effectLst/>
            </p:spPr>
            <p:txBody>
              <a:bodyPr wrap="square" lIns="45719" tIns="45719" rIns="45719" bIns="45719" numCol="1" anchor="ctr">
                <a:noAutofit/>
              </a:bodyPr>
              <a:lstStyle/>
              <a:p/>
            </p:txBody>
          </p:sp>
          <p:sp>
            <p:nvSpPr>
              <p:cNvPr id="1384" name="Rectangle 50"/>
              <p:cNvSpPr/>
              <p:nvPr/>
            </p:nvSpPr>
            <p:spPr>
              <a:xfrm rot="18130983">
                <a:off x="-302491" y="837864"/>
                <a:ext cx="2035175" cy="100013"/>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1386" name="Oval 51"/>
            <p:cNvSpPr/>
            <p:nvPr/>
          </p:nvSpPr>
          <p:spPr>
            <a:xfrm rot="20790833">
              <a:off x="1217746" y="56868"/>
              <a:ext cx="36513" cy="36513"/>
            </a:xfrm>
            <a:prstGeom prst="ellipse">
              <a:avLst/>
            </a:prstGeom>
            <a:solidFill>
              <a:srgbClr val="000000"/>
            </a:solidFill>
            <a:ln w="25400" cap="flat">
              <a:solidFill>
                <a:srgbClr val="000000"/>
              </a:solidFill>
              <a:prstDash val="solid"/>
              <a:round/>
            </a:ln>
            <a:effectLst/>
          </p:spPr>
          <p:txBody>
            <a:bodyPr wrap="square" lIns="45719" tIns="45719" rIns="45719" bIns="45719" numCol="1" anchor="ctr">
              <a:noAutofit/>
            </a:bodyPr>
            <a:lstStyle/>
            <a:p/>
          </p:txBody>
        </p:sp>
      </p:grpSp>
      <p:grpSp>
        <p:nvGrpSpPr>
          <p:cNvPr id="1392" name="Group 62"/>
          <p:cNvGrpSpPr/>
          <p:nvPr/>
        </p:nvGrpSpPr>
        <p:grpSpPr>
          <a:xfrm>
            <a:off x="5742191" y="3113161"/>
            <a:ext cx="1996173" cy="1212879"/>
            <a:chOff x="0" y="0"/>
            <a:chExt cx="1996171" cy="1212878"/>
          </a:xfrm>
        </p:grpSpPr>
        <p:grpSp>
          <p:nvGrpSpPr>
            <p:cNvPr id="1390" name="Group 63"/>
            <p:cNvGrpSpPr/>
            <p:nvPr/>
          </p:nvGrpSpPr>
          <p:grpSpPr>
            <a:xfrm>
              <a:off x="0" y="-1"/>
              <a:ext cx="1996172" cy="1212880"/>
              <a:chOff x="0" y="0"/>
              <a:chExt cx="1996171" cy="1212878"/>
            </a:xfrm>
          </p:grpSpPr>
          <p:sp>
            <p:nvSpPr>
              <p:cNvPr id="1388" name="Oval 64"/>
              <p:cNvSpPr/>
              <p:nvPr/>
            </p:nvSpPr>
            <p:spPr>
              <a:xfrm rot="19845536">
                <a:off x="36683" y="972994"/>
                <a:ext cx="203201" cy="203201"/>
              </a:xfrm>
              <a:prstGeom prst="ellipse">
                <a:avLst/>
              </a:prstGeom>
              <a:solidFill>
                <a:srgbClr val="00FFFF"/>
              </a:solidFill>
              <a:ln w="12700" cap="flat">
                <a:solidFill>
                  <a:srgbClr val="000000"/>
                </a:solidFill>
                <a:prstDash val="solid"/>
                <a:round/>
              </a:ln>
              <a:effectLst/>
            </p:spPr>
            <p:txBody>
              <a:bodyPr wrap="square" lIns="45719" tIns="45719" rIns="45719" bIns="45719" numCol="1" anchor="ctr">
                <a:noAutofit/>
              </a:bodyPr>
              <a:lstStyle/>
              <a:p/>
            </p:txBody>
          </p:sp>
          <p:sp>
            <p:nvSpPr>
              <p:cNvPr id="1389" name="Rectangle 65"/>
              <p:cNvSpPr/>
              <p:nvPr/>
            </p:nvSpPr>
            <p:spPr>
              <a:xfrm rot="19845536">
                <a:off x="66239" y="490704"/>
                <a:ext cx="2035175" cy="100013"/>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1391" name="Oval 66"/>
            <p:cNvSpPr/>
            <p:nvPr/>
          </p:nvSpPr>
          <p:spPr>
            <a:xfrm rot="905387">
              <a:off x="1911776" y="57874"/>
              <a:ext cx="36513" cy="36513"/>
            </a:xfrm>
            <a:prstGeom prst="ellipse">
              <a:avLst/>
            </a:prstGeom>
            <a:solidFill>
              <a:srgbClr val="000000"/>
            </a:solidFill>
            <a:ln w="25400" cap="flat">
              <a:solidFill>
                <a:srgbClr val="000000"/>
              </a:solidFill>
              <a:prstDash val="solid"/>
              <a:round/>
            </a:ln>
            <a:effectLst/>
          </p:spPr>
          <p:txBody>
            <a:bodyPr wrap="square" lIns="45719" tIns="45719" rIns="45719" bIns="45719" numCol="1" anchor="ctr">
              <a:noAutofit/>
            </a:bodyPr>
            <a:lstStyle/>
            <a:p/>
          </p:txBody>
        </p:sp>
      </p:grpSp>
      <p:grpSp>
        <p:nvGrpSpPr>
          <p:cNvPr id="1395" name="Oval 29"/>
          <p:cNvGrpSpPr/>
          <p:nvPr/>
        </p:nvGrpSpPr>
        <p:grpSpPr>
          <a:xfrm>
            <a:off x="4838698" y="3086894"/>
            <a:ext cx="1104903" cy="1128715"/>
            <a:chOff x="-1" y="0"/>
            <a:chExt cx="1104901" cy="1128714"/>
          </a:xfrm>
        </p:grpSpPr>
        <p:sp>
          <p:nvSpPr>
            <p:cNvPr id="1393" name="Oval"/>
            <p:cNvSpPr/>
            <p:nvPr/>
          </p:nvSpPr>
          <p:spPr>
            <a:xfrm rot="5400000">
              <a:off x="-11907" y="11906"/>
              <a:ext cx="1128714" cy="1104901"/>
            </a:xfrm>
            <a:prstGeom prst="ellipse">
              <a:avLst/>
            </a:prstGeom>
            <a:solidFill>
              <a:srgbClr val="00FFFF"/>
            </a:solidFill>
            <a:ln w="38100" cap="flat">
              <a:solidFill>
                <a:srgbClr val="000000"/>
              </a:solidFill>
              <a:prstDash val="solid"/>
              <a:round/>
            </a:ln>
            <a:effectLst/>
          </p:spPr>
          <p:txBody>
            <a:bodyPr wrap="square" lIns="45719" tIns="45719" rIns="45719" bIns="45719" numCol="1" anchor="ctr">
              <a:noAutofit/>
            </a:bodyPr>
            <a:lstStyle/>
            <a:p/>
          </p:txBody>
        </p:sp>
        <p:sp>
          <p:nvSpPr>
            <p:cNvPr id="1394" name="spindle"/>
            <p:cNvSpPr txBox="1"/>
            <p:nvPr/>
          </p:nvSpPr>
          <p:spPr>
            <a:xfrm rot="5400000">
              <a:off x="212935" y="404564"/>
              <a:ext cx="679029" cy="338551"/>
            </a:xfrm>
            <a:prstGeom prst="rect">
              <a:avLst/>
            </a:prstGeom>
            <a:noFill/>
            <a:ln w="12700" cap="flat">
              <a:noFill/>
              <a:miter lim="400000"/>
            </a:ln>
            <a:effectLst/>
          </p:spPr>
          <p:txBody>
            <a:bodyPr wrap="none" lIns="45719" tIns="45719" rIns="45719" bIns="45719" numCol="1" anchor="ctr">
              <a:spAutoFit/>
            </a:bodyPr>
            <a:lstStyle>
              <a:lvl1pPr>
                <a:defRPr sz="1600"/>
              </a:lvl1pPr>
            </a:lstStyle>
            <a:p>
              <a:r>
                <a:t>spindle</a:t>
              </a:r>
            </a:p>
          </p:txBody>
        </p:sp>
      </p:grpSp>
      <p:grpSp>
        <p:nvGrpSpPr>
          <p:cNvPr id="1398" name="Oval 30"/>
          <p:cNvGrpSpPr/>
          <p:nvPr/>
        </p:nvGrpSpPr>
        <p:grpSpPr>
          <a:xfrm>
            <a:off x="4826792" y="3098799"/>
            <a:ext cx="1128717" cy="1104903"/>
            <a:chOff x="0" y="-1"/>
            <a:chExt cx="1128715" cy="1104901"/>
          </a:xfrm>
        </p:grpSpPr>
        <p:sp>
          <p:nvSpPr>
            <p:cNvPr id="1396" name="Oval"/>
            <p:cNvSpPr/>
            <p:nvPr/>
          </p:nvSpPr>
          <p:spPr>
            <a:xfrm rot="10800000">
              <a:off x="0" y="-1"/>
              <a:ext cx="1128715" cy="1104901"/>
            </a:xfrm>
            <a:prstGeom prst="ellipse">
              <a:avLst/>
            </a:prstGeom>
            <a:solidFill>
              <a:srgbClr val="00FFFF"/>
            </a:solidFill>
            <a:ln w="38100" cap="flat">
              <a:solidFill>
                <a:srgbClr val="000000"/>
              </a:solidFill>
              <a:prstDash val="solid"/>
              <a:round/>
            </a:ln>
            <a:effectLst/>
          </p:spPr>
          <p:txBody>
            <a:bodyPr wrap="square" lIns="45719" tIns="45719" rIns="45719" bIns="45719" numCol="1" anchor="ctr">
              <a:noAutofit/>
            </a:bodyPr>
            <a:lstStyle/>
            <a:p/>
          </p:txBody>
        </p:sp>
        <p:sp>
          <p:nvSpPr>
            <p:cNvPr id="1397" name="spindle"/>
            <p:cNvSpPr txBox="1"/>
            <p:nvPr/>
          </p:nvSpPr>
          <p:spPr>
            <a:xfrm rot="10800000">
              <a:off x="215360" y="383174"/>
              <a:ext cx="679029" cy="338551"/>
            </a:xfrm>
            <a:prstGeom prst="rect">
              <a:avLst/>
            </a:prstGeom>
            <a:noFill/>
            <a:ln w="12700" cap="flat">
              <a:noFill/>
              <a:miter lim="400000"/>
            </a:ln>
            <a:effectLst/>
          </p:spPr>
          <p:txBody>
            <a:bodyPr wrap="none" lIns="45719" tIns="45719" rIns="45719" bIns="45719" numCol="1" anchor="ctr">
              <a:spAutoFit/>
            </a:bodyPr>
            <a:lstStyle>
              <a:lvl1pPr>
                <a:defRPr sz="1600"/>
              </a:lvl1pPr>
            </a:lstStyle>
            <a:p>
              <a:r>
                <a:t>spindle</a:t>
              </a:r>
            </a:p>
          </p:txBody>
        </p:sp>
      </p:grpSp>
      <p:grpSp>
        <p:nvGrpSpPr>
          <p:cNvPr id="1401" name="Oval 31"/>
          <p:cNvGrpSpPr/>
          <p:nvPr/>
        </p:nvGrpSpPr>
        <p:grpSpPr>
          <a:xfrm>
            <a:off x="4838697" y="3086895"/>
            <a:ext cx="1104902" cy="1128715"/>
            <a:chOff x="-1" y="0"/>
            <a:chExt cx="1104901" cy="1128714"/>
          </a:xfrm>
        </p:grpSpPr>
        <p:sp>
          <p:nvSpPr>
            <p:cNvPr id="1399" name="Oval"/>
            <p:cNvSpPr/>
            <p:nvPr/>
          </p:nvSpPr>
          <p:spPr>
            <a:xfrm rot="16200000">
              <a:off x="-11907" y="11906"/>
              <a:ext cx="1128714" cy="1104901"/>
            </a:xfrm>
            <a:prstGeom prst="ellipse">
              <a:avLst/>
            </a:prstGeom>
            <a:solidFill>
              <a:srgbClr val="00FFFF"/>
            </a:solidFill>
            <a:ln w="38100" cap="flat">
              <a:solidFill>
                <a:srgbClr val="000000"/>
              </a:solidFill>
              <a:prstDash val="solid"/>
              <a:round/>
            </a:ln>
            <a:effectLst/>
          </p:spPr>
          <p:txBody>
            <a:bodyPr wrap="square" lIns="45719" tIns="45719" rIns="45719" bIns="45719" numCol="1" anchor="ctr">
              <a:noAutofit/>
            </a:bodyPr>
            <a:lstStyle/>
            <a:p/>
          </p:txBody>
        </p:sp>
        <p:sp>
          <p:nvSpPr>
            <p:cNvPr id="1400" name="spindle"/>
            <p:cNvSpPr txBox="1"/>
            <p:nvPr/>
          </p:nvSpPr>
          <p:spPr>
            <a:xfrm rot="16200000">
              <a:off x="212935" y="385597"/>
              <a:ext cx="679029" cy="338552"/>
            </a:xfrm>
            <a:prstGeom prst="rect">
              <a:avLst/>
            </a:prstGeom>
            <a:noFill/>
            <a:ln w="12700" cap="flat">
              <a:noFill/>
              <a:miter lim="400000"/>
            </a:ln>
            <a:effectLst/>
          </p:spPr>
          <p:txBody>
            <a:bodyPr wrap="none" lIns="45719" tIns="45719" rIns="45719" bIns="45719" numCol="1" anchor="ctr">
              <a:spAutoFit/>
            </a:bodyPr>
            <a:lstStyle>
              <a:lvl1pPr>
                <a:defRPr sz="1600"/>
              </a:lvl1pPr>
            </a:lstStyle>
            <a:p>
              <a:r>
                <a:t>spindle</a:t>
              </a:r>
            </a:p>
          </p:txBody>
        </p:sp>
      </p:grpSp>
      <p:grpSp>
        <p:nvGrpSpPr>
          <p:cNvPr id="1404" name="Oval 12"/>
          <p:cNvGrpSpPr/>
          <p:nvPr/>
        </p:nvGrpSpPr>
        <p:grpSpPr>
          <a:xfrm>
            <a:off x="4826791" y="3098800"/>
            <a:ext cx="1128718" cy="1104900"/>
            <a:chOff x="-1" y="0"/>
            <a:chExt cx="1128716" cy="1104900"/>
          </a:xfrm>
        </p:grpSpPr>
        <p:sp>
          <p:nvSpPr>
            <p:cNvPr id="1402" name="Oval"/>
            <p:cNvSpPr/>
            <p:nvPr/>
          </p:nvSpPr>
          <p:spPr>
            <a:xfrm>
              <a:off x="-1" y="0"/>
              <a:ext cx="1128716" cy="1104900"/>
            </a:xfrm>
            <a:prstGeom prst="ellipse">
              <a:avLst/>
            </a:prstGeom>
            <a:solidFill>
              <a:srgbClr val="00FFFF"/>
            </a:solidFill>
            <a:ln w="38100" cap="flat">
              <a:solidFill>
                <a:srgbClr val="000000"/>
              </a:solidFill>
              <a:prstDash val="solid"/>
              <a:round/>
            </a:ln>
            <a:effectLst/>
          </p:spPr>
          <p:txBody>
            <a:bodyPr wrap="square" lIns="45719" tIns="45719" rIns="45719" bIns="45719" numCol="1" anchor="ctr">
              <a:noAutofit/>
            </a:bodyPr>
            <a:lstStyle/>
            <a:p/>
          </p:txBody>
        </p:sp>
        <p:sp>
          <p:nvSpPr>
            <p:cNvPr id="1403" name="spindle"/>
            <p:cNvSpPr txBox="1"/>
            <p:nvPr/>
          </p:nvSpPr>
          <p:spPr>
            <a:xfrm>
              <a:off x="230065" y="383175"/>
              <a:ext cx="679029" cy="338552"/>
            </a:xfrm>
            <a:prstGeom prst="rect">
              <a:avLst/>
            </a:prstGeom>
            <a:noFill/>
            <a:ln w="12700" cap="flat">
              <a:noFill/>
              <a:miter lim="400000"/>
            </a:ln>
            <a:effectLst/>
          </p:spPr>
          <p:txBody>
            <a:bodyPr wrap="none" lIns="45719" tIns="45719" rIns="45719" bIns="45719" numCol="1" anchor="ctr">
              <a:spAutoFit/>
            </a:bodyPr>
            <a:lstStyle>
              <a:lvl1pPr>
                <a:defRPr sz="1600"/>
              </a:lvl1pPr>
            </a:lstStyle>
            <a:p>
              <a:r>
                <a:t>spindle</a:t>
              </a:r>
            </a:p>
          </p:txBody>
        </p:sp>
      </p:grpSp>
      <p:grpSp>
        <p:nvGrpSpPr>
          <p:cNvPr id="1409" name="Group 68"/>
          <p:cNvGrpSpPr/>
          <p:nvPr/>
        </p:nvGrpSpPr>
        <p:grpSpPr>
          <a:xfrm>
            <a:off x="5732666" y="3113161"/>
            <a:ext cx="1996173" cy="1212879"/>
            <a:chOff x="0" y="0"/>
            <a:chExt cx="1996171" cy="1212878"/>
          </a:xfrm>
        </p:grpSpPr>
        <p:grpSp>
          <p:nvGrpSpPr>
            <p:cNvPr id="1407" name="Group 69"/>
            <p:cNvGrpSpPr/>
            <p:nvPr/>
          </p:nvGrpSpPr>
          <p:grpSpPr>
            <a:xfrm>
              <a:off x="0" y="-1"/>
              <a:ext cx="1996172" cy="1212880"/>
              <a:chOff x="0" y="0"/>
              <a:chExt cx="1996171" cy="1212878"/>
            </a:xfrm>
          </p:grpSpPr>
          <p:sp>
            <p:nvSpPr>
              <p:cNvPr id="1405" name="Oval 70"/>
              <p:cNvSpPr/>
              <p:nvPr/>
            </p:nvSpPr>
            <p:spPr>
              <a:xfrm rot="19845536">
                <a:off x="36683" y="972994"/>
                <a:ext cx="203201" cy="203201"/>
              </a:xfrm>
              <a:prstGeom prst="ellipse">
                <a:avLst/>
              </a:prstGeom>
              <a:solidFill>
                <a:srgbClr val="00FFFF"/>
              </a:solidFill>
              <a:ln w="12700" cap="flat">
                <a:solidFill>
                  <a:srgbClr val="000000"/>
                </a:solidFill>
                <a:prstDash val="solid"/>
                <a:round/>
              </a:ln>
              <a:effectLst/>
            </p:spPr>
            <p:txBody>
              <a:bodyPr wrap="square" lIns="45719" tIns="45719" rIns="45719" bIns="45719" numCol="1" anchor="ctr">
                <a:noAutofit/>
              </a:bodyPr>
              <a:lstStyle/>
              <a:p/>
            </p:txBody>
          </p:sp>
          <p:sp>
            <p:nvSpPr>
              <p:cNvPr id="1406" name="Rectangle 71"/>
              <p:cNvSpPr/>
              <p:nvPr/>
            </p:nvSpPr>
            <p:spPr>
              <a:xfrm rot="19845536">
                <a:off x="66239" y="490704"/>
                <a:ext cx="2035175" cy="100013"/>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1408" name="Oval 72"/>
            <p:cNvSpPr/>
            <p:nvPr/>
          </p:nvSpPr>
          <p:spPr>
            <a:xfrm rot="905387">
              <a:off x="1911776" y="57874"/>
              <a:ext cx="36513" cy="36513"/>
            </a:xfrm>
            <a:prstGeom prst="ellipse">
              <a:avLst/>
            </a:prstGeom>
            <a:solidFill>
              <a:srgbClr val="000000"/>
            </a:solidFill>
            <a:ln w="25400" cap="flat">
              <a:solidFill>
                <a:srgbClr val="000000"/>
              </a:solidFill>
              <a:prstDash val="solid"/>
              <a:round/>
            </a:ln>
            <a:effectLst/>
          </p:spPr>
          <p:txBody>
            <a:bodyPr wrap="square" lIns="45719" tIns="45719" rIns="45719" bIns="45719" numCol="1" anchor="ctr">
              <a:noAutofit/>
            </a:bodyPr>
            <a:lstStyle/>
            <a:p/>
          </p:txBody>
        </p:sp>
      </p:grpSp>
      <p:grpSp>
        <p:nvGrpSpPr>
          <p:cNvPr id="1414" name="Group 73"/>
          <p:cNvGrpSpPr/>
          <p:nvPr/>
        </p:nvGrpSpPr>
        <p:grpSpPr>
          <a:xfrm>
            <a:off x="5732666" y="3113161"/>
            <a:ext cx="1996173" cy="1212879"/>
            <a:chOff x="0" y="0"/>
            <a:chExt cx="1996171" cy="1212878"/>
          </a:xfrm>
        </p:grpSpPr>
        <p:grpSp>
          <p:nvGrpSpPr>
            <p:cNvPr id="1412" name="Group 74"/>
            <p:cNvGrpSpPr/>
            <p:nvPr/>
          </p:nvGrpSpPr>
          <p:grpSpPr>
            <a:xfrm>
              <a:off x="0" y="-1"/>
              <a:ext cx="1996172" cy="1212880"/>
              <a:chOff x="0" y="0"/>
              <a:chExt cx="1996171" cy="1212878"/>
            </a:xfrm>
          </p:grpSpPr>
          <p:sp>
            <p:nvSpPr>
              <p:cNvPr id="1410" name="Oval 75"/>
              <p:cNvSpPr/>
              <p:nvPr/>
            </p:nvSpPr>
            <p:spPr>
              <a:xfrm rot="19845536">
                <a:off x="36683" y="972994"/>
                <a:ext cx="203201" cy="203201"/>
              </a:xfrm>
              <a:prstGeom prst="ellipse">
                <a:avLst/>
              </a:prstGeom>
              <a:solidFill>
                <a:srgbClr val="00FFFF"/>
              </a:solidFill>
              <a:ln w="12700" cap="flat">
                <a:solidFill>
                  <a:srgbClr val="000000"/>
                </a:solidFill>
                <a:prstDash val="solid"/>
                <a:round/>
              </a:ln>
              <a:effectLst/>
            </p:spPr>
            <p:txBody>
              <a:bodyPr wrap="square" lIns="45719" tIns="45719" rIns="45719" bIns="45719" numCol="1" anchor="ctr">
                <a:noAutofit/>
              </a:bodyPr>
              <a:lstStyle/>
              <a:p/>
            </p:txBody>
          </p:sp>
          <p:sp>
            <p:nvSpPr>
              <p:cNvPr id="1411" name="Rectangle 76"/>
              <p:cNvSpPr/>
              <p:nvPr/>
            </p:nvSpPr>
            <p:spPr>
              <a:xfrm rot="19845536">
                <a:off x="66239" y="490704"/>
                <a:ext cx="2035175" cy="100013"/>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1413" name="Oval 77"/>
            <p:cNvSpPr/>
            <p:nvPr/>
          </p:nvSpPr>
          <p:spPr>
            <a:xfrm rot="905387">
              <a:off x="1911776" y="57874"/>
              <a:ext cx="36513" cy="36513"/>
            </a:xfrm>
            <a:prstGeom prst="ellipse">
              <a:avLst/>
            </a:prstGeom>
            <a:solidFill>
              <a:srgbClr val="000000"/>
            </a:solidFill>
            <a:ln w="25400" cap="flat">
              <a:solidFill>
                <a:srgbClr val="000000"/>
              </a:solidFill>
              <a:prstDash val="solid"/>
              <a:round/>
            </a:ln>
            <a:effectLst/>
          </p:spPr>
          <p:txBody>
            <a:bodyPr wrap="square" lIns="45719" tIns="45719" rIns="45719" bIns="45719" numCol="1" anchor="ctr">
              <a:noAutofit/>
            </a:bodyPr>
            <a:lstStyle/>
            <a:p/>
          </p:txBody>
        </p:sp>
      </p:grpSp>
      <p:grpSp>
        <p:nvGrpSpPr>
          <p:cNvPr id="1419" name="Group 83"/>
          <p:cNvGrpSpPr/>
          <p:nvPr/>
        </p:nvGrpSpPr>
        <p:grpSpPr>
          <a:xfrm>
            <a:off x="6413499" y="3120193"/>
            <a:ext cx="1299414" cy="1949099"/>
            <a:chOff x="0" y="0"/>
            <a:chExt cx="1299412" cy="1949098"/>
          </a:xfrm>
        </p:grpSpPr>
        <p:grpSp>
          <p:nvGrpSpPr>
            <p:cNvPr id="1417" name="Group 84"/>
            <p:cNvGrpSpPr/>
            <p:nvPr/>
          </p:nvGrpSpPr>
          <p:grpSpPr>
            <a:xfrm>
              <a:off x="0" y="-1"/>
              <a:ext cx="1299413" cy="1949100"/>
              <a:chOff x="0" y="0"/>
              <a:chExt cx="1299412" cy="1949098"/>
            </a:xfrm>
          </p:grpSpPr>
          <p:sp>
            <p:nvSpPr>
              <p:cNvPr id="1415" name="Oval 85"/>
              <p:cNvSpPr/>
              <p:nvPr/>
            </p:nvSpPr>
            <p:spPr>
              <a:xfrm rot="18130983">
                <a:off x="38504" y="1707394"/>
                <a:ext cx="203201" cy="203201"/>
              </a:xfrm>
              <a:prstGeom prst="ellipse">
                <a:avLst/>
              </a:prstGeom>
              <a:solidFill>
                <a:srgbClr val="00FFFF"/>
              </a:solidFill>
              <a:ln w="12700" cap="flat">
                <a:solidFill>
                  <a:srgbClr val="000000"/>
                </a:solidFill>
                <a:prstDash val="solid"/>
                <a:round/>
              </a:ln>
              <a:effectLst/>
            </p:spPr>
            <p:txBody>
              <a:bodyPr wrap="square" lIns="45719" tIns="45719" rIns="45719" bIns="45719" numCol="1" anchor="ctr">
                <a:noAutofit/>
              </a:bodyPr>
              <a:lstStyle/>
              <a:p/>
            </p:txBody>
          </p:sp>
          <p:sp>
            <p:nvSpPr>
              <p:cNvPr id="1416" name="Rectangle 86"/>
              <p:cNvSpPr/>
              <p:nvPr/>
            </p:nvSpPr>
            <p:spPr>
              <a:xfrm rot="18130983">
                <a:off x="-302491" y="837864"/>
                <a:ext cx="2035176" cy="100013"/>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1418" name="Oval 87"/>
            <p:cNvSpPr/>
            <p:nvPr/>
          </p:nvSpPr>
          <p:spPr>
            <a:xfrm rot="20790833">
              <a:off x="1217747" y="56868"/>
              <a:ext cx="36513" cy="36513"/>
            </a:xfrm>
            <a:prstGeom prst="ellipse">
              <a:avLst/>
            </a:prstGeom>
            <a:solidFill>
              <a:srgbClr val="000000"/>
            </a:solidFill>
            <a:ln w="25400" cap="flat">
              <a:solidFill>
                <a:srgbClr val="000000"/>
              </a:solidFill>
              <a:prstDash val="solid"/>
              <a:round/>
            </a:ln>
            <a:effectLst/>
          </p:spPr>
          <p:txBody>
            <a:bodyPr wrap="square" lIns="45719" tIns="45719" rIns="45719" bIns="45719" numCol="1" anchor="ctr">
              <a:noAutofit/>
            </a:bodyPr>
            <a:lstStyle/>
            <a:p/>
          </p:txBody>
        </p:sp>
      </p:grpSp>
      <p:grpSp>
        <p:nvGrpSpPr>
          <p:cNvPr id="1424" name="Group 88"/>
          <p:cNvGrpSpPr/>
          <p:nvPr/>
        </p:nvGrpSpPr>
        <p:grpSpPr>
          <a:xfrm>
            <a:off x="6411913" y="3120193"/>
            <a:ext cx="1299413" cy="1949099"/>
            <a:chOff x="0" y="0"/>
            <a:chExt cx="1299412" cy="1949097"/>
          </a:xfrm>
        </p:grpSpPr>
        <p:grpSp>
          <p:nvGrpSpPr>
            <p:cNvPr id="1422" name="Group 89"/>
            <p:cNvGrpSpPr/>
            <p:nvPr/>
          </p:nvGrpSpPr>
          <p:grpSpPr>
            <a:xfrm>
              <a:off x="0" y="-1"/>
              <a:ext cx="1299413" cy="1949099"/>
              <a:chOff x="0" y="0"/>
              <a:chExt cx="1299412" cy="1949097"/>
            </a:xfrm>
          </p:grpSpPr>
          <p:sp>
            <p:nvSpPr>
              <p:cNvPr id="1420" name="Oval 90"/>
              <p:cNvSpPr/>
              <p:nvPr/>
            </p:nvSpPr>
            <p:spPr>
              <a:xfrm rot="18130983">
                <a:off x="38504" y="1707393"/>
                <a:ext cx="203201" cy="203201"/>
              </a:xfrm>
              <a:prstGeom prst="ellipse">
                <a:avLst/>
              </a:prstGeom>
              <a:solidFill>
                <a:srgbClr val="00FFFF"/>
              </a:solidFill>
              <a:ln w="12700" cap="flat">
                <a:solidFill>
                  <a:srgbClr val="000000"/>
                </a:solidFill>
                <a:prstDash val="solid"/>
                <a:round/>
              </a:ln>
              <a:effectLst/>
            </p:spPr>
            <p:txBody>
              <a:bodyPr wrap="square" lIns="45719" tIns="45719" rIns="45719" bIns="45719" numCol="1" anchor="ctr">
                <a:noAutofit/>
              </a:bodyPr>
              <a:lstStyle/>
              <a:p/>
            </p:txBody>
          </p:sp>
          <p:sp>
            <p:nvSpPr>
              <p:cNvPr id="1421" name="Rectangle 91"/>
              <p:cNvSpPr/>
              <p:nvPr/>
            </p:nvSpPr>
            <p:spPr>
              <a:xfrm rot="18130983">
                <a:off x="-302491" y="837864"/>
                <a:ext cx="2035175" cy="100013"/>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1423" name="Oval 92"/>
            <p:cNvSpPr/>
            <p:nvPr/>
          </p:nvSpPr>
          <p:spPr>
            <a:xfrm rot="20790833">
              <a:off x="1217746" y="56868"/>
              <a:ext cx="36513" cy="36513"/>
            </a:xfrm>
            <a:prstGeom prst="ellipse">
              <a:avLst/>
            </a:prstGeom>
            <a:solidFill>
              <a:srgbClr val="000000"/>
            </a:solidFill>
            <a:ln w="25400" cap="flat">
              <a:solidFill>
                <a:srgbClr val="000000"/>
              </a:solidFill>
              <a:prstDash val="solid"/>
              <a:round/>
            </a:ln>
            <a:effectLst/>
          </p:spPr>
          <p:txBody>
            <a:bodyPr wrap="square" lIns="45719" tIns="45719" rIns="45719" bIns="45719" numCol="1" anchor="ctr">
              <a:noAutofit/>
            </a:bodyPr>
            <a:lstStyle/>
            <a:p/>
          </p:txBody>
        </p:sp>
      </p:grpSp>
      <p:grpSp>
        <p:nvGrpSpPr>
          <p:cNvPr id="1429" name="Group 93"/>
          <p:cNvGrpSpPr/>
          <p:nvPr/>
        </p:nvGrpSpPr>
        <p:grpSpPr>
          <a:xfrm>
            <a:off x="6411913" y="3120193"/>
            <a:ext cx="1299413" cy="1949099"/>
            <a:chOff x="0" y="0"/>
            <a:chExt cx="1299412" cy="1949097"/>
          </a:xfrm>
        </p:grpSpPr>
        <p:grpSp>
          <p:nvGrpSpPr>
            <p:cNvPr id="1427" name="Group 94"/>
            <p:cNvGrpSpPr/>
            <p:nvPr/>
          </p:nvGrpSpPr>
          <p:grpSpPr>
            <a:xfrm>
              <a:off x="0" y="-1"/>
              <a:ext cx="1299413" cy="1949099"/>
              <a:chOff x="0" y="0"/>
              <a:chExt cx="1299412" cy="1949097"/>
            </a:xfrm>
          </p:grpSpPr>
          <p:sp>
            <p:nvSpPr>
              <p:cNvPr id="1425" name="Oval 95"/>
              <p:cNvSpPr/>
              <p:nvPr/>
            </p:nvSpPr>
            <p:spPr>
              <a:xfrm rot="18130983">
                <a:off x="38504" y="1707393"/>
                <a:ext cx="203201" cy="203201"/>
              </a:xfrm>
              <a:prstGeom prst="ellipse">
                <a:avLst/>
              </a:prstGeom>
              <a:solidFill>
                <a:srgbClr val="00FFFF"/>
              </a:solidFill>
              <a:ln w="12700" cap="flat">
                <a:solidFill>
                  <a:srgbClr val="000000"/>
                </a:solidFill>
                <a:prstDash val="solid"/>
                <a:round/>
              </a:ln>
              <a:effectLst/>
            </p:spPr>
            <p:txBody>
              <a:bodyPr wrap="square" lIns="45719" tIns="45719" rIns="45719" bIns="45719" numCol="1" anchor="ctr">
                <a:noAutofit/>
              </a:bodyPr>
              <a:lstStyle/>
              <a:p/>
            </p:txBody>
          </p:sp>
          <p:sp>
            <p:nvSpPr>
              <p:cNvPr id="1426" name="Rectangle 96"/>
              <p:cNvSpPr/>
              <p:nvPr/>
            </p:nvSpPr>
            <p:spPr>
              <a:xfrm rot="18130983">
                <a:off x="-302491" y="837864"/>
                <a:ext cx="2035175" cy="100013"/>
              </a:xfrm>
              <a:prstGeom prst="rect">
                <a:avLst/>
              </a:prstGeom>
              <a:solidFill>
                <a:srgbClr val="00FFFF"/>
              </a:solidFill>
              <a:ln w="12700" cap="flat">
                <a:solidFill>
                  <a:srgbClr val="000000"/>
                </a:solidFill>
                <a:prstDash val="solid"/>
                <a:miter lim="800000"/>
              </a:ln>
              <a:effectLst/>
            </p:spPr>
            <p:txBody>
              <a:bodyPr wrap="square" lIns="45719" tIns="45719" rIns="45719" bIns="45719" numCol="1" anchor="ctr">
                <a:noAutofit/>
              </a:bodyPr>
              <a:lstStyle/>
              <a:p/>
            </p:txBody>
          </p:sp>
        </p:grpSp>
        <p:sp>
          <p:nvSpPr>
            <p:cNvPr id="1428" name="Oval 97"/>
            <p:cNvSpPr/>
            <p:nvPr/>
          </p:nvSpPr>
          <p:spPr>
            <a:xfrm rot="20790833">
              <a:off x="1217746" y="56868"/>
              <a:ext cx="36513" cy="36513"/>
            </a:xfrm>
            <a:prstGeom prst="ellipse">
              <a:avLst/>
            </a:prstGeom>
            <a:solidFill>
              <a:srgbClr val="000000"/>
            </a:solidFill>
            <a:ln w="25400" cap="flat">
              <a:solidFill>
                <a:srgbClr val="000000"/>
              </a:solidFill>
              <a:prstDash val="solid"/>
              <a:round/>
            </a:ln>
            <a:effectLst/>
          </p:spPr>
          <p:txBody>
            <a:bodyPr wrap="square" lIns="45719" tIns="45719" rIns="45719" bIns="45719" numCol="1" anchor="ctr">
              <a:noAutofit/>
            </a:bodyPr>
            <a:lstStyle/>
            <a:p/>
          </p:txBody>
        </p:sp>
      </p:grpSp>
      <p:grpSp>
        <p:nvGrpSpPr>
          <p:cNvPr id="1432" name="Oval 32"/>
          <p:cNvGrpSpPr/>
          <p:nvPr/>
        </p:nvGrpSpPr>
        <p:grpSpPr>
          <a:xfrm>
            <a:off x="4826791" y="3098800"/>
            <a:ext cx="1128718" cy="1104900"/>
            <a:chOff x="-1" y="0"/>
            <a:chExt cx="1128716" cy="1104900"/>
          </a:xfrm>
        </p:grpSpPr>
        <p:sp>
          <p:nvSpPr>
            <p:cNvPr id="1430" name="Oval"/>
            <p:cNvSpPr/>
            <p:nvPr/>
          </p:nvSpPr>
          <p:spPr>
            <a:xfrm>
              <a:off x="-1" y="0"/>
              <a:ext cx="1128716" cy="1104900"/>
            </a:xfrm>
            <a:prstGeom prst="ellipse">
              <a:avLst/>
            </a:prstGeom>
            <a:solidFill>
              <a:srgbClr val="00FFFF"/>
            </a:solidFill>
            <a:ln w="38100" cap="flat">
              <a:solidFill>
                <a:srgbClr val="000000"/>
              </a:solidFill>
              <a:prstDash val="solid"/>
              <a:round/>
            </a:ln>
            <a:effectLst/>
          </p:spPr>
          <p:txBody>
            <a:bodyPr wrap="square" lIns="45719" tIns="45719" rIns="45719" bIns="45719" numCol="1" anchor="ctr">
              <a:noAutofit/>
            </a:bodyPr>
            <a:lstStyle/>
            <a:p/>
          </p:txBody>
        </p:sp>
        <p:sp>
          <p:nvSpPr>
            <p:cNvPr id="1431" name="spindle"/>
            <p:cNvSpPr txBox="1"/>
            <p:nvPr/>
          </p:nvSpPr>
          <p:spPr>
            <a:xfrm>
              <a:off x="230065" y="383174"/>
              <a:ext cx="707883" cy="338552"/>
            </a:xfrm>
            <a:prstGeom prst="rect">
              <a:avLst/>
            </a:prstGeom>
            <a:noFill/>
            <a:ln w="12700" cap="flat">
              <a:noFill/>
              <a:miter lim="400000"/>
            </a:ln>
            <a:effectLst/>
          </p:spPr>
          <p:txBody>
            <a:bodyPr wrap="none" lIns="45719" tIns="45719" rIns="45719" bIns="45719" numCol="1" anchor="ctr">
              <a:spAutoFit/>
            </a:bodyPr>
            <a:lstStyle>
              <a:lvl1pPr>
                <a:defRPr sz="1600">
                  <a:latin typeface="Calibri"/>
                  <a:ea typeface="Calibri"/>
                  <a:cs typeface="Calibri"/>
                  <a:sym typeface="Calibri"/>
                </a:defRPr>
              </a:lvl1pPr>
            </a:lstStyle>
            <a:p>
              <a:r>
                <a:t>spindle</a:t>
              </a:r>
            </a:p>
          </p:txBody>
        </p:sp>
      </p:gr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indefinite" fill="hold"/>
                                        <p:tgtEl>
                                          <p:spTgt spid="137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indefinite" fill="hold"/>
                                        <p:tgtEl>
                                          <p:spTgt spid="1432"/>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indefinite" fill="hold"/>
                                        <p:tgtEl>
                                          <p:spTgt spid="1395"/>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indefinite" fill="hold"/>
                                        <p:tgtEl>
                                          <p:spTgt spid="1398"/>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indefinite" fill="hold"/>
                                        <p:tgtEl>
                                          <p:spTgt spid="1401"/>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indefinite" fill="hold"/>
                                        <p:tgtEl>
                                          <p:spTgt spid="140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indefinite" fill="hold"/>
                                        <p:tgtEl>
                                          <p:spTgt spid="1377"/>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indefinite" fill="hold"/>
                                        <p:tgtEl>
                                          <p:spTgt spid="1382"/>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1000"/>
                                  </p:stCondLst>
                                  <p:childTnLst>
                                    <p:set>
                                      <p:cBhvr>
                                        <p:cTn id="31" dur="indefinite" fill="hold"/>
                                        <p:tgtEl>
                                          <p:spTgt spid="1387"/>
                                        </p:tgtEl>
                                        <p:attrNameLst>
                                          <p:attrName>style.visibility</p:attrName>
                                        </p:attrNameLst>
                                      </p:cBhvr>
                                      <p:to>
                                        <p:strVal val="visible"/>
                                      </p:to>
                                    </p:set>
                                  </p:childTnLst>
                                </p:cTn>
                              </p:par>
                            </p:childTnLst>
                          </p:cTn>
                        </p:par>
                        <p:par>
                          <p:cTn id="32" fill="hold">
                            <p:stCondLst>
                              <p:cond delay="1000"/>
                            </p:stCondLst>
                            <p:childTnLst>
                              <p:par>
                                <p:cTn id="33" presetID="1" presetClass="entr" presetSubtype="0" fill="hold" grpId="0" nodeType="afterEffect">
                                  <p:stCondLst>
                                    <p:cond delay="1000"/>
                                  </p:stCondLst>
                                  <p:childTnLst>
                                    <p:set>
                                      <p:cBhvr>
                                        <p:cTn id="34" dur="indefinite" fill="hold"/>
                                        <p:tgtEl>
                                          <p:spTgt spid="1392"/>
                                        </p:tgtEl>
                                        <p:attrNameLst>
                                          <p:attrName>style.visibility</p:attrName>
                                        </p:attrNameLst>
                                      </p:cBhvr>
                                      <p:to>
                                        <p:strVal val="visible"/>
                                      </p:to>
                                    </p:set>
                                  </p:childTnLst>
                                </p:cTn>
                              </p:par>
                            </p:childTnLst>
                          </p:cTn>
                        </p:par>
                        <p:par>
                          <p:cTn id="35" fill="hold">
                            <p:stCondLst>
                              <p:cond delay="2000"/>
                            </p:stCondLst>
                            <p:childTnLst>
                              <p:par>
                                <p:cTn id="36" presetID="1" presetClass="entr" presetSubtype="0" fill="hold" grpId="0" nodeType="afterEffect">
                                  <p:stCondLst>
                                    <p:cond delay="1000"/>
                                  </p:stCondLst>
                                  <p:childTnLst>
                                    <p:set>
                                      <p:cBhvr>
                                        <p:cTn id="37" dur="indefinite" fill="hold"/>
                                        <p:tgtEl>
                                          <p:spTgt spid="1424"/>
                                        </p:tgtEl>
                                        <p:attrNameLst>
                                          <p:attrName>style.visibility</p:attrName>
                                        </p:attrNameLst>
                                      </p:cBhvr>
                                      <p:to>
                                        <p:strVal val="visible"/>
                                      </p:to>
                                    </p:set>
                                  </p:childTnLst>
                                </p:cTn>
                              </p:par>
                            </p:childTnLst>
                          </p:cTn>
                        </p:par>
                        <p:par>
                          <p:cTn id="38" fill="hold">
                            <p:stCondLst>
                              <p:cond delay="3000"/>
                            </p:stCondLst>
                            <p:childTnLst>
                              <p:par>
                                <p:cTn id="39" presetID="1" presetClass="entr" presetSubtype="0" fill="hold" grpId="0" nodeType="afterEffect">
                                  <p:stCondLst>
                                    <p:cond delay="500"/>
                                  </p:stCondLst>
                                  <p:childTnLst>
                                    <p:set>
                                      <p:cBhvr>
                                        <p:cTn id="40" dur="indefinite" fill="hold"/>
                                        <p:tgtEl>
                                          <p:spTgt spid="1409"/>
                                        </p:tgtEl>
                                        <p:attrNameLst>
                                          <p:attrName>style.visibility</p:attrName>
                                        </p:attrNameLst>
                                      </p:cBhvr>
                                      <p:to>
                                        <p:strVal val="visible"/>
                                      </p:to>
                                    </p:set>
                                  </p:childTnLst>
                                </p:cTn>
                              </p:par>
                            </p:childTnLst>
                          </p:cTn>
                        </p:par>
                        <p:par>
                          <p:cTn id="41" fill="hold">
                            <p:stCondLst>
                              <p:cond delay="3500"/>
                            </p:stCondLst>
                            <p:childTnLst>
                              <p:par>
                                <p:cTn id="42" presetID="1" presetClass="entr" presetSubtype="0" fill="hold" grpId="0" nodeType="afterEffect">
                                  <p:stCondLst>
                                    <p:cond delay="500"/>
                                  </p:stCondLst>
                                  <p:childTnLst>
                                    <p:set>
                                      <p:cBhvr>
                                        <p:cTn id="43" dur="indefinite" fill="hold"/>
                                        <p:tgtEl>
                                          <p:spTgt spid="1429"/>
                                        </p:tgtEl>
                                        <p:attrNameLst>
                                          <p:attrName>style.visibility</p:attrName>
                                        </p:attrNameLst>
                                      </p:cBhvr>
                                      <p:to>
                                        <p:strVal val="visible"/>
                                      </p:to>
                                    </p:set>
                                  </p:childTnLst>
                                </p:cTn>
                              </p:par>
                            </p:childTnLst>
                          </p:cTn>
                        </p:par>
                        <p:par>
                          <p:cTn id="44" fill="hold">
                            <p:stCondLst>
                              <p:cond delay="4000"/>
                            </p:stCondLst>
                            <p:childTnLst>
                              <p:par>
                                <p:cTn id="45" presetID="1" presetClass="entr" presetSubtype="0" fill="hold" grpId="0" nodeType="afterEffect">
                                  <p:stCondLst>
                                    <p:cond delay="500"/>
                                  </p:stCondLst>
                                  <p:childTnLst>
                                    <p:set>
                                      <p:cBhvr>
                                        <p:cTn id="46" dur="indefinite" fill="hold"/>
                                        <p:tgtEl>
                                          <p:spTgt spid="1414"/>
                                        </p:tgtEl>
                                        <p:attrNameLst>
                                          <p:attrName>style.visibility</p:attrName>
                                        </p:attrNameLst>
                                      </p:cBhvr>
                                      <p:to>
                                        <p:strVal val="visible"/>
                                      </p:to>
                                    </p:set>
                                  </p:childTnLst>
                                </p:cTn>
                              </p:par>
                            </p:childTnLst>
                          </p:cTn>
                        </p:par>
                        <p:par>
                          <p:cTn id="47" fill="hold">
                            <p:stCondLst>
                              <p:cond delay="4500"/>
                            </p:stCondLst>
                            <p:childTnLst>
                              <p:par>
                                <p:cTn id="48" presetID="1" presetClass="entr" presetSubtype="0" fill="hold" grpId="0" nodeType="afterEffect">
                                  <p:stCondLst>
                                    <p:cond delay="500"/>
                                  </p:stCondLst>
                                  <p:childTnLst>
                                    <p:set>
                                      <p:cBhvr>
                                        <p:cTn id="49" dur="indefinite" fill="hold"/>
                                        <p:tgtEl>
                                          <p:spTgt spid="14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 grpId="0" animBg="1" advAuto="0"/>
      <p:bldP spid="1377" grpId="0" animBg="1" advAuto="0"/>
      <p:bldP spid="1382" grpId="0" animBg="1" advAuto="0"/>
      <p:bldP spid="1387" grpId="0" animBg="1" advAuto="0"/>
      <p:bldP spid="1392" grpId="0" animBg="1" advAuto="0"/>
      <p:bldP spid="1395" grpId="0" animBg="1" advAuto="0"/>
      <p:bldP spid="1398" grpId="0" animBg="1" advAuto="0"/>
      <p:bldP spid="1401" grpId="0" animBg="1" advAuto="0"/>
      <p:bldP spid="1404" grpId="0" animBg="1" advAuto="0"/>
      <p:bldP spid="1409" grpId="0" animBg="1" advAuto="0"/>
      <p:bldP spid="1414" grpId="0" animBg="1" advAuto="0"/>
      <p:bldP spid="1419" grpId="0" animBg="1" advAuto="0"/>
      <p:bldP spid="1424" grpId="0" animBg="1" advAuto="0"/>
      <p:bldP spid="1429" grpId="0" animBg="1" advAuto="0"/>
      <p:bldP spid="1432" grpId="0" animBg="1" advAuto="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578" name="Rectangle 51"/>
          <p:cNvSpPr txBox="1">
            <a:spLocks noGrp="1"/>
          </p:cNvSpPr>
          <p:nvPr>
            <p:ph type="title"/>
          </p:nvPr>
        </p:nvSpPr>
        <p:spPr>
          <a:xfrm>
            <a:off x="1881018" y="334079"/>
            <a:ext cx="7592095" cy="762001"/>
          </a:xfrm>
          <a:prstGeom prst="rect">
            <a:avLst/>
          </a:prstGeom>
        </p:spPr>
        <p:txBody>
          <a:bodyPr/>
          <a:lstStyle/>
          <a:p>
            <a:r>
              <a:t>I/O Bus</a:t>
            </a:r>
          </a:p>
        </p:txBody>
      </p:sp>
      <p:grpSp>
        <p:nvGrpSpPr>
          <p:cNvPr id="1581" name="Rectangle 4"/>
          <p:cNvGrpSpPr/>
          <p:nvPr/>
        </p:nvGrpSpPr>
        <p:grpSpPr>
          <a:xfrm>
            <a:off x="8404226" y="2876550"/>
            <a:ext cx="909639" cy="914400"/>
            <a:chOff x="0" y="0"/>
            <a:chExt cx="909638" cy="914400"/>
          </a:xfrm>
        </p:grpSpPr>
        <p:sp>
          <p:nvSpPr>
            <p:cNvPr id="1579" name="Square"/>
            <p:cNvSpPr/>
            <p:nvPr/>
          </p:nvSpPr>
          <p:spPr>
            <a:xfrm>
              <a:off x="0" y="0"/>
              <a:ext cx="909638" cy="9144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580" name="Main…"/>
            <p:cNvSpPr txBox="1"/>
            <p:nvPr/>
          </p:nvSpPr>
          <p:spPr>
            <a:xfrm>
              <a:off x="49581" y="164814"/>
              <a:ext cx="810475" cy="584773"/>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Main</a:t>
              </a:r>
              <a:endParaRPr sz="1600"/>
            </a:p>
            <a:p>
              <a:pPr algn="ctr">
                <a:defRPr sz="1600">
                  <a:latin typeface="Calibri"/>
                  <a:ea typeface="Calibri"/>
                  <a:cs typeface="Calibri"/>
                  <a:sym typeface="Calibri"/>
                </a:defRPr>
              </a:pPr>
              <a:r>
                <a:rPr sz="1600"/>
                <a:t>memory</a:t>
              </a:r>
              <a:endParaRPr sz="1600"/>
            </a:p>
          </p:txBody>
        </p:sp>
      </p:grpSp>
      <p:sp>
        <p:nvSpPr>
          <p:cNvPr id="1582" name="AutoShape 5"/>
          <p:cNvSpPr/>
          <p:nvPr/>
        </p:nvSpPr>
        <p:spPr>
          <a:xfrm>
            <a:off x="6880225" y="3028950"/>
            <a:ext cx="1492250" cy="533400"/>
          </a:xfrm>
          <a:prstGeom prst="leftRightArrow">
            <a:avLst>
              <a:gd name="adj1" fmla="val 50000"/>
              <a:gd name="adj2" fmla="val 55952"/>
            </a:avLst>
          </a:prstGeom>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585" name="Rectangle 6"/>
          <p:cNvGrpSpPr/>
          <p:nvPr/>
        </p:nvGrpSpPr>
        <p:grpSpPr>
          <a:xfrm>
            <a:off x="5965826" y="3057240"/>
            <a:ext cx="909639" cy="584773"/>
            <a:chOff x="0" y="-3461"/>
            <a:chExt cx="909638" cy="584773"/>
          </a:xfrm>
        </p:grpSpPr>
        <p:sp>
          <p:nvSpPr>
            <p:cNvPr id="1583" name="Rectangle"/>
            <p:cNvSpPr/>
            <p:nvPr/>
          </p:nvSpPr>
          <p:spPr>
            <a:xfrm>
              <a:off x="0" y="0"/>
              <a:ext cx="909638" cy="57785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584" name="I/O…"/>
            <p:cNvSpPr txBox="1"/>
            <p:nvPr/>
          </p:nvSpPr>
          <p:spPr>
            <a:xfrm>
              <a:off x="136143" y="-3461"/>
              <a:ext cx="637351" cy="584773"/>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I/O </a:t>
              </a:r>
              <a:endParaRPr sz="1600"/>
            </a:p>
            <a:p>
              <a:pPr algn="ctr">
                <a:defRPr sz="1600">
                  <a:latin typeface="Calibri"/>
                  <a:ea typeface="Calibri"/>
                  <a:cs typeface="Calibri"/>
                  <a:sym typeface="Calibri"/>
                </a:defRPr>
              </a:pPr>
              <a:r>
                <a:rPr sz="1600"/>
                <a:t>bridge</a:t>
              </a:r>
              <a:endParaRPr sz="1600"/>
            </a:p>
          </p:txBody>
        </p:sp>
      </p:grpSp>
      <p:sp>
        <p:nvSpPr>
          <p:cNvPr id="1586" name="AutoShape 7"/>
          <p:cNvSpPr/>
          <p:nvPr/>
        </p:nvSpPr>
        <p:spPr>
          <a:xfrm>
            <a:off x="4508501" y="3028950"/>
            <a:ext cx="1452563" cy="533400"/>
          </a:xfrm>
          <a:prstGeom prst="leftRightArrow">
            <a:avLst>
              <a:gd name="adj1" fmla="val 50000"/>
              <a:gd name="adj2" fmla="val 54464"/>
            </a:avLst>
          </a:prstGeom>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589" name="Rectangle 8"/>
          <p:cNvGrpSpPr/>
          <p:nvPr/>
        </p:nvGrpSpPr>
        <p:grpSpPr>
          <a:xfrm>
            <a:off x="2608263" y="3060700"/>
            <a:ext cx="1873251" cy="577850"/>
            <a:chOff x="0" y="0"/>
            <a:chExt cx="1873250" cy="577850"/>
          </a:xfrm>
        </p:grpSpPr>
        <p:sp>
          <p:nvSpPr>
            <p:cNvPr id="1587" name="Rectangle"/>
            <p:cNvSpPr/>
            <p:nvPr/>
          </p:nvSpPr>
          <p:spPr>
            <a:xfrm>
              <a:off x="0" y="0"/>
              <a:ext cx="1873250" cy="57785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588" name="Bus interface"/>
            <p:cNvSpPr txBox="1"/>
            <p:nvPr/>
          </p:nvSpPr>
          <p:spPr>
            <a:xfrm>
              <a:off x="331814" y="119649"/>
              <a:ext cx="1209622"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Bus interface</a:t>
              </a:r>
            </a:p>
          </p:txBody>
        </p:sp>
      </p:grpSp>
      <p:sp>
        <p:nvSpPr>
          <p:cNvPr id="1590" name="Rectangle 9"/>
          <p:cNvSpPr/>
          <p:nvPr/>
        </p:nvSpPr>
        <p:spPr>
          <a:xfrm>
            <a:off x="3524250" y="173355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591" name="Rectangle 10"/>
          <p:cNvSpPr/>
          <p:nvPr/>
        </p:nvSpPr>
        <p:spPr>
          <a:xfrm>
            <a:off x="3524250" y="188595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592" name="Rectangle 11"/>
          <p:cNvSpPr/>
          <p:nvPr/>
        </p:nvSpPr>
        <p:spPr>
          <a:xfrm>
            <a:off x="3524250" y="203835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593" name="Rectangle 12"/>
          <p:cNvSpPr/>
          <p:nvPr/>
        </p:nvSpPr>
        <p:spPr>
          <a:xfrm>
            <a:off x="3524250" y="219075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594" name="Rectangle 13"/>
          <p:cNvSpPr/>
          <p:nvPr/>
        </p:nvSpPr>
        <p:spPr>
          <a:xfrm>
            <a:off x="3524250" y="2343150"/>
            <a:ext cx="684215"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595" name="AutoShape 14"/>
          <p:cNvSpPr/>
          <p:nvPr/>
        </p:nvSpPr>
        <p:spPr>
          <a:xfrm>
            <a:off x="4297364" y="173355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596" name="AutoShape 15"/>
          <p:cNvSpPr/>
          <p:nvPr/>
        </p:nvSpPr>
        <p:spPr>
          <a:xfrm flipH="1">
            <a:off x="4208464" y="2114550"/>
            <a:ext cx="444501"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599" name="Rectangle 16"/>
          <p:cNvGrpSpPr/>
          <p:nvPr/>
        </p:nvGrpSpPr>
        <p:grpSpPr>
          <a:xfrm>
            <a:off x="4741864" y="1581150"/>
            <a:ext cx="533401" cy="1066800"/>
            <a:chOff x="0" y="0"/>
            <a:chExt cx="533400" cy="1066800"/>
          </a:xfrm>
        </p:grpSpPr>
        <p:sp>
          <p:nvSpPr>
            <p:cNvPr id="1597"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p:txBody>
        </p:sp>
        <p:sp>
          <p:nvSpPr>
            <p:cNvPr id="1598" name="ALU"/>
            <p:cNvSpPr txBox="1"/>
            <p:nvPr/>
          </p:nvSpPr>
          <p:spPr>
            <a:xfrm>
              <a:off x="52069" y="364124"/>
              <a:ext cx="438579" cy="338552"/>
            </a:xfrm>
            <a:prstGeom prst="rect">
              <a:avLst/>
            </a:prstGeom>
            <a:noFill/>
            <a:ln w="12700" cap="flat">
              <a:noFill/>
              <a:miter lim="400000"/>
            </a:ln>
            <a:effectLst/>
          </p:spPr>
          <p:txBody>
            <a:bodyPr wrap="none" lIns="45719" tIns="45719" rIns="45719" bIns="45719" numCol="1" anchor="ctr">
              <a:spAutoFit/>
            </a:bodyPr>
            <a:lstStyle>
              <a:lvl1pPr>
                <a:defRPr sz="1600">
                  <a:latin typeface="Calibri"/>
                  <a:ea typeface="Calibri"/>
                  <a:cs typeface="Calibri"/>
                  <a:sym typeface="Calibri"/>
                </a:defRPr>
              </a:lvl1pPr>
            </a:lstStyle>
            <a:p>
              <a:r>
                <a:t>ALU</a:t>
              </a:r>
            </a:p>
          </p:txBody>
        </p:sp>
      </p:grpSp>
      <p:sp>
        <p:nvSpPr>
          <p:cNvPr id="1600" name="Text Box 17"/>
          <p:cNvSpPr txBox="1"/>
          <p:nvPr/>
        </p:nvSpPr>
        <p:spPr>
          <a:xfrm>
            <a:off x="3265251" y="1411873"/>
            <a:ext cx="1100620"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Register file</a:t>
            </a:r>
          </a:p>
        </p:txBody>
      </p:sp>
      <p:sp>
        <p:nvSpPr>
          <p:cNvPr id="1601" name="AutoShape 18"/>
          <p:cNvSpPr/>
          <p:nvPr/>
        </p:nvSpPr>
        <p:spPr>
          <a:xfrm>
            <a:off x="3598864" y="257175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02" name="Rectangle 19"/>
          <p:cNvSpPr/>
          <p:nvPr/>
        </p:nvSpPr>
        <p:spPr>
          <a:xfrm>
            <a:off x="2455863" y="1352550"/>
            <a:ext cx="2971801" cy="2438400"/>
          </a:xfrm>
          <a:prstGeom prst="rect">
            <a:avLst/>
          </a:prstGeom>
          <a:ln w="12700">
            <a:solidFill>
              <a:srgbClr val="000000"/>
            </a:solidFill>
            <a:prstDash val="sysDot"/>
            <a:miter/>
          </a:ln>
        </p:spPr>
        <p:txBody>
          <a:bodyPr lIns="45719" rIns="45719" anchor="ctr"/>
          <a:lstStyle/>
          <a:p>
            <a:pPr>
              <a:defRPr>
                <a:latin typeface="Calibri"/>
                <a:ea typeface="Calibri"/>
                <a:cs typeface="Calibri"/>
                <a:sym typeface="Calibri"/>
              </a:defRPr>
            </a:pPr>
          </a:p>
        </p:txBody>
      </p:sp>
      <p:sp>
        <p:nvSpPr>
          <p:cNvPr id="1603" name="Text Box 20"/>
          <p:cNvSpPr txBox="1"/>
          <p:nvPr/>
        </p:nvSpPr>
        <p:spPr>
          <a:xfrm>
            <a:off x="2388870" y="1046748"/>
            <a:ext cx="848948"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CPU chip</a:t>
            </a:r>
          </a:p>
        </p:txBody>
      </p:sp>
      <p:sp>
        <p:nvSpPr>
          <p:cNvPr id="1604" name="Text Box 21"/>
          <p:cNvSpPr txBox="1"/>
          <p:nvPr/>
        </p:nvSpPr>
        <p:spPr>
          <a:xfrm>
            <a:off x="5435282" y="2342148"/>
            <a:ext cx="1058942"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System bus</a:t>
            </a:r>
          </a:p>
        </p:txBody>
      </p:sp>
      <p:sp>
        <p:nvSpPr>
          <p:cNvPr id="1605" name="Line 22"/>
          <p:cNvSpPr/>
          <p:nvPr/>
        </p:nvSpPr>
        <p:spPr>
          <a:xfrm flipH="1">
            <a:off x="5275263" y="2647951"/>
            <a:ext cx="685801" cy="457201"/>
          </a:xfrm>
          <a:prstGeom prst="line">
            <a:avLst/>
          </a:prstGeom>
          <a:ln w="12700">
            <a:solidFill>
              <a:srgbClr val="000000"/>
            </a:solidFill>
            <a:tailEnd type="triangle"/>
          </a:ln>
        </p:spPr>
        <p:txBody>
          <a:bodyPr lIns="45719" rIns="45719"/>
          <a:lstStyle/>
          <a:p/>
        </p:txBody>
      </p:sp>
      <p:sp>
        <p:nvSpPr>
          <p:cNvPr id="1606" name="Text Box 23"/>
          <p:cNvSpPr txBox="1"/>
          <p:nvPr/>
        </p:nvSpPr>
        <p:spPr>
          <a:xfrm>
            <a:off x="6956108" y="2342148"/>
            <a:ext cx="1172755"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Memory bus</a:t>
            </a:r>
          </a:p>
        </p:txBody>
      </p:sp>
      <p:sp>
        <p:nvSpPr>
          <p:cNvPr id="1607" name="Line 24"/>
          <p:cNvSpPr/>
          <p:nvPr/>
        </p:nvSpPr>
        <p:spPr>
          <a:xfrm>
            <a:off x="7561263" y="2647951"/>
            <a:ext cx="1" cy="457201"/>
          </a:xfrm>
          <a:prstGeom prst="line">
            <a:avLst/>
          </a:prstGeom>
          <a:ln w="12700">
            <a:solidFill>
              <a:srgbClr val="000000"/>
            </a:solidFill>
            <a:tailEnd type="triangle"/>
          </a:ln>
        </p:spPr>
        <p:txBody>
          <a:bodyPr lIns="45719" rIns="45719"/>
          <a:lstStyle/>
          <a:p/>
        </p:txBody>
      </p:sp>
      <p:sp>
        <p:nvSpPr>
          <p:cNvPr id="1608" name="AutoShape 25"/>
          <p:cNvSpPr/>
          <p:nvPr/>
        </p:nvSpPr>
        <p:spPr>
          <a:xfrm>
            <a:off x="6189663" y="3714751"/>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609" name="AutoShape 26"/>
          <p:cNvSpPr/>
          <p:nvPr/>
        </p:nvSpPr>
        <p:spPr>
          <a:xfrm flipV="1">
            <a:off x="7294563" y="445135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612" name="Rectangle 27"/>
          <p:cNvGrpSpPr/>
          <p:nvPr/>
        </p:nvGrpSpPr>
        <p:grpSpPr>
          <a:xfrm>
            <a:off x="6875463" y="5143215"/>
            <a:ext cx="1295401" cy="584773"/>
            <a:chOff x="0" y="-15089"/>
            <a:chExt cx="1295400" cy="584772"/>
          </a:xfrm>
        </p:grpSpPr>
        <p:sp>
          <p:nvSpPr>
            <p:cNvPr id="1610" name="Rectangle"/>
            <p:cNvSpPr/>
            <p:nvPr/>
          </p:nvSpPr>
          <p:spPr>
            <a:xfrm>
              <a:off x="0" y="16946"/>
              <a:ext cx="12954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11" name="Disk…"/>
            <p:cNvSpPr txBox="1"/>
            <p:nvPr/>
          </p:nvSpPr>
          <p:spPr>
            <a:xfrm>
              <a:off x="182350" y="-15089"/>
              <a:ext cx="930701"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Disk </a:t>
              </a:r>
              <a:endParaRPr sz="1600"/>
            </a:p>
            <a:p>
              <a:pPr algn="ctr">
                <a:defRPr sz="1600">
                  <a:latin typeface="Calibri"/>
                  <a:ea typeface="Calibri"/>
                  <a:cs typeface="Calibri"/>
                  <a:sym typeface="Calibri"/>
                </a:defRPr>
              </a:pPr>
              <a:r>
                <a:rPr sz="1600"/>
                <a:t>controller</a:t>
              </a:r>
              <a:endParaRPr sz="1600"/>
            </a:p>
          </p:txBody>
        </p:sp>
      </p:grpSp>
      <p:sp>
        <p:nvSpPr>
          <p:cNvPr id="1613" name="AutoShape 28"/>
          <p:cNvSpPr/>
          <p:nvPr/>
        </p:nvSpPr>
        <p:spPr>
          <a:xfrm flipV="1">
            <a:off x="4964113" y="445135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616" name="Rectangle 29"/>
          <p:cNvGrpSpPr/>
          <p:nvPr/>
        </p:nvGrpSpPr>
        <p:grpSpPr>
          <a:xfrm>
            <a:off x="4545014" y="5143215"/>
            <a:ext cx="1295401" cy="584773"/>
            <a:chOff x="0" y="-15089"/>
            <a:chExt cx="1295400" cy="584772"/>
          </a:xfrm>
        </p:grpSpPr>
        <p:sp>
          <p:nvSpPr>
            <p:cNvPr id="1614" name="Rectangle"/>
            <p:cNvSpPr/>
            <p:nvPr/>
          </p:nvSpPr>
          <p:spPr>
            <a:xfrm>
              <a:off x="0" y="16946"/>
              <a:ext cx="12954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15" name="Graphics…"/>
            <p:cNvSpPr txBox="1"/>
            <p:nvPr/>
          </p:nvSpPr>
          <p:spPr>
            <a:xfrm>
              <a:off x="228837" y="-15089"/>
              <a:ext cx="837726"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Graphics</a:t>
              </a:r>
              <a:endParaRPr sz="1600"/>
            </a:p>
            <a:p>
              <a:pPr algn="ctr">
                <a:defRPr sz="1600">
                  <a:latin typeface="Calibri"/>
                  <a:ea typeface="Calibri"/>
                  <a:cs typeface="Calibri"/>
                  <a:sym typeface="Calibri"/>
                </a:defRPr>
              </a:pPr>
              <a:r>
                <a:rPr sz="1600"/>
                <a:t>adapter</a:t>
              </a:r>
              <a:endParaRPr sz="1600"/>
            </a:p>
          </p:txBody>
        </p:sp>
      </p:grpSp>
      <p:sp>
        <p:nvSpPr>
          <p:cNvPr id="1617" name="AutoShape 30"/>
          <p:cNvSpPr/>
          <p:nvPr/>
        </p:nvSpPr>
        <p:spPr>
          <a:xfrm flipV="1">
            <a:off x="3287714" y="445135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620" name="Rectangle 31"/>
          <p:cNvGrpSpPr/>
          <p:nvPr/>
        </p:nvGrpSpPr>
        <p:grpSpPr>
          <a:xfrm>
            <a:off x="2944813" y="5130515"/>
            <a:ext cx="1143001" cy="584773"/>
            <a:chOff x="0" y="-15089"/>
            <a:chExt cx="1143000" cy="584772"/>
          </a:xfrm>
        </p:grpSpPr>
        <p:sp>
          <p:nvSpPr>
            <p:cNvPr id="1618" name="Rectangle"/>
            <p:cNvSpPr/>
            <p:nvPr/>
          </p:nvSpPr>
          <p:spPr>
            <a:xfrm>
              <a:off x="0" y="16946"/>
              <a:ext cx="11430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19" name="USB…"/>
            <p:cNvSpPr txBox="1"/>
            <p:nvPr/>
          </p:nvSpPr>
          <p:spPr>
            <a:xfrm>
              <a:off x="106150" y="-15089"/>
              <a:ext cx="930701"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USB</a:t>
              </a:r>
              <a:endParaRPr sz="1600"/>
            </a:p>
            <a:p>
              <a:pPr algn="ctr">
                <a:defRPr sz="1600">
                  <a:latin typeface="Calibri"/>
                  <a:ea typeface="Calibri"/>
                  <a:cs typeface="Calibri"/>
                  <a:sym typeface="Calibri"/>
                </a:defRPr>
              </a:pPr>
              <a:r>
                <a:rPr sz="1600"/>
                <a:t>controller</a:t>
              </a:r>
              <a:endParaRPr sz="1600"/>
            </a:p>
          </p:txBody>
        </p:sp>
      </p:grpSp>
      <p:sp>
        <p:nvSpPr>
          <p:cNvPr id="1621" name="Line 32"/>
          <p:cNvSpPr/>
          <p:nvPr/>
        </p:nvSpPr>
        <p:spPr>
          <a:xfrm>
            <a:off x="3173414" y="5695951"/>
            <a:ext cx="1" cy="304801"/>
          </a:xfrm>
          <a:prstGeom prst="line">
            <a:avLst/>
          </a:prstGeom>
          <a:ln w="12700">
            <a:solidFill>
              <a:srgbClr val="000000"/>
            </a:solidFill>
            <a:headEnd type="triangle"/>
          </a:ln>
        </p:spPr>
        <p:txBody>
          <a:bodyPr lIns="45719" rIns="45719"/>
          <a:lstStyle/>
          <a:p/>
        </p:txBody>
      </p:sp>
      <p:sp>
        <p:nvSpPr>
          <p:cNvPr id="1622" name="Line 33"/>
          <p:cNvSpPr/>
          <p:nvPr/>
        </p:nvSpPr>
        <p:spPr>
          <a:xfrm>
            <a:off x="3935414" y="5695951"/>
            <a:ext cx="1" cy="304801"/>
          </a:xfrm>
          <a:prstGeom prst="line">
            <a:avLst/>
          </a:prstGeom>
          <a:ln w="12700">
            <a:solidFill>
              <a:srgbClr val="000000"/>
            </a:solidFill>
            <a:headEnd type="triangle"/>
          </a:ln>
        </p:spPr>
        <p:txBody>
          <a:bodyPr lIns="45719" rIns="45719"/>
          <a:lstStyle/>
          <a:p/>
        </p:txBody>
      </p:sp>
      <p:sp>
        <p:nvSpPr>
          <p:cNvPr id="1623" name="Text Box 34"/>
          <p:cNvSpPr txBox="1"/>
          <p:nvPr/>
        </p:nvSpPr>
        <p:spPr>
          <a:xfrm>
            <a:off x="2758508" y="5923548"/>
            <a:ext cx="677427"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Mouse</a:t>
            </a:r>
          </a:p>
        </p:txBody>
      </p:sp>
      <p:sp>
        <p:nvSpPr>
          <p:cNvPr id="1624" name="Text Box 35"/>
          <p:cNvSpPr txBox="1"/>
          <p:nvPr/>
        </p:nvSpPr>
        <p:spPr>
          <a:xfrm>
            <a:off x="3440877" y="5923548"/>
            <a:ext cx="911466"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Keyboard</a:t>
            </a:r>
          </a:p>
        </p:txBody>
      </p:sp>
      <p:sp>
        <p:nvSpPr>
          <p:cNvPr id="1625" name="Line 36"/>
          <p:cNvSpPr/>
          <p:nvPr/>
        </p:nvSpPr>
        <p:spPr>
          <a:xfrm>
            <a:off x="5230813" y="5695951"/>
            <a:ext cx="1" cy="304801"/>
          </a:xfrm>
          <a:prstGeom prst="line">
            <a:avLst/>
          </a:prstGeom>
          <a:ln w="12700">
            <a:solidFill>
              <a:srgbClr val="000000"/>
            </a:solidFill>
            <a:tailEnd type="triangle"/>
          </a:ln>
        </p:spPr>
        <p:txBody>
          <a:bodyPr lIns="45719" rIns="45719"/>
          <a:lstStyle/>
          <a:p/>
        </p:txBody>
      </p:sp>
      <p:sp>
        <p:nvSpPr>
          <p:cNvPr id="1626" name="Text Box 37"/>
          <p:cNvSpPr txBox="1"/>
          <p:nvPr/>
        </p:nvSpPr>
        <p:spPr>
          <a:xfrm>
            <a:off x="4735809" y="5923548"/>
            <a:ext cx="797652"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Monitor</a:t>
            </a:r>
          </a:p>
        </p:txBody>
      </p:sp>
      <p:sp>
        <p:nvSpPr>
          <p:cNvPr id="1627" name="Line 38"/>
          <p:cNvSpPr/>
          <p:nvPr/>
        </p:nvSpPr>
        <p:spPr>
          <a:xfrm>
            <a:off x="7535863" y="5695951"/>
            <a:ext cx="1" cy="381001"/>
          </a:xfrm>
          <a:prstGeom prst="line">
            <a:avLst/>
          </a:prstGeom>
          <a:ln w="12700">
            <a:solidFill>
              <a:srgbClr val="000000"/>
            </a:solidFill>
            <a:headEnd type="triangle"/>
            <a:tailEnd type="triangle"/>
          </a:ln>
        </p:spPr>
        <p:txBody>
          <a:bodyPr lIns="45719" rIns="45719"/>
          <a:lstStyle/>
          <a:p/>
        </p:txBody>
      </p:sp>
      <p:grpSp>
        <p:nvGrpSpPr>
          <p:cNvPr id="1630" name="AutoShape 39"/>
          <p:cNvGrpSpPr/>
          <p:nvPr/>
        </p:nvGrpSpPr>
        <p:grpSpPr>
          <a:xfrm>
            <a:off x="7231062" y="6076950"/>
            <a:ext cx="609602" cy="609602"/>
            <a:chOff x="0" y="0"/>
            <a:chExt cx="609601" cy="609601"/>
          </a:xfrm>
        </p:grpSpPr>
        <p:sp>
          <p:nvSpPr>
            <p:cNvPr id="1628" name="Line"/>
            <p:cNvSpPr/>
            <p:nvPr/>
          </p:nvSpPr>
          <p:spPr>
            <a:xfrm>
              <a:off x="0" y="0"/>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2700"/>
                  </a:moveTo>
                  <a:cubicBezTo>
                    <a:pt x="21600" y="4191"/>
                    <a:pt x="16765" y="5400"/>
                    <a:pt x="10800" y="5400"/>
                  </a:cubicBezTo>
                  <a:cubicBezTo>
                    <a:pt x="4835" y="5400"/>
                    <a:pt x="0" y="4191"/>
                    <a:pt x="0" y="2700"/>
                  </a:cubicBezTo>
                  <a:cubicBezTo>
                    <a:pt x="0" y="1209"/>
                    <a:pt x="4835" y="0"/>
                    <a:pt x="10800" y="0"/>
                  </a:cubicBezTo>
                  <a:cubicBezTo>
                    <a:pt x="16765" y="0"/>
                    <a:pt x="21600" y="1209"/>
                    <a:pt x="21600" y="2700"/>
                  </a:cubicBezTo>
                  <a:lnTo>
                    <a:pt x="21600" y="18900"/>
                  </a:lnTo>
                  <a:cubicBezTo>
                    <a:pt x="21600" y="20391"/>
                    <a:pt x="16765" y="21600"/>
                    <a:pt x="10800" y="21600"/>
                  </a:cubicBezTo>
                  <a:cubicBezTo>
                    <a:pt x="4835" y="21600"/>
                    <a:pt x="0" y="20391"/>
                    <a:pt x="0" y="18900"/>
                  </a:cubicBezTo>
                  <a:lnTo>
                    <a:pt x="0" y="2700"/>
                  </a:lnTo>
                </a:path>
              </a:pathLst>
            </a:custGeom>
            <a:noFill/>
            <a:ln w="12700" cap="flat">
              <a:solidFill>
                <a:srgbClr val="000000"/>
              </a:solidFill>
              <a:prstDash val="solid"/>
              <a:round/>
            </a:ln>
            <a:effectLst/>
          </p:spPr>
          <p:txBody>
            <a:bodyPr wrap="square" lIns="45719" tIns="45719" rIns="45719" bIns="45719" numCol="1" anchor="ctr">
              <a:noAutofit/>
            </a:bodyPr>
            <a:lstStyle/>
            <a:p>
              <a:pPr algn="ctr"/>
            </a:p>
          </p:txBody>
        </p:sp>
        <p:sp>
          <p:nvSpPr>
            <p:cNvPr id="1629" name="Disk"/>
            <p:cNvSpPr txBox="1"/>
            <p:nvPr/>
          </p:nvSpPr>
          <p:spPr>
            <a:xfrm>
              <a:off x="79098" y="173624"/>
              <a:ext cx="451403" cy="338551"/>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Disk</a:t>
              </a:r>
            </a:p>
          </p:txBody>
        </p:sp>
      </p:grpSp>
      <p:sp>
        <p:nvSpPr>
          <p:cNvPr id="1631" name="AutoShape 40"/>
          <p:cNvSpPr/>
          <p:nvPr/>
        </p:nvSpPr>
        <p:spPr>
          <a:xfrm>
            <a:off x="2379663" y="4235450"/>
            <a:ext cx="7277101" cy="393700"/>
          </a:xfrm>
          <a:prstGeom prst="leftRightArrow">
            <a:avLst>
              <a:gd name="adj1" fmla="val 48611"/>
              <a:gd name="adj2" fmla="val 95500"/>
            </a:avLst>
          </a:pr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632" name="Rectangle 41"/>
          <p:cNvSpPr/>
          <p:nvPr/>
        </p:nvSpPr>
        <p:spPr>
          <a:xfrm>
            <a:off x="3455988" y="4405313"/>
            <a:ext cx="166688" cy="152401"/>
          </a:xfrm>
          <a:prstGeom prst="rect">
            <a:avLst/>
          </a:prstGeom>
          <a:solidFill>
            <a:srgbClr val="F7F5CD"/>
          </a:solidFill>
          <a:ln w="12700">
            <a:miter lim="400000"/>
          </a:ln>
        </p:spPr>
        <p:txBody>
          <a:bodyPr lIns="45719" rIns="45719" anchor="ctr"/>
          <a:lstStyle/>
          <a:p>
            <a:pPr>
              <a:defRPr>
                <a:latin typeface="Calibri"/>
                <a:ea typeface="Calibri"/>
                <a:cs typeface="Calibri"/>
                <a:sym typeface="Calibri"/>
              </a:defRPr>
            </a:pPr>
          </a:p>
        </p:txBody>
      </p:sp>
      <p:sp>
        <p:nvSpPr>
          <p:cNvPr id="1633" name="Rectangle 42"/>
          <p:cNvSpPr/>
          <p:nvPr/>
        </p:nvSpPr>
        <p:spPr>
          <a:xfrm>
            <a:off x="5132387" y="4395788"/>
            <a:ext cx="166688" cy="152401"/>
          </a:xfrm>
          <a:prstGeom prst="rect">
            <a:avLst/>
          </a:prstGeom>
          <a:solidFill>
            <a:srgbClr val="F7F5CD"/>
          </a:solidFill>
          <a:ln w="12700">
            <a:miter lim="400000"/>
          </a:ln>
        </p:spPr>
        <p:txBody>
          <a:bodyPr lIns="45719" rIns="45719" anchor="ctr"/>
          <a:lstStyle/>
          <a:p>
            <a:pPr>
              <a:defRPr>
                <a:latin typeface="Calibri"/>
                <a:ea typeface="Calibri"/>
                <a:cs typeface="Calibri"/>
                <a:sym typeface="Calibri"/>
              </a:defRPr>
            </a:pPr>
          </a:p>
        </p:txBody>
      </p:sp>
      <p:sp>
        <p:nvSpPr>
          <p:cNvPr id="1634" name="Rectangle 43"/>
          <p:cNvSpPr/>
          <p:nvPr/>
        </p:nvSpPr>
        <p:spPr>
          <a:xfrm>
            <a:off x="7466012" y="4386263"/>
            <a:ext cx="161926" cy="152401"/>
          </a:xfrm>
          <a:prstGeom prst="rect">
            <a:avLst/>
          </a:prstGeom>
          <a:solidFill>
            <a:srgbClr val="F7F5CD"/>
          </a:solidFill>
          <a:ln w="12700">
            <a:miter lim="400000"/>
          </a:ln>
        </p:spPr>
        <p:txBody>
          <a:bodyPr lIns="45719" rIns="45719" anchor="ctr"/>
          <a:lstStyle/>
          <a:p>
            <a:pPr>
              <a:defRPr>
                <a:latin typeface="Calibri"/>
                <a:ea typeface="Calibri"/>
                <a:cs typeface="Calibri"/>
                <a:sym typeface="Calibri"/>
              </a:defRPr>
            </a:pPr>
          </a:p>
        </p:txBody>
      </p:sp>
      <p:sp>
        <p:nvSpPr>
          <p:cNvPr id="1635" name="Text Box 44"/>
          <p:cNvSpPr txBox="1"/>
          <p:nvPr/>
        </p:nvSpPr>
        <p:spPr>
          <a:xfrm>
            <a:off x="6098857" y="4539248"/>
            <a:ext cx="723914"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I/O bus</a:t>
            </a:r>
          </a:p>
        </p:txBody>
      </p:sp>
      <p:sp>
        <p:nvSpPr>
          <p:cNvPr id="1636" name="Rectangle 45"/>
          <p:cNvSpPr/>
          <p:nvPr/>
        </p:nvSpPr>
        <p:spPr>
          <a:xfrm>
            <a:off x="6356351" y="4324350"/>
            <a:ext cx="161925" cy="152400"/>
          </a:xfrm>
          <a:prstGeom prst="rect">
            <a:avLst/>
          </a:prstGeom>
          <a:solidFill>
            <a:srgbClr val="F7F5CD"/>
          </a:solidFill>
          <a:ln w="12700">
            <a:miter lim="400000"/>
          </a:ln>
        </p:spPr>
        <p:txBody>
          <a:bodyPr lIns="45719" rIns="45719" anchor="ctr"/>
          <a:lstStyle/>
          <a:p>
            <a:pPr>
              <a:defRPr>
                <a:latin typeface="Calibri"/>
                <a:ea typeface="Calibri"/>
                <a:cs typeface="Calibri"/>
                <a:sym typeface="Calibri"/>
              </a:defRPr>
            </a:pPr>
          </a:p>
        </p:txBody>
      </p:sp>
      <p:sp>
        <p:nvSpPr>
          <p:cNvPr id="1637" name="Rectangle 46"/>
          <p:cNvSpPr/>
          <p:nvPr/>
        </p:nvSpPr>
        <p:spPr>
          <a:xfrm>
            <a:off x="8247064" y="4248150"/>
            <a:ext cx="127001" cy="406400"/>
          </a:xfrm>
          <a:prstGeom prst="rect">
            <a:avLst/>
          </a:prstGeom>
          <a:solidFill>
            <a:schemeClr val="accent3">
              <a:lumOff val="44000"/>
            </a:schemeClr>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638" name="Rectangle 47"/>
          <p:cNvSpPr/>
          <p:nvPr/>
        </p:nvSpPr>
        <p:spPr>
          <a:xfrm>
            <a:off x="8551864" y="4248150"/>
            <a:ext cx="127001" cy="406400"/>
          </a:xfrm>
          <a:prstGeom prst="rect">
            <a:avLst/>
          </a:prstGeom>
          <a:solidFill>
            <a:schemeClr val="accent3">
              <a:lumOff val="44000"/>
            </a:schemeClr>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639" name="Rectangle 48"/>
          <p:cNvSpPr/>
          <p:nvPr/>
        </p:nvSpPr>
        <p:spPr>
          <a:xfrm>
            <a:off x="8856664" y="4248150"/>
            <a:ext cx="127001" cy="406400"/>
          </a:xfrm>
          <a:prstGeom prst="rect">
            <a:avLst/>
          </a:prstGeom>
          <a:solidFill>
            <a:schemeClr val="accent3">
              <a:lumOff val="44000"/>
            </a:schemeClr>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640" name="Text Box 49"/>
          <p:cNvSpPr txBox="1"/>
          <p:nvPr/>
        </p:nvSpPr>
        <p:spPr>
          <a:xfrm>
            <a:off x="8278495" y="4748640"/>
            <a:ext cx="1892504" cy="830997"/>
          </a:xfrm>
          <a:prstGeom prst="rect">
            <a:avLst/>
          </a:prstGeom>
          <a:ln w="12700">
            <a:miter lim="400000"/>
          </a:ln>
        </p:spPr>
        <p:txBody>
          <a:bodyPr wrap="none" lIns="45719" rIns="45719" anchor="ctr">
            <a:spAutoFit/>
          </a:bodyPr>
          <a:lstStyle/>
          <a:p>
            <a:pPr>
              <a:defRPr sz="1600">
                <a:latin typeface="Calibri"/>
                <a:ea typeface="Calibri"/>
                <a:cs typeface="Calibri"/>
                <a:sym typeface="Calibri"/>
              </a:defRPr>
            </a:pPr>
            <a:r>
              <a:rPr sz="1600"/>
              <a:t>Expansion slots for</a:t>
            </a:r>
            <a:endParaRPr sz="1600"/>
          </a:p>
          <a:p>
            <a:pPr>
              <a:defRPr sz="1600">
                <a:latin typeface="Calibri"/>
                <a:ea typeface="Calibri"/>
                <a:cs typeface="Calibri"/>
                <a:sym typeface="Calibri"/>
              </a:defRPr>
            </a:pPr>
            <a:r>
              <a:rPr sz="1600"/>
              <a:t>other devices such</a:t>
            </a:r>
            <a:endParaRPr sz="1600"/>
          </a:p>
          <a:p>
            <a:pPr>
              <a:defRPr sz="1600">
                <a:latin typeface="Calibri"/>
                <a:ea typeface="Calibri"/>
                <a:cs typeface="Calibri"/>
                <a:sym typeface="Calibri"/>
              </a:defRPr>
            </a:pPr>
            <a:r>
              <a:rPr sz="1600"/>
              <a:t>as network adapters.</a:t>
            </a:r>
            <a:endParaRPr sz="1600"/>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2"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643" name="Rectangle 47"/>
          <p:cNvSpPr txBox="1">
            <a:spLocks noGrp="1"/>
          </p:cNvSpPr>
          <p:nvPr>
            <p:ph type="title"/>
          </p:nvPr>
        </p:nvSpPr>
        <p:spPr>
          <a:xfrm>
            <a:off x="1881018" y="435679"/>
            <a:ext cx="7592095" cy="762001"/>
          </a:xfrm>
          <a:prstGeom prst="rect">
            <a:avLst/>
          </a:prstGeom>
        </p:spPr>
        <p:txBody>
          <a:bodyPr/>
          <a:lstStyle/>
          <a:p>
            <a:r>
              <a:t>Reading a Disk Sector (1)</a:t>
            </a:r>
          </a:p>
        </p:txBody>
      </p:sp>
      <p:grpSp>
        <p:nvGrpSpPr>
          <p:cNvPr id="1646" name="Rectangle 4"/>
          <p:cNvGrpSpPr/>
          <p:nvPr/>
        </p:nvGrpSpPr>
        <p:grpSpPr>
          <a:xfrm>
            <a:off x="7815261" y="2988678"/>
            <a:ext cx="909640" cy="914401"/>
            <a:chOff x="-1" y="0"/>
            <a:chExt cx="909639" cy="914400"/>
          </a:xfrm>
        </p:grpSpPr>
        <p:sp>
          <p:nvSpPr>
            <p:cNvPr id="1644" name="Square"/>
            <p:cNvSpPr/>
            <p:nvPr/>
          </p:nvSpPr>
          <p:spPr>
            <a:xfrm>
              <a:off x="-1" y="0"/>
              <a:ext cx="909639" cy="9144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45" name="Main…"/>
            <p:cNvSpPr txBox="1"/>
            <p:nvPr/>
          </p:nvSpPr>
          <p:spPr>
            <a:xfrm>
              <a:off x="49581" y="164814"/>
              <a:ext cx="810475"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Main</a:t>
              </a:r>
              <a:endParaRPr sz="1600"/>
            </a:p>
            <a:p>
              <a:pPr algn="ctr">
                <a:defRPr sz="1600">
                  <a:latin typeface="Calibri"/>
                  <a:ea typeface="Calibri"/>
                  <a:cs typeface="Calibri"/>
                  <a:sym typeface="Calibri"/>
                </a:defRPr>
              </a:pPr>
              <a:r>
                <a:rPr sz="1600"/>
                <a:t>memory</a:t>
              </a:r>
              <a:endParaRPr sz="1600"/>
            </a:p>
          </p:txBody>
        </p:sp>
      </p:grpSp>
      <p:sp>
        <p:nvSpPr>
          <p:cNvPr id="1647" name="AutoShape 5"/>
          <p:cNvSpPr/>
          <p:nvPr/>
        </p:nvSpPr>
        <p:spPr>
          <a:xfrm>
            <a:off x="6291263" y="3124200"/>
            <a:ext cx="1492251" cy="533400"/>
          </a:xfrm>
          <a:prstGeom prst="leftRightArrow">
            <a:avLst>
              <a:gd name="adj1" fmla="val 50000"/>
              <a:gd name="adj2" fmla="val 55952"/>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48" name="Rectangle 6"/>
          <p:cNvSpPr/>
          <p:nvPr/>
        </p:nvSpPr>
        <p:spPr>
          <a:xfrm>
            <a:off x="5376862" y="3155950"/>
            <a:ext cx="909638" cy="57785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1649" name="AutoShape 7"/>
          <p:cNvSpPr/>
          <p:nvPr/>
        </p:nvSpPr>
        <p:spPr>
          <a:xfrm>
            <a:off x="3919539" y="3124200"/>
            <a:ext cx="1452563" cy="533400"/>
          </a:xfrm>
          <a:prstGeom prst="leftRightArrow">
            <a:avLst>
              <a:gd name="adj1" fmla="val 50000"/>
              <a:gd name="adj2" fmla="val 54464"/>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50" name="Rectangle 8"/>
          <p:cNvSpPr/>
          <p:nvPr/>
        </p:nvSpPr>
        <p:spPr>
          <a:xfrm>
            <a:off x="2935288" y="18288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51" name="Rectangle 9"/>
          <p:cNvSpPr/>
          <p:nvPr/>
        </p:nvSpPr>
        <p:spPr>
          <a:xfrm>
            <a:off x="2935288" y="19812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52" name="Rectangle 10"/>
          <p:cNvSpPr/>
          <p:nvPr/>
        </p:nvSpPr>
        <p:spPr>
          <a:xfrm>
            <a:off x="2935288" y="21336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53" name="Rectangle 11"/>
          <p:cNvSpPr/>
          <p:nvPr/>
        </p:nvSpPr>
        <p:spPr>
          <a:xfrm>
            <a:off x="2935288" y="22860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54" name="Rectangle 12"/>
          <p:cNvSpPr/>
          <p:nvPr/>
        </p:nvSpPr>
        <p:spPr>
          <a:xfrm>
            <a:off x="2935288" y="24384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55" name="AutoShape 13"/>
          <p:cNvSpPr/>
          <p:nvPr/>
        </p:nvSpPr>
        <p:spPr>
          <a:xfrm>
            <a:off x="3708400" y="18288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56" name="AutoShape 14"/>
          <p:cNvSpPr/>
          <p:nvPr/>
        </p:nvSpPr>
        <p:spPr>
          <a:xfrm flipH="1">
            <a:off x="3619500" y="22098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659" name="Rectangle 15"/>
          <p:cNvGrpSpPr/>
          <p:nvPr/>
        </p:nvGrpSpPr>
        <p:grpSpPr>
          <a:xfrm>
            <a:off x="4152900" y="1693278"/>
            <a:ext cx="533400" cy="1066801"/>
            <a:chOff x="0" y="0"/>
            <a:chExt cx="533400" cy="1066800"/>
          </a:xfrm>
        </p:grpSpPr>
        <p:sp>
          <p:nvSpPr>
            <p:cNvPr id="1657"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58" name="ALU"/>
            <p:cNvSpPr txBox="1"/>
            <p:nvPr/>
          </p:nvSpPr>
          <p:spPr>
            <a:xfrm>
              <a:off x="47410" y="364124"/>
              <a:ext cx="438580"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ALU</a:t>
              </a:r>
            </a:p>
          </p:txBody>
        </p:sp>
      </p:grpSp>
      <p:sp>
        <p:nvSpPr>
          <p:cNvPr id="1660" name="Text Box 16"/>
          <p:cNvSpPr txBox="1"/>
          <p:nvPr/>
        </p:nvSpPr>
        <p:spPr>
          <a:xfrm>
            <a:off x="2676289" y="1524000"/>
            <a:ext cx="1100620"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Register file</a:t>
            </a:r>
          </a:p>
        </p:txBody>
      </p:sp>
      <p:sp>
        <p:nvSpPr>
          <p:cNvPr id="1661" name="AutoShape 17"/>
          <p:cNvSpPr/>
          <p:nvPr/>
        </p:nvSpPr>
        <p:spPr>
          <a:xfrm>
            <a:off x="3009901" y="26670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662" name="Rectangle 18"/>
          <p:cNvSpPr/>
          <p:nvPr/>
        </p:nvSpPr>
        <p:spPr>
          <a:xfrm>
            <a:off x="1866900" y="1447800"/>
            <a:ext cx="2971800" cy="2438400"/>
          </a:xfrm>
          <a:prstGeom prst="rect">
            <a:avLst/>
          </a:prstGeom>
          <a:ln w="12700">
            <a:solidFill>
              <a:srgbClr val="000000"/>
            </a:solidFill>
            <a:prstDash val="sysDot"/>
            <a:miter/>
          </a:ln>
        </p:spPr>
        <p:txBody>
          <a:bodyPr lIns="45719" rIns="45719" anchor="ctr"/>
          <a:lstStyle/>
          <a:p>
            <a:pPr>
              <a:defRPr>
                <a:latin typeface="Calibri"/>
                <a:ea typeface="Calibri"/>
                <a:cs typeface="Calibri"/>
                <a:sym typeface="Calibri"/>
              </a:defRPr>
            </a:pPr>
          </a:p>
        </p:txBody>
      </p:sp>
      <p:sp>
        <p:nvSpPr>
          <p:cNvPr id="1663" name="Text Box 19"/>
          <p:cNvSpPr txBox="1"/>
          <p:nvPr/>
        </p:nvSpPr>
        <p:spPr>
          <a:xfrm>
            <a:off x="1798320" y="1141998"/>
            <a:ext cx="848948"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CPU chip</a:t>
            </a:r>
          </a:p>
        </p:txBody>
      </p:sp>
      <p:sp>
        <p:nvSpPr>
          <p:cNvPr id="1664" name="AutoShape 20"/>
          <p:cNvSpPr/>
          <p:nvPr/>
        </p:nvSpPr>
        <p:spPr>
          <a:xfrm>
            <a:off x="5600701" y="3810001"/>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665" name="AutoShape 21"/>
          <p:cNvSpPr/>
          <p:nvPr/>
        </p:nvSpPr>
        <p:spPr>
          <a:xfrm flipV="1">
            <a:off x="6705601"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668" name="Rectangle 22"/>
          <p:cNvGrpSpPr/>
          <p:nvPr/>
        </p:nvGrpSpPr>
        <p:grpSpPr>
          <a:xfrm>
            <a:off x="6286500" y="5255342"/>
            <a:ext cx="1295400" cy="584773"/>
            <a:chOff x="0" y="-15089"/>
            <a:chExt cx="1295400" cy="584772"/>
          </a:xfrm>
        </p:grpSpPr>
        <p:sp>
          <p:nvSpPr>
            <p:cNvPr id="1666" name="Rectangle"/>
            <p:cNvSpPr/>
            <p:nvPr/>
          </p:nvSpPr>
          <p:spPr>
            <a:xfrm>
              <a:off x="0" y="16946"/>
              <a:ext cx="12954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67" name="Disk…"/>
            <p:cNvSpPr txBox="1"/>
            <p:nvPr/>
          </p:nvSpPr>
          <p:spPr>
            <a:xfrm>
              <a:off x="182349" y="-15089"/>
              <a:ext cx="930702"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Disk </a:t>
              </a:r>
              <a:endParaRPr sz="1600"/>
            </a:p>
            <a:p>
              <a:pPr algn="ctr">
                <a:defRPr sz="1600">
                  <a:latin typeface="Calibri"/>
                  <a:ea typeface="Calibri"/>
                  <a:cs typeface="Calibri"/>
                  <a:sym typeface="Calibri"/>
                </a:defRPr>
              </a:pPr>
              <a:r>
                <a:rPr sz="1600"/>
                <a:t>controller</a:t>
              </a:r>
              <a:endParaRPr sz="1600"/>
            </a:p>
          </p:txBody>
        </p:sp>
      </p:grpSp>
      <p:sp>
        <p:nvSpPr>
          <p:cNvPr id="1669" name="AutoShape 23"/>
          <p:cNvSpPr/>
          <p:nvPr/>
        </p:nvSpPr>
        <p:spPr>
          <a:xfrm flipV="1">
            <a:off x="4375151"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672" name="Rectangle 24"/>
          <p:cNvGrpSpPr/>
          <p:nvPr/>
        </p:nvGrpSpPr>
        <p:grpSpPr>
          <a:xfrm>
            <a:off x="3956050" y="5255342"/>
            <a:ext cx="1295400" cy="584773"/>
            <a:chOff x="0" y="-15089"/>
            <a:chExt cx="1295400" cy="584772"/>
          </a:xfrm>
        </p:grpSpPr>
        <p:sp>
          <p:nvSpPr>
            <p:cNvPr id="1670" name="Rectangle"/>
            <p:cNvSpPr/>
            <p:nvPr/>
          </p:nvSpPr>
          <p:spPr>
            <a:xfrm>
              <a:off x="0" y="16946"/>
              <a:ext cx="12954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71" name="Graphics…"/>
            <p:cNvSpPr txBox="1"/>
            <p:nvPr/>
          </p:nvSpPr>
          <p:spPr>
            <a:xfrm>
              <a:off x="228837" y="-15089"/>
              <a:ext cx="837727"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Graphics</a:t>
              </a:r>
              <a:endParaRPr sz="1600"/>
            </a:p>
            <a:p>
              <a:pPr algn="ctr">
                <a:defRPr sz="1600">
                  <a:latin typeface="Calibri"/>
                  <a:ea typeface="Calibri"/>
                  <a:cs typeface="Calibri"/>
                  <a:sym typeface="Calibri"/>
                </a:defRPr>
              </a:pPr>
              <a:r>
                <a:rPr sz="1600"/>
                <a:t>adapter</a:t>
              </a:r>
              <a:endParaRPr sz="1600"/>
            </a:p>
          </p:txBody>
        </p:sp>
      </p:grpSp>
      <p:sp>
        <p:nvSpPr>
          <p:cNvPr id="1673" name="AutoShape 25"/>
          <p:cNvSpPr/>
          <p:nvPr/>
        </p:nvSpPr>
        <p:spPr>
          <a:xfrm flipV="1">
            <a:off x="2698751"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676" name="Rectangle 26"/>
          <p:cNvGrpSpPr/>
          <p:nvPr/>
        </p:nvGrpSpPr>
        <p:grpSpPr>
          <a:xfrm>
            <a:off x="2355850" y="5166442"/>
            <a:ext cx="1143000" cy="584773"/>
            <a:chOff x="0" y="-15089"/>
            <a:chExt cx="1143000" cy="584772"/>
          </a:xfrm>
        </p:grpSpPr>
        <p:sp>
          <p:nvSpPr>
            <p:cNvPr id="1674" name="Rectangle"/>
            <p:cNvSpPr/>
            <p:nvPr/>
          </p:nvSpPr>
          <p:spPr>
            <a:xfrm>
              <a:off x="0" y="16946"/>
              <a:ext cx="11430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75" name="USB…"/>
            <p:cNvSpPr txBox="1"/>
            <p:nvPr/>
          </p:nvSpPr>
          <p:spPr>
            <a:xfrm>
              <a:off x="106149" y="-15089"/>
              <a:ext cx="930702"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USB</a:t>
              </a:r>
              <a:endParaRPr sz="1600"/>
            </a:p>
            <a:p>
              <a:pPr algn="ctr">
                <a:defRPr sz="1600">
                  <a:latin typeface="Calibri"/>
                  <a:ea typeface="Calibri"/>
                  <a:cs typeface="Calibri"/>
                  <a:sym typeface="Calibri"/>
                </a:defRPr>
              </a:pPr>
              <a:r>
                <a:rPr sz="1600"/>
                <a:t>controller</a:t>
              </a:r>
              <a:endParaRPr sz="1600"/>
            </a:p>
          </p:txBody>
        </p:sp>
      </p:grpSp>
      <p:sp>
        <p:nvSpPr>
          <p:cNvPr id="1677" name="Line 27"/>
          <p:cNvSpPr/>
          <p:nvPr/>
        </p:nvSpPr>
        <p:spPr>
          <a:xfrm>
            <a:off x="2584450" y="5791201"/>
            <a:ext cx="0" cy="304801"/>
          </a:xfrm>
          <a:prstGeom prst="line">
            <a:avLst/>
          </a:prstGeom>
          <a:ln w="12700">
            <a:solidFill>
              <a:srgbClr val="000000"/>
            </a:solidFill>
            <a:headEnd type="triangle"/>
          </a:ln>
        </p:spPr>
        <p:txBody>
          <a:bodyPr lIns="45719" rIns="45719"/>
          <a:lstStyle/>
          <a:p/>
        </p:txBody>
      </p:sp>
      <p:sp>
        <p:nvSpPr>
          <p:cNvPr id="1678" name="Line 28"/>
          <p:cNvSpPr/>
          <p:nvPr/>
        </p:nvSpPr>
        <p:spPr>
          <a:xfrm>
            <a:off x="3346450" y="5791201"/>
            <a:ext cx="0" cy="304801"/>
          </a:xfrm>
          <a:prstGeom prst="line">
            <a:avLst/>
          </a:prstGeom>
          <a:ln w="12700">
            <a:solidFill>
              <a:srgbClr val="000000"/>
            </a:solidFill>
            <a:headEnd type="triangle"/>
          </a:ln>
        </p:spPr>
        <p:txBody>
          <a:bodyPr lIns="45719" rIns="45719"/>
          <a:lstStyle/>
          <a:p/>
        </p:txBody>
      </p:sp>
      <p:sp>
        <p:nvSpPr>
          <p:cNvPr id="1679" name="Text Box 29"/>
          <p:cNvSpPr txBox="1"/>
          <p:nvPr/>
        </p:nvSpPr>
        <p:spPr>
          <a:xfrm>
            <a:off x="2236273" y="6035675"/>
            <a:ext cx="664604"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mouse</a:t>
            </a:r>
          </a:p>
        </p:txBody>
      </p:sp>
      <p:sp>
        <p:nvSpPr>
          <p:cNvPr id="1680" name="Text Box 30"/>
          <p:cNvSpPr txBox="1"/>
          <p:nvPr/>
        </p:nvSpPr>
        <p:spPr>
          <a:xfrm>
            <a:off x="2921743" y="6019800"/>
            <a:ext cx="897038"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keyboard</a:t>
            </a:r>
          </a:p>
        </p:txBody>
      </p:sp>
      <p:sp>
        <p:nvSpPr>
          <p:cNvPr id="1681" name="Line 31"/>
          <p:cNvSpPr/>
          <p:nvPr/>
        </p:nvSpPr>
        <p:spPr>
          <a:xfrm>
            <a:off x="4641850" y="5791201"/>
            <a:ext cx="0" cy="304801"/>
          </a:xfrm>
          <a:prstGeom prst="line">
            <a:avLst/>
          </a:prstGeom>
          <a:ln w="12700">
            <a:solidFill>
              <a:srgbClr val="000000"/>
            </a:solidFill>
            <a:tailEnd type="triangle"/>
          </a:ln>
        </p:spPr>
        <p:txBody>
          <a:bodyPr lIns="45719" rIns="45719"/>
          <a:lstStyle/>
          <a:p/>
        </p:txBody>
      </p:sp>
      <p:sp>
        <p:nvSpPr>
          <p:cNvPr id="1682" name="Text Box 32"/>
          <p:cNvSpPr txBox="1"/>
          <p:nvPr/>
        </p:nvSpPr>
        <p:spPr>
          <a:xfrm>
            <a:off x="4146847" y="6035675"/>
            <a:ext cx="797652"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Monitor</a:t>
            </a:r>
          </a:p>
        </p:txBody>
      </p:sp>
      <p:sp>
        <p:nvSpPr>
          <p:cNvPr id="1683" name="Line 33"/>
          <p:cNvSpPr/>
          <p:nvPr/>
        </p:nvSpPr>
        <p:spPr>
          <a:xfrm>
            <a:off x="6946900" y="5791201"/>
            <a:ext cx="0" cy="381001"/>
          </a:xfrm>
          <a:prstGeom prst="line">
            <a:avLst/>
          </a:prstGeom>
          <a:ln w="12700">
            <a:solidFill>
              <a:srgbClr val="000000"/>
            </a:solidFill>
            <a:headEnd type="triangle"/>
            <a:tailEnd type="triangle"/>
          </a:ln>
        </p:spPr>
        <p:txBody>
          <a:bodyPr lIns="45719" rIns="45719"/>
          <a:lstStyle/>
          <a:p/>
        </p:txBody>
      </p:sp>
      <p:grpSp>
        <p:nvGrpSpPr>
          <p:cNvPr id="1686" name="AutoShape 34"/>
          <p:cNvGrpSpPr/>
          <p:nvPr/>
        </p:nvGrpSpPr>
        <p:grpSpPr>
          <a:xfrm>
            <a:off x="6648450" y="6189076"/>
            <a:ext cx="609602" cy="609602"/>
            <a:chOff x="0" y="0"/>
            <a:chExt cx="609601" cy="609601"/>
          </a:xfrm>
        </p:grpSpPr>
        <p:sp>
          <p:nvSpPr>
            <p:cNvPr id="1684" name="Line"/>
            <p:cNvSpPr/>
            <p:nvPr/>
          </p:nvSpPr>
          <p:spPr>
            <a:xfrm>
              <a:off x="0" y="0"/>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2700"/>
                  </a:moveTo>
                  <a:cubicBezTo>
                    <a:pt x="21600" y="4191"/>
                    <a:pt x="16765" y="5400"/>
                    <a:pt x="10800" y="5400"/>
                  </a:cubicBezTo>
                  <a:cubicBezTo>
                    <a:pt x="4835" y="5400"/>
                    <a:pt x="0" y="4191"/>
                    <a:pt x="0" y="2700"/>
                  </a:cubicBezTo>
                  <a:cubicBezTo>
                    <a:pt x="0" y="1209"/>
                    <a:pt x="4835" y="0"/>
                    <a:pt x="10800" y="0"/>
                  </a:cubicBezTo>
                  <a:cubicBezTo>
                    <a:pt x="16765" y="0"/>
                    <a:pt x="21600" y="1209"/>
                    <a:pt x="21600" y="2700"/>
                  </a:cubicBezTo>
                  <a:lnTo>
                    <a:pt x="21600" y="18900"/>
                  </a:lnTo>
                  <a:cubicBezTo>
                    <a:pt x="21600" y="20391"/>
                    <a:pt x="16765" y="21600"/>
                    <a:pt x="10800" y="21600"/>
                  </a:cubicBezTo>
                  <a:cubicBezTo>
                    <a:pt x="4835" y="21600"/>
                    <a:pt x="0" y="20391"/>
                    <a:pt x="0" y="18900"/>
                  </a:cubicBezTo>
                  <a:lnTo>
                    <a:pt x="0" y="2700"/>
                  </a:lnTo>
                </a:path>
              </a:pathLst>
            </a:custGeom>
            <a:noFill/>
            <a:ln w="12700" cap="flat">
              <a:solidFill>
                <a:srgbClr val="000000"/>
              </a:solidFill>
              <a:prstDash val="solid"/>
              <a:round/>
            </a:ln>
            <a:effectLst/>
          </p:spPr>
          <p:txBody>
            <a:bodyPr wrap="square" lIns="45719" tIns="45719" rIns="45719" bIns="45719" numCol="1" anchor="ctr">
              <a:noAutofit/>
            </a:bodyPr>
            <a:lstStyle/>
            <a:p>
              <a:pPr algn="ctr"/>
            </a:p>
          </p:txBody>
        </p:sp>
        <p:sp>
          <p:nvSpPr>
            <p:cNvPr id="1685" name="Disk"/>
            <p:cNvSpPr txBox="1"/>
            <p:nvPr/>
          </p:nvSpPr>
          <p:spPr>
            <a:xfrm>
              <a:off x="79098" y="173624"/>
              <a:ext cx="451403" cy="338551"/>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Disk</a:t>
              </a:r>
            </a:p>
          </p:txBody>
        </p:sp>
      </p:grpSp>
      <p:sp>
        <p:nvSpPr>
          <p:cNvPr id="1687" name="AutoShape 35"/>
          <p:cNvSpPr/>
          <p:nvPr/>
        </p:nvSpPr>
        <p:spPr>
          <a:xfrm>
            <a:off x="1790700" y="4330700"/>
            <a:ext cx="6972300" cy="393700"/>
          </a:xfrm>
          <a:prstGeom prst="leftRightArrow">
            <a:avLst>
              <a:gd name="adj1" fmla="val 48611"/>
              <a:gd name="adj2" fmla="val 91500"/>
            </a:avLst>
          </a:pr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688" name="Rectangle 36"/>
          <p:cNvSpPr/>
          <p:nvPr/>
        </p:nvSpPr>
        <p:spPr>
          <a:xfrm>
            <a:off x="2861009" y="4458452"/>
            <a:ext cx="166689"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689" name="Rectangle 37"/>
          <p:cNvSpPr/>
          <p:nvPr/>
        </p:nvSpPr>
        <p:spPr>
          <a:xfrm>
            <a:off x="4537410" y="4460958"/>
            <a:ext cx="166689"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690" name="Rectangle 38"/>
          <p:cNvSpPr/>
          <p:nvPr/>
        </p:nvSpPr>
        <p:spPr>
          <a:xfrm>
            <a:off x="6877051" y="4481513"/>
            <a:ext cx="161925"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691" name="Text Box 39"/>
          <p:cNvSpPr txBox="1"/>
          <p:nvPr/>
        </p:nvSpPr>
        <p:spPr>
          <a:xfrm>
            <a:off x="7122794" y="4126498"/>
            <a:ext cx="723914"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I/O bus</a:t>
            </a:r>
          </a:p>
        </p:txBody>
      </p:sp>
      <p:sp>
        <p:nvSpPr>
          <p:cNvPr id="1692" name="Rectangle 40"/>
          <p:cNvSpPr/>
          <p:nvPr/>
        </p:nvSpPr>
        <p:spPr>
          <a:xfrm>
            <a:off x="5767387" y="4419600"/>
            <a:ext cx="161926" cy="152400"/>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693" name="Line 41"/>
          <p:cNvSpPr/>
          <p:nvPr/>
        </p:nvSpPr>
        <p:spPr>
          <a:xfrm>
            <a:off x="3879851" y="3365500"/>
            <a:ext cx="2012951" cy="0"/>
          </a:xfrm>
          <a:prstGeom prst="line">
            <a:avLst/>
          </a:prstGeom>
          <a:ln w="76200">
            <a:solidFill>
              <a:srgbClr val="00FFFF"/>
            </a:solidFill>
          </a:ln>
        </p:spPr>
        <p:txBody>
          <a:bodyPr lIns="45719" rIns="45719"/>
          <a:lstStyle/>
          <a:p/>
        </p:txBody>
      </p:sp>
      <p:sp>
        <p:nvSpPr>
          <p:cNvPr id="1694" name="Line 42"/>
          <p:cNvSpPr/>
          <p:nvPr/>
        </p:nvSpPr>
        <p:spPr>
          <a:xfrm>
            <a:off x="5856288" y="3365500"/>
            <a:ext cx="1" cy="1135064"/>
          </a:xfrm>
          <a:prstGeom prst="line">
            <a:avLst/>
          </a:prstGeom>
          <a:ln w="76200">
            <a:solidFill>
              <a:srgbClr val="00FFFF"/>
            </a:solidFill>
          </a:ln>
        </p:spPr>
        <p:txBody>
          <a:bodyPr lIns="45719" rIns="45719"/>
          <a:lstStyle/>
          <a:p/>
        </p:txBody>
      </p:sp>
      <p:sp>
        <p:nvSpPr>
          <p:cNvPr id="1695" name="Line 43"/>
          <p:cNvSpPr/>
          <p:nvPr/>
        </p:nvSpPr>
        <p:spPr>
          <a:xfrm>
            <a:off x="5818188" y="4530408"/>
            <a:ext cx="1128713" cy="1"/>
          </a:xfrm>
          <a:prstGeom prst="line">
            <a:avLst/>
          </a:prstGeom>
          <a:ln w="76200">
            <a:solidFill>
              <a:srgbClr val="00FFFF"/>
            </a:solidFill>
          </a:ln>
        </p:spPr>
        <p:txBody>
          <a:bodyPr lIns="45719" rIns="45719"/>
          <a:lstStyle/>
          <a:p/>
        </p:txBody>
      </p:sp>
      <p:sp>
        <p:nvSpPr>
          <p:cNvPr id="1696" name="Line 44"/>
          <p:cNvSpPr/>
          <p:nvPr/>
        </p:nvSpPr>
        <p:spPr>
          <a:xfrm>
            <a:off x="6953250" y="4487862"/>
            <a:ext cx="0" cy="782638"/>
          </a:xfrm>
          <a:prstGeom prst="line">
            <a:avLst/>
          </a:prstGeom>
          <a:ln w="76200">
            <a:solidFill>
              <a:srgbClr val="00FFFF"/>
            </a:solidFill>
            <a:tailEnd type="triangle"/>
          </a:ln>
        </p:spPr>
        <p:txBody>
          <a:bodyPr lIns="45719" rIns="45719"/>
          <a:lstStyle/>
          <a:p/>
        </p:txBody>
      </p:sp>
      <p:grpSp>
        <p:nvGrpSpPr>
          <p:cNvPr id="1699" name="Rectangle 45"/>
          <p:cNvGrpSpPr/>
          <p:nvPr/>
        </p:nvGrpSpPr>
        <p:grpSpPr>
          <a:xfrm>
            <a:off x="2019300" y="3172828"/>
            <a:ext cx="1873250" cy="577851"/>
            <a:chOff x="0" y="0"/>
            <a:chExt cx="1873250" cy="577850"/>
          </a:xfrm>
        </p:grpSpPr>
        <p:sp>
          <p:nvSpPr>
            <p:cNvPr id="1697" name="Rectangle"/>
            <p:cNvSpPr/>
            <p:nvPr/>
          </p:nvSpPr>
          <p:spPr>
            <a:xfrm>
              <a:off x="0" y="0"/>
              <a:ext cx="1873250" cy="57785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698" name="Bus interface"/>
            <p:cNvSpPr txBox="1"/>
            <p:nvPr/>
          </p:nvSpPr>
          <p:spPr>
            <a:xfrm>
              <a:off x="331814" y="119650"/>
              <a:ext cx="1209623" cy="338551"/>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Bus interface</a:t>
              </a:r>
            </a:p>
          </p:txBody>
        </p:sp>
      </p:grpSp>
      <p:sp>
        <p:nvSpPr>
          <p:cNvPr id="1700" name="Text Box 46"/>
          <p:cNvSpPr txBox="1"/>
          <p:nvPr/>
        </p:nvSpPr>
        <p:spPr>
          <a:xfrm>
            <a:off x="5507870" y="1263313"/>
            <a:ext cx="5230025" cy="1569660"/>
          </a:xfrm>
          <a:prstGeom prst="rect">
            <a:avLst/>
          </a:prstGeom>
          <a:ln w="12700">
            <a:miter lim="400000"/>
          </a:ln>
        </p:spPr>
        <p:txBody>
          <a:bodyPr lIns="45719" rIns="45719">
            <a:spAutoFit/>
          </a:bodyPr>
          <a:lstStyle/>
          <a:p>
            <a:pPr>
              <a:defRPr b="0">
                <a:latin typeface="Calibri"/>
                <a:ea typeface="Calibri"/>
                <a:cs typeface="Calibri"/>
                <a:sym typeface="Calibri"/>
              </a:defRPr>
            </a:pPr>
            <a:r>
              <a:t>CPU initiates a disk read by writing a command, logical block number, and destination memory address to a </a:t>
            </a:r>
            <a:r>
              <a:rPr>
                <a:solidFill>
                  <a:srgbClr val="C00000"/>
                </a:solidFill>
              </a:rPr>
              <a:t>port</a:t>
            </a:r>
            <a:r>
              <a:rPr>
                <a:solidFill>
                  <a:srgbClr val="FF0000"/>
                </a:solidFill>
              </a:rPr>
              <a:t> </a:t>
            </a:r>
            <a:r>
              <a:t>(address) associated with disk controller.</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indefinite" fill="hold"/>
                                        <p:tgtEl>
                                          <p:spTgt spid="1693"/>
                                        </p:tgtEl>
                                        <p:attrNameLst>
                                          <p:attrName>style.visibility</p:attrName>
                                        </p:attrNameLst>
                                      </p:cBhvr>
                                      <p:to>
                                        <p:strVal val="visible"/>
                                      </p:to>
                                    </p:set>
                                    <p:animEffect transition="in" filter="wipe(left)">
                                      <p:cBhvr>
                                        <p:cTn id="7" dur="500"/>
                                        <p:tgtEl>
                                          <p:spTgt spid="169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indefinite" fill="hold"/>
                                        <p:tgtEl>
                                          <p:spTgt spid="1694"/>
                                        </p:tgtEl>
                                        <p:attrNameLst>
                                          <p:attrName>style.visibility</p:attrName>
                                        </p:attrNameLst>
                                      </p:cBhvr>
                                      <p:to>
                                        <p:strVal val="visible"/>
                                      </p:to>
                                    </p:set>
                                    <p:animEffect transition="in" filter="wipe(up)">
                                      <p:cBhvr>
                                        <p:cTn id="11" dur="500"/>
                                        <p:tgtEl>
                                          <p:spTgt spid="169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indefinite" fill="hold"/>
                                        <p:tgtEl>
                                          <p:spTgt spid="1695"/>
                                        </p:tgtEl>
                                        <p:attrNameLst>
                                          <p:attrName>style.visibility</p:attrName>
                                        </p:attrNameLst>
                                      </p:cBhvr>
                                      <p:to>
                                        <p:strVal val="visible"/>
                                      </p:to>
                                    </p:set>
                                    <p:animEffect transition="in" filter="wipe(left)">
                                      <p:cBhvr>
                                        <p:cTn id="15" dur="500"/>
                                        <p:tgtEl>
                                          <p:spTgt spid="1695"/>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indefinite" fill="hold"/>
                                        <p:tgtEl>
                                          <p:spTgt spid="1696"/>
                                        </p:tgtEl>
                                        <p:attrNameLst>
                                          <p:attrName>style.visibility</p:attrName>
                                        </p:attrNameLst>
                                      </p:cBhvr>
                                      <p:to>
                                        <p:strVal val="visible"/>
                                      </p:to>
                                    </p:set>
                                    <p:animEffect transition="in" filter="wipe(up)">
                                      <p:cBhvr>
                                        <p:cTn id="19" dur="500"/>
                                        <p:tgtEl>
                                          <p:spTgt spid="16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3" grpId="0" animBg="1" advAuto="0"/>
      <p:bldP spid="1694" grpId="0" animBg="1" advAuto="0"/>
      <p:bldP spid="1695" grpId="0" animBg="1" advAuto="0"/>
      <p:bldP spid="1696" grpId="0" animBg="1" advAuto="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2"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703" name="Rectangle 47"/>
          <p:cNvSpPr txBox="1">
            <a:spLocks noGrp="1"/>
          </p:cNvSpPr>
          <p:nvPr>
            <p:ph type="title"/>
          </p:nvPr>
        </p:nvSpPr>
        <p:spPr>
          <a:xfrm>
            <a:off x="1881018" y="435679"/>
            <a:ext cx="7592095" cy="762001"/>
          </a:xfrm>
          <a:prstGeom prst="rect">
            <a:avLst/>
          </a:prstGeom>
        </p:spPr>
        <p:txBody>
          <a:bodyPr/>
          <a:lstStyle/>
          <a:p>
            <a:r>
              <a:t>Reading a Disk Sector (2)</a:t>
            </a:r>
          </a:p>
        </p:txBody>
      </p:sp>
      <p:grpSp>
        <p:nvGrpSpPr>
          <p:cNvPr id="1706" name="Rectangle 4"/>
          <p:cNvGrpSpPr/>
          <p:nvPr/>
        </p:nvGrpSpPr>
        <p:grpSpPr>
          <a:xfrm>
            <a:off x="7818436" y="2971800"/>
            <a:ext cx="909640" cy="914400"/>
            <a:chOff x="-1" y="0"/>
            <a:chExt cx="909639" cy="914400"/>
          </a:xfrm>
        </p:grpSpPr>
        <p:sp>
          <p:nvSpPr>
            <p:cNvPr id="1704" name="Square"/>
            <p:cNvSpPr/>
            <p:nvPr/>
          </p:nvSpPr>
          <p:spPr>
            <a:xfrm>
              <a:off x="-1" y="0"/>
              <a:ext cx="909639" cy="9144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05" name="Main…"/>
            <p:cNvSpPr txBox="1"/>
            <p:nvPr/>
          </p:nvSpPr>
          <p:spPr>
            <a:xfrm>
              <a:off x="49581" y="164814"/>
              <a:ext cx="810475" cy="584773"/>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Main</a:t>
              </a:r>
              <a:endParaRPr sz="1600"/>
            </a:p>
            <a:p>
              <a:pPr algn="ctr">
                <a:defRPr sz="1600">
                  <a:latin typeface="Calibri"/>
                  <a:ea typeface="Calibri"/>
                  <a:cs typeface="Calibri"/>
                  <a:sym typeface="Calibri"/>
                </a:defRPr>
              </a:pPr>
              <a:r>
                <a:rPr sz="1600"/>
                <a:t>memory</a:t>
              </a:r>
              <a:endParaRPr sz="1600"/>
            </a:p>
          </p:txBody>
        </p:sp>
      </p:grpSp>
      <p:sp>
        <p:nvSpPr>
          <p:cNvPr id="1707" name="AutoShape 5"/>
          <p:cNvSpPr/>
          <p:nvPr/>
        </p:nvSpPr>
        <p:spPr>
          <a:xfrm>
            <a:off x="6294438" y="3124200"/>
            <a:ext cx="1492251" cy="533400"/>
          </a:xfrm>
          <a:prstGeom prst="leftRightArrow">
            <a:avLst>
              <a:gd name="adj1" fmla="val 50000"/>
              <a:gd name="adj2" fmla="val 55952"/>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08" name="Rectangle 6"/>
          <p:cNvSpPr/>
          <p:nvPr/>
        </p:nvSpPr>
        <p:spPr>
          <a:xfrm>
            <a:off x="5380037" y="3155950"/>
            <a:ext cx="909638" cy="57785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1709" name="AutoShape 7"/>
          <p:cNvSpPr/>
          <p:nvPr/>
        </p:nvSpPr>
        <p:spPr>
          <a:xfrm>
            <a:off x="3922714" y="3124200"/>
            <a:ext cx="1452563" cy="533400"/>
          </a:xfrm>
          <a:prstGeom prst="leftRightArrow">
            <a:avLst>
              <a:gd name="adj1" fmla="val 50000"/>
              <a:gd name="adj2" fmla="val 54464"/>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10" name="Rectangle 8"/>
          <p:cNvSpPr/>
          <p:nvPr/>
        </p:nvSpPr>
        <p:spPr>
          <a:xfrm>
            <a:off x="2938463" y="18288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11" name="Rectangle 9"/>
          <p:cNvSpPr/>
          <p:nvPr/>
        </p:nvSpPr>
        <p:spPr>
          <a:xfrm>
            <a:off x="2938463" y="19812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12" name="Rectangle 10"/>
          <p:cNvSpPr/>
          <p:nvPr/>
        </p:nvSpPr>
        <p:spPr>
          <a:xfrm>
            <a:off x="2938463" y="21336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13" name="Rectangle 11"/>
          <p:cNvSpPr/>
          <p:nvPr/>
        </p:nvSpPr>
        <p:spPr>
          <a:xfrm>
            <a:off x="2938463" y="22860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14" name="Rectangle 12"/>
          <p:cNvSpPr/>
          <p:nvPr/>
        </p:nvSpPr>
        <p:spPr>
          <a:xfrm>
            <a:off x="2938463" y="24384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15" name="AutoShape 13"/>
          <p:cNvSpPr/>
          <p:nvPr/>
        </p:nvSpPr>
        <p:spPr>
          <a:xfrm>
            <a:off x="3711575" y="18288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16" name="AutoShape 14"/>
          <p:cNvSpPr/>
          <p:nvPr/>
        </p:nvSpPr>
        <p:spPr>
          <a:xfrm flipH="1">
            <a:off x="3622675" y="22098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719" name="Rectangle 15"/>
          <p:cNvGrpSpPr/>
          <p:nvPr/>
        </p:nvGrpSpPr>
        <p:grpSpPr>
          <a:xfrm>
            <a:off x="4156075" y="1676400"/>
            <a:ext cx="533400" cy="1066800"/>
            <a:chOff x="0" y="0"/>
            <a:chExt cx="533400" cy="1066800"/>
          </a:xfrm>
        </p:grpSpPr>
        <p:sp>
          <p:nvSpPr>
            <p:cNvPr id="1717"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18" name="ALU"/>
            <p:cNvSpPr txBox="1"/>
            <p:nvPr/>
          </p:nvSpPr>
          <p:spPr>
            <a:xfrm>
              <a:off x="47410" y="364124"/>
              <a:ext cx="438580"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ALU</a:t>
              </a:r>
            </a:p>
          </p:txBody>
        </p:sp>
      </p:grpSp>
      <p:sp>
        <p:nvSpPr>
          <p:cNvPr id="1720" name="Text Box 16"/>
          <p:cNvSpPr txBox="1"/>
          <p:nvPr/>
        </p:nvSpPr>
        <p:spPr>
          <a:xfrm>
            <a:off x="2679464" y="1507123"/>
            <a:ext cx="1100620"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Register file</a:t>
            </a:r>
          </a:p>
        </p:txBody>
      </p:sp>
      <p:sp>
        <p:nvSpPr>
          <p:cNvPr id="1721" name="AutoShape 17"/>
          <p:cNvSpPr/>
          <p:nvPr/>
        </p:nvSpPr>
        <p:spPr>
          <a:xfrm>
            <a:off x="3013076" y="26670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22" name="Rectangle 18"/>
          <p:cNvSpPr/>
          <p:nvPr/>
        </p:nvSpPr>
        <p:spPr>
          <a:xfrm>
            <a:off x="1870075" y="1447800"/>
            <a:ext cx="2971800" cy="2438400"/>
          </a:xfrm>
          <a:prstGeom prst="rect">
            <a:avLst/>
          </a:prstGeom>
          <a:ln w="12700">
            <a:solidFill>
              <a:srgbClr val="000000"/>
            </a:solidFill>
            <a:prstDash val="sysDot"/>
            <a:miter/>
          </a:ln>
        </p:spPr>
        <p:txBody>
          <a:bodyPr lIns="45719" rIns="45719" anchor="ctr"/>
          <a:lstStyle/>
          <a:p>
            <a:pPr>
              <a:defRPr>
                <a:latin typeface="Calibri"/>
                <a:ea typeface="Calibri"/>
                <a:cs typeface="Calibri"/>
                <a:sym typeface="Calibri"/>
              </a:defRPr>
            </a:pPr>
          </a:p>
        </p:txBody>
      </p:sp>
      <p:sp>
        <p:nvSpPr>
          <p:cNvPr id="1723" name="Text Box 19"/>
          <p:cNvSpPr txBox="1"/>
          <p:nvPr/>
        </p:nvSpPr>
        <p:spPr>
          <a:xfrm>
            <a:off x="1817370" y="1141998"/>
            <a:ext cx="848948"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CPU chip</a:t>
            </a:r>
          </a:p>
        </p:txBody>
      </p:sp>
      <p:sp>
        <p:nvSpPr>
          <p:cNvPr id="1724" name="AutoShape 20"/>
          <p:cNvSpPr/>
          <p:nvPr/>
        </p:nvSpPr>
        <p:spPr>
          <a:xfrm>
            <a:off x="5603876" y="3810001"/>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25" name="AutoShape 21"/>
          <p:cNvSpPr/>
          <p:nvPr/>
        </p:nvSpPr>
        <p:spPr>
          <a:xfrm flipV="1">
            <a:off x="6708776"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728" name="Rectangle 22"/>
          <p:cNvGrpSpPr/>
          <p:nvPr/>
        </p:nvGrpSpPr>
        <p:grpSpPr>
          <a:xfrm>
            <a:off x="6289675" y="5238465"/>
            <a:ext cx="1295400" cy="584773"/>
            <a:chOff x="0" y="-15089"/>
            <a:chExt cx="1295400" cy="584772"/>
          </a:xfrm>
        </p:grpSpPr>
        <p:sp>
          <p:nvSpPr>
            <p:cNvPr id="1726" name="Rectangle"/>
            <p:cNvSpPr/>
            <p:nvPr/>
          </p:nvSpPr>
          <p:spPr>
            <a:xfrm>
              <a:off x="0" y="16946"/>
              <a:ext cx="12954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27" name="Disk…"/>
            <p:cNvSpPr txBox="1"/>
            <p:nvPr/>
          </p:nvSpPr>
          <p:spPr>
            <a:xfrm>
              <a:off x="182349" y="-15089"/>
              <a:ext cx="930702"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Disk </a:t>
              </a:r>
              <a:endParaRPr sz="1600"/>
            </a:p>
            <a:p>
              <a:pPr algn="ctr">
                <a:defRPr sz="1600">
                  <a:latin typeface="Calibri"/>
                  <a:ea typeface="Calibri"/>
                  <a:cs typeface="Calibri"/>
                  <a:sym typeface="Calibri"/>
                </a:defRPr>
              </a:pPr>
              <a:r>
                <a:rPr sz="1600"/>
                <a:t>controller</a:t>
              </a:r>
              <a:endParaRPr sz="1600"/>
            </a:p>
          </p:txBody>
        </p:sp>
      </p:grpSp>
      <p:sp>
        <p:nvSpPr>
          <p:cNvPr id="1729" name="AutoShape 23"/>
          <p:cNvSpPr/>
          <p:nvPr/>
        </p:nvSpPr>
        <p:spPr>
          <a:xfrm flipV="1">
            <a:off x="4378326"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732" name="Rectangle 24"/>
          <p:cNvGrpSpPr/>
          <p:nvPr/>
        </p:nvGrpSpPr>
        <p:grpSpPr>
          <a:xfrm>
            <a:off x="3959225" y="5238465"/>
            <a:ext cx="1295400" cy="584773"/>
            <a:chOff x="0" y="-15089"/>
            <a:chExt cx="1295400" cy="584772"/>
          </a:xfrm>
        </p:grpSpPr>
        <p:sp>
          <p:nvSpPr>
            <p:cNvPr id="1730" name="Rectangle"/>
            <p:cNvSpPr/>
            <p:nvPr/>
          </p:nvSpPr>
          <p:spPr>
            <a:xfrm>
              <a:off x="0" y="16946"/>
              <a:ext cx="12954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31" name="Graphics…"/>
            <p:cNvSpPr txBox="1"/>
            <p:nvPr/>
          </p:nvSpPr>
          <p:spPr>
            <a:xfrm>
              <a:off x="228837" y="-15089"/>
              <a:ext cx="837727"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Graphics</a:t>
              </a:r>
              <a:endParaRPr sz="1600"/>
            </a:p>
            <a:p>
              <a:pPr algn="ctr">
                <a:defRPr sz="1600">
                  <a:latin typeface="Calibri"/>
                  <a:ea typeface="Calibri"/>
                  <a:cs typeface="Calibri"/>
                  <a:sym typeface="Calibri"/>
                </a:defRPr>
              </a:pPr>
              <a:r>
                <a:rPr sz="1600"/>
                <a:t>adapter</a:t>
              </a:r>
              <a:endParaRPr sz="1600"/>
            </a:p>
          </p:txBody>
        </p:sp>
      </p:grpSp>
      <p:sp>
        <p:nvSpPr>
          <p:cNvPr id="1733" name="AutoShape 25"/>
          <p:cNvSpPr/>
          <p:nvPr/>
        </p:nvSpPr>
        <p:spPr>
          <a:xfrm flipV="1">
            <a:off x="2701926"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736" name="Rectangle 26"/>
          <p:cNvGrpSpPr/>
          <p:nvPr/>
        </p:nvGrpSpPr>
        <p:grpSpPr>
          <a:xfrm>
            <a:off x="2359025" y="5225765"/>
            <a:ext cx="1143000" cy="584773"/>
            <a:chOff x="0" y="-15089"/>
            <a:chExt cx="1143000" cy="584772"/>
          </a:xfrm>
        </p:grpSpPr>
        <p:sp>
          <p:nvSpPr>
            <p:cNvPr id="1734" name="Rectangle"/>
            <p:cNvSpPr/>
            <p:nvPr/>
          </p:nvSpPr>
          <p:spPr>
            <a:xfrm>
              <a:off x="0" y="16946"/>
              <a:ext cx="11430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35" name="USB…"/>
            <p:cNvSpPr txBox="1"/>
            <p:nvPr/>
          </p:nvSpPr>
          <p:spPr>
            <a:xfrm>
              <a:off x="106149" y="-15089"/>
              <a:ext cx="930702"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USB</a:t>
              </a:r>
              <a:endParaRPr sz="1600"/>
            </a:p>
            <a:p>
              <a:pPr algn="ctr">
                <a:defRPr sz="1600">
                  <a:latin typeface="Calibri"/>
                  <a:ea typeface="Calibri"/>
                  <a:cs typeface="Calibri"/>
                  <a:sym typeface="Calibri"/>
                </a:defRPr>
              </a:pPr>
              <a:r>
                <a:rPr sz="1600"/>
                <a:t>controller</a:t>
              </a:r>
              <a:endParaRPr sz="1600"/>
            </a:p>
          </p:txBody>
        </p:sp>
      </p:grpSp>
      <p:sp>
        <p:nvSpPr>
          <p:cNvPr id="1737" name="Line 27"/>
          <p:cNvSpPr/>
          <p:nvPr/>
        </p:nvSpPr>
        <p:spPr>
          <a:xfrm>
            <a:off x="2587625" y="5791201"/>
            <a:ext cx="0" cy="304801"/>
          </a:xfrm>
          <a:prstGeom prst="line">
            <a:avLst/>
          </a:prstGeom>
          <a:ln w="12700">
            <a:solidFill>
              <a:srgbClr val="000000"/>
            </a:solidFill>
            <a:headEnd type="triangle"/>
          </a:ln>
        </p:spPr>
        <p:txBody>
          <a:bodyPr lIns="45719" rIns="45719"/>
          <a:lstStyle/>
          <a:p/>
        </p:txBody>
      </p:sp>
      <p:sp>
        <p:nvSpPr>
          <p:cNvPr id="1738" name="Line 28"/>
          <p:cNvSpPr/>
          <p:nvPr/>
        </p:nvSpPr>
        <p:spPr>
          <a:xfrm>
            <a:off x="3349625" y="5791201"/>
            <a:ext cx="0" cy="304801"/>
          </a:xfrm>
          <a:prstGeom prst="line">
            <a:avLst/>
          </a:prstGeom>
          <a:ln w="12700">
            <a:solidFill>
              <a:srgbClr val="000000"/>
            </a:solidFill>
            <a:headEnd type="triangle"/>
          </a:ln>
        </p:spPr>
        <p:txBody>
          <a:bodyPr lIns="45719" rIns="45719"/>
          <a:lstStyle/>
          <a:p/>
        </p:txBody>
      </p:sp>
      <p:sp>
        <p:nvSpPr>
          <p:cNvPr id="1739" name="Text Box 29"/>
          <p:cNvSpPr txBox="1"/>
          <p:nvPr/>
        </p:nvSpPr>
        <p:spPr>
          <a:xfrm>
            <a:off x="2172720" y="6018798"/>
            <a:ext cx="677427"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Mouse</a:t>
            </a:r>
          </a:p>
        </p:txBody>
      </p:sp>
      <p:sp>
        <p:nvSpPr>
          <p:cNvPr id="1740" name="Text Box 30"/>
          <p:cNvSpPr txBox="1"/>
          <p:nvPr/>
        </p:nvSpPr>
        <p:spPr>
          <a:xfrm>
            <a:off x="2855090" y="6018798"/>
            <a:ext cx="911466"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Keyboard</a:t>
            </a:r>
          </a:p>
        </p:txBody>
      </p:sp>
      <p:sp>
        <p:nvSpPr>
          <p:cNvPr id="1741" name="Line 31"/>
          <p:cNvSpPr/>
          <p:nvPr/>
        </p:nvSpPr>
        <p:spPr>
          <a:xfrm>
            <a:off x="4645025" y="5791201"/>
            <a:ext cx="0" cy="304801"/>
          </a:xfrm>
          <a:prstGeom prst="line">
            <a:avLst/>
          </a:prstGeom>
          <a:ln w="12700">
            <a:solidFill>
              <a:srgbClr val="000000"/>
            </a:solidFill>
            <a:tailEnd type="triangle"/>
          </a:ln>
        </p:spPr>
        <p:txBody>
          <a:bodyPr lIns="45719" rIns="45719"/>
          <a:lstStyle/>
          <a:p/>
        </p:txBody>
      </p:sp>
      <p:sp>
        <p:nvSpPr>
          <p:cNvPr id="1742" name="Text Box 32"/>
          <p:cNvSpPr txBox="1"/>
          <p:nvPr/>
        </p:nvSpPr>
        <p:spPr>
          <a:xfrm>
            <a:off x="4150022" y="6018798"/>
            <a:ext cx="797652"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Monitor</a:t>
            </a:r>
          </a:p>
        </p:txBody>
      </p:sp>
      <p:grpSp>
        <p:nvGrpSpPr>
          <p:cNvPr id="1745" name="AutoShape 33"/>
          <p:cNvGrpSpPr/>
          <p:nvPr/>
        </p:nvGrpSpPr>
        <p:grpSpPr>
          <a:xfrm>
            <a:off x="6645275" y="6172200"/>
            <a:ext cx="609602" cy="609602"/>
            <a:chOff x="0" y="0"/>
            <a:chExt cx="609601" cy="609601"/>
          </a:xfrm>
        </p:grpSpPr>
        <p:sp>
          <p:nvSpPr>
            <p:cNvPr id="1743" name="Line"/>
            <p:cNvSpPr/>
            <p:nvPr/>
          </p:nvSpPr>
          <p:spPr>
            <a:xfrm>
              <a:off x="0" y="0"/>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2700"/>
                  </a:moveTo>
                  <a:cubicBezTo>
                    <a:pt x="21600" y="4191"/>
                    <a:pt x="16765" y="5400"/>
                    <a:pt x="10800" y="5400"/>
                  </a:cubicBezTo>
                  <a:cubicBezTo>
                    <a:pt x="4835" y="5400"/>
                    <a:pt x="0" y="4191"/>
                    <a:pt x="0" y="2700"/>
                  </a:cubicBezTo>
                  <a:cubicBezTo>
                    <a:pt x="0" y="1209"/>
                    <a:pt x="4835" y="0"/>
                    <a:pt x="10800" y="0"/>
                  </a:cubicBezTo>
                  <a:cubicBezTo>
                    <a:pt x="16765" y="0"/>
                    <a:pt x="21600" y="1209"/>
                    <a:pt x="21600" y="2700"/>
                  </a:cubicBezTo>
                  <a:lnTo>
                    <a:pt x="21600" y="18900"/>
                  </a:lnTo>
                  <a:cubicBezTo>
                    <a:pt x="21600" y="20391"/>
                    <a:pt x="16765" y="21600"/>
                    <a:pt x="10800" y="21600"/>
                  </a:cubicBezTo>
                  <a:cubicBezTo>
                    <a:pt x="4835" y="21600"/>
                    <a:pt x="0" y="20391"/>
                    <a:pt x="0" y="18900"/>
                  </a:cubicBezTo>
                  <a:lnTo>
                    <a:pt x="0" y="2700"/>
                  </a:lnTo>
                </a:path>
              </a:pathLst>
            </a:custGeom>
            <a:noFill/>
            <a:ln w="12700" cap="flat">
              <a:solidFill>
                <a:srgbClr val="000000"/>
              </a:solidFill>
              <a:prstDash val="solid"/>
              <a:round/>
            </a:ln>
            <a:effectLst/>
          </p:spPr>
          <p:txBody>
            <a:bodyPr wrap="square" lIns="45719" tIns="45719" rIns="45719" bIns="45719" numCol="1" anchor="ctr">
              <a:noAutofit/>
            </a:bodyPr>
            <a:lstStyle/>
            <a:p>
              <a:pPr algn="ctr"/>
            </a:p>
          </p:txBody>
        </p:sp>
        <p:sp>
          <p:nvSpPr>
            <p:cNvPr id="1744" name="Disk"/>
            <p:cNvSpPr txBox="1"/>
            <p:nvPr/>
          </p:nvSpPr>
          <p:spPr>
            <a:xfrm>
              <a:off x="79098" y="173624"/>
              <a:ext cx="451403" cy="338551"/>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Disk</a:t>
              </a:r>
            </a:p>
          </p:txBody>
        </p:sp>
      </p:grpSp>
      <p:sp>
        <p:nvSpPr>
          <p:cNvPr id="1746" name="AutoShape 34"/>
          <p:cNvSpPr/>
          <p:nvPr/>
        </p:nvSpPr>
        <p:spPr>
          <a:xfrm>
            <a:off x="1793875" y="4330700"/>
            <a:ext cx="6972300" cy="393700"/>
          </a:xfrm>
          <a:prstGeom prst="leftRightArrow">
            <a:avLst>
              <a:gd name="adj1" fmla="val 48611"/>
              <a:gd name="adj2" fmla="val 91500"/>
            </a:avLst>
          </a:pr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747" name="Rectangle 35"/>
          <p:cNvSpPr/>
          <p:nvPr/>
        </p:nvSpPr>
        <p:spPr>
          <a:xfrm>
            <a:off x="2870200" y="4464468"/>
            <a:ext cx="166688"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748" name="Rectangle 36"/>
          <p:cNvSpPr/>
          <p:nvPr/>
        </p:nvSpPr>
        <p:spPr>
          <a:xfrm>
            <a:off x="4546600" y="4454943"/>
            <a:ext cx="166688"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749" name="Rectangle 37"/>
          <p:cNvSpPr/>
          <p:nvPr/>
        </p:nvSpPr>
        <p:spPr>
          <a:xfrm>
            <a:off x="6880226" y="4445418"/>
            <a:ext cx="161925"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750" name="Text Box 38"/>
          <p:cNvSpPr txBox="1"/>
          <p:nvPr/>
        </p:nvSpPr>
        <p:spPr>
          <a:xfrm>
            <a:off x="7125969" y="4126498"/>
            <a:ext cx="723914"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I/O bus</a:t>
            </a:r>
          </a:p>
        </p:txBody>
      </p:sp>
      <p:sp>
        <p:nvSpPr>
          <p:cNvPr id="1751" name="Rectangle 39"/>
          <p:cNvSpPr/>
          <p:nvPr/>
        </p:nvSpPr>
        <p:spPr>
          <a:xfrm>
            <a:off x="5770562" y="4419600"/>
            <a:ext cx="161926" cy="152400"/>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752" name="Line 40"/>
          <p:cNvSpPr/>
          <p:nvPr/>
        </p:nvSpPr>
        <p:spPr>
          <a:xfrm>
            <a:off x="5821362" y="3365500"/>
            <a:ext cx="1965326" cy="0"/>
          </a:xfrm>
          <a:prstGeom prst="line">
            <a:avLst/>
          </a:prstGeom>
          <a:ln w="76200">
            <a:solidFill>
              <a:srgbClr val="00FFFF"/>
            </a:solidFill>
            <a:tailEnd type="triangle"/>
          </a:ln>
        </p:spPr>
        <p:txBody>
          <a:bodyPr lIns="45719" rIns="45719"/>
          <a:lstStyle/>
          <a:p/>
        </p:txBody>
      </p:sp>
      <p:sp>
        <p:nvSpPr>
          <p:cNvPr id="1753" name="Line 41"/>
          <p:cNvSpPr/>
          <p:nvPr/>
        </p:nvSpPr>
        <p:spPr>
          <a:xfrm>
            <a:off x="5859463" y="3365500"/>
            <a:ext cx="1" cy="1135064"/>
          </a:xfrm>
          <a:prstGeom prst="line">
            <a:avLst/>
          </a:prstGeom>
          <a:ln w="76200">
            <a:solidFill>
              <a:srgbClr val="00FFFF"/>
            </a:solidFill>
          </a:ln>
        </p:spPr>
        <p:txBody>
          <a:bodyPr lIns="45719" rIns="45719"/>
          <a:lstStyle/>
          <a:p/>
        </p:txBody>
      </p:sp>
      <p:sp>
        <p:nvSpPr>
          <p:cNvPr id="1754" name="Line 42"/>
          <p:cNvSpPr/>
          <p:nvPr/>
        </p:nvSpPr>
        <p:spPr>
          <a:xfrm>
            <a:off x="5821363" y="4530408"/>
            <a:ext cx="1128713" cy="1"/>
          </a:xfrm>
          <a:prstGeom prst="line">
            <a:avLst/>
          </a:prstGeom>
          <a:ln w="76200">
            <a:solidFill>
              <a:srgbClr val="00FFFF"/>
            </a:solidFill>
          </a:ln>
        </p:spPr>
        <p:txBody>
          <a:bodyPr lIns="45719" rIns="45719"/>
          <a:lstStyle/>
          <a:p/>
        </p:txBody>
      </p:sp>
      <p:sp>
        <p:nvSpPr>
          <p:cNvPr id="1755" name="Line 43"/>
          <p:cNvSpPr/>
          <p:nvPr/>
        </p:nvSpPr>
        <p:spPr>
          <a:xfrm>
            <a:off x="6957695" y="4500563"/>
            <a:ext cx="0" cy="1671637"/>
          </a:xfrm>
          <a:prstGeom prst="line">
            <a:avLst/>
          </a:prstGeom>
          <a:ln w="76200">
            <a:solidFill>
              <a:srgbClr val="00FFFF"/>
            </a:solidFill>
          </a:ln>
        </p:spPr>
        <p:txBody>
          <a:bodyPr lIns="45719" rIns="45719"/>
          <a:lstStyle/>
          <a:p/>
        </p:txBody>
      </p:sp>
      <p:grpSp>
        <p:nvGrpSpPr>
          <p:cNvPr id="1758" name="Rectangle 44"/>
          <p:cNvGrpSpPr/>
          <p:nvPr/>
        </p:nvGrpSpPr>
        <p:grpSpPr>
          <a:xfrm>
            <a:off x="2022475" y="3155950"/>
            <a:ext cx="1873250" cy="577850"/>
            <a:chOff x="0" y="0"/>
            <a:chExt cx="1873250" cy="577850"/>
          </a:xfrm>
        </p:grpSpPr>
        <p:sp>
          <p:nvSpPr>
            <p:cNvPr id="1756" name="Rectangle"/>
            <p:cNvSpPr/>
            <p:nvPr/>
          </p:nvSpPr>
          <p:spPr>
            <a:xfrm>
              <a:off x="0" y="0"/>
              <a:ext cx="1873250" cy="57785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57" name="Bus interface"/>
            <p:cNvSpPr txBox="1"/>
            <p:nvPr/>
          </p:nvSpPr>
          <p:spPr>
            <a:xfrm>
              <a:off x="331814" y="119649"/>
              <a:ext cx="1209623"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Bus interface</a:t>
              </a:r>
            </a:p>
          </p:txBody>
        </p:sp>
      </p:grpSp>
      <p:sp>
        <p:nvSpPr>
          <p:cNvPr id="1759" name="Text Box 46"/>
          <p:cNvSpPr txBox="1"/>
          <p:nvPr/>
        </p:nvSpPr>
        <p:spPr>
          <a:xfrm>
            <a:off x="5722784" y="1454974"/>
            <a:ext cx="4512313" cy="1200329"/>
          </a:xfrm>
          <a:prstGeom prst="rect">
            <a:avLst/>
          </a:prstGeom>
          <a:ln w="12700">
            <a:miter lim="400000"/>
          </a:ln>
        </p:spPr>
        <p:txBody>
          <a:bodyPr lIns="45719" rIns="45719">
            <a:spAutoFit/>
          </a:bodyPr>
          <a:lstStyle/>
          <a:p>
            <a:pPr>
              <a:defRPr b="0">
                <a:latin typeface="Calibri"/>
                <a:ea typeface="Calibri"/>
                <a:cs typeface="Calibri"/>
                <a:sym typeface="Calibri"/>
              </a:defRPr>
            </a:pPr>
            <a:r>
              <a:t>Disk controller reads the sector and performs a direct memory access (</a:t>
            </a:r>
            <a:r>
              <a:rPr>
                <a:solidFill>
                  <a:srgbClr val="C00000"/>
                </a:solidFill>
              </a:rPr>
              <a:t>DMA</a:t>
            </a:r>
            <a:r>
              <a:t>) transfer into main memory.</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indefinite" fill="hold"/>
                                        <p:tgtEl>
                                          <p:spTgt spid="1755"/>
                                        </p:tgtEl>
                                        <p:attrNameLst>
                                          <p:attrName>style.visibility</p:attrName>
                                        </p:attrNameLst>
                                      </p:cBhvr>
                                      <p:to>
                                        <p:strVal val="visible"/>
                                      </p:to>
                                    </p:set>
                                    <p:animEffect transition="in" filter="wipe(down)">
                                      <p:cBhvr>
                                        <p:cTn id="7" dur="500"/>
                                        <p:tgtEl>
                                          <p:spTgt spid="1755"/>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indefinite" fill="hold"/>
                                        <p:tgtEl>
                                          <p:spTgt spid="1754"/>
                                        </p:tgtEl>
                                        <p:attrNameLst>
                                          <p:attrName>style.visibility</p:attrName>
                                        </p:attrNameLst>
                                      </p:cBhvr>
                                      <p:to>
                                        <p:strVal val="visible"/>
                                      </p:to>
                                    </p:set>
                                    <p:animEffect transition="in" filter="wipe(right)">
                                      <p:cBhvr>
                                        <p:cTn id="11" dur="500"/>
                                        <p:tgtEl>
                                          <p:spTgt spid="1754"/>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indefinite" fill="hold"/>
                                        <p:tgtEl>
                                          <p:spTgt spid="1753"/>
                                        </p:tgtEl>
                                        <p:attrNameLst>
                                          <p:attrName>style.visibility</p:attrName>
                                        </p:attrNameLst>
                                      </p:cBhvr>
                                      <p:to>
                                        <p:strVal val="visible"/>
                                      </p:to>
                                    </p:set>
                                    <p:animEffect transition="in" filter="wipe(down)">
                                      <p:cBhvr>
                                        <p:cTn id="15" dur="500"/>
                                        <p:tgtEl>
                                          <p:spTgt spid="1753"/>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indefinite" fill="hold"/>
                                        <p:tgtEl>
                                          <p:spTgt spid="1752"/>
                                        </p:tgtEl>
                                        <p:attrNameLst>
                                          <p:attrName>style.visibility</p:attrName>
                                        </p:attrNameLst>
                                      </p:cBhvr>
                                      <p:to>
                                        <p:strVal val="visible"/>
                                      </p:to>
                                    </p:set>
                                    <p:animEffect transition="in" filter="wipe(left)">
                                      <p:cBhvr>
                                        <p:cTn id="19" dur="500"/>
                                        <p:tgtEl>
                                          <p:spTgt spid="1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2" grpId="0" animBg="1" advAuto="0"/>
      <p:bldP spid="1753" grpId="0" animBg="1" advAuto="0"/>
      <p:bldP spid="1754" grpId="0" animBg="1" advAuto="0"/>
      <p:bldP spid="1755" grpId="0" animBg="1" advAuto="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 name="Rectangle 5"/>
          <p:cNvSpPr txBox="1">
            <a:spLocks noGrp="1"/>
          </p:cNvSpPr>
          <p:nvPr>
            <p:ph type="sldNum" sz="quarter" idx="2"/>
          </p:nvPr>
        </p:nvSpPr>
        <p:spPr>
          <a:xfrm>
            <a:off x="10354844" y="6611779"/>
            <a:ext cx="223777" cy="246221"/>
          </a:xfrm>
          <a:prstGeom prst="rect">
            <a:avLst/>
          </a:prstGeom>
        </p:spPr>
        <p:txBody>
          <a:bodyPr/>
          <a:lstStyle/>
          <a:p>
            <a:fld id="{86CB4B4D-7CA3-9044-876B-883B54F8677D}" type="slidenum">
              <a:rPr/>
            </a:fld>
            <a:endParaRPr/>
          </a:p>
        </p:txBody>
      </p:sp>
      <p:sp>
        <p:nvSpPr>
          <p:cNvPr id="1762" name="Rectangle 48"/>
          <p:cNvSpPr txBox="1">
            <a:spLocks noGrp="1"/>
          </p:cNvSpPr>
          <p:nvPr>
            <p:ph type="title"/>
          </p:nvPr>
        </p:nvSpPr>
        <p:spPr>
          <a:xfrm>
            <a:off x="1881018" y="435679"/>
            <a:ext cx="7592095" cy="762001"/>
          </a:xfrm>
          <a:prstGeom prst="rect">
            <a:avLst/>
          </a:prstGeom>
        </p:spPr>
        <p:txBody>
          <a:bodyPr/>
          <a:lstStyle/>
          <a:p>
            <a:r>
              <a:t>Reading a Disk Sector (3)</a:t>
            </a:r>
          </a:p>
        </p:txBody>
      </p:sp>
      <p:grpSp>
        <p:nvGrpSpPr>
          <p:cNvPr id="1765" name="Rectangle 4"/>
          <p:cNvGrpSpPr/>
          <p:nvPr/>
        </p:nvGrpSpPr>
        <p:grpSpPr>
          <a:xfrm>
            <a:off x="7818436" y="2971800"/>
            <a:ext cx="909640" cy="914400"/>
            <a:chOff x="-1" y="0"/>
            <a:chExt cx="909639" cy="914400"/>
          </a:xfrm>
        </p:grpSpPr>
        <p:sp>
          <p:nvSpPr>
            <p:cNvPr id="1763" name="Square"/>
            <p:cNvSpPr/>
            <p:nvPr/>
          </p:nvSpPr>
          <p:spPr>
            <a:xfrm>
              <a:off x="-1" y="0"/>
              <a:ext cx="909639" cy="9144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64" name="Main…"/>
            <p:cNvSpPr txBox="1"/>
            <p:nvPr/>
          </p:nvSpPr>
          <p:spPr>
            <a:xfrm>
              <a:off x="49581" y="164814"/>
              <a:ext cx="810475" cy="584773"/>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Main</a:t>
              </a:r>
              <a:endParaRPr sz="1600"/>
            </a:p>
            <a:p>
              <a:pPr algn="ctr">
                <a:defRPr sz="1600">
                  <a:latin typeface="Calibri"/>
                  <a:ea typeface="Calibri"/>
                  <a:cs typeface="Calibri"/>
                  <a:sym typeface="Calibri"/>
                </a:defRPr>
              </a:pPr>
              <a:r>
                <a:rPr sz="1600"/>
                <a:t>memory</a:t>
              </a:r>
              <a:endParaRPr sz="1600"/>
            </a:p>
          </p:txBody>
        </p:sp>
      </p:grpSp>
      <p:sp>
        <p:nvSpPr>
          <p:cNvPr id="1766" name="AutoShape 5"/>
          <p:cNvSpPr/>
          <p:nvPr/>
        </p:nvSpPr>
        <p:spPr>
          <a:xfrm>
            <a:off x="6294438" y="3124200"/>
            <a:ext cx="1492251" cy="533400"/>
          </a:xfrm>
          <a:prstGeom prst="leftRightArrow">
            <a:avLst>
              <a:gd name="adj1" fmla="val 50000"/>
              <a:gd name="adj2" fmla="val 55952"/>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67" name="Rectangle 6"/>
          <p:cNvSpPr/>
          <p:nvPr/>
        </p:nvSpPr>
        <p:spPr>
          <a:xfrm>
            <a:off x="5380037" y="3155950"/>
            <a:ext cx="909638" cy="577850"/>
          </a:xfrm>
          <a:prstGeom prst="rect">
            <a:avLst/>
          </a:prstGeom>
          <a:ln w="12700">
            <a:solidFill>
              <a:srgbClr val="000000"/>
            </a:solidFill>
            <a:miter/>
          </a:ln>
        </p:spPr>
        <p:txBody>
          <a:bodyPr lIns="45719" rIns="45719" anchor="ctr"/>
          <a:lstStyle/>
          <a:p>
            <a:pPr>
              <a:defRPr sz="1600">
                <a:latin typeface="Calibri"/>
                <a:ea typeface="Calibri"/>
                <a:cs typeface="Calibri"/>
                <a:sym typeface="Calibri"/>
              </a:defRPr>
            </a:pPr>
            <a:endParaRPr sz="1600"/>
          </a:p>
        </p:txBody>
      </p:sp>
      <p:sp>
        <p:nvSpPr>
          <p:cNvPr id="1768" name="AutoShape 7"/>
          <p:cNvSpPr/>
          <p:nvPr/>
        </p:nvSpPr>
        <p:spPr>
          <a:xfrm>
            <a:off x="3922714" y="3124200"/>
            <a:ext cx="1452563" cy="533400"/>
          </a:xfrm>
          <a:prstGeom prst="leftRightArrow">
            <a:avLst>
              <a:gd name="adj1" fmla="val 50000"/>
              <a:gd name="adj2" fmla="val 54464"/>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69" name="Rectangle 8"/>
          <p:cNvSpPr/>
          <p:nvPr/>
        </p:nvSpPr>
        <p:spPr>
          <a:xfrm>
            <a:off x="2938463" y="18288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70" name="Rectangle 9"/>
          <p:cNvSpPr/>
          <p:nvPr/>
        </p:nvSpPr>
        <p:spPr>
          <a:xfrm>
            <a:off x="2938463" y="19812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71" name="Rectangle 10"/>
          <p:cNvSpPr/>
          <p:nvPr/>
        </p:nvSpPr>
        <p:spPr>
          <a:xfrm>
            <a:off x="2938463" y="21336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72" name="Rectangle 11"/>
          <p:cNvSpPr/>
          <p:nvPr/>
        </p:nvSpPr>
        <p:spPr>
          <a:xfrm>
            <a:off x="2938463" y="22860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73" name="Rectangle 12"/>
          <p:cNvSpPr/>
          <p:nvPr/>
        </p:nvSpPr>
        <p:spPr>
          <a:xfrm>
            <a:off x="2938463" y="2438400"/>
            <a:ext cx="684213" cy="152400"/>
          </a:xfrm>
          <a:prstGeom prst="rect">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74" name="AutoShape 13"/>
          <p:cNvSpPr/>
          <p:nvPr/>
        </p:nvSpPr>
        <p:spPr>
          <a:xfrm>
            <a:off x="3711575" y="18288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75" name="AutoShape 14"/>
          <p:cNvSpPr/>
          <p:nvPr/>
        </p:nvSpPr>
        <p:spPr>
          <a:xfrm flipH="1">
            <a:off x="3622675" y="2209800"/>
            <a:ext cx="444500" cy="381000"/>
          </a:xfrm>
          <a:prstGeom prst="rightArrow">
            <a:avLst>
              <a:gd name="adj1" fmla="val 50000"/>
              <a:gd name="adj2" fmla="val 29167"/>
            </a:avLst>
          </a:prstGeom>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778" name="Rectangle 15"/>
          <p:cNvGrpSpPr/>
          <p:nvPr/>
        </p:nvGrpSpPr>
        <p:grpSpPr>
          <a:xfrm>
            <a:off x="4156075" y="1676400"/>
            <a:ext cx="533400" cy="1066800"/>
            <a:chOff x="0" y="0"/>
            <a:chExt cx="533400" cy="1066800"/>
          </a:xfrm>
        </p:grpSpPr>
        <p:sp>
          <p:nvSpPr>
            <p:cNvPr id="1776" name="Rectangle"/>
            <p:cNvSpPr/>
            <p:nvPr/>
          </p:nvSpPr>
          <p:spPr>
            <a:xfrm>
              <a:off x="0" y="0"/>
              <a:ext cx="533400" cy="106680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77" name="ALU"/>
            <p:cNvSpPr txBox="1"/>
            <p:nvPr/>
          </p:nvSpPr>
          <p:spPr>
            <a:xfrm>
              <a:off x="47410" y="364124"/>
              <a:ext cx="438580"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ALU</a:t>
              </a:r>
            </a:p>
          </p:txBody>
        </p:sp>
      </p:grpSp>
      <p:sp>
        <p:nvSpPr>
          <p:cNvPr id="1779" name="Text Box 16"/>
          <p:cNvSpPr txBox="1"/>
          <p:nvPr/>
        </p:nvSpPr>
        <p:spPr>
          <a:xfrm>
            <a:off x="2679464" y="1507123"/>
            <a:ext cx="1100620"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Register file</a:t>
            </a:r>
          </a:p>
        </p:txBody>
      </p:sp>
      <p:sp>
        <p:nvSpPr>
          <p:cNvPr id="1780" name="AutoShape 17"/>
          <p:cNvSpPr/>
          <p:nvPr/>
        </p:nvSpPr>
        <p:spPr>
          <a:xfrm>
            <a:off x="3013076" y="26670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close/>
              </a:path>
            </a:pathLst>
          </a:custGeom>
          <a:ln w="12700">
            <a:solidFill>
              <a:srgbClr val="000000"/>
            </a:solidFill>
            <a:miter/>
          </a:ln>
        </p:spPr>
        <p:txBody>
          <a:bodyPr lIns="45719" rIns="45719" anchor="ctr"/>
          <a:lstStyle/>
          <a:p>
            <a:pPr>
              <a:defRPr>
                <a:latin typeface="Calibri"/>
                <a:ea typeface="Calibri"/>
                <a:cs typeface="Calibri"/>
                <a:sym typeface="Calibri"/>
              </a:defRPr>
            </a:pPr>
          </a:p>
        </p:txBody>
      </p:sp>
      <p:sp>
        <p:nvSpPr>
          <p:cNvPr id="1781" name="Rectangle 18"/>
          <p:cNvSpPr/>
          <p:nvPr/>
        </p:nvSpPr>
        <p:spPr>
          <a:xfrm>
            <a:off x="1870075" y="1447800"/>
            <a:ext cx="2971800" cy="2438400"/>
          </a:xfrm>
          <a:prstGeom prst="rect">
            <a:avLst/>
          </a:prstGeom>
          <a:ln w="12700">
            <a:solidFill>
              <a:srgbClr val="000000"/>
            </a:solidFill>
            <a:prstDash val="sysDot"/>
            <a:miter/>
          </a:ln>
        </p:spPr>
        <p:txBody>
          <a:bodyPr lIns="45719" rIns="45719" anchor="ctr"/>
          <a:lstStyle/>
          <a:p>
            <a:pPr>
              <a:defRPr>
                <a:latin typeface="Calibri"/>
                <a:ea typeface="Calibri"/>
                <a:cs typeface="Calibri"/>
                <a:sym typeface="Calibri"/>
              </a:defRPr>
            </a:pPr>
          </a:p>
        </p:txBody>
      </p:sp>
      <p:sp>
        <p:nvSpPr>
          <p:cNvPr id="1782" name="Text Box 19"/>
          <p:cNvSpPr txBox="1"/>
          <p:nvPr/>
        </p:nvSpPr>
        <p:spPr>
          <a:xfrm>
            <a:off x="1817370" y="1141998"/>
            <a:ext cx="848948"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CPU chip</a:t>
            </a:r>
          </a:p>
        </p:txBody>
      </p:sp>
      <p:sp>
        <p:nvSpPr>
          <p:cNvPr id="1783" name="AutoShape 20"/>
          <p:cNvSpPr/>
          <p:nvPr/>
        </p:nvSpPr>
        <p:spPr>
          <a:xfrm>
            <a:off x="5603876" y="3810001"/>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784" name="AutoShape 21"/>
          <p:cNvSpPr/>
          <p:nvPr/>
        </p:nvSpPr>
        <p:spPr>
          <a:xfrm flipV="1">
            <a:off x="6708776"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787" name="Rectangle 22"/>
          <p:cNvGrpSpPr/>
          <p:nvPr/>
        </p:nvGrpSpPr>
        <p:grpSpPr>
          <a:xfrm>
            <a:off x="6289675" y="5238465"/>
            <a:ext cx="1295400" cy="584773"/>
            <a:chOff x="0" y="-15089"/>
            <a:chExt cx="1295400" cy="584772"/>
          </a:xfrm>
        </p:grpSpPr>
        <p:sp>
          <p:nvSpPr>
            <p:cNvPr id="1785" name="Rectangle"/>
            <p:cNvSpPr/>
            <p:nvPr/>
          </p:nvSpPr>
          <p:spPr>
            <a:xfrm>
              <a:off x="0" y="16946"/>
              <a:ext cx="12954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86" name="Disk…"/>
            <p:cNvSpPr txBox="1"/>
            <p:nvPr/>
          </p:nvSpPr>
          <p:spPr>
            <a:xfrm>
              <a:off x="182349" y="-15089"/>
              <a:ext cx="930702"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Disk </a:t>
              </a:r>
              <a:endParaRPr sz="1600"/>
            </a:p>
            <a:p>
              <a:pPr algn="ctr">
                <a:defRPr sz="1600">
                  <a:latin typeface="Calibri"/>
                  <a:ea typeface="Calibri"/>
                  <a:cs typeface="Calibri"/>
                  <a:sym typeface="Calibri"/>
                </a:defRPr>
              </a:pPr>
              <a:r>
                <a:rPr sz="1600"/>
                <a:t>controller</a:t>
              </a:r>
              <a:endParaRPr sz="1600"/>
            </a:p>
          </p:txBody>
        </p:sp>
      </p:grpSp>
      <p:sp>
        <p:nvSpPr>
          <p:cNvPr id="1788" name="AutoShape 23"/>
          <p:cNvSpPr/>
          <p:nvPr/>
        </p:nvSpPr>
        <p:spPr>
          <a:xfrm flipV="1">
            <a:off x="4378326"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791" name="Rectangle 24"/>
          <p:cNvGrpSpPr/>
          <p:nvPr/>
        </p:nvGrpSpPr>
        <p:grpSpPr>
          <a:xfrm>
            <a:off x="3959225" y="5238465"/>
            <a:ext cx="1295400" cy="584773"/>
            <a:chOff x="0" y="-15089"/>
            <a:chExt cx="1295400" cy="584772"/>
          </a:xfrm>
        </p:grpSpPr>
        <p:sp>
          <p:nvSpPr>
            <p:cNvPr id="1789" name="Rectangle"/>
            <p:cNvSpPr/>
            <p:nvPr/>
          </p:nvSpPr>
          <p:spPr>
            <a:xfrm>
              <a:off x="0" y="16946"/>
              <a:ext cx="12954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90" name="Graphics…"/>
            <p:cNvSpPr txBox="1"/>
            <p:nvPr/>
          </p:nvSpPr>
          <p:spPr>
            <a:xfrm>
              <a:off x="228837" y="-15089"/>
              <a:ext cx="837727"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Graphics</a:t>
              </a:r>
              <a:endParaRPr sz="1600"/>
            </a:p>
            <a:p>
              <a:pPr algn="ctr">
                <a:defRPr sz="1600">
                  <a:latin typeface="Calibri"/>
                  <a:ea typeface="Calibri"/>
                  <a:cs typeface="Calibri"/>
                  <a:sym typeface="Calibri"/>
                </a:defRPr>
              </a:pPr>
              <a:r>
                <a:rPr sz="1600"/>
                <a:t>adapter</a:t>
              </a:r>
              <a:endParaRPr sz="1600"/>
            </a:p>
          </p:txBody>
        </p:sp>
      </p:grpSp>
      <p:sp>
        <p:nvSpPr>
          <p:cNvPr id="1792" name="AutoShape 25"/>
          <p:cNvSpPr/>
          <p:nvPr/>
        </p:nvSpPr>
        <p:spPr>
          <a:xfrm flipV="1">
            <a:off x="2701926" y="4546600"/>
            <a:ext cx="495301" cy="685801"/>
          </a:xfrm>
          <a:custGeom>
            <a:avLst/>
            <a:gdLst/>
            <a:ahLst/>
            <a:cxnLst>
              <a:cxn ang="0">
                <a:pos x="wd2" y="hd2"/>
              </a:cxn>
              <a:cxn ang="5400000">
                <a:pos x="wd2" y="hd2"/>
              </a:cxn>
              <a:cxn ang="10800000">
                <a:pos x="wd2" y="hd2"/>
              </a:cxn>
              <a:cxn ang="16200000">
                <a:pos x="wd2" y="hd2"/>
              </a:cxn>
            </a:cxnLst>
            <a:rect l="0" t="0" r="r" b="b"/>
            <a:pathLst>
              <a:path w="21600" h="21600" extrusionOk="0">
                <a:moveTo>
                  <a:pt x="0" y="7000"/>
                </a:moveTo>
                <a:lnTo>
                  <a:pt x="10800" y="0"/>
                </a:lnTo>
                <a:lnTo>
                  <a:pt x="21600" y="7000"/>
                </a:lnTo>
                <a:lnTo>
                  <a:pt x="14760" y="7000"/>
                </a:lnTo>
                <a:lnTo>
                  <a:pt x="14760" y="21600"/>
                </a:lnTo>
                <a:lnTo>
                  <a:pt x="6840" y="21600"/>
                </a:lnTo>
                <a:lnTo>
                  <a:pt x="6840" y="7000"/>
                </a:lnTo>
                <a:close/>
              </a:path>
            </a:pathLst>
          </a:cu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grpSp>
        <p:nvGrpSpPr>
          <p:cNvPr id="1795" name="Rectangle 26"/>
          <p:cNvGrpSpPr/>
          <p:nvPr/>
        </p:nvGrpSpPr>
        <p:grpSpPr>
          <a:xfrm>
            <a:off x="2359025" y="5225765"/>
            <a:ext cx="1143000" cy="584773"/>
            <a:chOff x="0" y="-15089"/>
            <a:chExt cx="1143000" cy="584772"/>
          </a:xfrm>
        </p:grpSpPr>
        <p:sp>
          <p:nvSpPr>
            <p:cNvPr id="1793" name="Rectangle"/>
            <p:cNvSpPr/>
            <p:nvPr/>
          </p:nvSpPr>
          <p:spPr>
            <a:xfrm>
              <a:off x="0" y="16946"/>
              <a:ext cx="1143000" cy="520701"/>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794" name="USB…"/>
            <p:cNvSpPr txBox="1"/>
            <p:nvPr/>
          </p:nvSpPr>
          <p:spPr>
            <a:xfrm>
              <a:off x="106149" y="-15089"/>
              <a:ext cx="930702" cy="584772"/>
            </a:xfrm>
            <a:prstGeom prst="rect">
              <a:avLst/>
            </a:prstGeom>
            <a:noFill/>
            <a:ln w="12700" cap="flat">
              <a:noFill/>
              <a:miter lim="400000"/>
            </a:ln>
            <a:effectLst/>
          </p:spPr>
          <p:txBody>
            <a:bodyPr wrap="none" lIns="45719" tIns="45719" rIns="45719" bIns="45719" numCol="1" anchor="ctr">
              <a:spAutoFit/>
            </a:bodyPr>
            <a:lstStyle/>
            <a:p>
              <a:pPr algn="ctr">
                <a:defRPr sz="1600">
                  <a:latin typeface="Calibri"/>
                  <a:ea typeface="Calibri"/>
                  <a:cs typeface="Calibri"/>
                  <a:sym typeface="Calibri"/>
                </a:defRPr>
              </a:pPr>
              <a:r>
                <a:rPr sz="1600"/>
                <a:t>USB</a:t>
              </a:r>
              <a:endParaRPr sz="1600"/>
            </a:p>
            <a:p>
              <a:pPr algn="ctr">
                <a:defRPr sz="1600">
                  <a:latin typeface="Calibri"/>
                  <a:ea typeface="Calibri"/>
                  <a:cs typeface="Calibri"/>
                  <a:sym typeface="Calibri"/>
                </a:defRPr>
              </a:pPr>
              <a:r>
                <a:rPr sz="1600"/>
                <a:t>controller</a:t>
              </a:r>
              <a:endParaRPr sz="1600"/>
            </a:p>
          </p:txBody>
        </p:sp>
      </p:grpSp>
      <p:sp>
        <p:nvSpPr>
          <p:cNvPr id="1796" name="Line 27"/>
          <p:cNvSpPr/>
          <p:nvPr/>
        </p:nvSpPr>
        <p:spPr>
          <a:xfrm>
            <a:off x="2587625" y="5791201"/>
            <a:ext cx="0" cy="304801"/>
          </a:xfrm>
          <a:prstGeom prst="line">
            <a:avLst/>
          </a:prstGeom>
          <a:ln w="12700">
            <a:solidFill>
              <a:srgbClr val="000000"/>
            </a:solidFill>
            <a:headEnd type="triangle"/>
          </a:ln>
        </p:spPr>
        <p:txBody>
          <a:bodyPr lIns="45719" rIns="45719"/>
          <a:lstStyle/>
          <a:p/>
        </p:txBody>
      </p:sp>
      <p:sp>
        <p:nvSpPr>
          <p:cNvPr id="1797" name="Line 28"/>
          <p:cNvSpPr/>
          <p:nvPr/>
        </p:nvSpPr>
        <p:spPr>
          <a:xfrm>
            <a:off x="3349625" y="5791201"/>
            <a:ext cx="0" cy="304801"/>
          </a:xfrm>
          <a:prstGeom prst="line">
            <a:avLst/>
          </a:prstGeom>
          <a:ln w="12700">
            <a:solidFill>
              <a:srgbClr val="000000"/>
            </a:solidFill>
            <a:headEnd type="triangle"/>
          </a:ln>
        </p:spPr>
        <p:txBody>
          <a:bodyPr lIns="45719" rIns="45719"/>
          <a:lstStyle/>
          <a:p/>
        </p:txBody>
      </p:sp>
      <p:sp>
        <p:nvSpPr>
          <p:cNvPr id="1798" name="Text Box 29"/>
          <p:cNvSpPr txBox="1"/>
          <p:nvPr/>
        </p:nvSpPr>
        <p:spPr>
          <a:xfrm>
            <a:off x="2172720" y="6018798"/>
            <a:ext cx="677427"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Mouse</a:t>
            </a:r>
          </a:p>
        </p:txBody>
      </p:sp>
      <p:sp>
        <p:nvSpPr>
          <p:cNvPr id="1799" name="Text Box 30"/>
          <p:cNvSpPr txBox="1"/>
          <p:nvPr/>
        </p:nvSpPr>
        <p:spPr>
          <a:xfrm>
            <a:off x="2855090" y="6018798"/>
            <a:ext cx="911466"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Keyboard</a:t>
            </a:r>
          </a:p>
        </p:txBody>
      </p:sp>
      <p:sp>
        <p:nvSpPr>
          <p:cNvPr id="1800" name="Line 31"/>
          <p:cNvSpPr/>
          <p:nvPr/>
        </p:nvSpPr>
        <p:spPr>
          <a:xfrm>
            <a:off x="4645025" y="5791201"/>
            <a:ext cx="0" cy="304801"/>
          </a:xfrm>
          <a:prstGeom prst="line">
            <a:avLst/>
          </a:prstGeom>
          <a:ln w="12700">
            <a:solidFill>
              <a:srgbClr val="000000"/>
            </a:solidFill>
            <a:tailEnd type="triangle"/>
          </a:ln>
        </p:spPr>
        <p:txBody>
          <a:bodyPr lIns="45719" rIns="45719"/>
          <a:lstStyle/>
          <a:p/>
        </p:txBody>
      </p:sp>
      <p:sp>
        <p:nvSpPr>
          <p:cNvPr id="1801" name="Text Box 32"/>
          <p:cNvSpPr txBox="1"/>
          <p:nvPr/>
        </p:nvSpPr>
        <p:spPr>
          <a:xfrm>
            <a:off x="4150022" y="6018798"/>
            <a:ext cx="797652" cy="338554"/>
          </a:xfrm>
          <a:prstGeom prst="rect">
            <a:avLst/>
          </a:prstGeom>
          <a:ln w="12700">
            <a:miter lim="400000"/>
          </a:ln>
        </p:spPr>
        <p:txBody>
          <a:bodyPr wrap="none" lIns="45719" rIns="45719" anchor="ctr">
            <a:spAutoFit/>
          </a:bodyPr>
          <a:lstStyle>
            <a:lvl1pPr algn="ctr">
              <a:defRPr sz="1600">
                <a:latin typeface="Calibri"/>
                <a:ea typeface="Calibri"/>
                <a:cs typeface="Calibri"/>
                <a:sym typeface="Calibri"/>
              </a:defRPr>
            </a:lvl1pPr>
          </a:lstStyle>
          <a:p>
            <a:r>
              <a:t>Monitor</a:t>
            </a:r>
          </a:p>
        </p:txBody>
      </p:sp>
      <p:sp>
        <p:nvSpPr>
          <p:cNvPr id="1802" name="Line 33"/>
          <p:cNvSpPr/>
          <p:nvPr/>
        </p:nvSpPr>
        <p:spPr>
          <a:xfrm>
            <a:off x="6950075" y="5791201"/>
            <a:ext cx="0" cy="381001"/>
          </a:xfrm>
          <a:prstGeom prst="line">
            <a:avLst/>
          </a:prstGeom>
          <a:ln w="12700">
            <a:solidFill>
              <a:srgbClr val="000000"/>
            </a:solidFill>
            <a:headEnd type="triangle"/>
            <a:tailEnd type="triangle"/>
          </a:ln>
        </p:spPr>
        <p:txBody>
          <a:bodyPr lIns="45719" rIns="45719"/>
          <a:lstStyle/>
          <a:p/>
        </p:txBody>
      </p:sp>
      <p:grpSp>
        <p:nvGrpSpPr>
          <p:cNvPr id="1805" name="AutoShape 34"/>
          <p:cNvGrpSpPr/>
          <p:nvPr/>
        </p:nvGrpSpPr>
        <p:grpSpPr>
          <a:xfrm>
            <a:off x="6645275" y="6172200"/>
            <a:ext cx="609602" cy="609602"/>
            <a:chOff x="0" y="0"/>
            <a:chExt cx="609601" cy="609601"/>
          </a:xfrm>
        </p:grpSpPr>
        <p:sp>
          <p:nvSpPr>
            <p:cNvPr id="1803" name="Line"/>
            <p:cNvSpPr/>
            <p:nvPr/>
          </p:nvSpPr>
          <p:spPr>
            <a:xfrm>
              <a:off x="0" y="0"/>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2700"/>
                  </a:moveTo>
                  <a:cubicBezTo>
                    <a:pt x="21600" y="4191"/>
                    <a:pt x="16765" y="5400"/>
                    <a:pt x="10800" y="5400"/>
                  </a:cubicBezTo>
                  <a:cubicBezTo>
                    <a:pt x="4835" y="5400"/>
                    <a:pt x="0" y="4191"/>
                    <a:pt x="0" y="2700"/>
                  </a:cubicBezTo>
                  <a:cubicBezTo>
                    <a:pt x="0" y="1209"/>
                    <a:pt x="4835" y="0"/>
                    <a:pt x="10800" y="0"/>
                  </a:cubicBezTo>
                  <a:cubicBezTo>
                    <a:pt x="16765" y="0"/>
                    <a:pt x="21600" y="1209"/>
                    <a:pt x="21600" y="2700"/>
                  </a:cubicBezTo>
                  <a:lnTo>
                    <a:pt x="21600" y="18900"/>
                  </a:lnTo>
                  <a:cubicBezTo>
                    <a:pt x="21600" y="20391"/>
                    <a:pt x="16765" y="21600"/>
                    <a:pt x="10800" y="21600"/>
                  </a:cubicBezTo>
                  <a:cubicBezTo>
                    <a:pt x="4835" y="21600"/>
                    <a:pt x="0" y="20391"/>
                    <a:pt x="0" y="18900"/>
                  </a:cubicBezTo>
                  <a:lnTo>
                    <a:pt x="0" y="2700"/>
                  </a:lnTo>
                </a:path>
              </a:pathLst>
            </a:custGeom>
            <a:noFill/>
            <a:ln w="12700" cap="flat">
              <a:solidFill>
                <a:srgbClr val="000000"/>
              </a:solidFill>
              <a:prstDash val="solid"/>
              <a:round/>
            </a:ln>
            <a:effectLst/>
          </p:spPr>
          <p:txBody>
            <a:bodyPr wrap="square" lIns="45719" tIns="45719" rIns="45719" bIns="45719" numCol="1" anchor="ctr">
              <a:noAutofit/>
            </a:bodyPr>
            <a:lstStyle/>
            <a:p>
              <a:pPr algn="ctr"/>
            </a:p>
          </p:txBody>
        </p:sp>
        <p:sp>
          <p:nvSpPr>
            <p:cNvPr id="1804" name="Disk"/>
            <p:cNvSpPr txBox="1"/>
            <p:nvPr/>
          </p:nvSpPr>
          <p:spPr>
            <a:xfrm>
              <a:off x="79098" y="173624"/>
              <a:ext cx="451403" cy="338551"/>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Disk</a:t>
              </a:r>
            </a:p>
          </p:txBody>
        </p:sp>
      </p:grpSp>
      <p:sp>
        <p:nvSpPr>
          <p:cNvPr id="1806" name="AutoShape 35"/>
          <p:cNvSpPr/>
          <p:nvPr/>
        </p:nvSpPr>
        <p:spPr>
          <a:xfrm>
            <a:off x="1793875" y="4330700"/>
            <a:ext cx="6972300" cy="393700"/>
          </a:xfrm>
          <a:prstGeom prst="leftRightArrow">
            <a:avLst>
              <a:gd name="adj1" fmla="val 48611"/>
              <a:gd name="adj2" fmla="val 91500"/>
            </a:avLst>
          </a:prstGeom>
          <a:solidFill>
            <a:srgbClr val="F7F5CD"/>
          </a:solidFill>
          <a:ln w="12700">
            <a:solidFill>
              <a:srgbClr val="000000"/>
            </a:solidFill>
            <a:miter/>
          </a:ln>
        </p:spPr>
        <p:txBody>
          <a:bodyPr lIns="45719" rIns="45719" anchor="ctr"/>
          <a:lstStyle/>
          <a:p>
            <a:pPr>
              <a:defRPr>
                <a:latin typeface="Calibri"/>
                <a:ea typeface="Calibri"/>
                <a:cs typeface="Calibri"/>
                <a:sym typeface="Calibri"/>
              </a:defRPr>
            </a:pPr>
          </a:p>
        </p:txBody>
      </p:sp>
      <p:sp>
        <p:nvSpPr>
          <p:cNvPr id="1807" name="Rectangle 36"/>
          <p:cNvSpPr/>
          <p:nvPr/>
        </p:nvSpPr>
        <p:spPr>
          <a:xfrm>
            <a:off x="2870200" y="4464468"/>
            <a:ext cx="166688"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808" name="Rectangle 37"/>
          <p:cNvSpPr/>
          <p:nvPr/>
        </p:nvSpPr>
        <p:spPr>
          <a:xfrm>
            <a:off x="4546600" y="4454943"/>
            <a:ext cx="166688"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809" name="Rectangle 38"/>
          <p:cNvSpPr/>
          <p:nvPr/>
        </p:nvSpPr>
        <p:spPr>
          <a:xfrm>
            <a:off x="6880226" y="4445418"/>
            <a:ext cx="161925"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810" name="Text Box 39"/>
          <p:cNvSpPr txBox="1"/>
          <p:nvPr/>
        </p:nvSpPr>
        <p:spPr>
          <a:xfrm>
            <a:off x="7125969" y="4126498"/>
            <a:ext cx="723914" cy="338554"/>
          </a:xfrm>
          <a:prstGeom prst="rect">
            <a:avLst/>
          </a:prstGeom>
          <a:ln w="12700">
            <a:miter lim="400000"/>
          </a:ln>
        </p:spPr>
        <p:txBody>
          <a:bodyPr wrap="none" lIns="45719" rIns="45719" anchor="ctr">
            <a:spAutoFit/>
          </a:bodyPr>
          <a:lstStyle>
            <a:lvl1pPr>
              <a:defRPr sz="1600">
                <a:latin typeface="Calibri"/>
                <a:ea typeface="Calibri"/>
                <a:cs typeface="Calibri"/>
                <a:sym typeface="Calibri"/>
              </a:defRPr>
            </a:lvl1pPr>
          </a:lstStyle>
          <a:p>
            <a:r>
              <a:t>I/O bus</a:t>
            </a:r>
          </a:p>
        </p:txBody>
      </p:sp>
      <p:sp>
        <p:nvSpPr>
          <p:cNvPr id="1811" name="Rectangle 40"/>
          <p:cNvSpPr/>
          <p:nvPr/>
        </p:nvSpPr>
        <p:spPr>
          <a:xfrm>
            <a:off x="5770562" y="4383505"/>
            <a:ext cx="161926" cy="152401"/>
          </a:xfrm>
          <a:prstGeom prst="rect">
            <a:avLst/>
          </a:prstGeom>
          <a:solidFill>
            <a:schemeClr val="accent3">
              <a:lumOff val="44000"/>
            </a:schemeClr>
          </a:solidFill>
          <a:ln w="12700">
            <a:miter lim="400000"/>
          </a:ln>
        </p:spPr>
        <p:txBody>
          <a:bodyPr lIns="45719" rIns="45719" anchor="ctr"/>
          <a:lstStyle/>
          <a:p>
            <a:pPr>
              <a:defRPr>
                <a:latin typeface="Calibri"/>
                <a:ea typeface="Calibri"/>
                <a:cs typeface="Calibri"/>
                <a:sym typeface="Calibri"/>
              </a:defRPr>
            </a:pPr>
          </a:p>
        </p:txBody>
      </p:sp>
      <p:sp>
        <p:nvSpPr>
          <p:cNvPr id="1812" name="Line 41"/>
          <p:cNvSpPr/>
          <p:nvPr/>
        </p:nvSpPr>
        <p:spPr>
          <a:xfrm flipH="1">
            <a:off x="4867275" y="2679700"/>
            <a:ext cx="1017589" cy="0"/>
          </a:xfrm>
          <a:prstGeom prst="line">
            <a:avLst/>
          </a:prstGeom>
          <a:ln w="76200">
            <a:solidFill>
              <a:srgbClr val="00FFFF"/>
            </a:solidFill>
            <a:tailEnd type="triangle"/>
          </a:ln>
        </p:spPr>
        <p:txBody>
          <a:bodyPr lIns="45719" rIns="45719"/>
          <a:lstStyle/>
          <a:p/>
        </p:txBody>
      </p:sp>
      <p:sp>
        <p:nvSpPr>
          <p:cNvPr id="1813" name="Line 42"/>
          <p:cNvSpPr/>
          <p:nvPr/>
        </p:nvSpPr>
        <p:spPr>
          <a:xfrm>
            <a:off x="5859463" y="2666999"/>
            <a:ext cx="1" cy="1833564"/>
          </a:xfrm>
          <a:prstGeom prst="line">
            <a:avLst/>
          </a:prstGeom>
          <a:ln w="76200">
            <a:solidFill>
              <a:srgbClr val="00FFFF"/>
            </a:solidFill>
          </a:ln>
        </p:spPr>
        <p:txBody>
          <a:bodyPr lIns="45719" rIns="45719"/>
          <a:lstStyle/>
          <a:p/>
        </p:txBody>
      </p:sp>
      <p:sp>
        <p:nvSpPr>
          <p:cNvPr id="1814" name="Line 43"/>
          <p:cNvSpPr/>
          <p:nvPr/>
        </p:nvSpPr>
        <p:spPr>
          <a:xfrm>
            <a:off x="5821363" y="4530408"/>
            <a:ext cx="1128713" cy="1"/>
          </a:xfrm>
          <a:prstGeom prst="line">
            <a:avLst/>
          </a:prstGeom>
          <a:ln w="76200">
            <a:solidFill>
              <a:srgbClr val="00FFFF"/>
            </a:solidFill>
          </a:ln>
        </p:spPr>
        <p:txBody>
          <a:bodyPr lIns="45719" rIns="45719"/>
          <a:lstStyle/>
          <a:p/>
        </p:txBody>
      </p:sp>
      <p:sp>
        <p:nvSpPr>
          <p:cNvPr id="1815" name="Line 44"/>
          <p:cNvSpPr/>
          <p:nvPr/>
        </p:nvSpPr>
        <p:spPr>
          <a:xfrm flipH="1">
            <a:off x="6950075" y="4500562"/>
            <a:ext cx="6351" cy="782638"/>
          </a:xfrm>
          <a:prstGeom prst="line">
            <a:avLst/>
          </a:prstGeom>
          <a:ln w="76200">
            <a:solidFill>
              <a:srgbClr val="00FFFF"/>
            </a:solidFill>
          </a:ln>
        </p:spPr>
        <p:txBody>
          <a:bodyPr lIns="45719" rIns="45719"/>
          <a:lstStyle/>
          <a:p/>
        </p:txBody>
      </p:sp>
      <p:grpSp>
        <p:nvGrpSpPr>
          <p:cNvPr id="1818" name="Rectangle 45"/>
          <p:cNvGrpSpPr/>
          <p:nvPr/>
        </p:nvGrpSpPr>
        <p:grpSpPr>
          <a:xfrm>
            <a:off x="2022475" y="3155950"/>
            <a:ext cx="1873250" cy="577850"/>
            <a:chOff x="0" y="0"/>
            <a:chExt cx="1873250" cy="577850"/>
          </a:xfrm>
        </p:grpSpPr>
        <p:sp>
          <p:nvSpPr>
            <p:cNvPr id="1816" name="Rectangle"/>
            <p:cNvSpPr/>
            <p:nvPr/>
          </p:nvSpPr>
          <p:spPr>
            <a:xfrm>
              <a:off x="0" y="0"/>
              <a:ext cx="1873250" cy="577850"/>
            </a:xfrm>
            <a:prstGeom prst="rect">
              <a:avLst/>
            </a:prstGeom>
            <a:noFill/>
            <a:ln w="12700" cap="flat">
              <a:solidFill>
                <a:srgbClr val="000000"/>
              </a:solidFill>
              <a:prstDash val="solid"/>
              <a:miter lim="800000"/>
            </a:ln>
            <a:effectLst/>
          </p:spPr>
          <p:txBody>
            <a:bodyPr wrap="square" lIns="45719" tIns="45719" rIns="45719" bIns="45719" numCol="1" anchor="ctr">
              <a:noAutofit/>
            </a:bodyPr>
            <a:lstStyle/>
            <a:p>
              <a:pPr algn="ctr"/>
            </a:p>
          </p:txBody>
        </p:sp>
        <p:sp>
          <p:nvSpPr>
            <p:cNvPr id="1817" name="Bus interface"/>
            <p:cNvSpPr txBox="1"/>
            <p:nvPr/>
          </p:nvSpPr>
          <p:spPr>
            <a:xfrm>
              <a:off x="331814" y="119649"/>
              <a:ext cx="1209623" cy="338552"/>
            </a:xfrm>
            <a:prstGeom prst="rect">
              <a:avLst/>
            </a:prstGeom>
            <a:noFill/>
            <a:ln w="12700" cap="flat">
              <a:noFill/>
              <a:miter lim="400000"/>
            </a:ln>
            <a:effectLst/>
          </p:spPr>
          <p:txBody>
            <a:bodyPr wrap="none" lIns="45719" tIns="45719" rIns="45719" bIns="45719" numCol="1" anchor="ctr">
              <a:spAutoFit/>
            </a:bodyPr>
            <a:lstStyle>
              <a:lvl1pPr algn="ctr">
                <a:defRPr sz="1600">
                  <a:latin typeface="Calibri"/>
                  <a:ea typeface="Calibri"/>
                  <a:cs typeface="Calibri"/>
                  <a:sym typeface="Calibri"/>
                </a:defRPr>
              </a:lvl1pPr>
            </a:lstStyle>
            <a:p>
              <a:r>
                <a:t>Bus interface</a:t>
              </a:r>
            </a:p>
          </p:txBody>
        </p:sp>
      </p:grpSp>
      <p:sp>
        <p:nvSpPr>
          <p:cNvPr id="1819" name="Text Box 47"/>
          <p:cNvSpPr txBox="1"/>
          <p:nvPr/>
        </p:nvSpPr>
        <p:spPr>
          <a:xfrm>
            <a:off x="5903179" y="1219199"/>
            <a:ext cx="4640898" cy="1569660"/>
          </a:xfrm>
          <a:prstGeom prst="rect">
            <a:avLst/>
          </a:prstGeom>
          <a:ln w="12700">
            <a:miter lim="400000"/>
          </a:ln>
        </p:spPr>
        <p:txBody>
          <a:bodyPr lIns="45719" rIns="45719">
            <a:spAutoFit/>
          </a:bodyPr>
          <a:lstStyle/>
          <a:p>
            <a:pPr>
              <a:defRPr b="0">
                <a:latin typeface="Calibri"/>
                <a:ea typeface="Calibri"/>
                <a:cs typeface="Calibri"/>
                <a:sym typeface="Calibri"/>
              </a:defRPr>
            </a:pPr>
            <a:r>
              <a:t>When the DMA transfer completes, the disk controller notifies the CPU with an </a:t>
            </a:r>
            <a:r>
              <a:rPr i="1">
                <a:solidFill>
                  <a:srgbClr val="C00000"/>
                </a:solidFill>
              </a:rPr>
              <a:t>interrupt</a:t>
            </a:r>
            <a:r>
              <a:t> (i.e., asserts a special “interrupt” pin on the CPU).</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indefinite" fill="hold"/>
                                        <p:tgtEl>
                                          <p:spTgt spid="1815"/>
                                        </p:tgtEl>
                                        <p:attrNameLst>
                                          <p:attrName>style.visibility</p:attrName>
                                        </p:attrNameLst>
                                      </p:cBhvr>
                                      <p:to>
                                        <p:strVal val="visible"/>
                                      </p:to>
                                    </p:set>
                                    <p:animEffect transition="in" filter="wipe(down)">
                                      <p:cBhvr>
                                        <p:cTn id="7" dur="500"/>
                                        <p:tgtEl>
                                          <p:spTgt spid="1815"/>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indefinite" fill="hold"/>
                                        <p:tgtEl>
                                          <p:spTgt spid="1814"/>
                                        </p:tgtEl>
                                        <p:attrNameLst>
                                          <p:attrName>style.visibility</p:attrName>
                                        </p:attrNameLst>
                                      </p:cBhvr>
                                      <p:to>
                                        <p:strVal val="visible"/>
                                      </p:to>
                                    </p:set>
                                    <p:animEffect transition="in" filter="wipe(right)">
                                      <p:cBhvr>
                                        <p:cTn id="11" dur="500"/>
                                        <p:tgtEl>
                                          <p:spTgt spid="1814"/>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indefinite" fill="hold"/>
                                        <p:tgtEl>
                                          <p:spTgt spid="1813"/>
                                        </p:tgtEl>
                                        <p:attrNameLst>
                                          <p:attrName>style.visibility</p:attrName>
                                        </p:attrNameLst>
                                      </p:cBhvr>
                                      <p:to>
                                        <p:strVal val="visible"/>
                                      </p:to>
                                    </p:set>
                                    <p:animEffect transition="in" filter="wipe(down)">
                                      <p:cBhvr>
                                        <p:cTn id="15" dur="500"/>
                                        <p:tgtEl>
                                          <p:spTgt spid="1813"/>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indefinite" fill="hold"/>
                                        <p:tgtEl>
                                          <p:spTgt spid="1812"/>
                                        </p:tgtEl>
                                        <p:attrNameLst>
                                          <p:attrName>style.visibility</p:attrName>
                                        </p:attrNameLst>
                                      </p:cBhvr>
                                      <p:to>
                                        <p:strVal val="visible"/>
                                      </p:to>
                                    </p:set>
                                    <p:animEffect transition="in" filter="wipe(right)">
                                      <p:cBhvr>
                                        <p:cTn id="19" dur="500"/>
                                        <p:tgtEl>
                                          <p:spTgt spid="1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 grpId="0" animBg="1" advAuto="0"/>
      <p:bldP spid="1813" grpId="0" animBg="1" advAuto="0"/>
      <p:bldP spid="1814" grpId="0" animBg="1" advAuto="0"/>
      <p:bldP spid="1815" grpId="0" animBg="1" advAuto="0"/>
    </p:bldLst>
  </p:timing>
</p:sld>
</file>

<file path=ppt/theme/theme1.xml><?xml version="1.0" encoding="utf-8"?>
<a:theme xmlns:a="http://schemas.openxmlformats.org/drawingml/2006/main" name="template2007">
  <a:themeElements>
    <a:clrScheme name="template2007">
      <a:dk1>
        <a:srgbClr val="000000"/>
      </a:dk1>
      <a:lt1>
        <a:srgbClr val="FFFFFF"/>
      </a:lt1>
      <a:dk2>
        <a:srgbClr val="A7A7A7"/>
      </a:dk2>
      <a:lt2>
        <a:srgbClr val="535353"/>
      </a:lt2>
      <a:accent1>
        <a:srgbClr val="00CC99"/>
      </a:accent1>
      <a:accent2>
        <a:srgbClr val="3333CC"/>
      </a:accent2>
      <a:accent3>
        <a:srgbClr val="8F8F8F"/>
      </a:accent3>
      <a:accent4>
        <a:srgbClr val="707070"/>
      </a:accent4>
      <a:accent5>
        <a:srgbClr val="AAE2CA"/>
      </a:accent5>
      <a:accent6>
        <a:srgbClr val="2D2DB9"/>
      </a:accent6>
      <a:hlink>
        <a:srgbClr val="0000FF"/>
      </a:hlink>
      <a:folHlink>
        <a:srgbClr val="FF00FF"/>
      </a:folHlink>
    </a:clrScheme>
    <a:fontScheme name="template2007">
      <a:majorFont>
        <a:latin typeface="Helvetica"/>
        <a:ea typeface="Helvetica"/>
        <a:cs typeface="Helvetica"/>
      </a:majorFont>
      <a:minorFont>
        <a:latin typeface="Times New Roman"/>
        <a:ea typeface="Times New Roman"/>
        <a:cs typeface="Times New Roman"/>
      </a:minorFont>
    </a:fontScheme>
    <a:fmtScheme name="template200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spPr>
      <a:bodyPr rot="0" spcFirstLastPara="1" vertOverflow="overflow" horzOverflow="overflow" vert="horz" wrap="square" lIns="45719" tIns="45719" rIns="45719" bIns="4571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plate2007">
  <a:themeElements>
    <a:clrScheme name="template2007">
      <a:dk1>
        <a:srgbClr val="000000"/>
      </a:dk1>
      <a:lt1>
        <a:srgbClr val="FFFFFF"/>
      </a:lt1>
      <a:dk2>
        <a:srgbClr val="A7A7A7"/>
      </a:dk2>
      <a:lt2>
        <a:srgbClr val="535353"/>
      </a:lt2>
      <a:accent1>
        <a:srgbClr val="00CC99"/>
      </a:accent1>
      <a:accent2>
        <a:srgbClr val="3333CC"/>
      </a:accent2>
      <a:accent3>
        <a:srgbClr val="8F8F8F"/>
      </a:accent3>
      <a:accent4>
        <a:srgbClr val="707070"/>
      </a:accent4>
      <a:accent5>
        <a:srgbClr val="AAE2CA"/>
      </a:accent5>
      <a:accent6>
        <a:srgbClr val="2D2DB9"/>
      </a:accent6>
      <a:hlink>
        <a:srgbClr val="0000FF"/>
      </a:hlink>
      <a:folHlink>
        <a:srgbClr val="FF00FF"/>
      </a:folHlink>
    </a:clrScheme>
    <a:fontScheme name="template2007">
      <a:majorFont>
        <a:latin typeface="Helvetica"/>
        <a:ea typeface="Helvetica"/>
        <a:cs typeface="Helvetica"/>
      </a:majorFont>
      <a:minorFont>
        <a:latin typeface="Times New Roman"/>
        <a:ea typeface="Times New Roman"/>
        <a:cs typeface="Times New Roman"/>
      </a:minorFont>
    </a:fontScheme>
    <a:fmtScheme name="template200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spPr>
      <a:bodyPr rot="0" spcFirstLastPara="1" vertOverflow="overflow" horzOverflow="overflow" vert="horz" wrap="square" lIns="45719" tIns="45719" rIns="45719" bIns="4571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2400" b="1" i="0" u="none" strike="noStrike" cap="none" spc="0" normalizeH="0" baseline="0">
            <a:ln>
              <a:noFill/>
            </a:ln>
            <a:solidFill>
              <a:srgbClr val="000000"/>
            </a:solidFill>
            <a:effectLst/>
            <a:uFillTx/>
            <a:latin typeface="Arial Narrow" panose="020B0706020202030204"/>
            <a:ea typeface="Arial Narrow" panose="020B0706020202030204"/>
            <a:cs typeface="Arial Narrow" panose="020B0706020202030204"/>
            <a:sym typeface="Arial Narrow" panose="020B0706020202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13435</Words>
  <Application>WPS Presentation</Application>
  <PresentationFormat>Widescreen</PresentationFormat>
  <Paragraphs>1626</Paragraphs>
  <Slides>64</Slides>
  <Notes>20</Notes>
  <HiddenSlides>0</HiddenSlides>
  <MMClips>0</MMClips>
  <ScaleCrop>false</ScaleCrop>
  <HeadingPairs>
    <vt:vector size="6" baseType="variant">
      <vt:variant>
        <vt:lpstr>已用的字体</vt:lpstr>
      </vt:variant>
      <vt:variant>
        <vt:i4>26</vt:i4>
      </vt:variant>
      <vt:variant>
        <vt:lpstr>主题</vt:lpstr>
      </vt:variant>
      <vt:variant>
        <vt:i4>1</vt:i4>
      </vt:variant>
      <vt:variant>
        <vt:lpstr>幻灯片标题</vt:lpstr>
      </vt:variant>
      <vt:variant>
        <vt:i4>64</vt:i4>
      </vt:variant>
    </vt:vector>
  </HeadingPairs>
  <TitlesOfParts>
    <vt:vector size="91" baseType="lpstr">
      <vt:lpstr>Arial</vt:lpstr>
      <vt:lpstr>SimSun</vt:lpstr>
      <vt:lpstr>Wingdings</vt:lpstr>
      <vt:lpstr>Arial Narrow</vt:lpstr>
      <vt:lpstr>Times New Roman</vt:lpstr>
      <vt:lpstr>Calibri</vt:lpstr>
      <vt:lpstr>Helvetica Neue</vt:lpstr>
      <vt:lpstr>Consolas</vt:lpstr>
      <vt:lpstr>苹方-简</vt:lpstr>
      <vt:lpstr>FangSong</vt:lpstr>
      <vt:lpstr>Courier New</vt:lpstr>
      <vt:lpstr>Times New Roman</vt:lpstr>
      <vt:lpstr>SimSun</vt:lpstr>
      <vt:lpstr>汉仪书宋二KW</vt:lpstr>
      <vt:lpstr>Microsoft YaHei</vt:lpstr>
      <vt:lpstr>汉仪旗黑</vt:lpstr>
      <vt:lpstr>Arial Unicode MS</vt:lpstr>
      <vt:lpstr>Apple Color Emoji</vt:lpstr>
      <vt:lpstr>宋体-简</vt:lpstr>
      <vt:lpstr>Arial</vt:lpstr>
      <vt:lpstr>Comic Sans MS</vt:lpstr>
      <vt:lpstr>方正仿宋_GBK</vt:lpstr>
      <vt:lpstr>Arial Narrow</vt:lpstr>
      <vt:lpstr>Courier New</vt:lpstr>
      <vt:lpstr>FangSong</vt:lpstr>
      <vt:lpstr>Wingdings</vt:lpstr>
      <vt:lpstr>template2007</vt:lpstr>
      <vt:lpstr>存储器层次结构 Memory Hierarchy</vt:lpstr>
      <vt:lpstr>PowerPoint 演示文稿</vt:lpstr>
      <vt:lpstr>读写内存</vt:lpstr>
      <vt:lpstr>PowerPoint 演示文稿</vt:lpstr>
      <vt:lpstr>现代 CPU 与内存之间的连接</vt:lpstr>
      <vt:lpstr>内存读事务 (1)</vt:lpstr>
      <vt:lpstr>内存读事务 (2)</vt:lpstr>
      <vt:lpstr>内存读事务（3）</vt:lpstr>
      <vt:lpstr>内存写事务（1）</vt:lpstr>
      <vt:lpstr>内存写事务（2）</vt:lpstr>
      <vt:lpstr>内存写事务（3）</vt:lpstr>
      <vt:lpstr>Today</vt:lpstr>
      <vt:lpstr>内存速度远远慢于CPU速度</vt:lpstr>
      <vt:lpstr>内存速度远远慢于CPU速度</vt:lpstr>
      <vt:lpstr>CPU-内存的速度差异</vt:lpstr>
      <vt:lpstr>“内存墙” 或 Von Neumann 瓶颈</vt:lpstr>
      <vt:lpstr>存储器特性：容量影响延迟&amp;能耗</vt:lpstr>
      <vt:lpstr>局部性来帮忙！</vt:lpstr>
      <vt:lpstr>局部性</vt:lpstr>
      <vt:lpstr>局部性示例</vt:lpstr>
      <vt:lpstr>局部性的定性估计</vt:lpstr>
      <vt:lpstr>局部性示例</vt:lpstr>
      <vt:lpstr>局部性示例</vt:lpstr>
      <vt:lpstr>Today</vt:lpstr>
      <vt:lpstr>存储层次结构</vt:lpstr>
      <vt:lpstr>存储器层次结构示例</vt:lpstr>
      <vt:lpstr>存储层次</vt:lpstr>
      <vt:lpstr>PowerPoint 演示文稿</vt:lpstr>
      <vt:lpstr>存储器层次结构中的示例</vt:lpstr>
      <vt:lpstr>工作集和局部性</vt:lpstr>
      <vt:lpstr>PowerPoint 演示文稿</vt:lpstr>
      <vt:lpstr>有多少冷 cache 缺失</vt:lpstr>
      <vt:lpstr>Today</vt:lpstr>
      <vt:lpstr>随机访问存储器（RAM）</vt:lpstr>
      <vt:lpstr>PowerPoint 演示文稿</vt:lpstr>
      <vt:lpstr>SRAM vs DRAM 小结</vt:lpstr>
      <vt:lpstr>PowerPoint 演示文稿</vt:lpstr>
      <vt:lpstr>PowerPoint 演示文稿</vt:lpstr>
      <vt:lpstr>磁盘几何结构</vt:lpstr>
      <vt:lpstr>磁盘访问——服务时间的组成</vt:lpstr>
      <vt:lpstr>非易失存储器</vt:lpstr>
      <vt:lpstr>固态硬盘</vt:lpstr>
      <vt:lpstr>PowerPoint 演示文稿</vt:lpstr>
      <vt:lpstr>SSD 性能特性</vt:lpstr>
      <vt:lpstr>SSD 与机械硬盘的权衡对比</vt:lpstr>
      <vt:lpstr>小结</vt:lpstr>
      <vt:lpstr>Supplemental slides</vt:lpstr>
      <vt:lpstr>Enhanced DRAMs (Extra Detail for Modern Systems)</vt:lpstr>
      <vt:lpstr>Storage Trends</vt:lpstr>
      <vt:lpstr>CPU Clock Rates</vt:lpstr>
      <vt:lpstr>Conventional DRAM Organization</vt:lpstr>
      <vt:lpstr>Reading DRAM Supercell (2,1)</vt:lpstr>
      <vt:lpstr>Reading DRAM Supercell (2,1)</vt:lpstr>
      <vt:lpstr>Memory Modules</vt:lpstr>
      <vt:lpstr>Disk Operation (Multi-Platter View)</vt:lpstr>
      <vt:lpstr>Disk Access – Service Time Components</vt:lpstr>
      <vt:lpstr>Disk Access Time</vt:lpstr>
      <vt:lpstr>Disk Access Time Example</vt:lpstr>
      <vt:lpstr>Disk Capacity</vt:lpstr>
      <vt:lpstr>Disk Operation (Single-Platter View)</vt:lpstr>
      <vt:lpstr>I/O Bus</vt:lpstr>
      <vt:lpstr>Reading a Disk Sector (1)</vt:lpstr>
      <vt:lpstr>Reading a Disk Sector (2)</vt:lpstr>
      <vt:lpstr>Reading a Disk Sector (3)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Memory Hierarchy  15-213/15-513: Introduction to Computer Systems 9th Lecture,  June 8, 2023</dc:title>
  <dc:creator>Brian Railing</dc:creator>
  <cp:lastModifiedBy>00030832</cp:lastModifiedBy>
  <cp:revision>111</cp:revision>
  <dcterms:created xsi:type="dcterms:W3CDTF">2026-04-15T06:43:41Z</dcterms:created>
  <dcterms:modified xsi:type="dcterms:W3CDTF">2026-04-15T06:43:41Z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699605831C7080AB0CEE9E69FD3AE2B0_43</vt:lpwstr>
  </property>
  <property fmtid="{D5CDD505-2E9C-101B-9397-08002B2CF9AE}" pid="3" name="KSOProductBuildVer">
    <vt:lpwstr>1033-12.1.24031.24031</vt:lpwstr>
  </property>
</Properties>
</file>