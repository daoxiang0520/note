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>
  <p:sldMasterIdLst>
    <p:sldMasterId id="2147483648" r:id="rId1"/>
  </p:sldMasterIdLst>
  <p:notesMasterIdLst>
    <p:notesMasterId r:id="rId5"/>
  </p:notesMasterIdLst>
  <p:sldIdLst>
    <p:sldId id="335" r:id="rId3"/>
    <p:sldId id="370" r:id="rId4"/>
    <p:sldId id="397" r:id="rId6"/>
    <p:sldId id="289" r:id="rId7"/>
    <p:sldId id="290" r:id="rId8"/>
    <p:sldId id="256" r:id="rId9"/>
    <p:sldId id="483" r:id="rId10"/>
    <p:sldId id="371" r:id="rId11"/>
    <p:sldId id="292" r:id="rId12"/>
    <p:sldId id="372" r:id="rId13"/>
    <p:sldId id="373" r:id="rId14"/>
    <p:sldId id="374" r:id="rId15"/>
    <p:sldId id="375" r:id="rId16"/>
    <p:sldId id="484" r:id="rId17"/>
    <p:sldId id="376" r:id="rId18"/>
    <p:sldId id="377" r:id="rId19"/>
    <p:sldId id="594" r:id="rId20"/>
    <p:sldId id="399" r:id="rId21"/>
    <p:sldId id="485" r:id="rId22"/>
    <p:sldId id="295" r:id="rId23"/>
    <p:sldId id="296" r:id="rId24"/>
    <p:sldId id="298" r:id="rId25"/>
    <p:sldId id="336" r:id="rId26"/>
    <p:sldId id="337" r:id="rId27"/>
    <p:sldId id="338" r:id="rId28"/>
    <p:sldId id="339" r:id="rId29"/>
    <p:sldId id="340" r:id="rId30"/>
    <p:sldId id="341" r:id="rId31"/>
    <p:sldId id="342" r:id="rId32"/>
    <p:sldId id="343" r:id="rId33"/>
    <p:sldId id="344" r:id="rId34"/>
    <p:sldId id="345" r:id="rId35"/>
    <p:sldId id="455" r:id="rId36"/>
    <p:sldId id="309" r:id="rId37"/>
    <p:sldId id="310" r:id="rId38"/>
    <p:sldId id="378" r:id="rId39"/>
    <p:sldId id="379" r:id="rId40"/>
    <p:sldId id="385" r:id="rId41"/>
    <p:sldId id="381" r:id="rId42"/>
    <p:sldId id="382" r:id="rId43"/>
    <p:sldId id="325" r:id="rId44"/>
    <p:sldId id="326" r:id="rId45"/>
    <p:sldId id="327" r:id="rId46"/>
    <p:sldId id="383" r:id="rId47"/>
    <p:sldId id="384" r:id="rId48"/>
    <p:sldId id="386" r:id="rId49"/>
    <p:sldId id="456" r:id="rId50"/>
    <p:sldId id="398" r:id="rId51"/>
    <p:sldId id="400" r:id="rId52"/>
    <p:sldId id="543" r:id="rId53"/>
    <p:sldId id="389" r:id="rId54"/>
    <p:sldId id="328" r:id="rId55"/>
    <p:sldId id="390" r:id="rId56"/>
    <p:sldId id="391" r:id="rId57"/>
    <p:sldId id="393" r:id="rId58"/>
    <p:sldId id="394" r:id="rId59"/>
    <p:sldId id="395" r:id="rId60"/>
    <p:sldId id="396" r:id="rId61"/>
    <p:sldId id="452" r:id="rId62"/>
    <p:sldId id="589" r:id="rId63"/>
    <p:sldId id="334" r:id="rId64"/>
    <p:sldId id="593" r:id="rId65"/>
    <p:sldId id="591" r:id="rId66"/>
  </p:sldIdLst>
  <p:sldSz cx="12192000" cy="6858000"/>
  <p:notesSz cx="6858000" cy="9144000"/>
  <p:embeddedFontLst>
    <p:embeddedFont>
      <p:font typeface="Arial Narrow Bold" panose="020B0706020202030204" charset="0"/>
      <p:regular r:id="rId71"/>
    </p:embeddedFont>
  </p:embeddedFontLst>
  <p:defaultTextStyle>
    <a:defPPr>
      <a:defRPr lang="en-US"/>
    </a:defPPr>
    <a:lvl1pPr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panose="020B0502020104020203" charset="0"/>
        <a:ea typeface="ヒラギノ角ゴ ProN W3" panose="020B0300000000000000" charset="-128"/>
        <a:cs typeface="ヒラギノ角ゴ ProN W3" panose="020B0300000000000000" charset="-128"/>
        <a:sym typeface="Gill Sans" panose="020B0502020104020203" charset="0"/>
      </a:defRPr>
    </a:lvl1pPr>
    <a:lvl2pPr marL="4572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panose="020B0502020104020203" charset="0"/>
        <a:ea typeface="ヒラギノ角ゴ ProN W3" panose="020B0300000000000000" charset="-128"/>
        <a:cs typeface="ヒラギノ角ゴ ProN W3" panose="020B0300000000000000" charset="-128"/>
        <a:sym typeface="Gill Sans" panose="020B0502020104020203" charset="0"/>
      </a:defRPr>
    </a:lvl2pPr>
    <a:lvl3pPr marL="9144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panose="020B0502020104020203" charset="0"/>
        <a:ea typeface="ヒラギノ角ゴ ProN W3" panose="020B0300000000000000" charset="-128"/>
        <a:cs typeface="ヒラギノ角ゴ ProN W3" panose="020B0300000000000000" charset="-128"/>
        <a:sym typeface="Gill Sans" panose="020B0502020104020203" charset="0"/>
      </a:defRPr>
    </a:lvl3pPr>
    <a:lvl4pPr marL="13716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panose="020B0502020104020203" charset="0"/>
        <a:ea typeface="ヒラギノ角ゴ ProN W3" panose="020B0300000000000000" charset="-128"/>
        <a:cs typeface="ヒラギノ角ゴ ProN W3" panose="020B0300000000000000" charset="-128"/>
        <a:sym typeface="Gill Sans" panose="020B0502020104020203" charset="0"/>
      </a:defRPr>
    </a:lvl4pPr>
    <a:lvl5pPr marL="1828800" algn="ctr" rtl="0" fontAlgn="base">
      <a:spcBef>
        <a:spcPct val="0"/>
      </a:spcBef>
      <a:spcAft>
        <a:spcPct val="0"/>
      </a:spcAft>
      <a:defRPr sz="4200" kern="1200">
        <a:solidFill>
          <a:srgbClr val="000000"/>
        </a:solidFill>
        <a:latin typeface="Gill Sans" panose="020B0502020104020203" charset="0"/>
        <a:ea typeface="ヒラギノ角ゴ ProN W3" panose="020B0300000000000000" charset="-128"/>
        <a:cs typeface="ヒラギノ角ゴ ProN W3" panose="020B0300000000000000" charset="-128"/>
        <a:sym typeface="Gill Sans" panose="020B0502020104020203" charset="0"/>
      </a:defRPr>
    </a:lvl5pPr>
    <a:lvl6pPr marL="2286000" algn="l" defTabSz="914400" rtl="0" eaLnBrk="1" latinLnBrk="0" hangingPunct="1">
      <a:defRPr sz="4200" kern="1200">
        <a:solidFill>
          <a:srgbClr val="000000"/>
        </a:solidFill>
        <a:latin typeface="Gill Sans" panose="020B0502020104020203" charset="0"/>
        <a:ea typeface="ヒラギノ角ゴ ProN W3" panose="020B0300000000000000" charset="-128"/>
        <a:cs typeface="ヒラギノ角ゴ ProN W3" panose="020B0300000000000000" charset="-128"/>
        <a:sym typeface="Gill Sans" panose="020B0502020104020203" charset="0"/>
      </a:defRPr>
    </a:lvl6pPr>
    <a:lvl7pPr marL="2743200" algn="l" defTabSz="914400" rtl="0" eaLnBrk="1" latinLnBrk="0" hangingPunct="1">
      <a:defRPr sz="4200" kern="1200">
        <a:solidFill>
          <a:srgbClr val="000000"/>
        </a:solidFill>
        <a:latin typeface="Gill Sans" panose="020B0502020104020203" charset="0"/>
        <a:ea typeface="ヒラギノ角ゴ ProN W3" panose="020B0300000000000000" charset="-128"/>
        <a:cs typeface="ヒラギノ角ゴ ProN W3" panose="020B0300000000000000" charset="-128"/>
        <a:sym typeface="Gill Sans" panose="020B0502020104020203" charset="0"/>
      </a:defRPr>
    </a:lvl7pPr>
    <a:lvl8pPr marL="3200400" algn="l" defTabSz="914400" rtl="0" eaLnBrk="1" latinLnBrk="0" hangingPunct="1">
      <a:defRPr sz="4200" kern="1200">
        <a:solidFill>
          <a:srgbClr val="000000"/>
        </a:solidFill>
        <a:latin typeface="Gill Sans" panose="020B0502020104020203" charset="0"/>
        <a:ea typeface="ヒラギノ角ゴ ProN W3" panose="020B0300000000000000" charset="-128"/>
        <a:cs typeface="ヒラギノ角ゴ ProN W3" panose="020B0300000000000000" charset="-128"/>
        <a:sym typeface="Gill Sans" panose="020B0502020104020203" charset="0"/>
      </a:defRPr>
    </a:lvl8pPr>
    <a:lvl9pPr marL="3657600" algn="l" defTabSz="914400" rtl="0" eaLnBrk="1" latinLnBrk="0" hangingPunct="1">
      <a:defRPr sz="4200" kern="1200">
        <a:solidFill>
          <a:srgbClr val="000000"/>
        </a:solidFill>
        <a:latin typeface="Gill Sans" panose="020B0502020104020203" charset="0"/>
        <a:ea typeface="ヒラギノ角ゴ ProN W3" panose="020B0300000000000000" charset="-128"/>
        <a:cs typeface="ヒラギノ角ゴ ProN W3" panose="020B0300000000000000" charset="-128"/>
        <a:sym typeface="Gill Sans" panose="020B0502020104020203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ali" initials="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132" autoAdjust="0"/>
    <p:restoredTop sz="96126" autoAdjust="0"/>
  </p:normalViewPr>
  <p:slideViewPr>
    <p:cSldViewPr showGuides="1">
      <p:cViewPr varScale="1">
        <p:scale>
          <a:sx n="116" d="100"/>
          <a:sy n="116" d="100"/>
        </p:scale>
        <p:origin x="1488" y="19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1" Type="http://schemas.openxmlformats.org/officeDocument/2006/relationships/font" Target="fonts/font1.fntdata"/><Relationship Id="rId70" Type="http://schemas.openxmlformats.org/officeDocument/2006/relationships/commentAuthors" Target="commentAuthors.xml"/><Relationship Id="rId7" Type="http://schemas.openxmlformats.org/officeDocument/2006/relationships/slide" Target="slides/slide4.xml"/><Relationship Id="rId69" Type="http://schemas.openxmlformats.org/officeDocument/2006/relationships/tableStyles" Target="tableStyles.xml"/><Relationship Id="rId68" Type="http://schemas.openxmlformats.org/officeDocument/2006/relationships/viewProps" Target="viewProps.xml"/><Relationship Id="rId67" Type="http://schemas.openxmlformats.org/officeDocument/2006/relationships/presProps" Target="presProps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0-09-09T20:15:22.938" idx="1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484245-4571-4C90-8BD5-DFDBDCB8E868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6485A2-FA6A-46DD-B3E5-15C95E45F6C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54000"/>
            <a:ext cx="11176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1397000"/>
            <a:ext cx="11176000" cy="5435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54000"/>
            <a:ext cx="11176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0" y="1397000"/>
            <a:ext cx="54864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397000"/>
            <a:ext cx="5486400" cy="5435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54000"/>
            <a:ext cx="11176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54000"/>
            <a:ext cx="111760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1397000"/>
            <a:ext cx="11176000" cy="5435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90000" y="254000"/>
            <a:ext cx="2794000" cy="6578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0" y="254000"/>
            <a:ext cx="8178800" cy="6578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rtl="0" fontAlgn="base">
        <a:spcBef>
          <a:spcPct val="0"/>
        </a:spcBef>
        <a:spcAft>
          <a:spcPct val="0"/>
        </a:spcAft>
        <a:defRPr sz="3600" b="0">
          <a:solidFill>
            <a:schemeClr val="tx1"/>
          </a:solidFill>
          <a:latin typeface="Times New Roman Regular" panose="02020603050405020304" charset="0"/>
          <a:ea typeface="Kaiti SC Regular" panose="02010600040101010101" charset="-122"/>
          <a:cs typeface="Times New Roman Regular" panose="02020603050405020304" charset="0"/>
          <a:sym typeface="Calibri Bold" charset="0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alibri Bold" charset="0"/>
          <a:ea typeface="ヒラギノ角ゴ ProN W6" panose="020B0300000000000000" charset="-128"/>
          <a:cs typeface="ヒラギノ角ゴ ProN W6" panose="020B0300000000000000" charset="-128"/>
          <a:sym typeface="Calibri Bold" charset="0"/>
        </a:defRPr>
      </a:lvl9pPr>
    </p:titleStyle>
    <p:bodyStyle>
      <a:lvl1pPr marL="254000" indent="-254000" algn="l" rtl="0" fontAlgn="base">
        <a:spcBef>
          <a:spcPts val="600"/>
        </a:spcBef>
        <a:spcAft>
          <a:spcPct val="0"/>
        </a:spcAft>
        <a:buClr>
          <a:srgbClr val="990000"/>
        </a:buClr>
        <a:buSzPct val="60000"/>
        <a:buFont typeface="Wingdings 2" panose="05020102010507070707" charset="2"/>
        <a:buChar char="¢"/>
        <a:defRPr sz="2400" b="0">
          <a:solidFill>
            <a:schemeClr val="tx1"/>
          </a:solidFill>
          <a:latin typeface="Times New Roman Regular" panose="02020603050405020304" charset="0"/>
          <a:ea typeface="Kaiti SC Regular" panose="02010600040101010101" charset="-122"/>
          <a:cs typeface="Times New Roman Regular" panose="02020603050405020304" charset="0"/>
          <a:sym typeface="Calibri Bold" charset="0"/>
        </a:defRPr>
      </a:lvl1pPr>
      <a:lvl2pPr marL="514350" indent="-234950" algn="l" rtl="0" fontAlgn="base">
        <a:spcBef>
          <a:spcPts val="500"/>
        </a:spcBef>
        <a:spcAft>
          <a:spcPct val="0"/>
        </a:spcAft>
        <a:buClr>
          <a:srgbClr val="990000"/>
        </a:buClr>
        <a:buSzPct val="110000"/>
        <a:buFont typeface="Wingdings" panose="05000000000000000000" pitchFamily="2" charset="2"/>
        <a:buChar char="§"/>
        <a:defRPr sz="2000" b="0">
          <a:solidFill>
            <a:schemeClr val="tx1"/>
          </a:solidFill>
          <a:latin typeface="Times New Roman Regular" panose="02020603050405020304" charset="0"/>
          <a:ea typeface="Kaiti SC Regular" panose="02010600040101010101" charset="-122"/>
          <a:cs typeface="Times New Roman Regular" panose="02020603050405020304" charset="0"/>
          <a:sym typeface="Calibri" pitchFamily="34" charset="0"/>
        </a:defRPr>
      </a:lvl2pPr>
      <a:lvl3pPr marL="800100" indent="-203200" algn="l" rtl="0" fontAlgn="base">
        <a:spcBef>
          <a:spcPts val="500"/>
        </a:spcBef>
        <a:spcAft>
          <a:spcPct val="0"/>
        </a:spcAft>
        <a:buClr>
          <a:srgbClr val="000000"/>
        </a:buClr>
        <a:buSzPct val="80000"/>
        <a:buFont typeface="Wingdings" panose="05000000000000000000" pitchFamily="2" charset="2"/>
        <a:buChar char="§"/>
        <a:defRPr sz="2000" b="0">
          <a:solidFill>
            <a:schemeClr val="tx1"/>
          </a:solidFill>
          <a:latin typeface="Times New Roman Regular" panose="02020603050405020304" charset="0"/>
          <a:ea typeface="Kaiti SC Regular" panose="02010600040101010101" charset="-122"/>
          <a:cs typeface="Times New Roman Regular" panose="02020603050405020304" charset="0"/>
          <a:sym typeface="Calibri" pitchFamily="34" charset="0"/>
        </a:defRPr>
      </a:lvl3pPr>
      <a:lvl4pPr marL="11430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–"/>
        <a:defRPr sz="2000" b="0">
          <a:solidFill>
            <a:schemeClr val="tx1"/>
          </a:solidFill>
          <a:latin typeface="Times New Roman Regular" panose="02020603050405020304" charset="0"/>
          <a:ea typeface="Kaiti SC Regular" panose="02010600040101010101" charset="-122"/>
          <a:cs typeface="Times New Roman Regular" panose="02020603050405020304" charset="0"/>
          <a:sym typeface="Calibri" pitchFamily="34" charset="0"/>
        </a:defRPr>
      </a:lvl4pPr>
      <a:lvl5pPr marL="14605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 b="0">
          <a:solidFill>
            <a:schemeClr val="tx1"/>
          </a:solidFill>
          <a:latin typeface="Times New Roman Regular" panose="02020603050405020304" charset="0"/>
          <a:ea typeface="Kaiti SC Regular" panose="02010600040101010101" charset="-122"/>
          <a:cs typeface="Times New Roman Regular" panose="02020603050405020304" charset="0"/>
          <a:sym typeface="Calibri" pitchFamily="34" charset="0"/>
        </a:defRPr>
      </a:lvl5pPr>
      <a:lvl6pPr marL="19177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6pPr>
      <a:lvl7pPr marL="23749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7pPr>
      <a:lvl8pPr marL="28321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8pPr>
      <a:lvl9pPr marL="3289300" indent="-228600" algn="l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Calibri" pitchFamily="34" charset="0"/>
        <a:buChar char="»"/>
        <a:defRPr sz="2000">
          <a:solidFill>
            <a:schemeClr val="tx1"/>
          </a:solidFill>
          <a:latin typeface="Calibri" pitchFamily="34" charset="0"/>
          <a:ea typeface="ヒラギノ角ゴ ProN W3" panose="020B0300000000000000" charset="-128"/>
          <a:cs typeface="ヒラギノ角ゴ ProN W3" panose="020B0300000000000000" charset="-128"/>
          <a:sym typeface="Calibri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tags" Target="../tags/tag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zh-CN" altLang="en-US">
              <a:ea typeface="Microsoft YaHei" charset="0"/>
            </a:endParaRPr>
          </a:p>
        </p:txBody>
      </p:sp>
      <p:sp>
        <p:nvSpPr>
          <p:cNvPr id="8194" name="Rectangle 2"/>
          <p:cNvSpPr/>
          <p:nvPr/>
        </p:nvSpPr>
        <p:spPr bwMode="auto">
          <a:xfrm>
            <a:off x="9421813" y="-26988"/>
            <a:ext cx="1320800" cy="252413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r>
              <a:rPr lang="en-US" sz="1200">
                <a:solidFill>
                  <a:srgbClr val="FFFFFF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Times New Roman" panose="02020603050405020304" charset="0"/>
              </a:rPr>
              <a:t>Carnegie Mellon</a:t>
            </a:r>
            <a:endParaRPr lang="en-US" sz="1200">
              <a:solidFill>
                <a:srgbClr val="FFFFFF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Times New Roman" panose="02020603050405020304" charset="0"/>
            </a:endParaRP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dirty="0">
                <a:ea typeface="Microsoft YaHei" charset="0"/>
              </a:rPr>
              <a:t>Machine-Level Programming III:</a:t>
            </a:r>
            <a:br>
              <a:rPr lang="en-US" dirty="0">
                <a:ea typeface="Microsoft YaHei" charset="0"/>
              </a:rPr>
            </a:br>
            <a:r>
              <a:rPr lang="zh-CN" altLang="en-US" dirty="0">
                <a:ea typeface="Microsoft YaHei" charset="0"/>
              </a:rPr>
              <a:t>过程调用</a:t>
            </a:r>
            <a:br>
              <a:rPr lang="en-US" dirty="0">
                <a:ea typeface="Microsoft YaHei" charset="0"/>
              </a:rPr>
            </a:br>
            <a:br>
              <a:rPr lang="en-US" dirty="0">
                <a:ea typeface="Microsoft YaHei" charset="0"/>
              </a:rPr>
            </a:br>
            <a:r>
              <a:rPr lang="zh-CN" altLang="en-US" sz="2000" dirty="0">
                <a:ea typeface="Microsoft YaHei" charset="0"/>
              </a:rPr>
              <a:t>本课件基于</a:t>
            </a:r>
            <a:r>
              <a:rPr lang="en-US" sz="2000" dirty="0">
                <a:ea typeface="Microsoft YaHei" charset="0"/>
              </a:rPr>
              <a:t> csapp.cs.cmu.edu</a:t>
            </a:r>
            <a:r>
              <a:rPr lang="zh-CN" altLang="en-US" sz="2000" dirty="0">
                <a:ea typeface="Microsoft YaHei" charset="0"/>
              </a:rPr>
              <a:t>上的课件进行修改</a:t>
            </a:r>
            <a:endParaRPr lang="zh-CN" altLang="en-US" sz="2000" dirty="0">
              <a:ea typeface="Microsoft YaHei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>
                <a:ea typeface="Microsoft YaHei" charset="0"/>
                <a:cs typeface="Times New Roman Regular" panose="02020603050405020304" charset="0"/>
              </a:rPr>
              <a:t>过程调用的机理</a:t>
            </a:r>
            <a:endParaRPr lang="zh-CN" altLang="en-US" b="0" dirty="0">
              <a:ea typeface="Microsoft YaHei" charset="0"/>
              <a:cs typeface="Times New Roman Regular" panose="02020603050405020304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ea typeface="Microsoft YaHei" charset="0"/>
                <a:cs typeface="Times New Roman Regular" panose="02020603050405020304" charset="0"/>
              </a:rPr>
              <a:t>传递控制</a:t>
            </a:r>
            <a:endParaRPr lang="en-US" dirty="0">
              <a:ea typeface="Microsoft YaHei" charset="0"/>
              <a:cs typeface="Times New Roman Regular" panose="02020603050405020304" charset="0"/>
            </a:endParaRPr>
          </a:p>
          <a:p>
            <a:pPr lvl="1"/>
            <a:r>
              <a:rPr lang="zh-CN" altLang="en-US" dirty="0">
                <a:ea typeface="Microsoft YaHei" charset="0"/>
                <a:cs typeface="Times New Roman Regular" panose="02020603050405020304" charset="0"/>
              </a:rPr>
              <a:t>跳转到被调用函数</a:t>
            </a:r>
            <a:endParaRPr lang="en-US" dirty="0">
              <a:ea typeface="Microsoft YaHei" charset="0"/>
              <a:cs typeface="Times New Roman Regular" panose="02020603050405020304" charset="0"/>
            </a:endParaRPr>
          </a:p>
          <a:p>
            <a:pPr lvl="1"/>
            <a:r>
              <a:rPr lang="zh-CN" altLang="en-US" dirty="0">
                <a:ea typeface="Microsoft YaHei" charset="0"/>
                <a:cs typeface="Times New Roman Regular" panose="02020603050405020304" charset="0"/>
              </a:rPr>
              <a:t>返回到调用点的下一条语句</a:t>
            </a:r>
            <a:endParaRPr lang="en-US" dirty="0">
              <a:ea typeface="Microsoft YaHei" charset="0"/>
              <a:cs typeface="Times New Roman Regular" panose="02020603050405020304" charset="0"/>
            </a:endParaRPr>
          </a:p>
          <a:p>
            <a:r>
              <a:rPr lang="zh-CN" altLang="en-US" dirty="0">
                <a:ea typeface="Microsoft YaHei" charset="0"/>
                <a:cs typeface="Times New Roman Regular" panose="02020603050405020304" charset="0"/>
              </a:rPr>
              <a:t>传递数据</a:t>
            </a:r>
            <a:endParaRPr lang="en-US" dirty="0">
              <a:ea typeface="Microsoft YaHei" charset="0"/>
              <a:cs typeface="Times New Roman Regular" panose="02020603050405020304" charset="0"/>
            </a:endParaRPr>
          </a:p>
          <a:p>
            <a:pPr lvl="1"/>
            <a:r>
              <a:rPr lang="zh-CN" altLang="en-US" dirty="0">
                <a:ea typeface="Microsoft YaHei" charset="0"/>
                <a:cs typeface="Times New Roman Regular" panose="02020603050405020304" charset="0"/>
              </a:rPr>
              <a:t>参数</a:t>
            </a:r>
            <a:endParaRPr lang="en-US" dirty="0">
              <a:ea typeface="Microsoft YaHei" charset="0"/>
              <a:cs typeface="Times New Roman Regular" panose="02020603050405020304" charset="0"/>
            </a:endParaRPr>
          </a:p>
          <a:p>
            <a:pPr lvl="1"/>
            <a:r>
              <a:rPr lang="zh-CN" altLang="en-US" dirty="0">
                <a:ea typeface="Microsoft YaHei" charset="0"/>
                <a:cs typeface="Times New Roman Regular" panose="02020603050405020304" charset="0"/>
              </a:rPr>
              <a:t>返回值</a:t>
            </a:r>
            <a:endParaRPr lang="en-US" dirty="0">
              <a:ea typeface="Microsoft YaHei" charset="0"/>
              <a:cs typeface="Times New Roman Regular" panose="02020603050405020304" charset="0"/>
            </a:endParaRPr>
          </a:p>
          <a:p>
            <a:r>
              <a:rPr lang="zh-CN" altLang="en-US" dirty="0">
                <a:ea typeface="Microsoft YaHei" charset="0"/>
                <a:cs typeface="Times New Roman Regular" panose="02020603050405020304" charset="0"/>
              </a:rPr>
              <a:t>内存管理</a:t>
            </a:r>
            <a:endParaRPr lang="en-US" dirty="0">
              <a:ea typeface="Microsoft YaHei" charset="0"/>
              <a:cs typeface="Times New Roman Regular" panose="02020603050405020304" charset="0"/>
            </a:endParaRPr>
          </a:p>
          <a:p>
            <a:pPr lvl="1"/>
            <a:r>
              <a:rPr lang="zh-CN" altLang="en-US" dirty="0">
                <a:ea typeface="Microsoft YaHei" charset="0"/>
                <a:cs typeface="Times New Roman Regular" panose="02020603050405020304" charset="0"/>
              </a:rPr>
              <a:t>进入函数时分配</a:t>
            </a:r>
            <a:endParaRPr lang="en-US" dirty="0">
              <a:ea typeface="Microsoft YaHei" charset="0"/>
              <a:cs typeface="Times New Roman Regular" panose="02020603050405020304" charset="0"/>
            </a:endParaRPr>
          </a:p>
          <a:p>
            <a:pPr lvl="1"/>
            <a:r>
              <a:rPr lang="zh-CN" altLang="en-US" dirty="0">
                <a:ea typeface="Microsoft YaHei" charset="0"/>
                <a:cs typeface="Times New Roman Regular" panose="02020603050405020304" charset="0"/>
              </a:rPr>
              <a:t>退出函数时释放</a:t>
            </a:r>
            <a:endParaRPr lang="en-US" dirty="0">
              <a:ea typeface="Microsoft YaHei" charset="0"/>
              <a:cs typeface="Times New Roman Regular" panose="02020603050405020304" charset="0"/>
            </a:endParaRPr>
          </a:p>
          <a:p>
            <a:r>
              <a:rPr lang="zh-CN" altLang="en-US" dirty="0">
                <a:ea typeface="Microsoft YaHei" charset="0"/>
                <a:cs typeface="Times New Roman Regular" panose="02020603050405020304" charset="0"/>
              </a:rPr>
              <a:t>上述三个任务都用机器指令实现</a:t>
            </a:r>
            <a:endParaRPr lang="zh-CN" altLang="en-US" dirty="0">
              <a:ea typeface="Microsoft YaHei" charset="0"/>
              <a:cs typeface="Times New Roman Regular" panose="02020603050405020304" charset="0"/>
            </a:endParaRPr>
          </a:p>
          <a:p>
            <a:pPr marL="0" indent="0">
              <a:buNone/>
            </a:pPr>
            <a:endParaRPr lang="en-US" dirty="0">
              <a:ea typeface="Microsoft YaHei" charset="0"/>
              <a:cs typeface="Times New Roman Regular" panose="02020603050405020304" charset="0"/>
            </a:endParaRPr>
          </a:p>
        </p:txBody>
      </p:sp>
      <p:sp>
        <p:nvSpPr>
          <p:cNvPr id="8" name="Rectangle 4"/>
          <p:cNvSpPr/>
          <p:nvPr/>
        </p:nvSpPr>
        <p:spPr bwMode="auto">
          <a:xfrm>
            <a:off x="7772400" y="990600"/>
            <a:ext cx="18415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P(…) {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y = Q(x);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print(y)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}  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9" name="Rectangle 5"/>
          <p:cNvSpPr/>
          <p:nvPr/>
        </p:nvSpPr>
        <p:spPr bwMode="auto">
          <a:xfrm>
            <a:off x="7772400" y="3581400"/>
            <a:ext cx="2133600" cy="23622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Q(</a:t>
            </a:r>
            <a:r>
              <a:rPr lang="en-US" sz="1800" dirty="0" err="1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</a:t>
            </a:r>
            <a:r>
              <a:rPr lang="en-US" sz="1800" dirty="0" err="1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)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t = 3*</a:t>
            </a:r>
            <a:r>
              <a:rPr lang="en-US" sz="1800" dirty="0" err="1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i</a:t>
            </a:r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;  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int</a:t>
            </a:r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v[10];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return v[t];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7315200" y="2057400"/>
            <a:ext cx="2439034" cy="3352800"/>
            <a:chOff x="5334000" y="2057400"/>
            <a:chExt cx="3037288" cy="3352800"/>
          </a:xfrm>
        </p:grpSpPr>
        <p:sp>
          <p:nvSpPr>
            <p:cNvPr id="10" name="Arc 9"/>
            <p:cNvSpPr/>
            <p:nvPr/>
          </p:nvSpPr>
          <p:spPr bwMode="auto">
            <a:xfrm>
              <a:off x="6286859" y="2057400"/>
              <a:ext cx="2084429" cy="1686560"/>
            </a:xfrm>
            <a:prstGeom prst="arc">
              <a:avLst>
                <a:gd name="adj1" fmla="val 16200000"/>
                <a:gd name="adj2" fmla="val 4798460"/>
              </a:avLst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Gill Sans" panose="020B0502020104020203" charset="0"/>
              </a:endParaRPr>
            </a:p>
          </p:txBody>
        </p:sp>
        <p:sp>
          <p:nvSpPr>
            <p:cNvPr id="11" name="Arc 10"/>
            <p:cNvSpPr/>
            <p:nvPr/>
          </p:nvSpPr>
          <p:spPr bwMode="auto">
            <a:xfrm rot="10800000">
              <a:off x="5334000" y="2362200"/>
              <a:ext cx="1371600" cy="3048000"/>
            </a:xfrm>
            <a:prstGeom prst="arc">
              <a:avLst>
                <a:gd name="adj1" fmla="val 16200000"/>
                <a:gd name="adj2" fmla="val 5567493"/>
              </a:avLst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  <a:effectLst/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0" lang="en-US" sz="42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Gill Sans" panose="020B0502020104020203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8015605" y="2133600"/>
            <a:ext cx="655955" cy="3200400"/>
            <a:chOff x="6248400" y="2133600"/>
            <a:chExt cx="990600" cy="3200400"/>
          </a:xfrm>
        </p:grpSpPr>
        <p:cxnSp>
          <p:nvCxnSpPr>
            <p:cNvPr id="13" name="Straight Arrow Connector 12"/>
            <p:cNvCxnSpPr/>
            <p:nvPr/>
          </p:nvCxnSpPr>
          <p:spPr bwMode="auto">
            <a:xfrm>
              <a:off x="7010400" y="2133600"/>
              <a:ext cx="228600" cy="152400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cxnSp>
          <p:nvCxnSpPr>
            <p:cNvPr id="14" name="Straight Arrow Connector 13"/>
            <p:cNvCxnSpPr/>
            <p:nvPr/>
          </p:nvCxnSpPr>
          <p:spPr bwMode="auto">
            <a:xfrm flipH="1" flipV="1">
              <a:off x="6248400" y="2133600"/>
              <a:ext cx="914400" cy="320040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20" name="Rectangle 19"/>
          <p:cNvSpPr/>
          <p:nvPr/>
        </p:nvSpPr>
        <p:spPr bwMode="auto">
          <a:xfrm>
            <a:off x="8077200" y="4430395"/>
            <a:ext cx="1447800" cy="370205"/>
          </a:xfrm>
          <a:prstGeom prst="rect">
            <a:avLst/>
          </a:prstGeom>
          <a:solidFill>
            <a:schemeClr val="accent1">
              <a:alpha val="23000"/>
            </a:schemeClr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Gill Sans" panose="020B0502020104020203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ldLvl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dirty="0"/>
              <a:t>Today</a:t>
            </a:r>
            <a:endParaRPr lang="en-US" dirty="0"/>
          </a:p>
        </p:txBody>
      </p:sp>
      <p:sp>
        <p:nvSpPr>
          <p:cNvPr id="12292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Procedures </a:t>
            </a:r>
            <a:r>
              <a:rPr lang="zh-CN" alt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过程调用</a:t>
            </a:r>
            <a:endParaRPr lang="en-US" dirty="0"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1"/>
            <a:r>
              <a:rPr 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Stack Structure </a:t>
            </a:r>
            <a:r>
              <a:rPr lang="zh-CN" alt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栈结构</a:t>
            </a:r>
            <a:endParaRPr lang="en-US" dirty="0"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Calling Conventions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调用约定</a:t>
            </a:r>
            <a:endParaRPr lang="en-US" dirty="0">
              <a:solidFill>
                <a:schemeClr val="bg1">
                  <a:lumMod val="50000"/>
                </a:schemeClr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2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Passing control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传递控制</a:t>
            </a:r>
            <a:endParaRPr lang="en-US" dirty="0">
              <a:solidFill>
                <a:schemeClr val="bg1">
                  <a:lumMod val="50000"/>
                </a:schemeClr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2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Passing data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传递数据</a:t>
            </a:r>
            <a:endParaRPr lang="en-US" dirty="0">
              <a:solidFill>
                <a:schemeClr val="bg1">
                  <a:lumMod val="50000"/>
                </a:schemeClr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2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Managing local data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管理局部数据（内存管理）</a:t>
            </a:r>
            <a:endParaRPr lang="en-US" dirty="0">
              <a:solidFill>
                <a:schemeClr val="bg1">
                  <a:lumMod val="50000"/>
                </a:schemeClr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1"/>
            <a:r>
              <a:rPr lang="en-US" dirty="0">
                <a:solidFill>
                  <a:srgbClr val="7F7F7F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Illustration of Recursion </a:t>
            </a:r>
            <a:r>
              <a:rPr lang="zh-CN" altLang="en-US" dirty="0">
                <a:solidFill>
                  <a:srgbClr val="7F7F7F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递归调用的</a:t>
            </a:r>
            <a:r>
              <a:rPr lang="zh-CN" altLang="en-US" dirty="0">
                <a:solidFill>
                  <a:srgbClr val="7F7F7F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说明</a:t>
            </a:r>
            <a:endParaRPr lang="zh-CN" altLang="en-US" dirty="0">
              <a:solidFill>
                <a:srgbClr val="7F7F7F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dirty="0"/>
              <a:t>x86-64 </a:t>
            </a:r>
            <a:r>
              <a:rPr lang="zh-CN" altLang="en-US" dirty="0"/>
              <a:t>栈</a:t>
            </a:r>
            <a:r>
              <a:rPr lang="zh-CN" altLang="en-US" dirty="0"/>
              <a:t>内存</a:t>
            </a:r>
            <a:endParaRPr lang="zh-CN" altLang="en-US" dirty="0"/>
          </a:p>
        </p:txBody>
      </p:sp>
      <p:sp>
        <p:nvSpPr>
          <p:cNvPr id="41988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用栈的风格进行管理的</a:t>
            </a:r>
            <a:r>
              <a:rPr lang="zh-CN" alt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那部分内存区域</a:t>
            </a:r>
            <a:endParaRPr lang="en-US" dirty="0"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1"/>
            <a:r>
              <a:rPr lang="zh-CN" alt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栈地址的增长方向：往低地址增长</a:t>
            </a:r>
            <a:endParaRPr lang="en-US" dirty="0"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r>
              <a:rPr 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RSP</a:t>
            </a:r>
            <a:r>
              <a:rPr lang="zh-CN" alt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寄存器中存放当前栈的最低地址</a:t>
            </a:r>
            <a:endParaRPr lang="en-US" dirty="0"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marL="552450" lvl="1"/>
            <a:r>
              <a:rPr lang="zh-CN" alt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也可以视为栈顶元素的地址</a:t>
            </a:r>
            <a:endParaRPr lang="en-US" dirty="0"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marL="552450" lvl="1"/>
            <a:endParaRPr lang="en-US" dirty="0"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marL="95250" lvl="0"/>
            <a:endParaRPr lang="zh-CN" altLang="en-US" dirty="0">
              <a:solidFill>
                <a:srgbClr val="00B050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marL="95250" lvl="0"/>
            <a:endParaRPr lang="zh-CN" altLang="en-US" dirty="0">
              <a:solidFill>
                <a:srgbClr val="00B050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marL="95250" lvl="0"/>
            <a:r>
              <a:rPr lang="zh-CN" altLang="en-US" dirty="0">
                <a:solidFill>
                  <a:srgbClr val="00B050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思考二者的</a:t>
            </a:r>
            <a:r>
              <a:rPr lang="zh-CN" altLang="en-US" dirty="0">
                <a:solidFill>
                  <a:srgbClr val="00B050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关联</a:t>
            </a:r>
            <a:endParaRPr lang="zh-CN" altLang="en-US" dirty="0">
              <a:solidFill>
                <a:srgbClr val="00B050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marL="552450" lvl="1"/>
            <a:r>
              <a:rPr lang="zh-CN" altLang="en-US" dirty="0">
                <a:solidFill>
                  <a:srgbClr val="00B050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数据结构中的“</a:t>
            </a:r>
            <a:r>
              <a:rPr lang="zh-CN" altLang="en-US" dirty="0">
                <a:solidFill>
                  <a:srgbClr val="00B050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栈”</a:t>
            </a:r>
            <a:endParaRPr lang="zh-CN" altLang="en-US" dirty="0">
              <a:solidFill>
                <a:srgbClr val="00B050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marL="552450" lvl="1"/>
            <a:r>
              <a:rPr lang="zh-CN" altLang="en-US" dirty="0">
                <a:solidFill>
                  <a:srgbClr val="00B050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过程调用中的运行时</a:t>
            </a:r>
            <a:r>
              <a:rPr lang="zh-CN" altLang="en-US" dirty="0">
                <a:solidFill>
                  <a:srgbClr val="00B050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栈</a:t>
            </a:r>
            <a:endParaRPr lang="zh-CN" altLang="en-US" dirty="0">
              <a:solidFill>
                <a:srgbClr val="00B050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</p:txBody>
      </p:sp>
      <p:grpSp>
        <p:nvGrpSpPr>
          <p:cNvPr id="41989" name="Group 5"/>
          <p:cNvGrpSpPr/>
          <p:nvPr/>
        </p:nvGrpSpPr>
        <p:grpSpPr bwMode="auto">
          <a:xfrm>
            <a:off x="5175537" y="1066800"/>
            <a:ext cx="5144745" cy="5013325"/>
            <a:chOff x="748" y="0"/>
            <a:chExt cx="3240" cy="3158"/>
          </a:xfrm>
        </p:grpSpPr>
        <p:sp>
          <p:nvSpPr>
            <p:cNvPr id="41990" name="Line 6"/>
            <p:cNvSpPr>
              <a:spLocks noChangeShapeType="1"/>
            </p:cNvSpPr>
            <p:nvPr/>
          </p:nvSpPr>
          <p:spPr bwMode="auto">
            <a:xfrm>
              <a:off x="1967" y="2496"/>
              <a:ext cx="320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1" name="Rectangle 7"/>
            <p:cNvSpPr/>
            <p:nvPr/>
          </p:nvSpPr>
          <p:spPr bwMode="auto">
            <a:xfrm>
              <a:off x="748" y="2350"/>
              <a:ext cx="1199" cy="280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pPr algn="r"/>
              <a:r>
                <a:rPr lang="zh-CN" alt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栈指针</a:t>
              </a:r>
              <a:r>
                <a:rPr 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: </a:t>
              </a:r>
              <a:r>
                <a:rPr lang="en-US" sz="24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24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rsp</a:t>
              </a:r>
              <a:endParaRPr lang="en-US" sz="24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  <p:sp>
          <p:nvSpPr>
            <p:cNvPr id="41992" name="Rectangle 8"/>
            <p:cNvSpPr/>
            <p:nvPr/>
          </p:nvSpPr>
          <p:spPr bwMode="auto">
            <a:xfrm>
              <a:off x="2361" y="576"/>
              <a:ext cx="822" cy="2016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3" name="Line 9"/>
            <p:cNvSpPr>
              <a:spLocks noChangeShapeType="1"/>
            </p:cNvSpPr>
            <p:nvPr/>
          </p:nvSpPr>
          <p:spPr bwMode="auto">
            <a:xfrm>
              <a:off x="3322" y="1824"/>
              <a:ext cx="0" cy="864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4" name="Rectangle 10"/>
            <p:cNvSpPr/>
            <p:nvPr/>
          </p:nvSpPr>
          <p:spPr bwMode="auto">
            <a:xfrm>
              <a:off x="3340" y="1918"/>
              <a:ext cx="648" cy="576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r>
                <a:rPr lang="zh-CN" altLang="en-US" sz="1800">
                  <a:solidFill>
                    <a:schemeClr val="tx1"/>
                  </a:solidFill>
                  <a:latin typeface="Calibri" pitchFamily="34" charset="0"/>
                  <a:ea typeface="Calibri" pitchFamily="34" charset="0"/>
                  <a:cs typeface="Calibri" pitchFamily="34" charset="0"/>
                  <a:sym typeface="Calibri" pitchFamily="34" charset="0"/>
                </a:rPr>
                <a:t>栈地址向下</a:t>
              </a:r>
              <a:r>
                <a:rPr lang="zh-CN" altLang="en-US" sz="1800">
                  <a:solidFill>
                    <a:schemeClr val="tx1"/>
                  </a:solidFill>
                  <a:latin typeface="Calibri" pitchFamily="34" charset="0"/>
                  <a:ea typeface="Calibri" pitchFamily="34" charset="0"/>
                  <a:cs typeface="Calibri" pitchFamily="34" charset="0"/>
                  <a:sym typeface="Calibri" pitchFamily="34" charset="0"/>
                </a:rPr>
                <a:t>增长</a:t>
              </a:r>
              <a:endParaRPr lang="zh-CN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endParaRPr>
            </a:p>
          </p:txBody>
        </p:sp>
        <p:sp>
          <p:nvSpPr>
            <p:cNvPr id="41995" name="Line 11"/>
            <p:cNvSpPr>
              <a:spLocks noChangeShapeType="1"/>
            </p:cNvSpPr>
            <p:nvPr/>
          </p:nvSpPr>
          <p:spPr bwMode="auto">
            <a:xfrm rot="10800000" flipH="1">
              <a:off x="3322" y="432"/>
              <a:ext cx="0" cy="912"/>
            </a:xfrm>
            <a:prstGeom prst="line">
              <a:avLst/>
            </a:prstGeom>
            <a:noFill/>
            <a:ln w="381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6" name="Rectangle 12"/>
            <p:cNvSpPr/>
            <p:nvPr/>
          </p:nvSpPr>
          <p:spPr bwMode="auto">
            <a:xfrm>
              <a:off x="3346" y="690"/>
              <a:ext cx="624" cy="222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zh-CN" altLang="en-US" sz="1800">
                  <a:solidFill>
                    <a:schemeClr val="tx1"/>
                  </a:solidFill>
                  <a:latin typeface="Calibri" pitchFamily="34" charset="0"/>
                  <a:ea typeface="Calibri" pitchFamily="34" charset="0"/>
                  <a:cs typeface="Calibri" pitchFamily="34" charset="0"/>
                  <a:sym typeface="Calibri" pitchFamily="34" charset="0"/>
                </a:rPr>
                <a:t>地址</a:t>
              </a:r>
              <a:r>
                <a:rPr lang="zh-CN" altLang="en-US" sz="1800">
                  <a:solidFill>
                    <a:schemeClr val="tx1"/>
                  </a:solidFill>
                  <a:latin typeface="Calibri" pitchFamily="34" charset="0"/>
                  <a:ea typeface="Calibri" pitchFamily="34" charset="0"/>
                  <a:cs typeface="Calibri" pitchFamily="34" charset="0"/>
                  <a:sym typeface="Calibri" pitchFamily="34" charset="0"/>
                </a:rPr>
                <a:t>增长</a:t>
              </a:r>
              <a:endParaRPr lang="zh-CN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endParaRPr>
            </a:p>
          </p:txBody>
        </p:sp>
        <p:sp>
          <p:nvSpPr>
            <p:cNvPr id="41997" name="Rectangle 13"/>
            <p:cNvSpPr/>
            <p:nvPr/>
          </p:nvSpPr>
          <p:spPr bwMode="auto">
            <a:xfrm>
              <a:off x="2377" y="2878"/>
              <a:ext cx="790" cy="280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zh-CN" altLang="en-US" sz="240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栈</a:t>
              </a:r>
              <a:r>
                <a:rPr lang="en-US" sz="240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“Top”</a:t>
              </a:r>
              <a:endParaRPr lang="en-US" sz="240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endParaRPr>
            </a:p>
          </p:txBody>
        </p:sp>
        <p:sp>
          <p:nvSpPr>
            <p:cNvPr id="41998" name="Line 14"/>
            <p:cNvSpPr>
              <a:spLocks noChangeShapeType="1"/>
            </p:cNvSpPr>
            <p:nvPr/>
          </p:nvSpPr>
          <p:spPr bwMode="auto">
            <a:xfrm>
              <a:off x="2377" y="2400"/>
              <a:ext cx="816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1999" name="Rectangle 15"/>
            <p:cNvSpPr/>
            <p:nvPr/>
          </p:nvSpPr>
          <p:spPr bwMode="auto">
            <a:xfrm>
              <a:off x="2223" y="0"/>
              <a:ext cx="1101" cy="280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zh-CN" altLang="en-US" sz="240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栈</a:t>
              </a:r>
              <a:r>
                <a:rPr lang="en-US" sz="240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“Bottom”</a:t>
              </a:r>
              <a:endParaRPr lang="en-US" sz="240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endParaRPr>
            </a:p>
          </p:txBody>
        </p:sp>
        <p:sp>
          <p:nvSpPr>
            <p:cNvPr id="42000" name="AutoShape 16"/>
            <p:cNvSpPr/>
            <p:nvPr/>
          </p:nvSpPr>
          <p:spPr bwMode="auto">
            <a:xfrm>
              <a:off x="2576" y="288"/>
              <a:ext cx="384" cy="240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 w="25400" cap="flat">
              <a:noFill/>
              <a:round/>
              <a:headEnd type="none" w="med" len="med"/>
              <a:tailEnd type="triangl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2001" name="AutoShape 17"/>
            <p:cNvSpPr/>
            <p:nvPr/>
          </p:nvSpPr>
          <p:spPr bwMode="auto">
            <a:xfrm rot="10800000" flipH="1">
              <a:off x="2576" y="2640"/>
              <a:ext cx="384" cy="240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 w="25400" cap="flat">
              <a:noFill/>
              <a:round/>
              <a:headEnd type="none" w="med" len="med"/>
              <a:tailEnd type="triangl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</p:grp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25" name="Rectangle 17"/>
          <p:cNvSpPr/>
          <p:nvPr/>
        </p:nvSpPr>
        <p:spPr bwMode="auto">
          <a:xfrm>
            <a:off x="7737475" y="1971675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1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b="0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x86-64 </a:t>
            </a:r>
            <a:r>
              <a:rPr lang="zh-CN" altLang="en-US" b="0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栈内存</a:t>
            </a:r>
            <a:r>
              <a:rPr lang="en-US" b="0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: Push </a:t>
            </a:r>
            <a:r>
              <a:rPr lang="zh-CN" altLang="en-US" b="0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入栈</a:t>
            </a:r>
            <a:endParaRPr lang="zh-CN" altLang="en-US" b="0" dirty="0"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</p:txBody>
      </p:sp>
      <p:sp>
        <p:nvSpPr>
          <p:cNvPr id="43016" name="Rectangle 8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pushq</a:t>
            </a:r>
            <a:r>
              <a:rPr 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 </a:t>
            </a:r>
            <a:r>
              <a:rPr lang="en-US" altLang="zh-CN" dirty="0" err="1">
                <a:ea typeface="Kaiti SC Bold" panose="02010600040101010101" charset="-122"/>
                <a:sym typeface="Calibri Italic" charset="0"/>
              </a:rPr>
              <a:t>R</a:t>
            </a:r>
            <a:r>
              <a:rPr lang="en-US" altLang="zh-CN" baseline="-25000" dirty="0" err="1">
                <a:ea typeface="Kaiti SC Bold" panose="02010600040101010101" charset="-122"/>
                <a:sym typeface="Calibri Italic" charset="0"/>
              </a:rPr>
              <a:t>Src</a:t>
            </a:r>
            <a:endParaRPr lang="en-US" dirty="0"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  <a:sym typeface="Courier New Bold" panose="02070609020205020404" charset="0"/>
            </a:endParaRPr>
          </a:p>
          <a:p>
            <a:pPr marL="552450" lvl="1"/>
            <a:r>
              <a:rPr lang="zh-CN" alt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调整栈顶指针</a:t>
            </a:r>
            <a:r>
              <a:rPr 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%</a:t>
            </a:r>
            <a:r>
              <a:rPr lang="en-US" dirty="0" err="1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rsp</a:t>
            </a:r>
            <a:r>
              <a:rPr 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+mn-ea"/>
              </a:rPr>
              <a:t>  = </a:t>
            </a:r>
            <a:r>
              <a:rPr 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%</a:t>
            </a:r>
            <a:r>
              <a:rPr lang="en-US" dirty="0" err="1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rsp</a:t>
            </a:r>
            <a:r>
              <a:rPr 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+mn-ea"/>
              </a:rPr>
              <a:t>  -8</a:t>
            </a:r>
            <a:endParaRPr lang="en-US" dirty="0"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  <a:sym typeface="+mn-ea"/>
            </a:endParaRPr>
          </a:p>
          <a:p>
            <a:pPr marL="552450" lvl="1"/>
            <a:r>
              <a:rPr lang="zh-CN" altLang="en-US" dirty="0" err="1">
                <a:ea typeface="Kaiti SC Bold" panose="02010600040101010101" charset="-122"/>
                <a:sym typeface="Calibri Italic" charset="0"/>
              </a:rPr>
              <a:t>读取</a:t>
            </a:r>
            <a:r>
              <a:rPr lang="zh-CN" altLang="en-US" dirty="0" err="1">
                <a:solidFill>
                  <a:srgbClr val="00B050"/>
                </a:solidFill>
                <a:ea typeface="Kaiti SC Bold" panose="02010600040101010101" charset="-122"/>
                <a:sym typeface="Calibri Italic" charset="0"/>
              </a:rPr>
              <a:t>寄存器</a:t>
            </a:r>
            <a:r>
              <a:rPr lang="en-US" altLang="zh-CN" dirty="0" err="1">
                <a:ea typeface="Kaiti SC Bold" panose="02010600040101010101" charset="-122"/>
                <a:sym typeface="Calibri Italic" charset="0"/>
              </a:rPr>
              <a:t>R</a:t>
            </a:r>
            <a:r>
              <a:rPr lang="en-US" altLang="zh-CN" baseline="-25000" dirty="0" err="1">
                <a:ea typeface="Kaiti SC Bold" panose="02010600040101010101" charset="-122"/>
                <a:sym typeface="Calibri Italic" charset="0"/>
              </a:rPr>
              <a:t>Src</a:t>
            </a:r>
            <a:r>
              <a:rPr lang="zh-CN" altLang="en-US" dirty="0" err="1">
                <a:ea typeface="Kaiti SC Bold" panose="02010600040101010101" charset="-122"/>
                <a:sym typeface="Calibri Italic" charset="0"/>
              </a:rPr>
              <a:t>的值</a:t>
            </a:r>
            <a:endParaRPr lang="en-US" dirty="0"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  <a:sym typeface="+mn-ea"/>
            </a:endParaRPr>
          </a:p>
          <a:p>
            <a:pPr marL="552450" lvl="1"/>
            <a:r>
              <a:rPr lang="zh-CN" altLang="en-US" dirty="0" err="1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将值写入栈顶</a:t>
            </a:r>
            <a:r>
              <a:rPr lang="en-US" altLang="zh-CN" dirty="0">
                <a:solidFill>
                  <a:schemeClr val="tx1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[%rsp]</a:t>
            </a:r>
            <a:r>
              <a:rPr lang="zh-CN" altLang="en-US" dirty="0">
                <a:solidFill>
                  <a:schemeClr val="tx1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（</a:t>
            </a:r>
            <a:r>
              <a:rPr lang="zh-CN" altLang="en-US" dirty="0">
                <a:solidFill>
                  <a:srgbClr val="00B050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内存</a:t>
            </a:r>
            <a:r>
              <a:rPr lang="zh-CN" altLang="en-US" dirty="0">
                <a:solidFill>
                  <a:schemeClr val="tx1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）</a:t>
            </a:r>
            <a:endParaRPr lang="zh-CN" altLang="en-US" dirty="0" err="1"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  <a:sym typeface="Courier New Bold" panose="02070609020205020404" charset="0"/>
            </a:endParaRPr>
          </a:p>
          <a:p>
            <a:pPr marL="95250" lvl="0"/>
            <a:r>
              <a:rPr lang="en-US" altLang="zh-CN" dirty="0">
                <a:solidFill>
                  <a:srgbClr val="00B050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pushq</a:t>
            </a:r>
            <a:r>
              <a:rPr lang="zh-CN" altLang="en-US" dirty="0">
                <a:solidFill>
                  <a:srgbClr val="00B050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能否当</a:t>
            </a:r>
            <a:r>
              <a:rPr lang="zh-CN" altLang="en-US" dirty="0">
                <a:solidFill>
                  <a:srgbClr val="00B050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成伪指令（教材图</a:t>
            </a:r>
            <a:r>
              <a:rPr lang="en-US" altLang="zh-CN" dirty="0">
                <a:solidFill>
                  <a:srgbClr val="00B050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3.8</a:t>
            </a:r>
            <a:r>
              <a:rPr lang="zh-CN" altLang="en-US" dirty="0">
                <a:solidFill>
                  <a:srgbClr val="00B050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）</a:t>
            </a:r>
            <a:endParaRPr lang="en-US" altLang="zh-CN" dirty="0">
              <a:solidFill>
                <a:srgbClr val="00B050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  <a:sym typeface="Courier New Bold" panose="02070609020205020404" charset="0"/>
            </a:endParaRPr>
          </a:p>
          <a:p>
            <a:pPr marL="552450" lvl="1"/>
            <a:r>
              <a:rPr lang="en-US" altLang="zh-CN" dirty="0">
                <a:solidFill>
                  <a:srgbClr val="00B050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subq  8, %rsp</a:t>
            </a:r>
            <a:endParaRPr lang="en-US" altLang="zh-CN" dirty="0">
              <a:solidFill>
                <a:srgbClr val="00B050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  <a:sym typeface="Courier New Bold" panose="02070609020205020404" charset="0"/>
            </a:endParaRPr>
          </a:p>
          <a:p>
            <a:pPr marL="552450" lvl="1"/>
            <a:r>
              <a:rPr lang="en-US" altLang="zh-CN" dirty="0">
                <a:solidFill>
                  <a:srgbClr val="00B050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movq  R</a:t>
            </a:r>
            <a:r>
              <a:rPr lang="en-US" altLang="zh-CN" baseline="-25000" dirty="0">
                <a:solidFill>
                  <a:srgbClr val="00B050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src</a:t>
            </a:r>
            <a:r>
              <a:rPr lang="en-US" altLang="zh-CN" dirty="0">
                <a:solidFill>
                  <a:srgbClr val="00B050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, (%rsp)</a:t>
            </a:r>
            <a:endParaRPr lang="en-US" altLang="zh-CN" dirty="0">
              <a:solidFill>
                <a:srgbClr val="00B050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43017" name="Line 9"/>
          <p:cNvSpPr>
            <a:spLocks noChangeShapeType="1"/>
          </p:cNvSpPr>
          <p:nvPr/>
        </p:nvSpPr>
        <p:spPr bwMode="auto">
          <a:xfrm>
            <a:off x="6654800" y="5029200"/>
            <a:ext cx="508000" cy="0"/>
          </a:xfrm>
          <a:prstGeom prst="line">
            <a:avLst/>
          </a:pr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43019" name="Group 11"/>
          <p:cNvGrpSpPr/>
          <p:nvPr/>
        </p:nvGrpSpPr>
        <p:grpSpPr bwMode="auto">
          <a:xfrm>
            <a:off x="6945313" y="5088194"/>
            <a:ext cx="2092325" cy="398206"/>
            <a:chOff x="-48" y="48"/>
            <a:chExt cx="1318" cy="250"/>
          </a:xfrm>
        </p:grpSpPr>
        <p:sp>
          <p:nvSpPr>
            <p:cNvPr id="43020" name="Rectangle 12"/>
            <p:cNvSpPr/>
            <p:nvPr/>
          </p:nvSpPr>
          <p:spPr bwMode="auto">
            <a:xfrm>
              <a:off x="450" y="106"/>
              <a:ext cx="820" cy="192"/>
            </a:xfrm>
            <a:prstGeom prst="rect">
              <a:avLst/>
            </a:prstGeom>
            <a:solidFill>
              <a:srgbClr val="8484E0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3021" name="Line 13"/>
            <p:cNvSpPr>
              <a:spLocks noChangeShapeType="1"/>
            </p:cNvSpPr>
            <p:nvPr/>
          </p:nvSpPr>
          <p:spPr bwMode="auto">
            <a:xfrm>
              <a:off x="56" y="251"/>
              <a:ext cx="320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3022" name="Rectangle 14"/>
            <p:cNvSpPr/>
            <p:nvPr/>
          </p:nvSpPr>
          <p:spPr bwMode="auto">
            <a:xfrm>
              <a:off x="215" y="48"/>
              <a:ext cx="169" cy="202"/>
            </a:xfrm>
            <a:prstGeom prst="rect">
              <a:avLst/>
            </a:prstGeom>
            <a:noFill/>
            <a:ln w="1905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en-US" sz="1600" dirty="0">
                  <a:solidFill>
                    <a:schemeClr val="tx1"/>
                  </a:solidFill>
                  <a:latin typeface="Calibri" pitchFamily="34" charset="0"/>
                  <a:ea typeface="Calibri" pitchFamily="34" charset="0"/>
                  <a:cs typeface="Calibri" pitchFamily="34" charset="0"/>
                  <a:sym typeface="Calibri" pitchFamily="34" charset="0"/>
                </a:rPr>
                <a:t>-8</a:t>
              </a:r>
              <a:endPara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endParaRPr>
            </a:p>
          </p:txBody>
        </p:sp>
        <p:sp>
          <p:nvSpPr>
            <p:cNvPr id="43023" name="AutoShape 15"/>
            <p:cNvSpPr/>
            <p:nvPr/>
          </p:nvSpPr>
          <p:spPr bwMode="auto">
            <a:xfrm>
              <a:off x="-48" y="53"/>
              <a:ext cx="232" cy="120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 w="25400" cap="flat">
              <a:noFill/>
              <a:round/>
              <a:headEnd type="none" w="med" len="med"/>
              <a:tailEnd type="triangl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43024" name="Line 16"/>
          <p:cNvSpPr>
            <a:spLocks noChangeShapeType="1"/>
          </p:cNvSpPr>
          <p:nvPr/>
        </p:nvSpPr>
        <p:spPr bwMode="auto">
          <a:xfrm>
            <a:off x="7162800" y="5012055"/>
            <a:ext cx="5080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6" name="Line 18"/>
          <p:cNvSpPr>
            <a:spLocks noChangeShapeType="1"/>
          </p:cNvSpPr>
          <p:nvPr/>
        </p:nvSpPr>
        <p:spPr bwMode="auto">
          <a:xfrm>
            <a:off x="9263063" y="3962400"/>
            <a:ext cx="0" cy="13716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7" name="Rectangle 19"/>
          <p:cNvSpPr/>
          <p:nvPr/>
        </p:nvSpPr>
        <p:spPr bwMode="auto">
          <a:xfrm>
            <a:off x="9407525" y="4111625"/>
            <a:ext cx="914400" cy="914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zh-CN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栈地址向下增长</a:t>
            </a:r>
            <a:endParaRPr lang="en-US" sz="18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sp>
        <p:nvSpPr>
          <p:cNvPr id="43028" name="Line 20"/>
          <p:cNvSpPr>
            <a:spLocks noChangeShapeType="1"/>
          </p:cNvSpPr>
          <p:nvPr/>
        </p:nvSpPr>
        <p:spPr bwMode="auto">
          <a:xfrm rot="10800000" flipH="1">
            <a:off x="9263063" y="1752600"/>
            <a:ext cx="0" cy="14478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29" name="Rectangle 21"/>
          <p:cNvSpPr/>
          <p:nvPr/>
        </p:nvSpPr>
        <p:spPr bwMode="auto">
          <a:xfrm>
            <a:off x="9421019" y="2162175"/>
            <a:ext cx="914400" cy="27686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18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地址增长</a:t>
            </a:r>
            <a:endParaRPr lang="en-US" sz="18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sp>
        <p:nvSpPr>
          <p:cNvPr id="43030" name="Line 22"/>
          <p:cNvSpPr>
            <a:spLocks noChangeShapeType="1"/>
          </p:cNvSpPr>
          <p:nvPr/>
        </p:nvSpPr>
        <p:spPr bwMode="auto">
          <a:xfrm>
            <a:off x="77358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3031" name="Rectangle 23"/>
          <p:cNvSpPr/>
          <p:nvPr/>
        </p:nvSpPr>
        <p:spPr bwMode="auto">
          <a:xfrm>
            <a:off x="7553960" y="1066800"/>
            <a:ext cx="1671955" cy="36893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zh-CN" altLang="en-US" sz="240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</a:t>
            </a:r>
            <a:r>
              <a:rPr lang="en-US" sz="240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“Bottom”</a:t>
            </a:r>
            <a:endParaRPr lang="en-US" sz="2400">
              <a:solidFill>
                <a:srgbClr val="262699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43032" name="AutoShape 24"/>
          <p:cNvSpPr/>
          <p:nvPr/>
        </p:nvSpPr>
        <p:spPr bwMode="auto">
          <a:xfrm>
            <a:off x="8078788" y="1524000"/>
            <a:ext cx="609600" cy="381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43033" name="Group 25"/>
          <p:cNvGrpSpPr/>
          <p:nvPr/>
        </p:nvGrpSpPr>
        <p:grpSpPr bwMode="auto">
          <a:xfrm>
            <a:off x="4647883" y="4724400"/>
            <a:ext cx="3743325" cy="1552575"/>
            <a:chOff x="507" y="0"/>
            <a:chExt cx="2358" cy="978"/>
          </a:xfrm>
        </p:grpSpPr>
        <p:sp>
          <p:nvSpPr>
            <p:cNvPr id="43034" name="Rectangle 26"/>
            <p:cNvSpPr/>
            <p:nvPr/>
          </p:nvSpPr>
          <p:spPr bwMode="auto">
            <a:xfrm>
              <a:off x="507" y="0"/>
              <a:ext cx="1152" cy="232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>
              <a:spAutoFit/>
            </a:bodyPr>
            <a:lstStyle/>
            <a:p>
              <a:pPr algn="r"/>
              <a:r>
                <a:rPr lang="zh-CN" alt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栈指针</a:t>
              </a:r>
              <a:r>
                <a:rPr 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: </a:t>
              </a:r>
              <a:r>
                <a:rPr lang="en-US" sz="24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24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rsp</a:t>
              </a:r>
              <a:endParaRPr lang="en-US" sz="24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  <p:sp>
          <p:nvSpPr>
            <p:cNvPr id="43035" name="Rectangle 27"/>
            <p:cNvSpPr/>
            <p:nvPr/>
          </p:nvSpPr>
          <p:spPr bwMode="auto">
            <a:xfrm>
              <a:off x="2123" y="746"/>
              <a:ext cx="742" cy="232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栈</a:t>
              </a:r>
              <a:r>
                <a:rPr lang="en-US" sz="2400" dirty="0">
                  <a:solidFill>
                    <a:srgbClr val="262699"/>
                  </a:solidFill>
                  <a:latin typeface="Calibri Bold" charset="0"/>
                  <a:ea typeface="Calibri Bold" charset="0"/>
                  <a:cs typeface="Calibri Bold" charset="0"/>
                  <a:sym typeface="Calibri Bold" charset="0"/>
                </a:rPr>
                <a:t>“Top”</a:t>
              </a:r>
              <a:endPara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endParaRPr>
            </a:p>
          </p:txBody>
        </p:sp>
        <p:sp>
          <p:nvSpPr>
            <p:cNvPr id="43036" name="AutoShape 28"/>
            <p:cNvSpPr/>
            <p:nvPr/>
          </p:nvSpPr>
          <p:spPr bwMode="auto">
            <a:xfrm rot="10800000" flipH="1">
              <a:off x="2296" y="506"/>
              <a:ext cx="384" cy="240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 w="25400" cap="flat">
              <a:noFill/>
              <a:round/>
              <a:headEnd type="none" w="med" len="med"/>
              <a:tailEnd type="triangl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AutoShape 1"/>
          <p:cNvSpPr/>
          <p:nvPr/>
        </p:nvSpPr>
        <p:spPr bwMode="auto">
          <a:xfrm rot="10800000" flipH="1">
            <a:off x="7632700" y="5257800"/>
            <a:ext cx="609600" cy="381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4" name="Line 2"/>
          <p:cNvSpPr>
            <a:spLocks noChangeShapeType="1"/>
          </p:cNvSpPr>
          <p:nvPr/>
        </p:nvSpPr>
        <p:spPr bwMode="auto">
          <a:xfrm>
            <a:off x="6654800" y="5029200"/>
            <a:ext cx="5080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5" name="Rectangle 3"/>
          <p:cNvSpPr/>
          <p:nvPr/>
        </p:nvSpPr>
        <p:spPr bwMode="auto">
          <a:xfrm>
            <a:off x="4794885" y="4797425"/>
            <a:ext cx="1828165" cy="36893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pPr algn="r"/>
            <a:r>
              <a:rPr lang="zh-CN" alt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栈指针</a:t>
            </a:r>
            <a:r>
              <a:rPr lang="en-US" sz="2400" dirty="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: </a:t>
            </a:r>
            <a:r>
              <a:rPr lang="en-US" sz="24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rsp</a:t>
            </a:r>
            <a:endParaRPr lang="en-US" sz="24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44036" name="Rectangle 4"/>
          <p:cNvSpPr/>
          <p:nvPr/>
        </p:nvSpPr>
        <p:spPr bwMode="auto">
          <a:xfrm>
            <a:off x="7280275" y="1981200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7" name="Line 5"/>
          <p:cNvSpPr>
            <a:spLocks noChangeShapeType="1"/>
          </p:cNvSpPr>
          <p:nvPr/>
        </p:nvSpPr>
        <p:spPr bwMode="auto">
          <a:xfrm>
            <a:off x="9034463" y="3962400"/>
            <a:ext cx="0" cy="13716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38" name="Rectangle 6"/>
          <p:cNvSpPr/>
          <p:nvPr/>
        </p:nvSpPr>
        <p:spPr bwMode="auto">
          <a:xfrm>
            <a:off x="9304655" y="4111625"/>
            <a:ext cx="1017270" cy="9144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r>
              <a:rPr lang="zh-CN" alt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栈地址向下增长</a:t>
            </a:r>
            <a:endParaRPr lang="zh-CN" altLang="en-US" sz="20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sp>
        <p:nvSpPr>
          <p:cNvPr id="44039" name="Line 7"/>
          <p:cNvSpPr>
            <a:spLocks noChangeShapeType="1"/>
          </p:cNvSpPr>
          <p:nvPr/>
        </p:nvSpPr>
        <p:spPr bwMode="auto">
          <a:xfrm rot="10800000" flipH="1">
            <a:off x="9034463" y="1752600"/>
            <a:ext cx="0" cy="1447800"/>
          </a:xfrm>
          <a:prstGeom prst="line">
            <a:avLst/>
          </a:prstGeom>
          <a:noFill/>
          <a:ln w="381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40" name="Rectangle 8"/>
          <p:cNvSpPr/>
          <p:nvPr/>
        </p:nvSpPr>
        <p:spPr bwMode="auto">
          <a:xfrm>
            <a:off x="9294019" y="2162175"/>
            <a:ext cx="1016000" cy="30734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pPr algn="ctr"/>
            <a:r>
              <a:rPr lang="zh-CN" altLang="en-US" sz="200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rPr>
              <a:t>地址增长</a:t>
            </a:r>
            <a:endParaRPr lang="zh-CN" altLang="en-US" sz="2000">
              <a:solidFill>
                <a:schemeClr val="tx1"/>
              </a:solidFill>
              <a:latin typeface="Calibri" pitchFamily="34" charset="0"/>
              <a:ea typeface="Calibri" pitchFamily="34" charset="0"/>
              <a:cs typeface="Calibri" pitchFamily="34" charset="0"/>
              <a:sym typeface="Calibri" pitchFamily="34" charset="0"/>
            </a:endParaRPr>
          </a:p>
        </p:txBody>
      </p:sp>
      <p:sp>
        <p:nvSpPr>
          <p:cNvPr id="44041" name="Rectangle 9"/>
          <p:cNvSpPr/>
          <p:nvPr/>
        </p:nvSpPr>
        <p:spPr bwMode="auto">
          <a:xfrm>
            <a:off x="7343776" y="5635625"/>
            <a:ext cx="1177925" cy="36893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zh-CN" altLang="en-US" sz="240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</a:t>
            </a:r>
            <a:r>
              <a:rPr lang="en-US" sz="240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“Top”</a:t>
            </a:r>
            <a:endParaRPr lang="en-US" sz="2400">
              <a:solidFill>
                <a:srgbClr val="262699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44042" name="Line 10"/>
          <p:cNvSpPr>
            <a:spLocks noChangeShapeType="1"/>
          </p:cNvSpPr>
          <p:nvPr/>
        </p:nvSpPr>
        <p:spPr bwMode="auto">
          <a:xfrm>
            <a:off x="7278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43" name="Rectangle 11"/>
          <p:cNvSpPr/>
          <p:nvPr/>
        </p:nvSpPr>
        <p:spPr bwMode="auto">
          <a:xfrm>
            <a:off x="7096760" y="1066800"/>
            <a:ext cx="1671955" cy="36893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>
            <a:spAutoFit/>
          </a:bodyPr>
          <a:lstStyle/>
          <a:p>
            <a:r>
              <a:rPr lang="zh-CN" altLang="en-US" sz="240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</a:t>
            </a:r>
            <a:r>
              <a:rPr lang="en-US" sz="240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“Bottom”</a:t>
            </a:r>
            <a:endParaRPr lang="en-US" sz="2400">
              <a:solidFill>
                <a:srgbClr val="262699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44044" name="AutoShape 12"/>
          <p:cNvSpPr/>
          <p:nvPr/>
        </p:nvSpPr>
        <p:spPr bwMode="auto">
          <a:xfrm>
            <a:off x="7621588" y="1524000"/>
            <a:ext cx="609600" cy="381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46" name="Rectangle 14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44051" name="Rectangle 19"/>
          <p:cNvSpPr>
            <a:spLocks noGrp="1" noChangeArrowheads="1"/>
          </p:cNvSpPr>
          <p:nvPr>
            <p:ph type="title"/>
          </p:nvPr>
        </p:nvSpPr>
        <p:spPr>
          <a:xfrm>
            <a:off x="1905000" y="330200"/>
            <a:ext cx="8382000" cy="794385"/>
          </a:xfrm>
        </p:spPr>
        <p:txBody>
          <a:bodyPr/>
          <a:lstStyle/>
          <a:p>
            <a:pPr marL="119380" indent="-119380"/>
            <a:r>
              <a:rPr lang="en-US" dirty="0">
                <a:latin typeface="Kaiti SC Bold" panose="02010600040101010101" charset="-122"/>
                <a:ea typeface="Kaiti SC Bold" panose="02010600040101010101" charset="-122"/>
                <a:cs typeface="Kaiti SC Bold" panose="02010600040101010101" charset="-122"/>
              </a:rPr>
              <a:t>x86-64 Stack: Pop </a:t>
            </a:r>
            <a:r>
              <a:rPr lang="zh-CN" altLang="en-US" dirty="0">
                <a:latin typeface="Kaiti SC Bold" panose="02010600040101010101" charset="-122"/>
                <a:ea typeface="Kaiti SC Bold" panose="02010600040101010101" charset="-122"/>
                <a:cs typeface="Kaiti SC Bold" panose="02010600040101010101" charset="-122"/>
              </a:rPr>
              <a:t>出栈</a:t>
            </a:r>
            <a:endParaRPr lang="zh-CN" altLang="en-US" dirty="0">
              <a:latin typeface="Kaiti SC Bold" panose="02010600040101010101" charset="-122"/>
              <a:ea typeface="Kaiti SC Bold" panose="02010600040101010101" charset="-122"/>
              <a:cs typeface="Kaiti SC Bold" panose="02010600040101010101" charset="-122"/>
            </a:endParaRPr>
          </a:p>
        </p:txBody>
      </p:sp>
      <p:sp>
        <p:nvSpPr>
          <p:cNvPr id="44052" name="Rectangle 20"/>
          <p:cNvSpPr/>
          <p:nvPr/>
        </p:nvSpPr>
        <p:spPr bwMode="auto">
          <a:xfrm>
            <a:off x="7280275" y="1981200"/>
            <a:ext cx="1304925" cy="3200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3" name="Line 21"/>
          <p:cNvSpPr>
            <a:spLocks noChangeShapeType="1"/>
          </p:cNvSpPr>
          <p:nvPr/>
        </p:nvSpPr>
        <p:spPr bwMode="auto">
          <a:xfrm>
            <a:off x="7278688" y="4876800"/>
            <a:ext cx="12954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grpSp>
        <p:nvGrpSpPr>
          <p:cNvPr id="44054" name="Group 22"/>
          <p:cNvGrpSpPr/>
          <p:nvPr/>
        </p:nvGrpSpPr>
        <p:grpSpPr bwMode="auto">
          <a:xfrm>
            <a:off x="6564313" y="4706938"/>
            <a:ext cx="649288" cy="322263"/>
            <a:chOff x="0" y="0"/>
            <a:chExt cx="409" cy="203"/>
          </a:xfrm>
        </p:grpSpPr>
        <p:sp>
          <p:nvSpPr>
            <p:cNvPr id="44055" name="Line 23"/>
            <p:cNvSpPr>
              <a:spLocks noChangeShapeType="1"/>
            </p:cNvSpPr>
            <p:nvPr/>
          </p:nvSpPr>
          <p:spPr bwMode="auto">
            <a:xfrm>
              <a:off x="56" y="10"/>
              <a:ext cx="320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44056" name="Rectangle 24"/>
            <p:cNvSpPr/>
            <p:nvPr/>
          </p:nvSpPr>
          <p:spPr bwMode="auto">
            <a:xfrm>
              <a:off x="213" y="0"/>
              <a:ext cx="196" cy="203"/>
            </a:xfrm>
            <a:prstGeom prst="rect">
              <a:avLst/>
            </a:prstGeom>
            <a:noFill/>
            <a:ln w="1905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>
              <a:spAutoFit/>
            </a:bodyPr>
            <a:lstStyle/>
            <a:p>
              <a:r>
                <a:rPr lang="en-US" sz="1600" dirty="0">
                  <a:solidFill>
                    <a:schemeClr val="tx1"/>
                  </a:solidFill>
                  <a:latin typeface="Calibri" pitchFamily="34" charset="0"/>
                  <a:ea typeface="Calibri" pitchFamily="34" charset="0"/>
                  <a:cs typeface="Calibri" pitchFamily="34" charset="0"/>
                  <a:sym typeface="Calibri" pitchFamily="34" charset="0"/>
                </a:rPr>
                <a:t>+8</a:t>
              </a:r>
              <a:endPara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0"/>
                <a:cs typeface="Calibri" pitchFamily="34" charset="0"/>
                <a:sym typeface="Calibri" pitchFamily="34" charset="0"/>
              </a:endParaRPr>
            </a:p>
          </p:txBody>
        </p:sp>
        <p:sp>
          <p:nvSpPr>
            <p:cNvPr id="44057" name="AutoShape 25"/>
            <p:cNvSpPr/>
            <p:nvPr/>
          </p:nvSpPr>
          <p:spPr bwMode="auto">
            <a:xfrm rot="10800000" flipH="1">
              <a:off x="0" y="53"/>
              <a:ext cx="232" cy="120"/>
            </a:xfrm>
            <a:custGeom>
              <a:avLst/>
              <a:gdLst>
                <a:gd name="T0" fmla="*/ 10800 w 21600"/>
                <a:gd name="T1" fmla="*/ 10800 h 21600"/>
              </a:gdLst>
              <a:ahLst/>
              <a:cxnLst>
                <a:cxn ang="0">
                  <a:pos x="T0" y="T1"/>
                </a:cxn>
              </a:cxnLst>
              <a:rect l="0" t="0" r="r" b="b"/>
              <a:pathLst>
                <a:path w="21600" h="21600">
                  <a:moveTo>
                    <a:pt x="0" y="10800"/>
                  </a:moveTo>
                  <a:lnTo>
                    <a:pt x="5400" y="10800"/>
                  </a:lnTo>
                  <a:lnTo>
                    <a:pt x="5400" y="0"/>
                  </a:lnTo>
                  <a:lnTo>
                    <a:pt x="16200" y="0"/>
                  </a:lnTo>
                  <a:lnTo>
                    <a:pt x="16200" y="10800"/>
                  </a:lnTo>
                  <a:lnTo>
                    <a:pt x="21600" y="10800"/>
                  </a:lnTo>
                  <a:lnTo>
                    <a:pt x="10800" y="21600"/>
                  </a:lnTo>
                  <a:close/>
                  <a:moveTo>
                    <a:pt x="0" y="10800"/>
                  </a:moveTo>
                </a:path>
              </a:pathLst>
            </a:custGeom>
            <a:solidFill>
              <a:srgbClr val="980002"/>
            </a:solidFill>
            <a:ln w="25400" cap="flat">
              <a:noFill/>
              <a:round/>
              <a:headEnd type="none" w="med" len="med"/>
              <a:tailEnd type="triangle" w="med" len="med"/>
            </a:ln>
            <a:effectLst>
              <a:outerShdw dist="76199" dir="2700000" algn="ctr" rotWithShape="0">
                <a:schemeClr val="bg2">
                  <a:alpha val="75000"/>
                </a:schemeClr>
              </a:outerShdw>
            </a:effectLst>
          </p:spPr>
          <p:txBody>
            <a:bodyPr lIns="0" tIns="0" rIns="0" bIns="0"/>
            <a:lstStyle/>
            <a:p>
              <a:endParaRPr lang="en-US"/>
            </a:p>
          </p:txBody>
        </p:sp>
      </p:grpSp>
      <p:sp>
        <p:nvSpPr>
          <p:cNvPr id="44058" name="Rectangle 26"/>
          <p:cNvSpPr/>
          <p:nvPr/>
        </p:nvSpPr>
        <p:spPr bwMode="auto">
          <a:xfrm>
            <a:off x="7278688" y="4876800"/>
            <a:ext cx="1301750" cy="3048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59" name="Rectangle 27"/>
          <p:cNvSpPr/>
          <p:nvPr/>
        </p:nvSpPr>
        <p:spPr bwMode="auto">
          <a:xfrm>
            <a:off x="7277100" y="4876800"/>
            <a:ext cx="1301750" cy="3048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4060" name="Freeform 28"/>
          <p:cNvSpPr/>
          <p:nvPr/>
        </p:nvSpPr>
        <p:spPr bwMode="auto">
          <a:xfrm>
            <a:off x="7631113" y="4953000"/>
            <a:ext cx="604837" cy="685800"/>
          </a:xfrm>
          <a:custGeom>
            <a:avLst/>
            <a:gdLst/>
            <a:ahLst/>
            <a:cxnLst>
              <a:cxn ang="0">
                <a:pos x="5263" y="6200"/>
              </a:cxn>
              <a:cxn ang="0">
                <a:pos x="5263" y="21600"/>
              </a:cxn>
              <a:cxn ang="0">
                <a:pos x="16144" y="21600"/>
              </a:cxn>
              <a:cxn ang="0">
                <a:pos x="16144" y="6400"/>
              </a:cxn>
              <a:cxn ang="0">
                <a:pos x="21600" y="6400"/>
              </a:cxn>
              <a:cxn ang="0">
                <a:pos x="10929" y="0"/>
              </a:cxn>
              <a:cxn ang="0">
                <a:pos x="0" y="6043"/>
              </a:cxn>
              <a:cxn ang="0">
                <a:pos x="5263" y="6200"/>
              </a:cxn>
              <a:cxn ang="0">
                <a:pos x="5263" y="6200"/>
              </a:cxn>
            </a:cxnLst>
            <a:rect l="0" t="0" r="r" b="b"/>
            <a:pathLst>
              <a:path w="21600" h="21600">
                <a:moveTo>
                  <a:pt x="5263" y="6200"/>
                </a:moveTo>
                <a:lnTo>
                  <a:pt x="5263" y="21600"/>
                </a:lnTo>
                <a:lnTo>
                  <a:pt x="16144" y="21600"/>
                </a:lnTo>
                <a:lnTo>
                  <a:pt x="16144" y="6400"/>
                </a:lnTo>
                <a:lnTo>
                  <a:pt x="21600" y="6400"/>
                </a:lnTo>
                <a:lnTo>
                  <a:pt x="10929" y="0"/>
                </a:lnTo>
                <a:lnTo>
                  <a:pt x="0" y="6043"/>
                </a:lnTo>
                <a:lnTo>
                  <a:pt x="5263" y="6200"/>
                </a:lnTo>
                <a:close/>
                <a:moveTo>
                  <a:pt x="5263" y="6200"/>
                </a:moveTo>
              </a:path>
            </a:pathLst>
          </a:custGeom>
          <a:solidFill>
            <a:srgbClr val="980002"/>
          </a:solidFill>
          <a:ln w="381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6" name="Rectangle 8"/>
          <p:cNvSpPr txBox="1">
            <a:spLocks noChangeArrowheads="1"/>
          </p:cNvSpPr>
          <p:nvPr/>
        </p:nvSpPr>
        <p:spPr bwMode="auto">
          <a:xfrm>
            <a:off x="1066800" y="1371600"/>
            <a:ext cx="5295265" cy="339217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t" anchorCtr="0" compatLnSpc="1"/>
          <a:lstStyle>
            <a:lvl1pPr marL="254000" indent="-254000" algn="l" rtl="0" fontAlgn="base"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60000"/>
              <a:buFont typeface="Wingdings 2" panose="05020102010507070707" charset="2"/>
              <a:buChar char="¢"/>
              <a:defRPr sz="2400" b="1">
                <a:solidFill>
                  <a:schemeClr val="tx1"/>
                </a:solidFill>
                <a:latin typeface="+mn-lt"/>
                <a:ea typeface="+mn-ea"/>
                <a:cs typeface="+mn-cs"/>
                <a:sym typeface="Calibri Bold" charset="0"/>
              </a:defRPr>
            </a:lvl1pPr>
            <a:lvl2pPr marL="514350" indent="-234950" algn="l" rtl="0" fontAlgn="base">
              <a:spcBef>
                <a:spcPts val="500"/>
              </a:spcBef>
              <a:spcAft>
                <a:spcPct val="0"/>
              </a:spcAft>
              <a:buClr>
                <a:srgbClr val="990000"/>
              </a:buClr>
              <a:buSzPct val="11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  <a:ea typeface="ヒラギノ角ゴ ProN W3" panose="020B0300000000000000" charset="-128"/>
                <a:cs typeface="ヒラギノ角ゴ ProN W3" panose="020B0300000000000000" charset="-128"/>
                <a:sym typeface="Calibri" pitchFamily="34" charset="0"/>
              </a:defRPr>
            </a:lvl2pPr>
            <a:lvl3pPr marL="800100" indent="-2032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alibri" pitchFamily="34" charset="0"/>
                <a:ea typeface="ヒラギノ角ゴ ProN W3" panose="020B0300000000000000" charset="-128"/>
                <a:cs typeface="ヒラギノ角ゴ ProN W3" panose="020B0300000000000000" charset="-128"/>
                <a:sym typeface="Calibri" pitchFamily="34" charset="0"/>
              </a:defRPr>
            </a:lvl3pPr>
            <a:lvl4pPr marL="11430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  <a:ea typeface="ヒラギノ角ゴ ProN W3" panose="020B0300000000000000" charset="-128"/>
                <a:cs typeface="ヒラギノ角ゴ ProN W3" panose="020B0300000000000000" charset="-128"/>
                <a:sym typeface="Calibri" pitchFamily="34" charset="0"/>
              </a:defRPr>
            </a:lvl4pPr>
            <a:lvl5pPr marL="14605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ヒラギノ角ゴ ProN W3" panose="020B0300000000000000" charset="-128"/>
                <a:cs typeface="ヒラギノ角ゴ ProN W3" panose="020B0300000000000000" charset="-128"/>
                <a:sym typeface="Calibri" pitchFamily="34" charset="0"/>
              </a:defRPr>
            </a:lvl5pPr>
            <a:lvl6pPr marL="19177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ヒラギノ角ゴ ProN W3" panose="020B0300000000000000" charset="-128"/>
                <a:cs typeface="ヒラギノ角ゴ ProN W3" panose="020B0300000000000000" charset="-128"/>
                <a:sym typeface="Calibri" pitchFamily="34" charset="0"/>
              </a:defRPr>
            </a:lvl6pPr>
            <a:lvl7pPr marL="23749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ヒラギノ角ゴ ProN W3" panose="020B0300000000000000" charset="-128"/>
                <a:cs typeface="ヒラギノ角ゴ ProN W3" panose="020B0300000000000000" charset="-128"/>
                <a:sym typeface="Calibri" pitchFamily="34" charset="0"/>
              </a:defRPr>
            </a:lvl7pPr>
            <a:lvl8pPr marL="28321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ヒラギノ角ゴ ProN W3" panose="020B0300000000000000" charset="-128"/>
                <a:cs typeface="ヒラギノ角ゴ ProN W3" panose="020B0300000000000000" charset="-128"/>
                <a:sym typeface="Calibri" pitchFamily="34" charset="0"/>
              </a:defRPr>
            </a:lvl8pPr>
            <a:lvl9pPr marL="3289300" indent="-228600" algn="l" rtl="0" fontAlgn="base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Calibri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  <a:ea typeface="ヒラギノ角ゴ ProN W3" panose="020B0300000000000000" charset="-128"/>
                <a:cs typeface="ヒラギノ角ゴ ProN W3" panose="020B0300000000000000" charset="-128"/>
                <a:sym typeface="Calibri" pitchFamily="34" charset="0"/>
              </a:defRPr>
            </a:lvl9pPr>
          </a:lstStyle>
          <a:p>
            <a:r>
              <a:rPr lang="en-US" dirty="0" err="1"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popq</a:t>
            </a:r>
            <a:r>
              <a:rPr lang="en-US" dirty="0">
                <a:solidFill>
                  <a:schemeClr val="accent1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 </a:t>
            </a:r>
            <a:r>
              <a:rPr lang="en-US" altLang="zh-CN" dirty="0">
                <a:solidFill>
                  <a:schemeClr val="tx1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R</a:t>
            </a:r>
            <a:r>
              <a:rPr lang="en-US" altLang="zh-CN" baseline="-25000" dirty="0">
                <a:solidFill>
                  <a:schemeClr val="tx1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dest</a:t>
            </a:r>
            <a:endParaRPr lang="en-US" dirty="0" err="1"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  <a:sym typeface="Calibri Bold Italic" charset="0"/>
            </a:endParaRPr>
          </a:p>
          <a:p>
            <a:pPr lvl="1"/>
            <a:r>
              <a:rPr lang="zh-CN" altLang="en-US" dirty="0" err="1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alibri Italic" charset="0"/>
              </a:rPr>
              <a:t>读取</a:t>
            </a:r>
            <a:r>
              <a:rPr lang="zh-CN" altLang="en-US" dirty="0" err="1">
                <a:solidFill>
                  <a:srgbClr val="00B050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alibri Italic" charset="0"/>
              </a:rPr>
              <a:t>内存</a:t>
            </a:r>
            <a:r>
              <a:rPr lang="zh-CN" altLang="en-US" dirty="0" err="1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alibri Italic" charset="0"/>
              </a:rPr>
              <a:t>中</a:t>
            </a:r>
            <a:r>
              <a:rPr lang="zh-CN" altLang="en-US" dirty="0" err="1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栈顶</a:t>
            </a:r>
            <a:r>
              <a:rPr lang="en-US" altLang="zh-CN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[%rsp]</a:t>
            </a:r>
            <a:r>
              <a:rPr lang="zh-CN" alt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的值</a:t>
            </a:r>
            <a:endParaRPr lang="zh-CN" altLang="en-US" dirty="0"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  <a:sym typeface="Courier New Bold" panose="02070609020205020404" charset="0"/>
            </a:endParaRPr>
          </a:p>
          <a:p>
            <a:pPr lvl="1"/>
            <a:r>
              <a:rPr lang="zh-CN" alt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+mn-ea"/>
              </a:rPr>
              <a:t>调整栈顶指针</a:t>
            </a:r>
            <a:r>
              <a:rPr 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%</a:t>
            </a:r>
            <a:r>
              <a:rPr lang="en-US" dirty="0" err="1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rsp</a:t>
            </a:r>
            <a:r>
              <a:rPr 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+mn-ea"/>
              </a:rPr>
              <a:t>  = </a:t>
            </a:r>
            <a:r>
              <a:rPr 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%</a:t>
            </a:r>
            <a:r>
              <a:rPr lang="en-US" dirty="0" err="1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rsp</a:t>
            </a:r>
            <a:r>
              <a:rPr 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+mn-ea"/>
              </a:rPr>
              <a:t>  + 8</a:t>
            </a:r>
            <a:endParaRPr lang="en-US" dirty="0"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  <a:sym typeface="+mn-ea"/>
            </a:endParaRPr>
          </a:p>
          <a:p>
            <a:pPr marL="552450" lvl="1"/>
            <a:r>
              <a:rPr lang="zh-CN" altLang="en-US" dirty="0" err="1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将值写入</a:t>
            </a:r>
            <a:r>
              <a:rPr lang="zh-CN" altLang="en-US" dirty="0" err="1">
                <a:solidFill>
                  <a:srgbClr val="00B050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寄存器</a:t>
            </a:r>
            <a:r>
              <a:rPr lang="en-US" altLang="zh-CN" dirty="0" err="1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alibri Italic" charset="0"/>
              </a:rPr>
              <a:t>R</a:t>
            </a:r>
            <a:r>
              <a:rPr lang="en-US" altLang="zh-CN" baseline="-25000" dirty="0" err="1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  <a:sym typeface="Calibri Italic" charset="0"/>
              </a:rPr>
              <a:t>Dest</a:t>
            </a:r>
            <a:endParaRPr lang="en-US" dirty="0"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  <a:sym typeface="Courier New Bold" panose="02070609020205020404" charset="0"/>
            </a:endParaRPr>
          </a:p>
          <a:p>
            <a:pPr marL="95250" lvl="0"/>
            <a:r>
              <a:rPr lang="en-US" altLang="zh-CN" sz="2400" dirty="0">
                <a:solidFill>
                  <a:srgbClr val="00B050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popq</a:t>
            </a:r>
            <a:r>
              <a:rPr lang="zh-CN" altLang="en-US" sz="2400" dirty="0">
                <a:solidFill>
                  <a:srgbClr val="00B050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能否当</a:t>
            </a:r>
            <a:r>
              <a:rPr lang="zh-CN" altLang="en-US" sz="2400" dirty="0">
                <a:solidFill>
                  <a:srgbClr val="00B050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成伪指令（教材</a:t>
            </a:r>
            <a:r>
              <a:rPr lang="zh-CN" altLang="en-US" sz="2400" dirty="0">
                <a:solidFill>
                  <a:srgbClr val="00B050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上图</a:t>
            </a:r>
            <a:r>
              <a:rPr lang="en-US" altLang="zh-CN" sz="2400" dirty="0">
                <a:solidFill>
                  <a:srgbClr val="00B050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3.8</a:t>
            </a:r>
            <a:r>
              <a:rPr lang="zh-CN" altLang="en-US" sz="2400" dirty="0">
                <a:solidFill>
                  <a:srgbClr val="00B050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）</a:t>
            </a:r>
            <a:endParaRPr lang="en-US" altLang="zh-CN" sz="2400" dirty="0">
              <a:solidFill>
                <a:srgbClr val="00B050"/>
              </a:solidFill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  <a:sym typeface="Courier New Bold" panose="02070609020205020404" charset="0"/>
            </a:endParaRPr>
          </a:p>
          <a:p>
            <a:pPr marL="552450" lvl="1"/>
            <a:r>
              <a:rPr lang="en-US" altLang="zh-CN" sz="2400" dirty="0">
                <a:solidFill>
                  <a:srgbClr val="00B050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movq (%rsp), R</a:t>
            </a:r>
            <a:r>
              <a:rPr lang="en-US" altLang="zh-CN" sz="2400" baseline="-25000" dirty="0">
                <a:solidFill>
                  <a:srgbClr val="00B050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dest</a:t>
            </a:r>
            <a:endParaRPr lang="en-US" altLang="zh-CN" sz="2400" dirty="0">
              <a:solidFill>
                <a:srgbClr val="00B050"/>
              </a:solidFill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  <a:sym typeface="Courier New Bold" panose="02070609020205020404" charset="0"/>
            </a:endParaRPr>
          </a:p>
          <a:p>
            <a:pPr marL="552450" lvl="1"/>
            <a:r>
              <a:rPr lang="en-US" altLang="zh-CN" sz="2400" dirty="0">
                <a:solidFill>
                  <a:srgbClr val="00B050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add 8, %rsp</a:t>
            </a:r>
            <a:endParaRPr lang="en-US" altLang="zh-CN" sz="2400" dirty="0"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  <a:sym typeface="Courier New Bold" panose="02070609020205020404" charset="0"/>
            </a:endParaRPr>
          </a:p>
          <a:p>
            <a:pPr marL="95250" lvl="0"/>
            <a:endParaRPr lang="en-US" dirty="0"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  <a:sym typeface="Courier New Bold" panose="0207060902020502040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7594624" presetClass="entr" presetSubtype="1395378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67594624" presetClass="entr" presetSubtype="13953796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60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dirty="0"/>
              <a:t>Today</a:t>
            </a:r>
            <a:endParaRPr lang="en-US" dirty="0"/>
          </a:p>
        </p:txBody>
      </p:sp>
      <p:sp>
        <p:nvSpPr>
          <p:cNvPr id="12292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Procedures </a:t>
            </a:r>
            <a:r>
              <a:rPr lang="zh-CN" alt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过程调用</a:t>
            </a:r>
            <a:endParaRPr lang="en-US" dirty="0"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1"/>
            <a:r>
              <a:rPr 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Stack Structure </a:t>
            </a:r>
            <a:r>
              <a:rPr lang="zh-CN" alt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栈结构</a:t>
            </a:r>
            <a:endParaRPr lang="en-US" dirty="0"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Calling Conventions </a:t>
            </a:r>
            <a:r>
              <a:rPr lang="zh-CN" altLang="en-US" dirty="0">
                <a:solidFill>
                  <a:schemeClr val="tx1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调用约定</a:t>
            </a:r>
            <a:endParaRPr lang="en-US" dirty="0">
              <a:solidFill>
                <a:schemeClr val="tx1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2"/>
            <a:r>
              <a:rPr lang="en-US" dirty="0">
                <a:solidFill>
                  <a:schemeClr val="tx1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Passing control </a:t>
            </a:r>
            <a:r>
              <a:rPr lang="zh-CN" altLang="en-US" dirty="0">
                <a:solidFill>
                  <a:schemeClr val="tx1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传递控制</a:t>
            </a:r>
            <a:endParaRPr lang="en-US" dirty="0">
              <a:solidFill>
                <a:schemeClr val="tx1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2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Passing data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传递数据</a:t>
            </a:r>
            <a:endParaRPr lang="en-US" dirty="0">
              <a:solidFill>
                <a:schemeClr val="bg1">
                  <a:lumMod val="50000"/>
                </a:schemeClr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2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Managing local data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管理局部数据（内存管理）</a:t>
            </a:r>
            <a:endParaRPr lang="en-US" dirty="0">
              <a:solidFill>
                <a:schemeClr val="bg1">
                  <a:lumMod val="50000"/>
                </a:schemeClr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1"/>
            <a:r>
              <a:rPr lang="en-US" dirty="0">
                <a:solidFill>
                  <a:srgbClr val="7F7F7F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Illustration of Recursion </a:t>
            </a:r>
            <a:r>
              <a:rPr lang="zh-CN" altLang="en-US" dirty="0">
                <a:solidFill>
                  <a:srgbClr val="7F7F7F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递归调用的</a:t>
            </a:r>
            <a:r>
              <a:rPr lang="zh-CN" altLang="en-US" dirty="0">
                <a:solidFill>
                  <a:srgbClr val="7F7F7F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说明</a:t>
            </a:r>
            <a:endParaRPr lang="zh-CN" altLang="en-US" dirty="0">
              <a:solidFill>
                <a:srgbClr val="7F7F7F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>
                <a:latin typeface="Kaiti SC Regular" panose="02010600040101010101" charset="-122"/>
                <a:ea typeface="Kaiti SC Regular" panose="02010600040101010101" charset="-122"/>
              </a:rPr>
              <a:t>例子</a:t>
            </a:r>
            <a:endParaRPr lang="zh-CN" altLang="en-US" b="0" dirty="0">
              <a:latin typeface="Kaiti SC Regular" panose="02010600040101010101" charset="-122"/>
              <a:ea typeface="Kaiti SC Regular" panose="02010600040101010101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Rectangle 4"/>
          <p:cNvSpPr/>
          <p:nvPr/>
        </p:nvSpPr>
        <p:spPr bwMode="auto">
          <a:xfrm>
            <a:off x="1600200" y="4800600"/>
            <a:ext cx="2667000" cy="18288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long mult2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(long a, long b)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long s = a * b;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return s;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638800" y="381000"/>
            <a:ext cx="4267200" cy="1828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void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multstore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(long x, long y, long *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dest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 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long t = mult2(x, y);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*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dest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= t;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" name="Rectangle 4"/>
          <p:cNvSpPr/>
          <p:nvPr/>
        </p:nvSpPr>
        <p:spPr bwMode="auto">
          <a:xfrm>
            <a:off x="4495800" y="4800600"/>
            <a:ext cx="5867400" cy="18288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0000000000400550 &lt;mult2&gt;:</a:t>
            </a:r>
            <a:endParaRPr lang="ro-RO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ro-RO" sz="1800" b="1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400550</a:t>
            </a:r>
            <a:r>
              <a:rPr lang="ro-RO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:  mov    %rdi,%rax	# a </a:t>
            </a:r>
            <a:endParaRPr lang="ro-RO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400553:  imul   %rsi,%rax	# a * b</a:t>
            </a:r>
            <a:endParaRPr lang="ro-RO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400557:  </a:t>
            </a:r>
            <a:r>
              <a:rPr lang="ro-RO" sz="1800" b="1" dirty="0">
                <a:solidFill>
                  <a:srgbClr val="FF0000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retq</a:t>
            </a:r>
            <a:r>
              <a:rPr lang="ro-RO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			# Return</a:t>
            </a:r>
            <a:endParaRPr lang="ro-RO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590800" y="2362200"/>
            <a:ext cx="6781800" cy="2057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0000000000400540 &lt;multstore&gt;:</a:t>
            </a:r>
            <a:endParaRPr lang="sk-SK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400540: push   %rbx		# Save %rbx</a:t>
            </a:r>
            <a:endParaRPr lang="sk-SK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400541: mov    %rdx,%rbx		# Save dest</a:t>
            </a:r>
            <a:endParaRPr lang="sk-SK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400544: </a:t>
            </a:r>
            <a:r>
              <a:rPr lang="sk-SK" sz="1800" b="1" dirty="0">
                <a:solidFill>
                  <a:srgbClr val="00B050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callq  400550 &lt;mult2&gt;</a:t>
            </a:r>
            <a:r>
              <a:rPr lang="sk-SK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	# mult2(x,y)</a:t>
            </a:r>
            <a:endParaRPr lang="sk-SK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400549: mov    %rax,(%rbx)	# Save at dest</a:t>
            </a:r>
            <a:endParaRPr lang="sk-SK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40054c: pop    %rbx		# Restore %rbx</a:t>
            </a:r>
            <a:endParaRPr lang="sk-SK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sk-SK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40054d: retq			# Return</a:t>
            </a:r>
            <a:endParaRPr lang="sk-SK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cxnSp>
        <p:nvCxnSpPr>
          <p:cNvPr id="9" name="曲线连接符 8"/>
          <p:cNvCxnSpPr/>
          <p:nvPr/>
        </p:nvCxnSpPr>
        <p:spPr>
          <a:xfrm rot="5400000" flipV="1">
            <a:off x="4419600" y="4191000"/>
            <a:ext cx="1600200" cy="228600"/>
          </a:xfrm>
          <a:prstGeom prst="curvedConnector3">
            <a:avLst>
              <a:gd name="adj1" fmla="val 50040"/>
            </a:avLst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0" name="曲线连接符 9"/>
          <p:cNvCxnSpPr/>
          <p:nvPr/>
        </p:nvCxnSpPr>
        <p:spPr>
          <a:xfrm rot="10800000">
            <a:off x="3124200" y="3657600"/>
            <a:ext cx="2895600" cy="2133600"/>
          </a:xfrm>
          <a:prstGeom prst="curvedConnector3">
            <a:avLst>
              <a:gd name="adj1" fmla="val 62456"/>
            </a:avLst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17" name="矩形 16"/>
          <p:cNvSpPr/>
          <p:nvPr/>
        </p:nvSpPr>
        <p:spPr>
          <a:xfrm>
            <a:off x="2895600" y="3242945"/>
            <a:ext cx="1905000" cy="262255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42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Gill Sans" panose="020B0502020104020203" charset="0"/>
              <a:ea typeface="ヒラギノ角ゴ ProN W3" panose="020B0300000000000000" charset="-128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2895600" y="3505200"/>
            <a:ext cx="1905000" cy="262255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42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Gill Sans" panose="020B0502020104020203" charset="0"/>
              <a:ea typeface="ヒラギノ角ゴ ProN W3" panose="020B0300000000000000" charset="-128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724400" y="5105400"/>
            <a:ext cx="1905000" cy="262255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42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Gill Sans" panose="020B0502020104020203" charset="0"/>
              <a:ea typeface="ヒラギノ角ゴ ProN W3" panose="020B0300000000000000" charset="-128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4718050" y="5686425"/>
            <a:ext cx="1905000" cy="262255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42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Gill Sans" panose="020B0502020104020203" charset="0"/>
              <a:ea typeface="ヒラギノ角ゴ ProN W3" panose="020B0300000000000000" charset="-128"/>
              <a:cs typeface="ヒラギノ角ゴ ProN W3" panose="020B0300000000000000" charset="-128"/>
              <a:sym typeface="Gill Sans" panose="020B0502020104020203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Carnegie Mellon</a:t>
            </a:r>
            <a:endParaRPr lang="en-US" sz="1200">
              <a:solidFill>
                <a:srgbClr val="FFFFFF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</a:endParaRP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title"/>
          </p:nvPr>
        </p:nvSpPr>
        <p:spPr>
          <a:xfrm>
            <a:off x="508000" y="433705"/>
            <a:ext cx="11176000" cy="963295"/>
          </a:xfrm>
        </p:spPr>
        <p:txBody>
          <a:bodyPr/>
          <a:lstStyle/>
          <a:p>
            <a:pPr marL="119380" indent="-119380"/>
            <a:r>
              <a:rPr lang="en-US" dirty="0">
                <a:ea typeface="Microsoft YaHei" charset="0"/>
              </a:rPr>
              <a:t>Procedure Control Flow </a:t>
            </a:r>
            <a:r>
              <a:rPr lang="zh-CN" altLang="en-US" dirty="0">
                <a:ea typeface="Microsoft YaHei" charset="0"/>
              </a:rPr>
              <a:t>过程的控制流</a:t>
            </a:r>
            <a:endParaRPr lang="zh-CN" altLang="en-US" dirty="0">
              <a:ea typeface="Microsoft YaHei" charset="0"/>
            </a:endParaRPr>
          </a:p>
        </p:txBody>
      </p:sp>
      <p:sp>
        <p:nvSpPr>
          <p:cNvPr id="45061" name="Rectangle 5"/>
          <p:cNvSpPr>
            <a:spLocks noGrp="1" noChangeArrowheads="1"/>
          </p:cNvSpPr>
          <p:nvPr>
            <p:ph idx="1"/>
          </p:nvPr>
        </p:nvSpPr>
        <p:spPr>
          <a:xfrm>
            <a:off x="508000" y="1397000"/>
            <a:ext cx="11176000" cy="5435600"/>
          </a:xfrm>
        </p:spPr>
        <p:txBody>
          <a:bodyPr/>
          <a:lstStyle/>
          <a:p>
            <a:r>
              <a:rPr lang="zh-CN" altLang="en-US" dirty="0">
                <a:ea typeface="Microsoft YaHei" charset="0"/>
                <a:sym typeface="+mn-ea"/>
              </a:rPr>
              <a:t>控制流</a:t>
            </a:r>
            <a:endParaRPr lang="zh-CN" altLang="en-US" dirty="0">
              <a:ea typeface="Microsoft YaHei" charset="0"/>
              <a:sym typeface="+mn-ea"/>
            </a:endParaRPr>
          </a:p>
          <a:p>
            <a:pPr lvl="1"/>
            <a:r>
              <a:rPr lang="zh-CN" altLang="en-US" sz="2000" dirty="0">
                <a:ea typeface="Microsoft YaHei" charset="0"/>
                <a:sym typeface="+mn-ea"/>
              </a:rPr>
              <a:t>指令的执行顺序或流程</a:t>
            </a:r>
            <a:endParaRPr lang="en-US" dirty="0">
              <a:ea typeface="Microsoft YaHei" charset="0"/>
            </a:endParaRPr>
          </a:p>
          <a:p>
            <a:pPr lvl="1"/>
            <a:r>
              <a:rPr lang="zh-CN" altLang="en-US" dirty="0">
                <a:ea typeface="Microsoft YaHei" charset="0"/>
              </a:rPr>
              <a:t>通过利用和修改</a:t>
            </a:r>
            <a:r>
              <a:rPr lang="en-US" altLang="zh-CN" dirty="0">
                <a:ea typeface="Microsoft YaHei" charset="0"/>
              </a:rPr>
              <a:t>PC</a:t>
            </a:r>
            <a:r>
              <a:rPr lang="zh-CN" altLang="en-US" dirty="0">
                <a:ea typeface="Microsoft YaHei" charset="0"/>
              </a:rPr>
              <a:t>寄存器（</a:t>
            </a:r>
            <a:r>
              <a:rPr lang="en-US" altLang="zh-CN" dirty="0">
                <a:ea typeface="Microsoft YaHei" charset="0"/>
              </a:rPr>
              <a:t>%RIP</a:t>
            </a:r>
            <a:r>
              <a:rPr lang="zh-CN" altLang="en-US" dirty="0">
                <a:ea typeface="Microsoft YaHei" charset="0"/>
              </a:rPr>
              <a:t>），来管理控制流</a:t>
            </a:r>
            <a:endParaRPr lang="zh-CN" altLang="en-US" dirty="0">
              <a:ea typeface="Microsoft YaHei" charset="0"/>
            </a:endParaRPr>
          </a:p>
          <a:p>
            <a:r>
              <a:rPr lang="zh-CN" altLang="en-US" dirty="0">
                <a:ea typeface="Microsoft YaHei" charset="0"/>
              </a:rPr>
              <a:t>利用“栈”来支持和实现过程的调用和返回</a:t>
            </a:r>
            <a:r>
              <a:rPr lang="en-US" dirty="0">
                <a:ea typeface="Microsoft YaHei" charset="0"/>
              </a:rPr>
              <a:t> </a:t>
            </a:r>
            <a:endParaRPr lang="en-US" dirty="0">
              <a:ea typeface="Microsoft YaHei" charset="0"/>
            </a:endParaRPr>
          </a:p>
          <a:p>
            <a:r>
              <a:rPr lang="zh-CN" altLang="en-US" dirty="0">
                <a:solidFill>
                  <a:srgbClr val="980002"/>
                </a:solidFill>
                <a:ea typeface="Microsoft YaHei" charset="0"/>
              </a:rPr>
              <a:t>过程调用</a:t>
            </a:r>
            <a:r>
              <a:rPr lang="en-US" dirty="0">
                <a:solidFill>
                  <a:srgbClr val="980002"/>
                </a:solidFill>
                <a:ea typeface="Microsoft YaHei" charset="0"/>
              </a:rPr>
              <a:t>:</a:t>
            </a:r>
            <a:r>
              <a:rPr lang="en-US" dirty="0">
                <a:ea typeface="Microsoft YaHei" charset="0"/>
              </a:rPr>
              <a:t> </a:t>
            </a:r>
            <a:r>
              <a:rPr lang="en-US" dirty="0">
                <a:ea typeface="Microsoft YaHei" charset="0"/>
                <a:sym typeface="Courier New Bold" panose="02070609020205020404" charset="0"/>
              </a:rPr>
              <a:t>call</a:t>
            </a:r>
            <a:r>
              <a:rPr lang="en-US" dirty="0">
                <a:ea typeface="Microsoft YaHei" charset="0"/>
              </a:rPr>
              <a:t> </a:t>
            </a:r>
            <a:r>
              <a:rPr lang="en-US" dirty="0">
                <a:ea typeface="Microsoft YaHei" charset="0"/>
                <a:sym typeface="Calibri Bold Italic" charset="0"/>
              </a:rPr>
              <a:t>label</a:t>
            </a:r>
            <a:r>
              <a:rPr lang="zh-CN" altLang="en-US" dirty="0">
                <a:ea typeface="Microsoft YaHei" charset="0"/>
                <a:sym typeface="Calibri Bold Italic" charset="0"/>
              </a:rPr>
              <a:t>指令（</a:t>
            </a:r>
            <a:r>
              <a:rPr lang="zh-CN" altLang="en-US" dirty="0">
                <a:solidFill>
                  <a:srgbClr val="00B050"/>
                </a:solidFill>
                <a:ea typeface="Microsoft YaHei" charset="0"/>
                <a:sym typeface="Calibri Bold Italic" charset="0"/>
              </a:rPr>
              <a:t>什么是标签</a:t>
            </a:r>
            <a:r>
              <a:rPr lang="en-US" altLang="zh-CN" dirty="0">
                <a:solidFill>
                  <a:srgbClr val="00B050"/>
                </a:solidFill>
                <a:ea typeface="Microsoft YaHei" charset="0"/>
                <a:sym typeface="Calibri Bold Italic" charset="0"/>
              </a:rPr>
              <a:t>label</a:t>
            </a:r>
            <a:r>
              <a:rPr lang="zh-CN" altLang="en-US" dirty="0">
                <a:solidFill>
                  <a:srgbClr val="00B050"/>
                </a:solidFill>
                <a:ea typeface="Microsoft YaHei" charset="0"/>
                <a:sym typeface="Calibri Bold Italic" charset="0"/>
              </a:rPr>
              <a:t>？</a:t>
            </a:r>
            <a:r>
              <a:rPr lang="zh-CN" altLang="en-US" dirty="0">
                <a:ea typeface="Microsoft YaHei" charset="0"/>
                <a:sym typeface="Calibri Bold Italic" charset="0"/>
              </a:rPr>
              <a:t>）</a:t>
            </a:r>
            <a:endParaRPr lang="en-US" dirty="0">
              <a:ea typeface="Microsoft YaHei" charset="0"/>
            </a:endParaRPr>
          </a:p>
          <a:p>
            <a:pPr marL="552450" lvl="1"/>
            <a:r>
              <a:rPr lang="zh-CN" altLang="en-US" dirty="0">
                <a:ea typeface="Microsoft YaHei" charset="0"/>
              </a:rPr>
              <a:t>先将</a:t>
            </a:r>
            <a:r>
              <a:rPr lang="zh-CN" altLang="en-US" dirty="0">
                <a:ea typeface="Microsoft YaHei" charset="0"/>
              </a:rPr>
              <a:t>返回地址入栈（保存返回地址到内存）</a:t>
            </a:r>
            <a:r>
              <a:rPr lang="en-US" altLang="zh-CN" dirty="0">
                <a:ea typeface="Microsoft YaHei" charset="0"/>
              </a:rPr>
              <a:t>:= push %RIP</a:t>
            </a:r>
            <a:endParaRPr lang="zh-CN" altLang="en-US" dirty="0">
              <a:ea typeface="Microsoft YaHei" charset="0"/>
            </a:endParaRPr>
          </a:p>
          <a:p>
            <a:pPr marL="1009650" lvl="2"/>
            <a:r>
              <a:rPr lang="zh-CN" altLang="en-US" dirty="0">
                <a:ea typeface="Microsoft YaHei" charset="0"/>
              </a:rPr>
              <a:t>返回地址：紧随</a:t>
            </a:r>
            <a:r>
              <a:rPr lang="en-US" altLang="zh-CN" dirty="0">
                <a:ea typeface="Microsoft YaHei" charset="0"/>
              </a:rPr>
              <a:t>call</a:t>
            </a:r>
            <a:r>
              <a:rPr lang="zh-CN" altLang="en-US" dirty="0">
                <a:ea typeface="Microsoft YaHei" charset="0"/>
              </a:rPr>
              <a:t>指令的下一条指令的地址</a:t>
            </a:r>
            <a:r>
              <a:rPr lang="en-US" altLang="zh-CN" dirty="0">
                <a:ea typeface="Microsoft YaHei" charset="0"/>
              </a:rPr>
              <a:t> </a:t>
            </a:r>
            <a:endParaRPr lang="zh-CN" altLang="en-US" dirty="0">
              <a:ea typeface="Microsoft YaHei" charset="0"/>
            </a:endParaRPr>
          </a:p>
          <a:p>
            <a:pPr marL="552450" lvl="1"/>
            <a:r>
              <a:rPr lang="zh-CN" altLang="en-US" dirty="0">
                <a:ea typeface="Microsoft YaHei" charset="0"/>
              </a:rPr>
              <a:t>然后跳转到</a:t>
            </a:r>
            <a:r>
              <a:rPr lang="en-US" altLang="zh-CN" dirty="0">
                <a:ea typeface="Microsoft YaHei" charset="0"/>
              </a:rPr>
              <a:t>label</a:t>
            </a:r>
            <a:r>
              <a:rPr lang="zh-CN" altLang="en-US" dirty="0">
                <a:ea typeface="Microsoft YaHei" charset="0"/>
              </a:rPr>
              <a:t>对应的指令地址，继续运行</a:t>
            </a:r>
            <a:r>
              <a:rPr lang="en-US" altLang="zh-CN" dirty="0">
                <a:ea typeface="Microsoft YaHei" charset="0"/>
              </a:rPr>
              <a:t> := jmp label</a:t>
            </a:r>
            <a:endParaRPr lang="en-US" dirty="0">
              <a:ea typeface="Microsoft YaHei" charset="0"/>
            </a:endParaRPr>
          </a:p>
          <a:p>
            <a:r>
              <a:rPr lang="zh-CN" altLang="en-US" dirty="0">
                <a:solidFill>
                  <a:srgbClr val="980002"/>
                </a:solidFill>
                <a:ea typeface="Microsoft YaHei" charset="0"/>
              </a:rPr>
              <a:t>过程返回</a:t>
            </a:r>
            <a:r>
              <a:rPr lang="en-US" dirty="0">
                <a:solidFill>
                  <a:srgbClr val="980002"/>
                </a:solidFill>
                <a:ea typeface="Microsoft YaHei" charset="0"/>
              </a:rPr>
              <a:t>:</a:t>
            </a:r>
            <a:r>
              <a:rPr lang="en-US" dirty="0">
                <a:ea typeface="Microsoft YaHei" charset="0"/>
              </a:rPr>
              <a:t> </a:t>
            </a:r>
            <a:r>
              <a:rPr lang="en-US" dirty="0">
                <a:ea typeface="Microsoft YaHei" charset="0"/>
                <a:sym typeface="Courier New Bold" panose="02070609020205020404" charset="0"/>
              </a:rPr>
              <a:t>ret</a:t>
            </a:r>
            <a:r>
              <a:rPr lang="zh-CN" altLang="en-US" dirty="0">
                <a:ea typeface="Microsoft YaHei" charset="0"/>
                <a:sym typeface="Courier New Bold" panose="02070609020205020404" charset="0"/>
              </a:rPr>
              <a:t>指令</a:t>
            </a:r>
            <a:endParaRPr lang="en-US" dirty="0">
              <a:ea typeface="Microsoft YaHei" charset="0"/>
            </a:endParaRPr>
          </a:p>
          <a:p>
            <a:pPr marL="552450" lvl="1"/>
            <a:r>
              <a:rPr lang="zh-CN" altLang="en-US" dirty="0">
                <a:ea typeface="Microsoft YaHei" charset="0"/>
              </a:rPr>
              <a:t>先将</a:t>
            </a:r>
            <a:r>
              <a:rPr lang="zh-CN" altLang="en-US" dirty="0">
                <a:ea typeface="Microsoft YaHei" charset="0"/>
              </a:rPr>
              <a:t>返回地址出栈（从内存恢复返回地址到</a:t>
            </a:r>
            <a:r>
              <a:rPr lang="en-US" altLang="zh-CN" dirty="0">
                <a:ea typeface="Microsoft YaHei" charset="0"/>
              </a:rPr>
              <a:t>%RIP</a:t>
            </a:r>
            <a:r>
              <a:rPr lang="zh-CN" altLang="en-US" dirty="0">
                <a:ea typeface="Microsoft YaHei" charset="0"/>
              </a:rPr>
              <a:t>）：</a:t>
            </a:r>
            <a:r>
              <a:rPr lang="en-US" altLang="zh-CN" dirty="0">
                <a:ea typeface="Microsoft YaHei" charset="0"/>
              </a:rPr>
              <a:t>pop %RIP</a:t>
            </a:r>
            <a:endParaRPr lang="en-US" altLang="zh-CN" dirty="0">
              <a:ea typeface="Microsoft YaHei" charset="0"/>
            </a:endParaRPr>
          </a:p>
          <a:p>
            <a:pPr marL="95250" lvl="0"/>
            <a:r>
              <a:rPr lang="en-US" dirty="0">
                <a:solidFill>
                  <a:srgbClr val="00B050"/>
                </a:solidFill>
                <a:ea typeface="Microsoft YaHei" charset="0"/>
              </a:rPr>
              <a:t>call</a:t>
            </a:r>
            <a:r>
              <a:rPr lang="zh-CN" altLang="en-US" dirty="0">
                <a:solidFill>
                  <a:srgbClr val="00B050"/>
                </a:solidFill>
                <a:ea typeface="Microsoft YaHei" charset="0"/>
              </a:rPr>
              <a:t>和</a:t>
            </a:r>
            <a:r>
              <a:rPr lang="en-US" altLang="zh-CN" dirty="0">
                <a:solidFill>
                  <a:srgbClr val="00B050"/>
                </a:solidFill>
                <a:ea typeface="Microsoft YaHei" charset="0"/>
              </a:rPr>
              <a:t>ret</a:t>
            </a:r>
            <a:r>
              <a:rPr lang="zh-CN" altLang="en-US" dirty="0">
                <a:solidFill>
                  <a:srgbClr val="00B050"/>
                </a:solidFill>
                <a:ea typeface="Microsoft YaHei" charset="0"/>
              </a:rPr>
              <a:t>能否当成伪指令实现？</a:t>
            </a:r>
            <a:endParaRPr lang="zh-CN" altLang="en-US" dirty="0">
              <a:solidFill>
                <a:srgbClr val="00B050"/>
              </a:solidFill>
              <a:ea typeface="Microsoft YaHei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05000" y="254000"/>
            <a:ext cx="8382000" cy="1143000"/>
          </a:xfrm>
        </p:spPr>
        <p:txBody>
          <a:bodyPr/>
          <a:lstStyle/>
          <a:p>
            <a:r>
              <a:rPr lang="zh-CN" altLang="en-US" sz="3200" dirty="0">
                <a:ea typeface="Microsoft YaHei" charset="0"/>
              </a:rPr>
              <a:t>控制流的例子</a:t>
            </a:r>
            <a:r>
              <a:rPr lang="en-US" sz="3200" dirty="0">
                <a:ea typeface="Microsoft YaHei" charset="0"/>
              </a:rPr>
              <a:t> #1</a:t>
            </a:r>
            <a:br>
              <a:rPr lang="en-US" sz="3200" dirty="0">
                <a:ea typeface="Microsoft YaHei" charset="0"/>
              </a:rPr>
            </a:br>
            <a:r>
              <a:rPr lang="zh-CN" altLang="en-US" sz="3200" dirty="0">
                <a:ea typeface="Microsoft YaHei" charset="0"/>
              </a:rPr>
              <a:t>——</a:t>
            </a:r>
            <a:r>
              <a:rPr lang="en-US" altLang="zh-CN" sz="3200" dirty="0">
                <a:ea typeface="Microsoft YaHei" charset="0"/>
              </a:rPr>
              <a:t>before call</a:t>
            </a:r>
            <a:endParaRPr lang="en-US" altLang="zh-CN" sz="3200" dirty="0">
              <a:ea typeface="Microsoft YaHei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>
              <a:ea typeface="Microsoft YaHei" charset="0"/>
            </a:endParaRPr>
          </a:p>
        </p:txBody>
      </p:sp>
      <p:sp>
        <p:nvSpPr>
          <p:cNvPr id="6" name="Rectangle 4"/>
          <p:cNvSpPr/>
          <p:nvPr/>
        </p:nvSpPr>
        <p:spPr bwMode="auto">
          <a:xfrm>
            <a:off x="1752600" y="4800600"/>
            <a:ext cx="4495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0000000000400550 &lt;mult2&gt;:</a:t>
            </a:r>
            <a:endParaRPr lang="ro-RO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400550:  mov    %rdi,%rax</a:t>
            </a:r>
            <a:endParaRPr lang="ro-RO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•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•</a:t>
            </a:r>
            <a:endParaRPr lang="ro-RO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400557:  retq</a:t>
            </a:r>
            <a:endParaRPr lang="ro-RO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752600" y="2133600"/>
            <a:ext cx="4495800" cy="2057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0000000000400540 &lt;multstore&gt;:</a:t>
            </a:r>
            <a:endParaRPr lang="sk-SK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sk-SK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•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sk-SK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400544: callq  400550 &lt;mult2&gt;</a:t>
            </a:r>
            <a:endParaRPr lang="sk-SK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sk-SK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400549: mov    %rax,(%rbx)</a:t>
            </a:r>
            <a:endParaRPr lang="sk-SK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11" name="Rectangle 8"/>
          <p:cNvSpPr/>
          <p:nvPr/>
        </p:nvSpPr>
        <p:spPr bwMode="auto">
          <a:xfrm>
            <a:off x="7772400" y="4343400"/>
            <a:ext cx="1346200" cy="381000"/>
          </a:xfrm>
          <a:prstGeom prst="rect">
            <a:avLst/>
          </a:prstGeom>
          <a:solidFill>
            <a:srgbClr val="FFCC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0x400544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12" name="Rectangle 9"/>
          <p:cNvSpPr/>
          <p:nvPr/>
        </p:nvSpPr>
        <p:spPr bwMode="auto">
          <a:xfrm>
            <a:off x="7772400" y="37338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0x120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18" name="Rectangle 15"/>
          <p:cNvSpPr/>
          <p:nvPr/>
        </p:nvSpPr>
        <p:spPr bwMode="auto">
          <a:xfrm>
            <a:off x="7772400" y="1219200"/>
            <a:ext cx="1346200" cy="1905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•</a:t>
            </a:r>
            <a:endParaRPr lang="en-US" sz="2400" dirty="0">
              <a:latin typeface="Times New Roman Regular" panose="02020603050405020304" charset="0"/>
              <a:ea typeface="Microsoft YaHei" charset="0"/>
              <a:cs typeface="Times New Roman Regular" panose="02020603050405020304" charset="0"/>
            </a:endParaRPr>
          </a:p>
          <a:p>
            <a:r>
              <a:rPr lang="en-US" sz="2400" dirty="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•</a:t>
            </a:r>
            <a:endParaRPr lang="en-US" sz="2400" dirty="0">
              <a:latin typeface="Times New Roman Regular" panose="02020603050405020304" charset="0"/>
              <a:ea typeface="Microsoft YaHei" charset="0"/>
              <a:cs typeface="Times New Roman Regular" panose="02020603050405020304" charset="0"/>
            </a:endParaRPr>
          </a:p>
          <a:p>
            <a:r>
              <a:rPr lang="en-US" sz="2400" dirty="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•</a:t>
            </a:r>
            <a:endParaRPr lang="en-US" sz="2400" dirty="0">
              <a:latin typeface="Times New Roman Regular" panose="02020603050405020304" charset="0"/>
              <a:ea typeface="Microsoft YaHei" charset="0"/>
              <a:cs typeface="Times New Roman Regular" panose="02020603050405020304" charset="0"/>
            </a:endParaRPr>
          </a:p>
        </p:txBody>
      </p:sp>
      <p:sp>
        <p:nvSpPr>
          <p:cNvPr id="20" name="Arc 19"/>
          <p:cNvSpPr/>
          <p:nvPr/>
        </p:nvSpPr>
        <p:spPr bwMode="auto">
          <a:xfrm flipV="1">
            <a:off x="8153400" y="2971800"/>
            <a:ext cx="1676400" cy="990600"/>
          </a:xfrm>
          <a:prstGeom prst="arc">
            <a:avLst>
              <a:gd name="adj1" fmla="val 17108922"/>
              <a:gd name="adj2" fmla="val 4768750"/>
            </a:avLst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Gill Sans" panose="020B0502020104020203" charset="0"/>
            </a:endParaRPr>
          </a:p>
        </p:txBody>
      </p:sp>
      <p:cxnSp>
        <p:nvCxnSpPr>
          <p:cNvPr id="22" name="Straight Arrow Connector 21"/>
          <p:cNvCxnSpPr>
            <a:stCxn id="29" idx="0"/>
          </p:cNvCxnSpPr>
          <p:nvPr/>
        </p:nvCxnSpPr>
        <p:spPr bwMode="auto">
          <a:xfrm flipH="1" flipV="1">
            <a:off x="5791200" y="3276600"/>
            <a:ext cx="1524000" cy="10668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  <a:effectLst/>
        </p:spPr>
      </p:cxnSp>
      <p:sp>
        <p:nvSpPr>
          <p:cNvPr id="24" name="Rectangle 3"/>
          <p:cNvSpPr/>
          <p:nvPr/>
        </p:nvSpPr>
        <p:spPr bwMode="auto">
          <a:xfrm>
            <a:off x="6996112" y="3733800"/>
            <a:ext cx="638175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rsp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25" name="Rectangle 10"/>
          <p:cNvSpPr/>
          <p:nvPr/>
        </p:nvSpPr>
        <p:spPr bwMode="auto">
          <a:xfrm>
            <a:off x="6858000" y="27432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0x120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26" name="Rectangle 11"/>
          <p:cNvSpPr/>
          <p:nvPr/>
        </p:nvSpPr>
        <p:spPr bwMode="auto">
          <a:xfrm>
            <a:off x="6858000" y="23622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0x128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27" name="Rectangle 12"/>
          <p:cNvSpPr/>
          <p:nvPr/>
        </p:nvSpPr>
        <p:spPr bwMode="auto">
          <a:xfrm>
            <a:off x="6858000" y="19812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0x130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29" name="Rectangle 4"/>
          <p:cNvSpPr/>
          <p:nvPr/>
        </p:nvSpPr>
        <p:spPr bwMode="auto">
          <a:xfrm>
            <a:off x="6996112" y="4343400"/>
            <a:ext cx="638175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%rip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>
                <a:latin typeface="Kaiti SC Bold" panose="02010600040101010101" charset="-122"/>
                <a:ea typeface="Kaiti SC Bold" panose="02010600040101010101" charset="-122"/>
                <a:cs typeface="Kaiti SC Bold" panose="02010600040101010101" charset="-122"/>
                <a:sym typeface="+mn-ea"/>
              </a:rPr>
              <a:t>控制流的例子</a:t>
            </a:r>
            <a:r>
              <a:rPr lang="en-US" sz="3200" dirty="0"/>
              <a:t> #2</a:t>
            </a:r>
            <a:br>
              <a:rPr lang="en-US" sz="3200" dirty="0"/>
            </a:br>
            <a:r>
              <a:rPr lang="zh-CN" altLang="en-US" sz="3200" dirty="0"/>
              <a:t>——</a:t>
            </a:r>
            <a:r>
              <a:rPr lang="en-US" altLang="zh-CN" sz="3200" dirty="0"/>
              <a:t>call</a:t>
            </a:r>
            <a:r>
              <a:rPr lang="en-US" altLang="zh-CN" sz="3200" dirty="0"/>
              <a:t>ing</a:t>
            </a:r>
            <a:endParaRPr lang="en-US" altLang="zh-CN" sz="3200" dirty="0"/>
          </a:p>
        </p:txBody>
      </p:sp>
      <p:sp>
        <p:nvSpPr>
          <p:cNvPr id="16" name="内容占位符 15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Rectangle 4"/>
          <p:cNvSpPr/>
          <p:nvPr/>
        </p:nvSpPr>
        <p:spPr bwMode="auto">
          <a:xfrm>
            <a:off x="1752600" y="4724400"/>
            <a:ext cx="4495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0000000000400550 &lt;mult2&gt;:</a:t>
            </a:r>
            <a:endParaRPr lang="ro-RO" sz="1800" dirty="0">
              <a:solidFill>
                <a:schemeClr val="tx1"/>
              </a:solidFill>
              <a:latin typeface="Microsoft YaHei" charset="0"/>
              <a:ea typeface="Microsoft YaHei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  400550:  mov    %rdi,%rax</a:t>
            </a:r>
            <a:endParaRPr lang="ro-RO" sz="1800" dirty="0">
              <a:solidFill>
                <a:schemeClr val="tx1"/>
              </a:solidFill>
              <a:latin typeface="Microsoft YaHei" charset="0"/>
              <a:ea typeface="Microsoft YaHei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•</a:t>
            </a:r>
            <a:endParaRPr lang="en-US" sz="1800" dirty="0">
              <a:solidFill>
                <a:schemeClr val="tx1"/>
              </a:solidFill>
              <a:latin typeface="Microsoft YaHei" charset="0"/>
              <a:ea typeface="Microsoft YaHei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ro-RO" sz="1800" dirty="0">
              <a:solidFill>
                <a:schemeClr val="tx1"/>
              </a:solidFill>
              <a:latin typeface="Microsoft YaHei" charset="0"/>
              <a:ea typeface="Microsoft YaHei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  400557:  retq		</a:t>
            </a:r>
            <a:endParaRPr lang="ro-RO" sz="1800" dirty="0">
              <a:solidFill>
                <a:schemeClr val="tx1"/>
              </a:solidFill>
              <a:latin typeface="Microsoft YaHei" charset="0"/>
              <a:ea typeface="Microsoft YaHei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752600" y="2057400"/>
            <a:ext cx="4495800" cy="2057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0000000000400540 &lt;multstore&gt;:</a:t>
            </a:r>
            <a:endParaRPr lang="sk-SK" sz="1800" dirty="0">
              <a:solidFill>
                <a:schemeClr val="tx1"/>
              </a:solidFill>
              <a:latin typeface="Microsoft YaHei" charset="0"/>
              <a:ea typeface="Microsoft YaHei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sk-SK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•</a:t>
            </a:r>
            <a:endParaRPr lang="en-US" sz="1800" dirty="0">
              <a:solidFill>
                <a:schemeClr val="tx1"/>
              </a:solidFill>
              <a:latin typeface="Microsoft YaHei" charset="0"/>
              <a:ea typeface="Microsoft YaHei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Microsoft YaHei" charset="0"/>
              <a:ea typeface="Microsoft YaHei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sk-SK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  400544: callq  400550 &lt;mult2&gt;</a:t>
            </a:r>
            <a:endParaRPr lang="sk-SK" sz="1800" dirty="0">
              <a:solidFill>
                <a:schemeClr val="tx1"/>
              </a:solidFill>
              <a:latin typeface="Microsoft YaHei" charset="0"/>
              <a:ea typeface="Microsoft YaHei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sk-SK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  400549: mov    %rax,(%rbx)</a:t>
            </a:r>
            <a:endParaRPr lang="sk-SK" sz="1800" dirty="0">
              <a:solidFill>
                <a:schemeClr val="tx1"/>
              </a:solidFill>
              <a:latin typeface="Microsoft YaHei" charset="0"/>
              <a:ea typeface="Microsoft YaHei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Microsoft YaHei" charset="0"/>
              <a:ea typeface="Microsoft YaHei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Microsoft YaHei" charset="0"/>
              <a:ea typeface="Microsoft YaHei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11" name="Rectangle 8"/>
          <p:cNvSpPr/>
          <p:nvPr/>
        </p:nvSpPr>
        <p:spPr bwMode="auto">
          <a:xfrm>
            <a:off x="7315200" y="4267200"/>
            <a:ext cx="1346200" cy="381000"/>
          </a:xfrm>
          <a:prstGeom prst="rect">
            <a:avLst/>
          </a:prstGeom>
          <a:solidFill>
            <a:srgbClr val="FFCC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0x400550</a:t>
            </a:r>
            <a:endParaRPr lang="en-US" sz="1800" dirty="0">
              <a:solidFill>
                <a:schemeClr val="tx1"/>
              </a:solidFill>
              <a:latin typeface="Microsoft YaHei" charset="0"/>
              <a:ea typeface="Microsoft YaHei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12" name="Rectangle 9"/>
          <p:cNvSpPr/>
          <p:nvPr/>
        </p:nvSpPr>
        <p:spPr bwMode="auto">
          <a:xfrm>
            <a:off x="7315200" y="36576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0x118</a:t>
            </a:r>
            <a:endParaRPr lang="en-US" sz="1800" dirty="0">
              <a:solidFill>
                <a:schemeClr val="tx1"/>
              </a:solidFill>
              <a:latin typeface="Microsoft YaHei" charset="0"/>
              <a:ea typeface="Microsoft YaHei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17" name="Rectangle 14"/>
          <p:cNvSpPr/>
          <p:nvPr/>
        </p:nvSpPr>
        <p:spPr bwMode="auto">
          <a:xfrm>
            <a:off x="7315200" y="3048000"/>
            <a:ext cx="13462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0x400549</a:t>
            </a:r>
            <a:endParaRPr lang="en-US" sz="1800" dirty="0">
              <a:solidFill>
                <a:schemeClr val="tx1"/>
              </a:solidFill>
              <a:latin typeface="Microsoft YaHei" charset="0"/>
              <a:ea typeface="Microsoft YaHei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18" name="Rectangle 15"/>
          <p:cNvSpPr/>
          <p:nvPr/>
        </p:nvSpPr>
        <p:spPr bwMode="auto">
          <a:xfrm>
            <a:off x="7315200" y="1143000"/>
            <a:ext cx="1346200" cy="1905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latin typeface="Microsoft YaHei" charset="0"/>
                <a:ea typeface="Microsoft YaHei" charset="0"/>
              </a:rPr>
              <a:t>•</a:t>
            </a:r>
            <a:endParaRPr lang="en-US" sz="2400" dirty="0">
              <a:latin typeface="Microsoft YaHei" charset="0"/>
              <a:ea typeface="Microsoft YaHei" charset="0"/>
            </a:endParaRPr>
          </a:p>
          <a:p>
            <a:r>
              <a:rPr lang="en-US" sz="2400" dirty="0">
                <a:latin typeface="Microsoft YaHei" charset="0"/>
                <a:ea typeface="Microsoft YaHei" charset="0"/>
              </a:rPr>
              <a:t>•</a:t>
            </a:r>
            <a:endParaRPr lang="en-US" sz="2400" dirty="0">
              <a:latin typeface="Microsoft YaHei" charset="0"/>
              <a:ea typeface="Microsoft YaHei" charset="0"/>
            </a:endParaRPr>
          </a:p>
          <a:p>
            <a:r>
              <a:rPr lang="en-US" sz="2400" dirty="0">
                <a:latin typeface="Microsoft YaHei" charset="0"/>
                <a:ea typeface="Microsoft YaHei" charset="0"/>
              </a:rPr>
              <a:t>•</a:t>
            </a:r>
            <a:endParaRPr lang="en-US" sz="2400" dirty="0">
              <a:latin typeface="Microsoft YaHei" charset="0"/>
              <a:ea typeface="Microsoft YaHei" charset="0"/>
            </a:endParaRPr>
          </a:p>
        </p:txBody>
      </p:sp>
      <p:sp>
        <p:nvSpPr>
          <p:cNvPr id="20" name="Arc 19"/>
          <p:cNvSpPr/>
          <p:nvPr/>
        </p:nvSpPr>
        <p:spPr bwMode="auto">
          <a:xfrm flipV="1">
            <a:off x="7696200" y="3200400"/>
            <a:ext cx="1676400" cy="685800"/>
          </a:xfrm>
          <a:prstGeom prst="arc">
            <a:avLst>
              <a:gd name="adj1" fmla="val 17108922"/>
              <a:gd name="adj2" fmla="val 4394693"/>
            </a:avLst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Microsoft YaHei" charset="0"/>
              <a:ea typeface="Microsoft YaHei" charset="0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cxnSp>
        <p:nvCxnSpPr>
          <p:cNvPr id="22" name="Straight Arrow Connector 21"/>
          <p:cNvCxnSpPr>
            <a:stCxn id="11" idx="1"/>
          </p:cNvCxnSpPr>
          <p:nvPr/>
        </p:nvCxnSpPr>
        <p:spPr bwMode="auto">
          <a:xfrm flipH="1">
            <a:off x="5410200" y="4457700"/>
            <a:ext cx="1905000" cy="6477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 flipH="1">
            <a:off x="5638800" y="3352800"/>
            <a:ext cx="1676400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5" name="Group 4"/>
          <p:cNvGrpSpPr/>
          <p:nvPr/>
        </p:nvGrpSpPr>
        <p:grpSpPr>
          <a:xfrm>
            <a:off x="6400800" y="1905000"/>
            <a:ext cx="776287" cy="2743200"/>
            <a:chOff x="5334000" y="1143000"/>
            <a:chExt cx="776287" cy="2743200"/>
          </a:xfrm>
        </p:grpSpPr>
        <p:sp>
          <p:nvSpPr>
            <p:cNvPr id="21" name="Rectangle 11"/>
            <p:cNvSpPr/>
            <p:nvPr/>
          </p:nvSpPr>
          <p:spPr bwMode="auto">
            <a:xfrm>
              <a:off x="5334000" y="2286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Microsoft YaHei" charset="0"/>
                  <a:ea typeface="Microsoft YaHei" charset="0"/>
                  <a:cs typeface="Courier New Bold" panose="02070609020205020404" charset="0"/>
                  <a:sym typeface="Courier New Bold" panose="02070609020205020404" charset="0"/>
                </a:rPr>
                <a:t>0x118</a:t>
              </a:r>
              <a:endParaRPr lang="en-US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  <p:sp>
          <p:nvSpPr>
            <p:cNvPr id="7" name="Rectangle 3"/>
            <p:cNvSpPr/>
            <p:nvPr/>
          </p:nvSpPr>
          <p:spPr bwMode="auto">
            <a:xfrm>
              <a:off x="5472112" y="2895600"/>
              <a:ext cx="638175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Microsoft YaHei" charset="0"/>
                  <a:ea typeface="Microsoft YaHei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Microsoft YaHei" charset="0"/>
                  <a:ea typeface="Microsoft YaHei" charset="0"/>
                  <a:cs typeface="Courier New Bold" panose="02070609020205020404" charset="0"/>
                  <a:sym typeface="Courier New Bold" panose="02070609020205020404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  <p:sp>
          <p:nvSpPr>
            <p:cNvPr id="13" name="Rectangle 10"/>
            <p:cNvSpPr/>
            <p:nvPr/>
          </p:nvSpPr>
          <p:spPr bwMode="auto">
            <a:xfrm>
              <a:off x="5334000" y="1905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Microsoft YaHei" charset="0"/>
                  <a:ea typeface="Microsoft YaHei" charset="0"/>
                  <a:cs typeface="Courier New Bold" panose="02070609020205020404" charset="0"/>
                  <a:sym typeface="Courier New Bold" panose="02070609020205020404" charset="0"/>
                </a:rPr>
                <a:t>0x120</a:t>
              </a:r>
              <a:endParaRPr lang="en-US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  <p:sp>
          <p:nvSpPr>
            <p:cNvPr id="14" name="Rectangle 11"/>
            <p:cNvSpPr/>
            <p:nvPr/>
          </p:nvSpPr>
          <p:spPr bwMode="auto">
            <a:xfrm>
              <a:off x="5334000" y="1524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Microsoft YaHei" charset="0"/>
                  <a:ea typeface="Microsoft YaHei" charset="0"/>
                  <a:cs typeface="Courier New Bold" panose="02070609020205020404" charset="0"/>
                  <a:sym typeface="Courier New Bold" panose="02070609020205020404" charset="0"/>
                </a:rPr>
                <a:t>0x128</a:t>
              </a:r>
              <a:endParaRPr lang="en-US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  <p:sp>
          <p:nvSpPr>
            <p:cNvPr id="15" name="Rectangle 12"/>
            <p:cNvSpPr/>
            <p:nvPr/>
          </p:nvSpPr>
          <p:spPr bwMode="auto">
            <a:xfrm>
              <a:off x="5334000" y="1143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Microsoft YaHei" charset="0"/>
                  <a:ea typeface="Microsoft YaHei" charset="0"/>
                  <a:cs typeface="Courier New Bold" panose="02070609020205020404" charset="0"/>
                  <a:sym typeface="Courier New Bold" panose="02070609020205020404" charset="0"/>
                </a:rPr>
                <a:t>0x130</a:t>
              </a:r>
              <a:endParaRPr lang="en-US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  <p:sp>
          <p:nvSpPr>
            <p:cNvPr id="9" name="Rectangle 4"/>
            <p:cNvSpPr/>
            <p:nvPr/>
          </p:nvSpPr>
          <p:spPr bwMode="auto">
            <a:xfrm>
              <a:off x="5472112" y="3505200"/>
              <a:ext cx="638175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Microsoft YaHei" charset="0"/>
                  <a:ea typeface="Microsoft YaHei" charset="0"/>
                  <a:cs typeface="Courier New Bold" panose="02070609020205020404" charset="0"/>
                  <a:sym typeface="Courier New Bold" panose="02070609020205020404" charset="0"/>
                </a:rPr>
                <a:t>%rip</a:t>
              </a:r>
              <a:endParaRPr lang="en-US" sz="1800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sp>
        <p:nvSpPr>
          <p:cNvPr id="3" name="矩形 2"/>
          <p:cNvSpPr/>
          <p:nvPr/>
        </p:nvSpPr>
        <p:spPr>
          <a:xfrm>
            <a:off x="8837295" y="3068320"/>
            <a:ext cx="1627505" cy="873760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ヒラギノ角ゴ ProN W3" panose="020B0300000000000000" charset="-128"/>
                <a:sym typeface="Gill Sans" panose="020B0502020104020203" charset="0"/>
              </a:rPr>
              <a:t>保存返回地址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Microsoft YaHei" charset="0"/>
              <a:ea typeface="Microsoft YaHei" charset="0"/>
              <a:cs typeface="ヒラギノ角ゴ ProN W3" panose="020B0300000000000000" charset="-128"/>
              <a:sym typeface="Gill Sans" panose="020B0502020104020203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Microsoft YaHei" charset="0"/>
              <a:ea typeface="Microsoft YaHei" charset="0"/>
              <a:cs typeface="ヒラギノ角ゴ ProN W3" panose="020B0300000000000000" charset="-128"/>
              <a:sym typeface="Gill Sans" panose="020B0502020104020203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smtClean="0">
                <a:ln>
                  <a:noFill/>
                </a:ln>
                <a:effectLst/>
                <a:latin typeface="Microsoft YaHei" charset="0"/>
                <a:ea typeface="Microsoft YaHei" charset="0"/>
                <a:sym typeface="Gill Sans" panose="020B0502020104020203" charset="0"/>
              </a:rPr>
              <a:t>更新栈顶地址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Microsoft YaHei" charset="0"/>
              <a:ea typeface="Microsoft YaHei" charset="0"/>
              <a:cs typeface="ヒラギノ角ゴ ProN W3" panose="020B0300000000000000" charset="-128"/>
              <a:sym typeface="Gill Sans" panose="020B0502020104020203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Microsoft YaHei" charset="0"/>
              <a:ea typeface="Microsoft YaHei" charset="0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837295" y="4222115"/>
            <a:ext cx="1627505" cy="575310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更新指令地址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Microsoft YaHei" charset="0"/>
              <a:ea typeface="Microsoft YaHei" charset="0"/>
              <a:cs typeface="Microsoft YaHei" charset="0"/>
              <a:sym typeface="Gill Sans" panose="020B0502020104020203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——目标</a:t>
            </a: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函数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Microsoft YaHei" charset="0"/>
              <a:ea typeface="Microsoft YaHei" charset="0"/>
              <a:cs typeface="Microsoft YaHei" charset="0"/>
              <a:sym typeface="Gill Sans" panose="020B0502020104020203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>
                <a:latin typeface="Kaiti SC Bold" panose="02010600040101010101" charset="-122"/>
                <a:ea typeface="Kaiti SC Bold" panose="02010600040101010101" charset="-122"/>
                <a:cs typeface="Kaiti SC Bold" panose="02010600040101010101" charset="-122"/>
                <a:sym typeface="+mn-ea"/>
              </a:rPr>
              <a:t>控制流的例子</a:t>
            </a:r>
            <a:r>
              <a:rPr lang="en-US" sz="3200" dirty="0"/>
              <a:t> #3</a:t>
            </a:r>
            <a:br>
              <a:rPr lang="en-US" sz="3200" dirty="0"/>
            </a:br>
            <a:r>
              <a:rPr lang="zh-CN" altLang="en-US" sz="3200" dirty="0"/>
              <a:t>——</a:t>
            </a:r>
            <a:r>
              <a:rPr lang="en-US" altLang="zh-CN" sz="3200" dirty="0"/>
              <a:t>before </a:t>
            </a:r>
            <a:r>
              <a:rPr lang="en-US" altLang="zh-CN" sz="3200" dirty="0"/>
              <a:t>ret</a:t>
            </a:r>
            <a:endParaRPr lang="en-US" altLang="zh-CN" sz="3200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" name="Rectangle 4"/>
          <p:cNvSpPr/>
          <p:nvPr/>
        </p:nvSpPr>
        <p:spPr bwMode="auto">
          <a:xfrm>
            <a:off x="1752600" y="4876800"/>
            <a:ext cx="4495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0000000000400550 &lt;mult2&gt;:</a:t>
            </a:r>
            <a:endParaRPr lang="ro-RO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400550:  mov    %rdi,%rax</a:t>
            </a:r>
            <a:endParaRPr lang="ro-RO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•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•</a:t>
            </a:r>
            <a:endParaRPr lang="ro-RO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400557:  retq		</a:t>
            </a:r>
            <a:endParaRPr lang="ro-RO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752600" y="2209800"/>
            <a:ext cx="4495800" cy="2057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0000000000400540 &lt;multstore&gt;:</a:t>
            </a:r>
            <a:endParaRPr lang="sk-SK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sk-SK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•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sk-SK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400544: callq  400550 &lt;mult2&gt;</a:t>
            </a:r>
            <a:endParaRPr lang="sk-SK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sk-SK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400549: mov    %rax,(%rbx)</a:t>
            </a:r>
            <a:endParaRPr lang="sk-SK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11" name="Rectangle 8"/>
          <p:cNvSpPr/>
          <p:nvPr/>
        </p:nvSpPr>
        <p:spPr bwMode="auto">
          <a:xfrm>
            <a:off x="7772400" y="4419600"/>
            <a:ext cx="1346200" cy="381000"/>
          </a:xfrm>
          <a:prstGeom prst="rect">
            <a:avLst/>
          </a:prstGeom>
          <a:solidFill>
            <a:srgbClr val="FFCC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0x400557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12" name="Rectangle 9"/>
          <p:cNvSpPr/>
          <p:nvPr/>
        </p:nvSpPr>
        <p:spPr bwMode="auto">
          <a:xfrm>
            <a:off x="7772400" y="38100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0x118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17" name="Rectangle 14"/>
          <p:cNvSpPr/>
          <p:nvPr/>
        </p:nvSpPr>
        <p:spPr bwMode="auto">
          <a:xfrm>
            <a:off x="7772400" y="3200400"/>
            <a:ext cx="13462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0x400549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18" name="Rectangle 15"/>
          <p:cNvSpPr/>
          <p:nvPr/>
        </p:nvSpPr>
        <p:spPr bwMode="auto">
          <a:xfrm>
            <a:off x="7772400" y="1295400"/>
            <a:ext cx="1346200" cy="1905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•</a:t>
            </a:r>
            <a:endParaRPr lang="en-US" sz="2400" dirty="0">
              <a:latin typeface="Times New Roman Regular" panose="02020603050405020304" charset="0"/>
              <a:ea typeface="Microsoft YaHei" charset="0"/>
              <a:cs typeface="Times New Roman Regular" panose="02020603050405020304" charset="0"/>
            </a:endParaRPr>
          </a:p>
          <a:p>
            <a:r>
              <a:rPr lang="en-US" sz="2400" dirty="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•</a:t>
            </a:r>
            <a:endParaRPr lang="en-US" sz="2400" dirty="0">
              <a:latin typeface="Times New Roman Regular" panose="02020603050405020304" charset="0"/>
              <a:ea typeface="Microsoft YaHei" charset="0"/>
              <a:cs typeface="Times New Roman Regular" panose="02020603050405020304" charset="0"/>
            </a:endParaRPr>
          </a:p>
          <a:p>
            <a:r>
              <a:rPr lang="en-US" sz="2400" dirty="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•</a:t>
            </a:r>
            <a:endParaRPr lang="en-US" sz="2400" dirty="0">
              <a:latin typeface="Times New Roman Regular" panose="02020603050405020304" charset="0"/>
              <a:ea typeface="Microsoft YaHei" charset="0"/>
              <a:cs typeface="Times New Roman Regular" panose="02020603050405020304" charset="0"/>
            </a:endParaRPr>
          </a:p>
        </p:txBody>
      </p:sp>
      <p:sp>
        <p:nvSpPr>
          <p:cNvPr id="20" name="Arc 19"/>
          <p:cNvSpPr/>
          <p:nvPr/>
        </p:nvSpPr>
        <p:spPr bwMode="auto">
          <a:xfrm flipV="1">
            <a:off x="8153400" y="3352800"/>
            <a:ext cx="1676400" cy="685800"/>
          </a:xfrm>
          <a:prstGeom prst="arc">
            <a:avLst>
              <a:gd name="adj1" fmla="val 17108922"/>
              <a:gd name="adj2" fmla="val 4394693"/>
            </a:avLst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Gill Sans" panose="020B0502020104020203" charset="0"/>
            </a:endParaRPr>
          </a:p>
        </p:txBody>
      </p:sp>
      <p:cxnSp>
        <p:nvCxnSpPr>
          <p:cNvPr id="22" name="Straight Arrow Connector 21"/>
          <p:cNvCxnSpPr>
            <a:stCxn id="11" idx="1"/>
          </p:cNvCxnSpPr>
          <p:nvPr/>
        </p:nvCxnSpPr>
        <p:spPr bwMode="auto">
          <a:xfrm flipH="1">
            <a:off x="3886200" y="4610100"/>
            <a:ext cx="3886200" cy="15621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9" name="Straight Arrow Connector 18"/>
          <p:cNvCxnSpPr/>
          <p:nvPr/>
        </p:nvCxnSpPr>
        <p:spPr bwMode="auto">
          <a:xfrm flipH="1">
            <a:off x="5638800" y="3429000"/>
            <a:ext cx="2133600" cy="762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1" name="Group 20"/>
          <p:cNvGrpSpPr/>
          <p:nvPr/>
        </p:nvGrpSpPr>
        <p:grpSpPr>
          <a:xfrm>
            <a:off x="6858000" y="2057400"/>
            <a:ext cx="776287" cy="2743200"/>
            <a:chOff x="5334000" y="1143000"/>
            <a:chExt cx="776287" cy="2743200"/>
          </a:xfrm>
        </p:grpSpPr>
        <p:sp>
          <p:nvSpPr>
            <p:cNvPr id="23" name="Rectangle 3"/>
            <p:cNvSpPr/>
            <p:nvPr/>
          </p:nvSpPr>
          <p:spPr bwMode="auto">
            <a:xfrm>
              <a:off x="5472112" y="2895600"/>
              <a:ext cx="638175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Times New Roman Regular" panose="02020603050405020304" charset="0"/>
                  <a:ea typeface="Microsoft YaHei" charset="0"/>
                  <a:cs typeface="Times New Roman Regular" panose="020206030504050203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Times New Roman Regular" panose="02020603050405020304" charset="0"/>
                  <a:ea typeface="Microsoft YaHei" charset="0"/>
                  <a:cs typeface="Times New Roman Regular" panose="02020603050405020304" charset="0"/>
                  <a:sym typeface="Courier New Bold" panose="02070609020205020404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endParaRPr>
            </a:p>
          </p:txBody>
        </p:sp>
        <p:sp>
          <p:nvSpPr>
            <p:cNvPr id="24" name="Rectangle 10"/>
            <p:cNvSpPr/>
            <p:nvPr/>
          </p:nvSpPr>
          <p:spPr bwMode="auto">
            <a:xfrm>
              <a:off x="5334000" y="1905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Times New Roman Regular" panose="02020603050405020304" charset="0"/>
                  <a:ea typeface="Microsoft YaHei" charset="0"/>
                  <a:cs typeface="Times New Roman Regular" panose="02020603050405020304" charset="0"/>
                  <a:sym typeface="Courier New Bold" panose="02070609020205020404" charset="0"/>
                </a:rPr>
                <a:t>0x120</a:t>
              </a:r>
              <a:endPara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endParaRPr>
            </a:p>
          </p:txBody>
        </p:sp>
        <p:sp>
          <p:nvSpPr>
            <p:cNvPr id="25" name="Rectangle 11"/>
            <p:cNvSpPr/>
            <p:nvPr/>
          </p:nvSpPr>
          <p:spPr bwMode="auto">
            <a:xfrm>
              <a:off x="5334000" y="1524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Times New Roman Regular" panose="02020603050405020304" charset="0"/>
                  <a:ea typeface="Microsoft YaHei" charset="0"/>
                  <a:cs typeface="Times New Roman Regular" panose="02020603050405020304" charset="0"/>
                  <a:sym typeface="Courier New Bold" panose="02070609020205020404" charset="0"/>
                </a:rPr>
                <a:t>0x128</a:t>
              </a:r>
              <a:endPara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endParaRPr>
            </a:p>
          </p:txBody>
        </p:sp>
        <p:sp>
          <p:nvSpPr>
            <p:cNvPr id="26" name="Rectangle 12"/>
            <p:cNvSpPr/>
            <p:nvPr/>
          </p:nvSpPr>
          <p:spPr bwMode="auto">
            <a:xfrm>
              <a:off x="5334000" y="1143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Times New Roman Regular" panose="02020603050405020304" charset="0"/>
                  <a:ea typeface="Microsoft YaHei" charset="0"/>
                  <a:cs typeface="Times New Roman Regular" panose="02020603050405020304" charset="0"/>
                  <a:sym typeface="Courier New Bold" panose="02070609020205020404" charset="0"/>
                </a:rPr>
                <a:t>0x130</a:t>
              </a:r>
              <a:endPara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endParaRPr>
            </a:p>
          </p:txBody>
        </p:sp>
        <p:sp>
          <p:nvSpPr>
            <p:cNvPr id="27" name="Rectangle 11"/>
            <p:cNvSpPr/>
            <p:nvPr/>
          </p:nvSpPr>
          <p:spPr bwMode="auto">
            <a:xfrm>
              <a:off x="5334000" y="2286000"/>
              <a:ext cx="776287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Times New Roman Regular" panose="02020603050405020304" charset="0"/>
                  <a:ea typeface="Microsoft YaHei" charset="0"/>
                  <a:cs typeface="Times New Roman Regular" panose="02020603050405020304" charset="0"/>
                  <a:sym typeface="Courier New Bold" panose="02070609020205020404" charset="0"/>
                </a:rPr>
                <a:t>0x118</a:t>
              </a:r>
              <a:endPara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endParaRPr>
            </a:p>
          </p:txBody>
        </p:sp>
        <p:sp>
          <p:nvSpPr>
            <p:cNvPr id="28" name="Rectangle 4"/>
            <p:cNvSpPr/>
            <p:nvPr/>
          </p:nvSpPr>
          <p:spPr bwMode="auto">
            <a:xfrm>
              <a:off x="5472112" y="3505200"/>
              <a:ext cx="638175" cy="381000"/>
            </a:xfrm>
            <a:prstGeom prst="rect">
              <a:avLst/>
            </a:prstGeom>
            <a:solidFill>
              <a:srgbClr val="FFFFFF"/>
            </a:solidFill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wrap="none" lIns="38100" tIns="38100" rIns="38100" bIns="38100" anchor="ctr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Times New Roman Regular" panose="02020603050405020304" charset="0"/>
                  <a:ea typeface="Microsoft YaHei" charset="0"/>
                  <a:cs typeface="Times New Roman Regular" panose="02020603050405020304" charset="0"/>
                  <a:sym typeface="Courier New Bold" panose="02070609020205020404" charset="0"/>
                </a:rPr>
                <a:t>%rip</a:t>
              </a:r>
              <a:endPara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9119235" y="4374515"/>
            <a:ext cx="1583055" cy="575310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 Regular" panose="02020603050405020304" charset="0"/>
                <a:ea typeface="Microsoft YaHei" charset="0"/>
                <a:cs typeface="ヒラギノ角ゴ ProN W3" panose="020B0300000000000000" charset="-128"/>
                <a:sym typeface="Gill Sans" panose="020B0502020104020203" charset="0"/>
              </a:rPr>
              <a:t>更新下一条指令地址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 Regular" panose="02020603050405020304" charset="0"/>
              <a:ea typeface="Microsoft YaHei" charset="0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9090025" y="3234055"/>
            <a:ext cx="1577975" cy="347345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 Regular" panose="02020603050405020304" charset="0"/>
                <a:ea typeface="Microsoft YaHei" charset="0"/>
                <a:cs typeface="ヒラギノ角ゴ ProN W3" panose="020B0300000000000000" charset="-128"/>
                <a:sym typeface="Gill Sans" panose="020B0502020104020203" charset="0"/>
              </a:rPr>
              <a:t>保存返回地址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 Regular" panose="02020603050405020304" charset="0"/>
              <a:ea typeface="Microsoft YaHei" charset="0"/>
              <a:cs typeface="ヒラギノ角ゴ ProN W3" panose="020B0300000000000000" charset="-128"/>
              <a:sym typeface="Gill Sans" panose="020B0502020104020203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 Regular" panose="02020603050405020304" charset="0"/>
              <a:ea typeface="Microsoft YaHei" charset="0"/>
              <a:cs typeface="ヒラギノ角ゴ ProN W3" panose="020B0300000000000000" charset="-128"/>
              <a:sym typeface="Gill Sans" panose="020B0502020104020203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 Regular" panose="02020603050405020304" charset="0"/>
              <a:ea typeface="Microsoft YaHei" charset="0"/>
              <a:cs typeface="ヒラギノ角ゴ ProN W3" panose="020B0300000000000000" charset="-128"/>
              <a:sym typeface="Gill Sans" panose="020B0502020104020203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200" dirty="0">
                <a:ea typeface="Microsoft YaHei" charset="0"/>
                <a:sym typeface="+mn-ea"/>
              </a:rPr>
              <a:t>控制流的例子</a:t>
            </a:r>
            <a:r>
              <a:rPr lang="en-US" sz="3200" dirty="0">
                <a:ea typeface="Microsoft YaHei" charset="0"/>
              </a:rPr>
              <a:t> #4</a:t>
            </a:r>
            <a:br>
              <a:rPr lang="en-US" sz="3200" dirty="0">
                <a:ea typeface="Microsoft YaHei" charset="0"/>
              </a:rPr>
            </a:br>
            <a:r>
              <a:rPr lang="zh-CN" altLang="en-US" sz="3200" dirty="0">
                <a:ea typeface="Microsoft YaHei" charset="0"/>
              </a:rPr>
              <a:t>——</a:t>
            </a:r>
            <a:r>
              <a:rPr lang="en-US" altLang="zh-CN" sz="3200" dirty="0">
                <a:ea typeface="Microsoft YaHei" charset="0"/>
              </a:rPr>
              <a:t>after ret</a:t>
            </a:r>
            <a:endParaRPr lang="en-US" altLang="zh-CN" sz="3200" dirty="0">
              <a:ea typeface="Microsoft YaHei" charset="0"/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>
              <a:ea typeface="Microsoft YaHei" charset="0"/>
            </a:endParaRPr>
          </a:p>
        </p:txBody>
      </p:sp>
      <p:sp>
        <p:nvSpPr>
          <p:cNvPr id="6" name="Rectangle 4"/>
          <p:cNvSpPr/>
          <p:nvPr/>
        </p:nvSpPr>
        <p:spPr bwMode="auto">
          <a:xfrm>
            <a:off x="1752600" y="3962400"/>
            <a:ext cx="4495800" cy="15240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0000000000400550 &lt;mult2&gt;:</a:t>
            </a:r>
            <a:endParaRPr lang="ro-RO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400550:  mov    %rdi,%rax</a:t>
            </a:r>
            <a:endParaRPr lang="ro-RO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•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•</a:t>
            </a:r>
            <a:endParaRPr lang="ro-RO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ro-RO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400557:  retq		</a:t>
            </a:r>
            <a:endParaRPr lang="ro-RO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1752600" y="1295400"/>
            <a:ext cx="4495800" cy="20574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0000000000400540 &lt;multstore&gt;:</a:t>
            </a:r>
            <a:endParaRPr lang="sk-SK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sk-SK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</a:t>
            </a:r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•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sk-SK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400544: callq  400550 &lt;mult2&gt;</a:t>
            </a:r>
            <a:endParaRPr lang="sk-SK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sk-SK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400549: mov    %rax,(%rbx)</a:t>
            </a:r>
            <a:endParaRPr lang="sk-SK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11" name="Rectangle 8"/>
          <p:cNvSpPr/>
          <p:nvPr/>
        </p:nvSpPr>
        <p:spPr bwMode="auto">
          <a:xfrm>
            <a:off x="7467600" y="3505200"/>
            <a:ext cx="1346200" cy="381000"/>
          </a:xfrm>
          <a:prstGeom prst="rect">
            <a:avLst/>
          </a:prstGeom>
          <a:solidFill>
            <a:srgbClr val="FFCCCC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0x400549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12" name="Rectangle 9"/>
          <p:cNvSpPr/>
          <p:nvPr/>
        </p:nvSpPr>
        <p:spPr bwMode="auto">
          <a:xfrm>
            <a:off x="7467600" y="2895600"/>
            <a:ext cx="13462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0x120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18" name="Rectangle 15"/>
          <p:cNvSpPr/>
          <p:nvPr/>
        </p:nvSpPr>
        <p:spPr bwMode="auto">
          <a:xfrm>
            <a:off x="7467600" y="381000"/>
            <a:ext cx="1346200" cy="1905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•</a:t>
            </a:r>
            <a:endParaRPr lang="en-US" sz="2400" dirty="0">
              <a:latin typeface="Times New Roman Regular" panose="02020603050405020304" charset="0"/>
              <a:ea typeface="Microsoft YaHei" charset="0"/>
              <a:cs typeface="Times New Roman Regular" panose="02020603050405020304" charset="0"/>
            </a:endParaRPr>
          </a:p>
          <a:p>
            <a:r>
              <a:rPr lang="en-US" sz="2400" dirty="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•</a:t>
            </a:r>
            <a:endParaRPr lang="en-US" sz="2400" dirty="0">
              <a:latin typeface="Times New Roman Regular" panose="02020603050405020304" charset="0"/>
              <a:ea typeface="Microsoft YaHei" charset="0"/>
              <a:cs typeface="Times New Roman Regular" panose="02020603050405020304" charset="0"/>
            </a:endParaRPr>
          </a:p>
          <a:p>
            <a:r>
              <a:rPr lang="en-US" sz="2400" dirty="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•</a:t>
            </a:r>
            <a:endParaRPr lang="en-US" sz="2400" dirty="0">
              <a:latin typeface="Times New Roman Regular" panose="02020603050405020304" charset="0"/>
              <a:ea typeface="Microsoft YaHei" charset="0"/>
              <a:cs typeface="Times New Roman Regular" panose="02020603050405020304" charset="0"/>
            </a:endParaRPr>
          </a:p>
        </p:txBody>
      </p:sp>
      <p:sp>
        <p:nvSpPr>
          <p:cNvPr id="20" name="Arc 19"/>
          <p:cNvSpPr/>
          <p:nvPr/>
        </p:nvSpPr>
        <p:spPr bwMode="auto">
          <a:xfrm flipV="1">
            <a:off x="7848600" y="2133600"/>
            <a:ext cx="1676400" cy="990600"/>
          </a:xfrm>
          <a:prstGeom prst="arc">
            <a:avLst>
              <a:gd name="adj1" fmla="val 17108922"/>
              <a:gd name="adj2" fmla="val 4768750"/>
            </a:avLst>
          </a:prstGeom>
          <a:noFill/>
          <a:ln w="25400" cap="flat" cmpd="sng" algn="ctr">
            <a:solidFill>
              <a:srgbClr val="008000"/>
            </a:solidFill>
            <a:prstDash val="solid"/>
            <a:round/>
            <a:headEnd type="none" w="med" len="med"/>
            <a:tailEnd type="arrow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42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Gill Sans" panose="020B0502020104020203" charset="0"/>
            </a:endParaRPr>
          </a:p>
        </p:txBody>
      </p:sp>
      <p:cxnSp>
        <p:nvCxnSpPr>
          <p:cNvPr id="22" name="Straight Arrow Connector 21"/>
          <p:cNvCxnSpPr>
            <a:stCxn id="11" idx="1"/>
          </p:cNvCxnSpPr>
          <p:nvPr/>
        </p:nvCxnSpPr>
        <p:spPr bwMode="auto">
          <a:xfrm flipH="1" flipV="1">
            <a:off x="5334000" y="2590800"/>
            <a:ext cx="2133600" cy="11049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1" name="Rectangle 3"/>
          <p:cNvSpPr/>
          <p:nvPr/>
        </p:nvSpPr>
        <p:spPr bwMode="auto">
          <a:xfrm>
            <a:off x="6691312" y="2895600"/>
            <a:ext cx="638175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rsp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23" name="Rectangle 10"/>
          <p:cNvSpPr/>
          <p:nvPr/>
        </p:nvSpPr>
        <p:spPr bwMode="auto">
          <a:xfrm>
            <a:off x="6553200" y="19050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0x120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24" name="Rectangle 11"/>
          <p:cNvSpPr/>
          <p:nvPr/>
        </p:nvSpPr>
        <p:spPr bwMode="auto">
          <a:xfrm>
            <a:off x="6553200" y="15240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0x128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25" name="Rectangle 12"/>
          <p:cNvSpPr/>
          <p:nvPr/>
        </p:nvSpPr>
        <p:spPr bwMode="auto">
          <a:xfrm>
            <a:off x="6553200" y="1143000"/>
            <a:ext cx="776287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0x130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27" name="Rectangle 4"/>
          <p:cNvSpPr/>
          <p:nvPr/>
        </p:nvSpPr>
        <p:spPr bwMode="auto">
          <a:xfrm>
            <a:off x="6691312" y="3505200"/>
            <a:ext cx="638175" cy="381000"/>
          </a:xfrm>
          <a:prstGeom prst="rect">
            <a:avLst/>
          </a:prstGeom>
          <a:solidFill>
            <a:srgbClr val="FFFFFF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 anchor="ctr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Courier New Bold" panose="02070609020205020404" charset="0"/>
              </a:rPr>
              <a:t>%rip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894205" y="5939155"/>
            <a:ext cx="62591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00B050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对比</a:t>
            </a:r>
            <a:r>
              <a:rPr lang="en-US" altLang="zh-CN" sz="2400" dirty="0">
                <a:solidFill>
                  <a:srgbClr val="00B050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calling</a:t>
            </a:r>
            <a:r>
              <a:rPr lang="zh-CN" altLang="en-US" sz="2400" dirty="0">
                <a:solidFill>
                  <a:srgbClr val="00B050"/>
                </a:solidFill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前后</a:t>
            </a:r>
            <a:endParaRPr lang="zh-CN" altLang="en-US" sz="2400" dirty="0">
              <a:solidFill>
                <a:srgbClr val="00B050"/>
              </a:solidFill>
              <a:latin typeface="Times New Roman Regular" panose="02020603050405020304" charset="0"/>
              <a:ea typeface="Microsoft YaHei" charset="0"/>
              <a:cs typeface="Times New Roman Regular" panose="020206030504050203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l="4394"/>
          <a:stretch>
            <a:fillRect/>
          </a:stretch>
        </p:blipFill>
        <p:spPr>
          <a:xfrm>
            <a:off x="8034655" y="4320540"/>
            <a:ext cx="2252345" cy="2461260"/>
          </a:xfrm>
          <a:prstGeom prst="rect">
            <a:avLst/>
          </a:prstGeom>
        </p:spPr>
      </p:pic>
      <p:sp>
        <p:nvSpPr>
          <p:cNvPr id="5" name="Text Box 4"/>
          <p:cNvSpPr txBox="1"/>
          <p:nvPr/>
        </p:nvSpPr>
        <p:spPr>
          <a:xfrm>
            <a:off x="6917055" y="4596130"/>
            <a:ext cx="1117600" cy="645160"/>
          </a:xfrm>
          <a:prstGeom prst="rect">
            <a:avLst/>
          </a:prstGeom>
          <a:solidFill>
            <a:schemeClr val="bg1">
              <a:lumMod val="50000"/>
              <a:alpha val="0"/>
            </a:schemeClr>
          </a:solidFill>
        </p:spPr>
        <p:txBody>
          <a:bodyPr wrap="square" rtlCol="0">
            <a:spAutoFit/>
          </a:bodyPr>
          <a:p>
            <a:r>
              <a:rPr lang="zh-CN" altLang="en-US" sz="180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回顾</a:t>
            </a:r>
            <a:r>
              <a:rPr lang="en-US" altLang="zh-CN" sz="180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call</a:t>
            </a:r>
            <a:r>
              <a:rPr lang="zh-CN" altLang="en-US" sz="1800"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</a:rPr>
              <a:t>之前</a:t>
            </a:r>
            <a:endParaRPr lang="zh-CN" altLang="en-US" sz="1800">
              <a:latin typeface="Times New Roman Regular" panose="02020603050405020304" charset="0"/>
              <a:ea typeface="Microsoft YaHei" charset="0"/>
              <a:cs typeface="Times New Roman Regular" panose="0202060305040502030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8915400" y="2306320"/>
            <a:ext cx="1634490" cy="886460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 Regular" panose="02020603050405020304" charset="0"/>
                <a:ea typeface="Microsoft YaHei" charset="0"/>
                <a:cs typeface="ヒラギノ角ゴ ProN W3" panose="020B0300000000000000" charset="-128"/>
                <a:sym typeface="Gill Sans" panose="020B0502020104020203" charset="0"/>
              </a:rPr>
              <a:t>出栈返回地址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 Regular" panose="02020603050405020304" charset="0"/>
              <a:ea typeface="Microsoft YaHei" charset="0"/>
              <a:cs typeface="ヒラギノ角ゴ ProN W3" panose="020B0300000000000000" charset="-128"/>
              <a:sym typeface="Gill Sans" panose="020B0502020104020203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 Regular" panose="02020603050405020304" charset="0"/>
              <a:ea typeface="Microsoft YaHei" charset="0"/>
              <a:cs typeface="ヒラギノ角ゴ ProN W3" panose="020B0300000000000000" charset="-128"/>
              <a:sym typeface="Gill Sans" panose="020B0502020104020203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800" smtClean="0">
                <a:ln>
                  <a:noFill/>
                </a:ln>
                <a:effectLst/>
                <a:latin typeface="Times New Roman Regular" panose="02020603050405020304" charset="0"/>
                <a:ea typeface="Microsoft YaHei" charset="0"/>
                <a:sym typeface="Gill Sans" panose="020B0502020104020203" charset="0"/>
              </a:rPr>
              <a:t>更新栈顶地址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 Regular" panose="02020603050405020304" charset="0"/>
              <a:ea typeface="Microsoft YaHei" charset="0"/>
              <a:cs typeface="ヒラギノ角ゴ ProN W3" panose="020B0300000000000000" charset="-128"/>
              <a:sym typeface="Gill Sans" panose="020B0502020104020203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 Regular" panose="02020603050405020304" charset="0"/>
              <a:ea typeface="Microsoft YaHei" charset="0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891270" y="3460115"/>
            <a:ext cx="1811020" cy="575310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Gill Sans" panose="020B0502020104020203" charset="0"/>
              </a:rPr>
              <a:t>更新指令地址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Gill Sans" panose="020B0502020104020203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Gill Sans" panose="020B0502020104020203" charset="0"/>
              </a:rPr>
              <a:t>——</a:t>
            </a: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Gill Sans" panose="020B0502020104020203" charset="0"/>
              </a:rPr>
              <a:t>&gt;</a:t>
            </a: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 Regular" panose="02020603050405020304" charset="0"/>
                <a:ea typeface="Microsoft YaHei" charset="0"/>
                <a:cs typeface="Times New Roman Regular" panose="02020603050405020304" charset="0"/>
                <a:sym typeface="Gill Sans" panose="020B0502020104020203" charset="0"/>
              </a:rPr>
              <a:t>返回地址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 Regular" panose="02020603050405020304" charset="0"/>
              <a:ea typeface="Microsoft YaHei" charset="0"/>
              <a:cs typeface="Times New Roman Regular" panose="02020603050405020304" charset="0"/>
              <a:sym typeface="Gill Sans" panose="020B0502020104020203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dirty="0"/>
              <a:t>Today</a:t>
            </a:r>
            <a:endParaRPr lang="en-US" dirty="0"/>
          </a:p>
        </p:txBody>
      </p:sp>
      <p:sp>
        <p:nvSpPr>
          <p:cNvPr id="12292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Procedures </a:t>
            </a:r>
            <a:r>
              <a:rPr lang="zh-CN" alt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过程调用</a:t>
            </a:r>
            <a:endParaRPr lang="en-US" dirty="0"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1"/>
            <a:r>
              <a:rPr 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Stack Structure </a:t>
            </a:r>
            <a:r>
              <a:rPr lang="zh-CN" alt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栈结构</a:t>
            </a:r>
            <a:endParaRPr lang="en-US" dirty="0"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Calling Conventions </a:t>
            </a:r>
            <a:r>
              <a:rPr lang="zh-CN" altLang="en-US" dirty="0">
                <a:solidFill>
                  <a:schemeClr val="tx1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调用约定</a:t>
            </a:r>
            <a:endParaRPr lang="en-US" dirty="0">
              <a:solidFill>
                <a:schemeClr val="tx1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2"/>
            <a:r>
              <a:rPr lang="en-US" dirty="0">
                <a:solidFill>
                  <a:schemeClr val="tx1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Passing control </a:t>
            </a:r>
            <a:r>
              <a:rPr lang="zh-CN" altLang="en-US" dirty="0">
                <a:solidFill>
                  <a:schemeClr val="tx1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传递控制</a:t>
            </a:r>
            <a:endParaRPr lang="en-US" dirty="0">
              <a:solidFill>
                <a:schemeClr val="tx1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2"/>
            <a:r>
              <a:rPr lang="en-US" dirty="0">
                <a:solidFill>
                  <a:schemeClr val="tx1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Passing data </a:t>
            </a:r>
            <a:r>
              <a:rPr lang="zh-CN" altLang="en-US" dirty="0">
                <a:solidFill>
                  <a:schemeClr val="tx1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传递数据</a:t>
            </a:r>
            <a:endParaRPr lang="en-US" dirty="0">
              <a:solidFill>
                <a:schemeClr val="tx1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2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Managing local data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管理局部数据（内存管理）</a:t>
            </a:r>
            <a:endParaRPr lang="en-US" dirty="0">
              <a:solidFill>
                <a:schemeClr val="bg1">
                  <a:lumMod val="50000"/>
                </a:schemeClr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1"/>
            <a:r>
              <a:rPr lang="en-US" dirty="0">
                <a:solidFill>
                  <a:srgbClr val="7F7F7F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Illustration of Recursion </a:t>
            </a:r>
            <a:r>
              <a:rPr lang="zh-CN" altLang="en-US" dirty="0">
                <a:solidFill>
                  <a:srgbClr val="7F7F7F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递归调用的</a:t>
            </a:r>
            <a:r>
              <a:rPr lang="zh-CN" altLang="en-US" dirty="0">
                <a:solidFill>
                  <a:srgbClr val="7F7F7F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说明</a:t>
            </a:r>
            <a:endParaRPr lang="zh-CN" altLang="en-US" dirty="0">
              <a:solidFill>
                <a:srgbClr val="7F7F7F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title"/>
          </p:nvPr>
        </p:nvSpPr>
        <p:spPr>
          <a:xfrm>
            <a:off x="1905000" y="310515"/>
            <a:ext cx="8382000" cy="1143000"/>
          </a:xfrm>
        </p:spPr>
        <p:txBody>
          <a:bodyPr/>
          <a:lstStyle/>
          <a:p>
            <a:pPr marL="119380" indent="-119380"/>
            <a:r>
              <a:rPr lang="en-US" b="0" dirty="0"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rPr>
              <a:t>Procedure Data Flow </a:t>
            </a:r>
            <a:r>
              <a:rPr lang="zh-CN" altLang="en-US" b="0" dirty="0"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rPr>
              <a:t>过程的数据流</a:t>
            </a:r>
            <a:endParaRPr lang="zh-CN" altLang="en-US" b="0" dirty="0"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752600" y="2044065"/>
            <a:ext cx="8382000" cy="4128770"/>
          </a:xfrm>
        </p:spPr>
        <p:txBody>
          <a:bodyPr/>
          <a:lstStyle/>
          <a:p>
            <a:r>
              <a:rPr lang="zh-CN" altLang="en-US" dirty="0"/>
              <a:t>前</a:t>
            </a:r>
            <a:r>
              <a:rPr lang="en-US" altLang="zh-CN" dirty="0"/>
              <a:t>6</a:t>
            </a:r>
            <a:r>
              <a:rPr lang="zh-CN" altLang="en-US" dirty="0"/>
              <a:t>个参数放寄存器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zh-CN" altLang="en-US" dirty="0"/>
              <a:t>返回值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4294967295"/>
          </p:nvPr>
        </p:nvSpPr>
        <p:spPr>
          <a:xfrm>
            <a:off x="6641465" y="1535430"/>
            <a:ext cx="4026535" cy="648970"/>
          </a:xfrm>
        </p:spPr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7</a:t>
            </a:r>
            <a:r>
              <a:rPr lang="zh-CN" altLang="en-US" dirty="0"/>
              <a:t>个及</a:t>
            </a:r>
            <a:r>
              <a:rPr lang="zh-CN" altLang="en-US" dirty="0"/>
              <a:t>更多参数放栈</a:t>
            </a:r>
            <a:r>
              <a:rPr lang="zh-CN" altLang="en-US" dirty="0"/>
              <a:t>上</a:t>
            </a:r>
            <a:endParaRPr lang="zh-CN" altLang="en-US" dirty="0"/>
          </a:p>
          <a:p>
            <a:pPr lvl="1"/>
            <a:r>
              <a:rPr lang="zh-CN" altLang="en-US" dirty="0"/>
              <a:t>如果有的</a:t>
            </a:r>
            <a:r>
              <a:rPr lang="zh-CN" altLang="en-US" dirty="0"/>
              <a:t>话</a:t>
            </a:r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4294967295"/>
          </p:nvPr>
        </p:nvSpPr>
        <p:spPr>
          <a:xfrm>
            <a:off x="6497955" y="5356860"/>
            <a:ext cx="4170045" cy="774065"/>
          </a:xfrm>
        </p:spPr>
        <p:txBody>
          <a:bodyPr/>
          <a:lstStyle/>
          <a:p>
            <a:r>
              <a:rPr lang="zh-CN" altLang="en-US" dirty="0"/>
              <a:t>优先使用寄存器</a:t>
            </a:r>
            <a:r>
              <a:rPr lang="zh-CN" altLang="en-US" dirty="0"/>
              <a:t>传递参数</a:t>
            </a:r>
            <a:endParaRPr lang="zh-CN" altLang="en-US" dirty="0"/>
          </a:p>
          <a:p>
            <a:r>
              <a:rPr lang="zh-CN" altLang="en-US" dirty="0"/>
              <a:t>仅在需要时才使用栈空间</a:t>
            </a:r>
            <a:r>
              <a:rPr lang="zh-CN" altLang="en-US" dirty="0"/>
              <a:t>传递参数</a:t>
            </a:r>
            <a:endParaRPr lang="zh-CN" altLang="en-US" dirty="0"/>
          </a:p>
        </p:txBody>
      </p:sp>
      <p:sp>
        <p:nvSpPr>
          <p:cNvPr id="9" name="Rectangle 9"/>
          <p:cNvSpPr/>
          <p:nvPr/>
        </p:nvSpPr>
        <p:spPr bwMode="auto">
          <a:xfrm>
            <a:off x="2286000" y="2819400"/>
            <a:ext cx="1341755" cy="386715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rdi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2286000" y="3200400"/>
            <a:ext cx="1341755" cy="386715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rsi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2286000" y="3581400"/>
            <a:ext cx="1341755" cy="386715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rdx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2286000" y="3962400"/>
            <a:ext cx="1341755" cy="386715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rcx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2286000" y="4343400"/>
            <a:ext cx="1341755" cy="386715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%r8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2286000" y="4724400"/>
            <a:ext cx="1341755" cy="386715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%r9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2286000" y="5791200"/>
            <a:ext cx="1341755" cy="386715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rax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162800" y="2438400"/>
            <a:ext cx="1341755" cy="2707640"/>
            <a:chOff x="5943600" y="2057400"/>
            <a:chExt cx="1346200" cy="2667000"/>
          </a:xfrm>
        </p:grpSpPr>
        <p:sp>
          <p:nvSpPr>
            <p:cNvPr id="16" name="Rectangle 14"/>
            <p:cNvSpPr/>
            <p:nvPr/>
          </p:nvSpPr>
          <p:spPr bwMode="auto">
            <a:xfrm>
              <a:off x="5943600" y="4343400"/>
              <a:ext cx="1346200" cy="381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r>
                <a:rPr lang="en-US" sz="1800" dirty="0" err="1">
                  <a:solidFill>
                    <a:schemeClr val="tx1"/>
                  </a:solidFill>
                  <a:latin typeface="+mn-lt"/>
                  <a:cs typeface="Courier New Bold" panose="02070609020205020404" charset="0"/>
                  <a:sym typeface="Courier New Bold" panose="02070609020205020404" charset="0"/>
                </a:rPr>
                <a:t>Arg</a:t>
              </a:r>
              <a:r>
                <a:rPr lang="en-US" sz="1800" dirty="0">
                  <a:solidFill>
                    <a:schemeClr val="tx1"/>
                  </a:solidFill>
                  <a:latin typeface="+mn-lt"/>
                  <a:cs typeface="Courier New Bold" panose="02070609020205020404" charset="0"/>
                  <a:sym typeface="Courier New Bold" panose="02070609020205020404" charset="0"/>
                </a:rPr>
                <a:t> </a:t>
              </a:r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7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  <p:sp>
          <p:nvSpPr>
            <p:cNvPr id="17" name="Rectangle 15"/>
            <p:cNvSpPr/>
            <p:nvPr/>
          </p:nvSpPr>
          <p:spPr bwMode="auto">
            <a:xfrm>
              <a:off x="5943600" y="3200400"/>
              <a:ext cx="1346200" cy="762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2400" dirty="0"/>
                <a:t>• • •</a:t>
              </a:r>
              <a:endParaRPr lang="en-US" sz="2400" dirty="0"/>
            </a:p>
          </p:txBody>
        </p:sp>
        <p:sp>
          <p:nvSpPr>
            <p:cNvPr id="18" name="Rectangle 14"/>
            <p:cNvSpPr/>
            <p:nvPr/>
          </p:nvSpPr>
          <p:spPr bwMode="auto">
            <a:xfrm>
              <a:off x="5943600" y="3962400"/>
              <a:ext cx="1346200" cy="381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r>
                <a:rPr lang="en-US" sz="1800" dirty="0" err="1">
                  <a:solidFill>
                    <a:schemeClr val="tx1"/>
                  </a:solidFill>
                  <a:latin typeface="+mn-lt"/>
                  <a:cs typeface="Courier New Bold" panose="02070609020205020404" charset="0"/>
                  <a:sym typeface="Courier New Bold" panose="02070609020205020404" charset="0"/>
                </a:rPr>
                <a:t>Arg</a:t>
              </a:r>
              <a:r>
                <a:rPr lang="en-US" sz="1800" dirty="0">
                  <a:solidFill>
                    <a:schemeClr val="tx1"/>
                  </a:solidFill>
                  <a:latin typeface="+mn-lt"/>
                  <a:cs typeface="Courier New Bold" panose="02070609020205020404" charset="0"/>
                  <a:sym typeface="Courier New Bold" panose="02070609020205020404" charset="0"/>
                </a:rPr>
                <a:t> </a:t>
              </a:r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8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  <p:sp>
          <p:nvSpPr>
            <p:cNvPr id="19" name="Rectangle 14"/>
            <p:cNvSpPr/>
            <p:nvPr/>
          </p:nvSpPr>
          <p:spPr bwMode="auto">
            <a:xfrm>
              <a:off x="5943600" y="2819400"/>
              <a:ext cx="1346200" cy="381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 anchor="ctr"/>
            <a:lstStyle/>
            <a:p>
              <a:r>
                <a:rPr lang="en-US" sz="1800" dirty="0" err="1">
                  <a:solidFill>
                    <a:schemeClr val="tx1"/>
                  </a:solidFill>
                  <a:latin typeface="+mn-lt"/>
                  <a:cs typeface="Courier New Bold" panose="02070609020205020404" charset="0"/>
                  <a:sym typeface="Courier New Bold" panose="02070609020205020404" charset="0"/>
                </a:rPr>
                <a:t>Arg</a:t>
              </a:r>
              <a:r>
                <a:rPr lang="en-US" sz="1800" dirty="0">
                  <a:solidFill>
                    <a:schemeClr val="tx1"/>
                  </a:solidFill>
                  <a:latin typeface="+mn-lt"/>
                  <a:cs typeface="Courier New Bold" panose="02070609020205020404" charset="0"/>
                  <a:sym typeface="Courier New Bold" panose="02070609020205020404" charset="0"/>
                </a:rPr>
                <a:t> </a:t>
              </a:r>
              <a:r>
                <a:rPr lang="en-US" sz="1800" i="1" dirty="0">
                  <a:solidFill>
                    <a:schemeClr val="tx1"/>
                  </a:solidFill>
                  <a:latin typeface="+mn-lt"/>
                  <a:cs typeface="Courier New Bold" panose="02070609020205020404" charset="0"/>
                  <a:sym typeface="Courier New Bold" panose="02070609020205020404" charset="0"/>
                </a:rPr>
                <a:t>n</a:t>
              </a:r>
              <a:endParaRPr lang="en-US" sz="1800" i="1" dirty="0">
                <a:solidFill>
                  <a:schemeClr val="tx1"/>
                </a:solidFill>
                <a:latin typeface="+mn-lt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  <p:sp>
          <p:nvSpPr>
            <p:cNvPr id="20" name="Rectangle 15"/>
            <p:cNvSpPr/>
            <p:nvPr/>
          </p:nvSpPr>
          <p:spPr bwMode="auto">
            <a:xfrm>
              <a:off x="5943600" y="2057400"/>
              <a:ext cx="1346200" cy="762000"/>
            </a:xfrm>
            <a:prstGeom prst="rect">
              <a:avLst/>
            </a:prstGeom>
            <a:solidFill>
              <a:srgbClr val="D6D6F4"/>
            </a:solidFill>
            <a:ln w="25400" cap="flat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lIns="0" tIns="0" rIns="0" bIns="0" anchor="ctr"/>
            <a:lstStyle/>
            <a:p>
              <a:r>
                <a:rPr lang="en-US" sz="2400" dirty="0"/>
                <a:t>• • •</a:t>
              </a:r>
              <a:endParaRPr lang="en-US" sz="2400" dirty="0"/>
            </a:p>
          </p:txBody>
        </p:sp>
      </p:grpSp>
      <p:sp>
        <p:nvSpPr>
          <p:cNvPr id="6" name="Text Box 5"/>
          <p:cNvSpPr txBox="1"/>
          <p:nvPr/>
        </p:nvSpPr>
        <p:spPr>
          <a:xfrm>
            <a:off x="1524000" y="6172835"/>
            <a:ext cx="54711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>
                <a:solidFill>
                  <a:srgbClr val="00B050"/>
                </a:solidFill>
                <a:latin typeface="Kaiti SC Regular" panose="02010600040101010101" charset="-122"/>
                <a:ea typeface="Kaiti SC Regular" panose="02010600040101010101" charset="-122"/>
              </a:rPr>
              <a:t>为什么用寄存器？何时用内存传递</a:t>
            </a:r>
            <a:r>
              <a:rPr lang="zh-CN" altLang="en-US" sz="2400">
                <a:solidFill>
                  <a:srgbClr val="00B050"/>
                </a:solidFill>
                <a:latin typeface="Kaiti SC Regular" panose="02010600040101010101" charset="-122"/>
                <a:ea typeface="Kaiti SC Regular" panose="02010600040101010101" charset="-122"/>
              </a:rPr>
              <a:t>参数？</a:t>
            </a:r>
            <a:endParaRPr lang="zh-CN" altLang="en-US" sz="2400">
              <a:solidFill>
                <a:srgbClr val="00B050"/>
              </a:solidFill>
              <a:latin typeface="Kaiti SC Regular" panose="02010600040101010101" charset="-122"/>
              <a:ea typeface="Kaiti SC Regular" panose="02010600040101010101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dirty="0">
                <a:latin typeface="Kaiti SC Regular" panose="02010600040101010101" charset="-122"/>
                <a:ea typeface="Kaiti SC Regular" panose="02010600040101010101" charset="-122"/>
              </a:rPr>
              <a:t>数据流的例子</a:t>
            </a:r>
            <a:endParaRPr lang="zh-CN" altLang="en-US" b="0" dirty="0">
              <a:latin typeface="Kaiti SC Regular" panose="02010600040101010101" charset="-122"/>
              <a:ea typeface="Kaiti SC Regular" panose="02010600040101010101" charset="-122"/>
            </a:endParaRPr>
          </a:p>
        </p:txBody>
      </p:sp>
      <p:sp>
        <p:nvSpPr>
          <p:cNvPr id="4" name="Rectangle 4"/>
          <p:cNvSpPr/>
          <p:nvPr/>
        </p:nvSpPr>
        <p:spPr bwMode="auto">
          <a:xfrm>
            <a:off x="1600200" y="4800600"/>
            <a:ext cx="2667000" cy="18288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long mult2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(long a, long b)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long s = a * b;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return s;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5" name="Rectangle 4"/>
          <p:cNvSpPr/>
          <p:nvPr/>
        </p:nvSpPr>
        <p:spPr bwMode="auto">
          <a:xfrm>
            <a:off x="5029200" y="152400"/>
            <a:ext cx="4267200" cy="1828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void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multstore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(long x, long y, long *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dest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 {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long t = mult2(x, y);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*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dest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= t;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" name="Rectangle 4"/>
          <p:cNvSpPr/>
          <p:nvPr/>
        </p:nvSpPr>
        <p:spPr bwMode="auto">
          <a:xfrm>
            <a:off x="4495800" y="4800600"/>
            <a:ext cx="5867400" cy="1828800"/>
          </a:xfrm>
          <a:prstGeom prst="rect">
            <a:avLst/>
          </a:prstGeom>
          <a:solidFill>
            <a:srgbClr val="CCFFCC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ro-RO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0000000000400550 &lt;mult2&gt;:</a:t>
            </a:r>
            <a:endParaRPr lang="ro-RO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sk-SK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sk-SK" sz="1800" b="1" dirty="0">
                <a:solidFill>
                  <a:srgbClr val="00B05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# a in %rdi, b in %rsi</a:t>
            </a:r>
            <a:endParaRPr lang="sk-SK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ro-RO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400550:  mov    %rdi,%rax	# a </a:t>
            </a:r>
            <a:endParaRPr lang="ro-RO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ro-RO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400553:  imul   %rsi,%rax	# a * b</a:t>
            </a:r>
            <a:endParaRPr lang="ro-RO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sk-SK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# s in %rax</a:t>
            </a:r>
            <a:endParaRPr lang="ro-RO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ro-RO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400557:  retq			# Return</a:t>
            </a:r>
            <a:endParaRPr lang="ro-RO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2590800" y="2362200"/>
            <a:ext cx="6781800" cy="22860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0000000000400540 &lt;multstore&gt;:</a:t>
            </a:r>
            <a:endParaRPr lang="sk-SK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sk-SK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sk-SK" sz="1800" b="1" dirty="0">
                <a:solidFill>
                  <a:srgbClr val="00B05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# x in %rdi, y in %rsi, dest in %rdx</a:t>
            </a:r>
            <a:endParaRPr lang="sk-SK" sz="1800" b="1" dirty="0">
              <a:solidFill>
                <a:srgbClr val="00B05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/>
              <a:t>• • •	          </a:t>
            </a:r>
            <a:r>
              <a:rPr lang="sk-SK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+mn-ea"/>
              </a:rPr>
              <a:t># call之前，确保x in %rdi, y  in %rsi</a:t>
            </a:r>
            <a:endParaRPr lang="sk-SK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altLang="sk-SK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400541: </a:t>
            </a:r>
            <a:r>
              <a:rPr lang="sk-SK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 </a:t>
            </a:r>
            <a:r>
              <a:rPr lang="sk-SK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+mn-ea"/>
              </a:rPr>
              <a:t>   %rdx, %rbx   </a:t>
            </a:r>
            <a:r>
              <a:rPr lang="en-US" altLang="sk-SK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+mn-ea"/>
              </a:rPr>
              <a:t>   </a:t>
            </a:r>
            <a:r>
              <a:rPr lang="sk-SK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+mn-ea"/>
              </a:rPr>
              <a:t># save dest   </a:t>
            </a:r>
            <a:r>
              <a:rPr lang="en-US" sz="1800" b="1" dirty="0">
                <a:sym typeface="+mn-ea"/>
              </a:rPr>
              <a:t>      </a:t>
            </a:r>
            <a:endParaRPr lang="sk-SK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400544:</a:t>
            </a:r>
            <a:r>
              <a:rPr lang="en-US" altLang="sk-SK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sk-SK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callq  400550 &lt;mult2&gt;	# mult2(x,y)</a:t>
            </a:r>
            <a:endParaRPr lang="sk-SK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sk-SK" sz="1800" b="1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# t in %rax</a:t>
            </a:r>
            <a:endParaRPr lang="sk-SK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400549: mov    %rax,(%r</a:t>
            </a:r>
            <a:r>
              <a:rPr lang="en-US" altLang="sk-SK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d</a:t>
            </a:r>
            <a:r>
              <a:rPr lang="sk-SK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x)	# Save at dest</a:t>
            </a:r>
            <a:endParaRPr lang="sk-SK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sk-SK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/>
              <a:t>• • •</a:t>
            </a:r>
            <a:endParaRPr lang="sk-SK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6477000" y="2133600"/>
            <a:ext cx="43599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dirty="0">
                <a:solidFill>
                  <a:srgbClr val="00B050"/>
                </a:solidFill>
                <a:sym typeface="Courier New Bold" panose="02070609020205020404" charset="0"/>
              </a:rPr>
              <a:t>multstore.</a:t>
            </a:r>
            <a:r>
              <a:rPr lang="en-US" sz="2400" dirty="0">
                <a:solidFill>
                  <a:srgbClr val="00B050"/>
                </a:solidFill>
              </a:rPr>
              <a:t>x</a:t>
            </a:r>
            <a:r>
              <a:rPr lang="zh-CN" altLang="en-US" sz="2400" dirty="0">
                <a:solidFill>
                  <a:srgbClr val="00B050"/>
                </a:solidFill>
              </a:rPr>
              <a:t>怎样传给了</a:t>
            </a:r>
            <a:r>
              <a:rPr lang="en-US" altLang="zh-CN" sz="2400" dirty="0">
                <a:solidFill>
                  <a:srgbClr val="00B050"/>
                </a:solidFill>
              </a:rPr>
              <a:t>mult2.a</a:t>
            </a:r>
            <a:r>
              <a:rPr lang="zh-CN" altLang="en-US" sz="2400" dirty="0">
                <a:solidFill>
                  <a:srgbClr val="00B050"/>
                </a:solidFill>
              </a:rPr>
              <a:t>？</a:t>
            </a:r>
            <a:endParaRPr lang="zh-CN" altLang="en-US" sz="2400" dirty="0">
              <a:solidFill>
                <a:srgbClr val="00B050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934200" y="5334000"/>
            <a:ext cx="609600" cy="304800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42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Gill Sans" panose="020B0502020104020203" charset="0"/>
              <a:ea typeface="ヒラギノ角ゴ ProN W3" panose="020B0300000000000000" charset="-128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985000" y="5689600"/>
            <a:ext cx="609600" cy="304800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42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Gill Sans" panose="020B0502020104020203" charset="0"/>
              <a:ea typeface="ヒラギノ角ゴ ProN W3" panose="020B0300000000000000" charset="-128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715000" y="457200"/>
            <a:ext cx="609600" cy="304800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42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Gill Sans" panose="020B0502020104020203" charset="0"/>
              <a:ea typeface="ヒラギノ角ゴ ProN W3" panose="020B0300000000000000" charset="-128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975475" y="457200"/>
            <a:ext cx="339725" cy="304800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42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Gill Sans" panose="020B0502020104020203" charset="0"/>
              <a:ea typeface="ヒラギノ角ゴ ProN W3" panose="020B0300000000000000" charset="-128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953000" y="4038600"/>
            <a:ext cx="609600" cy="304800"/>
          </a:xfrm>
          <a:prstGeom prst="rect">
            <a:avLst/>
          </a:prstGeom>
          <a:noFill/>
          <a:ln w="254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42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Gill Sans" panose="020B0502020104020203" charset="0"/>
              <a:ea typeface="ヒラギノ角ゴ ProN W3" panose="020B0300000000000000" charset="-128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7620000" y="5689600"/>
            <a:ext cx="609600" cy="304800"/>
          </a:xfrm>
          <a:prstGeom prst="rect">
            <a:avLst/>
          </a:prstGeom>
          <a:noFill/>
          <a:ln w="25400" cap="flat" cmpd="sng" algn="ctr">
            <a:solidFill>
              <a:srgbClr val="FFC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42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Gill Sans" panose="020B0502020104020203" charset="0"/>
              <a:ea typeface="ヒラギノ角ゴ ProN W3" panose="020B0300000000000000" charset="-128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475855" y="990600"/>
            <a:ext cx="423545" cy="304800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42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Gill Sans" panose="020B0502020104020203" charset="0"/>
              <a:ea typeface="ヒラギノ角ゴ ProN W3" panose="020B0300000000000000" charset="-128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001000" y="1016000"/>
            <a:ext cx="423545" cy="304800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42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Gill Sans" panose="020B0502020104020203" charset="0"/>
              <a:ea typeface="ヒラギノ角ゴ ProN W3" panose="020B0300000000000000" charset="-128"/>
              <a:cs typeface="ヒラギノ角ゴ ProN W3" panose="020B0300000000000000" charset="-128"/>
              <a:sym typeface="Gill Sans" panose="020B0502020104020203" charset="0"/>
            </a:endParaRPr>
          </a:p>
        </p:txBody>
      </p:sp>
      <p:cxnSp>
        <p:nvCxnSpPr>
          <p:cNvPr id="10" name="曲线连接符 9"/>
          <p:cNvCxnSpPr/>
          <p:nvPr/>
        </p:nvCxnSpPr>
        <p:spPr>
          <a:xfrm>
            <a:off x="7391400" y="685800"/>
            <a:ext cx="685800" cy="344805"/>
          </a:xfrm>
          <a:prstGeom prst="curvedConnector3">
            <a:avLst>
              <a:gd name="adj1" fmla="val 50093"/>
            </a:avLst>
          </a:prstGeom>
          <a:solidFill>
            <a:schemeClr val="accent1"/>
          </a:solidFill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7" name="曲线连接符 16"/>
          <p:cNvCxnSpPr/>
          <p:nvPr/>
        </p:nvCxnSpPr>
        <p:spPr>
          <a:xfrm rot="10800000">
            <a:off x="6400800" y="1218565"/>
            <a:ext cx="990600" cy="75565"/>
          </a:xfrm>
          <a:prstGeom prst="curvedConnector3">
            <a:avLst>
              <a:gd name="adj1" fmla="val 49936"/>
            </a:avLst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8" name="曲线连接符 17"/>
          <p:cNvCxnSpPr/>
          <p:nvPr/>
        </p:nvCxnSpPr>
        <p:spPr>
          <a:xfrm rot="5400000" flipV="1">
            <a:off x="4343400" y="2971800"/>
            <a:ext cx="2514600" cy="2514600"/>
          </a:xfrm>
          <a:prstGeom prst="curvedConnector3">
            <a:avLst>
              <a:gd name="adj1" fmla="val 98409"/>
            </a:avLst>
          </a:prstGeom>
          <a:solidFill>
            <a:schemeClr val="accent1"/>
          </a:solidFill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9" name="曲线连接符 18"/>
          <p:cNvCxnSpPr/>
          <p:nvPr/>
        </p:nvCxnSpPr>
        <p:spPr>
          <a:xfrm rot="16200000" flipV="1">
            <a:off x="6070600" y="3835400"/>
            <a:ext cx="1346200" cy="23622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20" name="曲线连接符 19"/>
          <p:cNvCxnSpPr/>
          <p:nvPr/>
        </p:nvCxnSpPr>
        <p:spPr>
          <a:xfrm rot="5400000" flipV="1">
            <a:off x="4800600" y="3810000"/>
            <a:ext cx="3048000" cy="1219200"/>
          </a:xfrm>
          <a:prstGeom prst="curvedConnector3">
            <a:avLst>
              <a:gd name="adj1" fmla="val 99437"/>
            </a:avLst>
          </a:prstGeom>
          <a:solidFill>
            <a:schemeClr val="accent1"/>
          </a:solidFill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1" name="Text Box 2"/>
          <p:cNvSpPr txBox="1"/>
          <p:nvPr>
            <p:custDataLst>
              <p:tags r:id="rId1"/>
            </p:custDataLst>
          </p:nvPr>
        </p:nvSpPr>
        <p:spPr>
          <a:xfrm>
            <a:off x="1905000" y="1143000"/>
            <a:ext cx="288099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just"/>
            <a:r>
              <a:rPr lang="zh-CN" altLang="en-US" sz="2400" dirty="0">
                <a:solidFill>
                  <a:srgbClr val="00B050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绿色：</a:t>
            </a:r>
            <a:r>
              <a:rPr lang="zh-CN" altLang="en-US" sz="2400" dirty="0">
                <a:solidFill>
                  <a:srgbClr val="00B050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传递参数</a:t>
            </a:r>
            <a:endParaRPr lang="zh-CN" altLang="en-US" sz="2400" dirty="0">
              <a:solidFill>
                <a:srgbClr val="00B050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algn="just"/>
            <a:r>
              <a:rPr lang="zh-CN" altLang="en-US" sz="2400" dirty="0">
                <a:solidFill>
                  <a:srgbClr val="FF0000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红色：传递返回值</a:t>
            </a:r>
            <a:endParaRPr lang="zh-CN" altLang="en-US" sz="2400" dirty="0">
              <a:solidFill>
                <a:srgbClr val="FF0000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  <p:cxnSp>
        <p:nvCxnSpPr>
          <p:cNvPr id="22" name="曲线连接符 21"/>
          <p:cNvCxnSpPr/>
          <p:nvPr>
            <p:custDataLst>
              <p:tags r:id="rId2"/>
            </p:custDataLst>
          </p:nvPr>
        </p:nvCxnSpPr>
        <p:spPr>
          <a:xfrm>
            <a:off x="6375400" y="812800"/>
            <a:ext cx="1016000" cy="254000"/>
          </a:xfrm>
          <a:prstGeom prst="curvedConnector3">
            <a:avLst>
              <a:gd name="adj1" fmla="val 50063"/>
            </a:avLst>
          </a:prstGeom>
          <a:solidFill>
            <a:schemeClr val="accent1"/>
          </a:solidFill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B050"/>
                </a:solidFill>
              </a:rPr>
              <a:t>练习</a:t>
            </a:r>
            <a:r>
              <a:rPr lang="en-US" altLang="zh-CN" dirty="0">
                <a:solidFill>
                  <a:srgbClr val="00B050"/>
                </a:solidFill>
              </a:rPr>
              <a:t>: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err="1">
                <a:solidFill>
                  <a:srgbClr val="00B050"/>
                </a:solidFill>
              </a:rPr>
              <a:t>函数</a:t>
            </a:r>
            <a:r>
              <a:rPr lang="en-US" altLang="zh-CN" i="1" dirty="0" err="1">
                <a:solidFill>
                  <a:srgbClr val="00B050"/>
                </a:solidFill>
              </a:rPr>
              <a:t>procprob</a:t>
            </a:r>
            <a:r>
              <a:rPr lang="zh-CN" altLang="en-US" dirty="0" err="1">
                <a:solidFill>
                  <a:srgbClr val="00B050"/>
                </a:solidFill>
              </a:rPr>
              <a:t>的原型是什么</a:t>
            </a:r>
            <a:r>
              <a:rPr lang="en-US" altLang="zh-CN" dirty="0">
                <a:solidFill>
                  <a:srgbClr val="00B050"/>
                </a:solidFill>
              </a:rPr>
              <a:t>?</a:t>
            </a:r>
            <a:endParaRPr lang="en-US" altLang="zh-CN" dirty="0">
              <a:solidFill>
                <a:srgbClr val="00B050"/>
              </a:solidFill>
            </a:endParaRPr>
          </a:p>
          <a:p>
            <a:pPr lvl="1"/>
            <a:r>
              <a:rPr lang="en-US" altLang="zh-CN" dirty="0">
                <a:solidFill>
                  <a:srgbClr val="00B050"/>
                </a:solidFill>
              </a:rPr>
              <a:t>_ </a:t>
            </a:r>
            <a:r>
              <a:rPr lang="en-US" altLang="zh-CN" dirty="0" err="1">
                <a:solidFill>
                  <a:srgbClr val="00B050"/>
                </a:solidFill>
              </a:rPr>
              <a:t>procprob</a:t>
            </a:r>
            <a:r>
              <a:rPr lang="en-US" altLang="zh-CN" dirty="0">
                <a:solidFill>
                  <a:srgbClr val="00B050"/>
                </a:solidFill>
              </a:rPr>
              <a:t>(_ a, _ b, _ u, _ v);</a:t>
            </a:r>
            <a:endParaRPr lang="en-US" altLang="zh-CN" dirty="0">
              <a:solidFill>
                <a:srgbClr val="00B050"/>
              </a:solidFill>
            </a:endParaRPr>
          </a:p>
          <a:p>
            <a:pPr lvl="1"/>
            <a:r>
              <a:rPr lang="en-US" altLang="zh-CN" dirty="0">
                <a:solidFill>
                  <a:srgbClr val="00B050"/>
                </a:solidFill>
              </a:rPr>
              <a:t>%sil: %rsi</a:t>
            </a:r>
            <a:r>
              <a:rPr lang="zh-CN" altLang="en-US" dirty="0">
                <a:solidFill>
                  <a:srgbClr val="00B050"/>
                </a:solidFill>
              </a:rPr>
              <a:t>寄存器的最低</a:t>
            </a:r>
            <a:r>
              <a:rPr lang="zh-CN" altLang="en-US" dirty="0">
                <a:solidFill>
                  <a:srgbClr val="00B050"/>
                </a:solidFill>
              </a:rPr>
              <a:t>字节</a:t>
            </a:r>
            <a:endParaRPr lang="zh-CN" altLang="en-US" dirty="0">
              <a:solidFill>
                <a:srgbClr val="00B050"/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800" y="2667000"/>
            <a:ext cx="6145530" cy="364617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dirty="0"/>
              <a:t>Today</a:t>
            </a:r>
            <a:endParaRPr lang="en-US" dirty="0"/>
          </a:p>
        </p:txBody>
      </p:sp>
      <p:sp>
        <p:nvSpPr>
          <p:cNvPr id="12292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Procedures </a:t>
            </a:r>
            <a:r>
              <a:rPr lang="zh-CN" alt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过程调用</a:t>
            </a:r>
            <a:endParaRPr lang="en-US" dirty="0"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1"/>
            <a:r>
              <a:rPr 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Stack Structure </a:t>
            </a:r>
            <a:r>
              <a:rPr lang="zh-CN" altLang="en-US" dirty="0"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栈结构</a:t>
            </a:r>
            <a:endParaRPr lang="en-US" dirty="0"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Calling Conventions </a:t>
            </a:r>
            <a:r>
              <a:rPr lang="zh-CN" altLang="en-US" dirty="0">
                <a:solidFill>
                  <a:schemeClr val="tx1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调用约定</a:t>
            </a:r>
            <a:endParaRPr lang="en-US" dirty="0">
              <a:solidFill>
                <a:schemeClr val="tx1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2"/>
            <a:r>
              <a:rPr lang="en-US" dirty="0">
                <a:solidFill>
                  <a:schemeClr val="tx1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Passing control </a:t>
            </a:r>
            <a:r>
              <a:rPr lang="zh-CN" altLang="en-US" dirty="0">
                <a:solidFill>
                  <a:schemeClr val="tx1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传递控制</a:t>
            </a:r>
            <a:endParaRPr lang="en-US" dirty="0">
              <a:solidFill>
                <a:schemeClr val="tx1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2"/>
            <a:r>
              <a:rPr lang="en-US" dirty="0">
                <a:solidFill>
                  <a:schemeClr val="tx1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Passing data </a:t>
            </a:r>
            <a:r>
              <a:rPr lang="zh-CN" altLang="en-US" dirty="0">
                <a:solidFill>
                  <a:schemeClr val="tx1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传递数据</a:t>
            </a:r>
            <a:endParaRPr lang="en-US" dirty="0">
              <a:solidFill>
                <a:schemeClr val="tx1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2"/>
            <a:r>
              <a:rPr lang="en-US" dirty="0">
                <a:solidFill>
                  <a:schemeClr val="tx1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Managing local data </a:t>
            </a:r>
            <a:r>
              <a:rPr lang="zh-CN" altLang="en-US" dirty="0">
                <a:solidFill>
                  <a:schemeClr val="tx1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管理局部数据（内存管理）</a:t>
            </a:r>
            <a:endParaRPr lang="en-US" dirty="0">
              <a:solidFill>
                <a:schemeClr val="tx1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1"/>
            <a:r>
              <a:rPr lang="en-US" dirty="0">
                <a:solidFill>
                  <a:srgbClr val="7F7F7F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Illustration of Recursion </a:t>
            </a:r>
            <a:r>
              <a:rPr lang="zh-CN" altLang="en-US" dirty="0">
                <a:solidFill>
                  <a:srgbClr val="7F7F7F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递归调用的</a:t>
            </a:r>
            <a:r>
              <a:rPr lang="zh-CN" altLang="en-US" dirty="0">
                <a:solidFill>
                  <a:srgbClr val="7F7F7F"/>
                </a:solidFill>
                <a:latin typeface="Times New Roman Regular" panose="02020603050405020304" charset="0"/>
                <a:ea typeface="Kaiti SC Bold" panose="02010600040101010101" charset="-122"/>
                <a:cs typeface="Times New Roman Regular" panose="02020603050405020304" charset="0"/>
              </a:rPr>
              <a:t>说明</a:t>
            </a:r>
            <a:endParaRPr lang="zh-CN" altLang="en-US" dirty="0">
              <a:solidFill>
                <a:srgbClr val="7F7F7F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 b="0">
                <a:latin typeface="Kaiti SC Regular" panose="02010600040101010101" charset="-122"/>
                <a:ea typeface="Kaiti SC Regular" panose="02010600040101010101" charset="-122"/>
              </a:rPr>
              <a:t>基于栈的编程语言</a:t>
            </a:r>
            <a:endParaRPr lang="zh-CN" altLang="en-US" b="0">
              <a:latin typeface="Kaiti SC Regular" panose="02010600040101010101" charset="-122"/>
              <a:ea typeface="Kaiti SC Regular" panose="02010600040101010101" charset="-122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95250" lvl="0" algn="l"/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支持递归的编程语言(</a:t>
            </a:r>
            <a:r>
              <a:rPr lang="zh-CN" altLang="en-US" sz="2400" dirty="0">
                <a:latin typeface="Kaiti SC Regular" panose="02010600040101010101" charset="-122"/>
                <a:cs typeface="Kaiti SC Regular" panose="02010600040101010101" charset="-122"/>
                <a:sym typeface="+mn-ea"/>
              </a:rPr>
              <a:t>比如C/C++, Pascal, Java)</a:t>
            </a:r>
            <a:endParaRPr lang="zh-CN" altLang="en-US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552450" lvl="1"/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代码必须支持“</a:t>
            </a:r>
            <a:r>
              <a:rPr lang="zh-CN" altLang="en-US" dirty="0">
                <a:solidFill>
                  <a:srgbClr val="00B050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可重入</a:t>
            </a:r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”（</a:t>
            </a:r>
            <a:r>
              <a:rPr 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Calibri Italic" charset="0"/>
              </a:rPr>
              <a:t>Reentrant</a:t>
            </a:r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Calibri Italic" charset="0"/>
              </a:rPr>
              <a:t>）</a:t>
            </a:r>
            <a:endParaRPr lang="en-US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838200" lvl="2"/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同一个代码块，可以并发或同时运行多个实例（多线程、递归）</a:t>
            </a:r>
            <a:endParaRPr lang="en-US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552450" lvl="1"/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需要一个地方为每个实例保存状态信息</a:t>
            </a:r>
            <a:endParaRPr lang="en-US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838200" lvl="2"/>
            <a:r>
              <a:rPr 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Arguments </a:t>
            </a:r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参数</a:t>
            </a:r>
            <a:endParaRPr lang="en-US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838200" lvl="2"/>
            <a:r>
              <a:rPr 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Local variables </a:t>
            </a:r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局部变量</a:t>
            </a:r>
            <a:endParaRPr lang="en-US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838200" lvl="2"/>
            <a:r>
              <a:rPr 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Return pointer </a:t>
            </a:r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返回地址</a:t>
            </a:r>
            <a:endParaRPr lang="en-US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95250" lvl="0"/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栈</a:t>
            </a:r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结构</a:t>
            </a:r>
            <a:endParaRPr lang="zh-CN" altLang="en-US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552450" lvl="1"/>
            <a:r>
              <a:rPr lang="zh-CN" altLang="en-US" dirty="0" err="1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被调用函数（</a:t>
            </a:r>
            <a:r>
              <a:rPr lang="en-US" altLang="zh-CN" dirty="0" err="1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c</a:t>
            </a:r>
            <a:r>
              <a:rPr lang="en-US" dirty="0" err="1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allee</a:t>
            </a:r>
            <a:r>
              <a:rPr 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</a:t>
            </a:r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）一定在调用函数（</a:t>
            </a:r>
            <a:r>
              <a:rPr lang="en-US" altLang="zh-CN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caller</a:t>
            </a:r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）之前返回</a:t>
            </a:r>
            <a:r>
              <a:rPr lang="en-US" altLang="zh-CN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 </a:t>
            </a:r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（</a:t>
            </a:r>
            <a:r>
              <a:rPr lang="en-US" altLang="zh-CN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LIFO</a:t>
            </a:r>
            <a:r>
              <a:rPr lang="en-US" altLang="zh-CN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)</a:t>
            </a:r>
            <a:endParaRPr lang="zh-CN" altLang="en-US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552450" lvl="1"/>
            <a:r>
              <a:rPr lang="zh-CN" altLang="en-US" dirty="0">
                <a:solidFill>
                  <a:srgbClr val="980002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Calibri Bold Italic" charset="0"/>
              </a:rPr>
              <a:t>以栈帧为单位的分配</a:t>
            </a:r>
            <a:endParaRPr lang="en-US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1009650" lvl="2"/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需要为每个运行的函数</a:t>
            </a:r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实例分配一个栈</a:t>
            </a:r>
            <a:r>
              <a:rPr lang="zh-CN" altLang="en-US" dirty="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帧，</a:t>
            </a:r>
            <a:r>
              <a:rPr lang="zh-CN" altLang="en-US" dirty="0">
                <a:latin typeface="Kaiti SC Regular" panose="02010600040101010101" charset="-122"/>
                <a:cs typeface="Kaiti SC Regular" panose="02010600040101010101" charset="-122"/>
                <a:sym typeface="+mn-ea"/>
              </a:rPr>
              <a:t>用于保存一个函数生命期</a:t>
            </a:r>
            <a:r>
              <a:rPr lang="zh-CN" altLang="en-US" dirty="0">
                <a:latin typeface="Kaiti SC Regular" panose="02010600040101010101" charset="-122"/>
                <a:cs typeface="Kaiti SC Regular" panose="02010600040101010101" charset="-122"/>
                <a:sym typeface="+mn-ea"/>
              </a:rPr>
              <a:t>内的状态</a:t>
            </a:r>
            <a:endParaRPr lang="zh-CN" altLang="en-US" dirty="0">
              <a:latin typeface="Kaiti SC Regular" panose="02010600040101010101" charset="-122"/>
              <a:cs typeface="Kaiti SC Regular" panose="02010600040101010101" charset="-122"/>
              <a:sym typeface="+mn-ea"/>
            </a:endParaRPr>
          </a:p>
          <a:p>
            <a:pPr marL="1009650" lvl="2"/>
            <a:r>
              <a:rPr lang="zh-CN" altLang="en-US" b="1" dirty="0">
                <a:latin typeface="Kaiti SC Regular" panose="02010600040101010101" charset="-122"/>
                <a:cs typeface="Kaiti SC Regular" panose="02010600040101010101" charset="-122"/>
                <a:sym typeface="+mn-ea"/>
              </a:rPr>
              <a:t>从函数</a:t>
            </a:r>
            <a:r>
              <a:rPr lang="zh-CN" altLang="en-US" b="1" dirty="0">
                <a:latin typeface="Kaiti SC Regular" panose="02010600040101010101" charset="-122"/>
                <a:cs typeface="Kaiti SC Regular" panose="02010600040101010101" charset="-122"/>
                <a:sym typeface="+mn-ea"/>
              </a:rPr>
              <a:t>入口到函数返回</a:t>
            </a:r>
            <a:endParaRPr lang="en-US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pPr marL="1009650" lvl="2"/>
            <a:endParaRPr lang="zh-CN" altLang="en-US" dirty="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49156" name="Rectangle 4"/>
          <p:cNvSpPr/>
          <p:nvPr/>
        </p:nvSpPr>
        <p:spPr bwMode="auto">
          <a:xfrm>
            <a:off x="1981200" y="1447800"/>
            <a:ext cx="15367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who();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  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49157" name="Rectangle 5"/>
          <p:cNvSpPr/>
          <p:nvPr/>
        </p:nvSpPr>
        <p:spPr bwMode="auto">
          <a:xfrm>
            <a:off x="3810000" y="2362200"/>
            <a:ext cx="1612900" cy="23622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who(…)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49158" name="Rectangle 6"/>
          <p:cNvSpPr/>
          <p:nvPr/>
        </p:nvSpPr>
        <p:spPr bwMode="auto">
          <a:xfrm>
            <a:off x="5715000" y="3276600"/>
            <a:ext cx="1536700" cy="23622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49159" name="Rectangle 7"/>
          <p:cNvSpPr/>
          <p:nvPr/>
        </p:nvSpPr>
        <p:spPr bwMode="auto">
          <a:xfrm>
            <a:off x="8407400" y="1676400"/>
            <a:ext cx="1549400" cy="3581400"/>
          </a:xfrm>
          <a:prstGeom prst="rect">
            <a:avLst/>
          </a:prstGeom>
          <a:solidFill>
            <a:srgbClr val="D8D8D8"/>
          </a:solidFill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60" name="Rectangle 8"/>
          <p:cNvSpPr/>
          <p:nvPr/>
        </p:nvSpPr>
        <p:spPr bwMode="auto">
          <a:xfrm>
            <a:off x="8620125" y="19050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49161" name="Rectangle 9"/>
          <p:cNvSpPr/>
          <p:nvPr/>
        </p:nvSpPr>
        <p:spPr bwMode="auto">
          <a:xfrm>
            <a:off x="8620125" y="25908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who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49162" name="Rectangle 10"/>
          <p:cNvSpPr/>
          <p:nvPr/>
        </p:nvSpPr>
        <p:spPr bwMode="auto">
          <a:xfrm>
            <a:off x="8609013" y="32654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49163" name="Rectangle 11"/>
          <p:cNvSpPr/>
          <p:nvPr/>
        </p:nvSpPr>
        <p:spPr bwMode="auto">
          <a:xfrm>
            <a:off x="8620125" y="39624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49164" name="Rectangle 12"/>
          <p:cNvSpPr/>
          <p:nvPr/>
        </p:nvSpPr>
        <p:spPr bwMode="auto">
          <a:xfrm>
            <a:off x="8620125" y="47244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49165" name="Line 13"/>
          <p:cNvSpPr>
            <a:spLocks noChangeShapeType="1"/>
          </p:cNvSpPr>
          <p:nvPr/>
        </p:nvSpPr>
        <p:spPr bwMode="auto">
          <a:xfrm>
            <a:off x="8926513" y="22098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66" name="Line 14"/>
          <p:cNvSpPr>
            <a:spLocks noChangeShapeType="1"/>
          </p:cNvSpPr>
          <p:nvPr/>
        </p:nvSpPr>
        <p:spPr bwMode="auto">
          <a:xfrm>
            <a:off x="8926513" y="2895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67" name="Line 15"/>
          <p:cNvSpPr>
            <a:spLocks noChangeShapeType="1"/>
          </p:cNvSpPr>
          <p:nvPr/>
        </p:nvSpPr>
        <p:spPr bwMode="auto">
          <a:xfrm>
            <a:off x="8926513" y="3581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68" name="Line 16"/>
          <p:cNvSpPr>
            <a:spLocks noChangeShapeType="1"/>
          </p:cNvSpPr>
          <p:nvPr/>
        </p:nvSpPr>
        <p:spPr bwMode="auto">
          <a:xfrm>
            <a:off x="8926513" y="4343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69" name="Rectangle 17"/>
          <p:cNvSpPr/>
          <p:nvPr/>
        </p:nvSpPr>
        <p:spPr bwMode="auto">
          <a:xfrm>
            <a:off x="8766175" y="1219200"/>
            <a:ext cx="838200" cy="38354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zh-CN" altLang="en-US" sz="20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调用链</a:t>
            </a:r>
            <a:endParaRPr lang="zh-CN" altLang="en-US" sz="20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49170" name="Rectangle 18"/>
          <p:cNvSpPr/>
          <p:nvPr/>
        </p:nvSpPr>
        <p:spPr bwMode="auto">
          <a:xfrm>
            <a:off x="9286875" y="32654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49171" name="Line 19"/>
          <p:cNvSpPr>
            <a:spLocks noChangeShapeType="1"/>
          </p:cNvSpPr>
          <p:nvPr/>
        </p:nvSpPr>
        <p:spPr bwMode="auto">
          <a:xfrm>
            <a:off x="9067800" y="2895600"/>
            <a:ext cx="536575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9172" name="Rectangle 20"/>
          <p:cNvSpPr/>
          <p:nvPr/>
        </p:nvSpPr>
        <p:spPr bwMode="auto">
          <a:xfrm>
            <a:off x="5486400" y="5715000"/>
            <a:ext cx="2192655" cy="383540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20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r>
              <a:rPr lang="en-US" sz="20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()</a:t>
            </a:r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是递归函数</a:t>
            </a:r>
            <a:endParaRPr lang="zh-CN" altLang="en-US" sz="20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3" name="标题 2"/>
          <p:cNvSpPr/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1202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51204" name="Rectangle 4"/>
          <p:cNvSpPr/>
          <p:nvPr/>
        </p:nvSpPr>
        <p:spPr bwMode="auto">
          <a:xfrm>
            <a:off x="5038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1205" name="Rectangle 5"/>
          <p:cNvSpPr/>
          <p:nvPr/>
        </p:nvSpPr>
        <p:spPr bwMode="auto">
          <a:xfrm>
            <a:off x="5038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who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1206" name="Rectangle 6"/>
          <p:cNvSpPr/>
          <p:nvPr/>
        </p:nvSpPr>
        <p:spPr bwMode="auto">
          <a:xfrm>
            <a:off x="5027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1207" name="Rectangle 7"/>
          <p:cNvSpPr/>
          <p:nvPr/>
        </p:nvSpPr>
        <p:spPr bwMode="auto">
          <a:xfrm>
            <a:off x="5038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1208" name="Rectangle 8"/>
          <p:cNvSpPr/>
          <p:nvPr/>
        </p:nvSpPr>
        <p:spPr bwMode="auto">
          <a:xfrm>
            <a:off x="5038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1209" name="Line 9"/>
          <p:cNvSpPr>
            <a:spLocks noChangeShapeType="1"/>
          </p:cNvSpPr>
          <p:nvPr/>
        </p:nvSpPr>
        <p:spPr bwMode="auto">
          <a:xfrm>
            <a:off x="5345113" y="17526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0" name="Line 10"/>
          <p:cNvSpPr>
            <a:spLocks noChangeShapeType="1"/>
          </p:cNvSpPr>
          <p:nvPr/>
        </p:nvSpPr>
        <p:spPr bwMode="auto">
          <a:xfrm>
            <a:off x="5345113" y="24384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1" name="Line 11"/>
          <p:cNvSpPr>
            <a:spLocks noChangeShapeType="1"/>
          </p:cNvSpPr>
          <p:nvPr/>
        </p:nvSpPr>
        <p:spPr bwMode="auto">
          <a:xfrm>
            <a:off x="5345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2" name="Line 12"/>
          <p:cNvSpPr>
            <a:spLocks noChangeShapeType="1"/>
          </p:cNvSpPr>
          <p:nvPr/>
        </p:nvSpPr>
        <p:spPr bwMode="auto">
          <a:xfrm>
            <a:off x="5345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3" name="Rectangle 13"/>
          <p:cNvSpPr/>
          <p:nvPr/>
        </p:nvSpPr>
        <p:spPr bwMode="auto">
          <a:xfrm>
            <a:off x="5705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1214" name="Line 14"/>
          <p:cNvSpPr>
            <a:spLocks noChangeShapeType="1"/>
          </p:cNvSpPr>
          <p:nvPr/>
        </p:nvSpPr>
        <p:spPr bwMode="auto">
          <a:xfrm>
            <a:off x="5486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15" name="Rectangle 15"/>
          <p:cNvSpPr/>
          <p:nvPr/>
        </p:nvSpPr>
        <p:spPr bwMode="auto">
          <a:xfrm>
            <a:off x="8456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panose="02070609020205020404" charset="0"/>
              <a:ea typeface="Monaco" charset="0"/>
              <a:cs typeface="Monaco" charset="0"/>
              <a:sym typeface="Courier New Bold" panose="02070609020205020404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grpSp>
        <p:nvGrpSpPr>
          <p:cNvPr id="51216" name="Group 16"/>
          <p:cNvGrpSpPr/>
          <p:nvPr/>
        </p:nvGrpSpPr>
        <p:grpSpPr bwMode="auto">
          <a:xfrm>
            <a:off x="6921500" y="1592263"/>
            <a:ext cx="1493838" cy="928687"/>
            <a:chOff x="0" y="0"/>
            <a:chExt cx="941" cy="585"/>
          </a:xfrm>
        </p:grpSpPr>
        <p:sp>
          <p:nvSpPr>
            <p:cNvPr id="51217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18" name="Rectangle 18"/>
            <p:cNvSpPr/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  <p:sp>
          <p:nvSpPr>
            <p:cNvPr id="51219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1220" name="Rectangle 20"/>
            <p:cNvSpPr/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sp>
        <p:nvSpPr>
          <p:cNvPr id="51221" name="Rectangle 21"/>
          <p:cNvSpPr/>
          <p:nvPr/>
        </p:nvSpPr>
        <p:spPr bwMode="auto">
          <a:xfrm>
            <a:off x="8456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1222" name="Rectangle 22"/>
          <p:cNvSpPr/>
          <p:nvPr/>
        </p:nvSpPr>
        <p:spPr bwMode="auto">
          <a:xfrm>
            <a:off x="8908257" y="381000"/>
            <a:ext cx="381000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</a:t>
            </a:r>
            <a:endParaRPr lang="zh-CN" altLang="en-US" sz="24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graphicFrame>
        <p:nvGraphicFramePr>
          <p:cNvPr id="51223" name="Group 23"/>
          <p:cNvGraphicFramePr>
            <a:graphicFrameLocks noGrp="1"/>
          </p:cNvGraphicFramePr>
          <p:nvPr/>
        </p:nvGraphicFramePr>
        <p:xfrm>
          <a:off x="8458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/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yoo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254" name="AutoShape 54"/>
          <p:cNvSpPr/>
          <p:nvPr/>
        </p:nvSpPr>
        <p:spPr bwMode="auto">
          <a:xfrm>
            <a:off x="1727200" y="20320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" name="Rectangle 4"/>
          <p:cNvSpPr/>
          <p:nvPr/>
        </p:nvSpPr>
        <p:spPr bwMode="auto">
          <a:xfrm>
            <a:off x="2501900" y="1524000"/>
            <a:ext cx="15367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who();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  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4"/>
          <p:cNvSpPr/>
          <p:nvPr/>
        </p:nvSpPr>
        <p:spPr bwMode="auto">
          <a:xfrm>
            <a:off x="25019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who();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  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52226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52228" name="Rectangle 4"/>
          <p:cNvSpPr/>
          <p:nvPr/>
        </p:nvSpPr>
        <p:spPr bwMode="auto">
          <a:xfrm>
            <a:off x="5038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2229" name="Rectangle 5"/>
          <p:cNvSpPr/>
          <p:nvPr/>
        </p:nvSpPr>
        <p:spPr bwMode="auto">
          <a:xfrm>
            <a:off x="5038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who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2230" name="Rectangle 6"/>
          <p:cNvSpPr/>
          <p:nvPr/>
        </p:nvSpPr>
        <p:spPr bwMode="auto">
          <a:xfrm>
            <a:off x="5027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2231" name="Rectangle 7"/>
          <p:cNvSpPr/>
          <p:nvPr/>
        </p:nvSpPr>
        <p:spPr bwMode="auto">
          <a:xfrm>
            <a:off x="5038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2232" name="Rectangle 8"/>
          <p:cNvSpPr/>
          <p:nvPr/>
        </p:nvSpPr>
        <p:spPr bwMode="auto">
          <a:xfrm>
            <a:off x="5038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2233" name="Line 9"/>
          <p:cNvSpPr>
            <a:spLocks noChangeShapeType="1"/>
          </p:cNvSpPr>
          <p:nvPr/>
        </p:nvSpPr>
        <p:spPr bwMode="auto">
          <a:xfrm>
            <a:off x="5345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34" name="Line 10"/>
          <p:cNvSpPr>
            <a:spLocks noChangeShapeType="1"/>
          </p:cNvSpPr>
          <p:nvPr/>
        </p:nvSpPr>
        <p:spPr bwMode="auto">
          <a:xfrm>
            <a:off x="5345113" y="24384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35" name="Line 11"/>
          <p:cNvSpPr>
            <a:spLocks noChangeShapeType="1"/>
          </p:cNvSpPr>
          <p:nvPr/>
        </p:nvSpPr>
        <p:spPr bwMode="auto">
          <a:xfrm>
            <a:off x="5345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36" name="Line 12"/>
          <p:cNvSpPr>
            <a:spLocks noChangeShapeType="1"/>
          </p:cNvSpPr>
          <p:nvPr/>
        </p:nvSpPr>
        <p:spPr bwMode="auto">
          <a:xfrm>
            <a:off x="5345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37" name="Rectangle 13"/>
          <p:cNvSpPr/>
          <p:nvPr/>
        </p:nvSpPr>
        <p:spPr bwMode="auto">
          <a:xfrm>
            <a:off x="5705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2238" name="Line 14"/>
          <p:cNvSpPr>
            <a:spLocks noChangeShapeType="1"/>
          </p:cNvSpPr>
          <p:nvPr/>
        </p:nvSpPr>
        <p:spPr bwMode="auto">
          <a:xfrm>
            <a:off x="5486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39" name="Rectangle 15"/>
          <p:cNvSpPr/>
          <p:nvPr/>
        </p:nvSpPr>
        <p:spPr bwMode="auto">
          <a:xfrm>
            <a:off x="8456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panose="02070609020205020404" charset="0"/>
              <a:ea typeface="Monaco" charset="0"/>
              <a:cs typeface="Monaco" charset="0"/>
              <a:sym typeface="Courier New Bold" panose="02070609020205020404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grpSp>
        <p:nvGrpSpPr>
          <p:cNvPr id="52240" name="Group 16"/>
          <p:cNvGrpSpPr/>
          <p:nvPr/>
        </p:nvGrpSpPr>
        <p:grpSpPr bwMode="auto">
          <a:xfrm>
            <a:off x="6915150" y="2379663"/>
            <a:ext cx="1495425" cy="928687"/>
            <a:chOff x="0" y="0"/>
            <a:chExt cx="941" cy="585"/>
          </a:xfrm>
        </p:grpSpPr>
        <p:sp>
          <p:nvSpPr>
            <p:cNvPr id="52241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2242" name="Rectangle 18"/>
            <p:cNvSpPr/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  <p:sp>
          <p:nvSpPr>
            <p:cNvPr id="52243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2244" name="Rectangle 20"/>
            <p:cNvSpPr/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sp>
        <p:nvSpPr>
          <p:cNvPr id="52245" name="Rectangle 21"/>
          <p:cNvSpPr/>
          <p:nvPr/>
        </p:nvSpPr>
        <p:spPr bwMode="auto">
          <a:xfrm>
            <a:off x="8456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2246" name="Rectangle 22"/>
          <p:cNvSpPr/>
          <p:nvPr/>
        </p:nvSpPr>
        <p:spPr bwMode="auto">
          <a:xfrm>
            <a:off x="8908257" y="381000"/>
            <a:ext cx="381000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</a:t>
            </a:r>
            <a:endParaRPr lang="zh-CN" altLang="en-US" sz="24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graphicFrame>
        <p:nvGraphicFramePr>
          <p:cNvPr id="52247" name="Group 23"/>
          <p:cNvGraphicFramePr>
            <a:graphicFrameLocks noGrp="1"/>
          </p:cNvGraphicFramePr>
          <p:nvPr/>
        </p:nvGraphicFramePr>
        <p:xfrm>
          <a:off x="8458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/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yoo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who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279" name="AutoShape 55"/>
          <p:cNvSpPr/>
          <p:nvPr/>
        </p:nvSpPr>
        <p:spPr bwMode="auto">
          <a:xfrm>
            <a:off x="2032000" y="23749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" name="Rectangle 5"/>
          <p:cNvSpPr/>
          <p:nvPr/>
        </p:nvSpPr>
        <p:spPr bwMode="auto">
          <a:xfrm>
            <a:off x="28194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who(…)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</p:spTree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4"/>
          <p:cNvSpPr/>
          <p:nvPr/>
        </p:nvSpPr>
        <p:spPr bwMode="auto">
          <a:xfrm>
            <a:off x="25019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who();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  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0" name="Rectangle 5"/>
          <p:cNvSpPr/>
          <p:nvPr/>
        </p:nvSpPr>
        <p:spPr bwMode="auto">
          <a:xfrm>
            <a:off x="28194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who(…)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5325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53252" name="Rectangle 4"/>
          <p:cNvSpPr/>
          <p:nvPr/>
        </p:nvSpPr>
        <p:spPr bwMode="auto">
          <a:xfrm>
            <a:off x="5038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3253" name="Rectangle 5"/>
          <p:cNvSpPr/>
          <p:nvPr/>
        </p:nvSpPr>
        <p:spPr bwMode="auto">
          <a:xfrm>
            <a:off x="5038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who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3254" name="Rectangle 6"/>
          <p:cNvSpPr/>
          <p:nvPr/>
        </p:nvSpPr>
        <p:spPr bwMode="auto">
          <a:xfrm>
            <a:off x="5027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3255" name="Rectangle 7"/>
          <p:cNvSpPr/>
          <p:nvPr/>
        </p:nvSpPr>
        <p:spPr bwMode="auto">
          <a:xfrm>
            <a:off x="5038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3256" name="Rectangle 8"/>
          <p:cNvSpPr/>
          <p:nvPr/>
        </p:nvSpPr>
        <p:spPr bwMode="auto">
          <a:xfrm>
            <a:off x="5038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3257" name="Line 9"/>
          <p:cNvSpPr>
            <a:spLocks noChangeShapeType="1"/>
          </p:cNvSpPr>
          <p:nvPr/>
        </p:nvSpPr>
        <p:spPr bwMode="auto">
          <a:xfrm>
            <a:off x="5345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58" name="Line 10"/>
          <p:cNvSpPr>
            <a:spLocks noChangeShapeType="1"/>
          </p:cNvSpPr>
          <p:nvPr/>
        </p:nvSpPr>
        <p:spPr bwMode="auto">
          <a:xfrm>
            <a:off x="5345113" y="2438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59" name="Line 11"/>
          <p:cNvSpPr>
            <a:spLocks noChangeShapeType="1"/>
          </p:cNvSpPr>
          <p:nvPr/>
        </p:nvSpPr>
        <p:spPr bwMode="auto">
          <a:xfrm>
            <a:off x="5345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60" name="Line 12"/>
          <p:cNvSpPr>
            <a:spLocks noChangeShapeType="1"/>
          </p:cNvSpPr>
          <p:nvPr/>
        </p:nvSpPr>
        <p:spPr bwMode="auto">
          <a:xfrm>
            <a:off x="5345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61" name="Rectangle 13"/>
          <p:cNvSpPr/>
          <p:nvPr/>
        </p:nvSpPr>
        <p:spPr bwMode="auto">
          <a:xfrm>
            <a:off x="5705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3262" name="Line 14"/>
          <p:cNvSpPr>
            <a:spLocks noChangeShapeType="1"/>
          </p:cNvSpPr>
          <p:nvPr/>
        </p:nvSpPr>
        <p:spPr bwMode="auto">
          <a:xfrm>
            <a:off x="5486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63" name="Rectangle 15"/>
          <p:cNvSpPr/>
          <p:nvPr/>
        </p:nvSpPr>
        <p:spPr bwMode="auto">
          <a:xfrm>
            <a:off x="8456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panose="02070609020205020404" charset="0"/>
              <a:ea typeface="Monaco" charset="0"/>
              <a:cs typeface="Monaco" charset="0"/>
              <a:sym typeface="Courier New Bold" panose="02070609020205020404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grpSp>
        <p:nvGrpSpPr>
          <p:cNvPr id="53264" name="Group 16"/>
          <p:cNvGrpSpPr/>
          <p:nvPr/>
        </p:nvGrpSpPr>
        <p:grpSpPr bwMode="auto">
          <a:xfrm>
            <a:off x="6921500" y="3225800"/>
            <a:ext cx="1493838" cy="928688"/>
            <a:chOff x="0" y="0"/>
            <a:chExt cx="941" cy="585"/>
          </a:xfrm>
        </p:grpSpPr>
        <p:sp>
          <p:nvSpPr>
            <p:cNvPr id="53265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3266" name="Rectangle 18"/>
            <p:cNvSpPr/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  <p:sp>
          <p:nvSpPr>
            <p:cNvPr id="53267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3268" name="Rectangle 20"/>
            <p:cNvSpPr/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sp>
        <p:nvSpPr>
          <p:cNvPr id="53269" name="Rectangle 21"/>
          <p:cNvSpPr/>
          <p:nvPr/>
        </p:nvSpPr>
        <p:spPr bwMode="auto">
          <a:xfrm>
            <a:off x="8456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3270" name="Rectangle 22"/>
          <p:cNvSpPr/>
          <p:nvPr/>
        </p:nvSpPr>
        <p:spPr bwMode="auto">
          <a:xfrm>
            <a:off x="8908257" y="381000"/>
            <a:ext cx="381000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</a:t>
            </a:r>
            <a:endParaRPr lang="zh-CN" altLang="en-US" sz="24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graphicFrame>
        <p:nvGraphicFramePr>
          <p:cNvPr id="53271" name="Group 23"/>
          <p:cNvGraphicFramePr>
            <a:graphicFrameLocks noGrp="1"/>
          </p:cNvGraphicFramePr>
          <p:nvPr/>
        </p:nvGraphicFramePr>
        <p:xfrm>
          <a:off x="8458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/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yoo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who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amI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304" name="AutoShape 56"/>
          <p:cNvSpPr/>
          <p:nvPr/>
        </p:nvSpPr>
        <p:spPr bwMode="auto">
          <a:xfrm>
            <a:off x="2438400" y="27305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" name="Rectangle 6"/>
          <p:cNvSpPr/>
          <p:nvPr/>
        </p:nvSpPr>
        <p:spPr bwMode="auto">
          <a:xfrm>
            <a:off x="31242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4274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54276" name="Rectangle 4"/>
          <p:cNvSpPr/>
          <p:nvPr/>
        </p:nvSpPr>
        <p:spPr bwMode="auto">
          <a:xfrm>
            <a:off x="5038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4277" name="Rectangle 5"/>
          <p:cNvSpPr/>
          <p:nvPr/>
        </p:nvSpPr>
        <p:spPr bwMode="auto">
          <a:xfrm>
            <a:off x="5038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who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4278" name="Rectangle 6"/>
          <p:cNvSpPr/>
          <p:nvPr/>
        </p:nvSpPr>
        <p:spPr bwMode="auto">
          <a:xfrm>
            <a:off x="5027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4279" name="Rectangle 7"/>
          <p:cNvSpPr/>
          <p:nvPr/>
        </p:nvSpPr>
        <p:spPr bwMode="auto">
          <a:xfrm>
            <a:off x="5038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4280" name="Rectangle 8"/>
          <p:cNvSpPr/>
          <p:nvPr/>
        </p:nvSpPr>
        <p:spPr bwMode="auto">
          <a:xfrm>
            <a:off x="5038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4281" name="Line 9"/>
          <p:cNvSpPr>
            <a:spLocks noChangeShapeType="1"/>
          </p:cNvSpPr>
          <p:nvPr/>
        </p:nvSpPr>
        <p:spPr bwMode="auto">
          <a:xfrm>
            <a:off x="5345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2" name="Line 10"/>
          <p:cNvSpPr>
            <a:spLocks noChangeShapeType="1"/>
          </p:cNvSpPr>
          <p:nvPr/>
        </p:nvSpPr>
        <p:spPr bwMode="auto">
          <a:xfrm>
            <a:off x="5345113" y="2438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3" name="Line 11"/>
          <p:cNvSpPr>
            <a:spLocks noChangeShapeType="1"/>
          </p:cNvSpPr>
          <p:nvPr/>
        </p:nvSpPr>
        <p:spPr bwMode="auto">
          <a:xfrm>
            <a:off x="5345113" y="31242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4" name="Line 12"/>
          <p:cNvSpPr>
            <a:spLocks noChangeShapeType="1"/>
          </p:cNvSpPr>
          <p:nvPr/>
        </p:nvSpPr>
        <p:spPr bwMode="auto">
          <a:xfrm>
            <a:off x="5345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5" name="Rectangle 13"/>
          <p:cNvSpPr/>
          <p:nvPr/>
        </p:nvSpPr>
        <p:spPr bwMode="auto">
          <a:xfrm>
            <a:off x="5705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4286" name="Line 14"/>
          <p:cNvSpPr>
            <a:spLocks noChangeShapeType="1"/>
          </p:cNvSpPr>
          <p:nvPr/>
        </p:nvSpPr>
        <p:spPr bwMode="auto">
          <a:xfrm>
            <a:off x="5486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87" name="Rectangle 15"/>
          <p:cNvSpPr/>
          <p:nvPr/>
        </p:nvSpPr>
        <p:spPr bwMode="auto">
          <a:xfrm>
            <a:off x="8456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panose="02070609020205020404" charset="0"/>
              <a:ea typeface="Monaco" charset="0"/>
              <a:cs typeface="Monaco" charset="0"/>
              <a:sym typeface="Courier New Bold" panose="02070609020205020404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grpSp>
        <p:nvGrpSpPr>
          <p:cNvPr id="54288" name="Group 16"/>
          <p:cNvGrpSpPr/>
          <p:nvPr/>
        </p:nvGrpSpPr>
        <p:grpSpPr bwMode="auto">
          <a:xfrm>
            <a:off x="6915150" y="4056063"/>
            <a:ext cx="1495425" cy="928687"/>
            <a:chOff x="0" y="0"/>
            <a:chExt cx="941" cy="585"/>
          </a:xfrm>
        </p:grpSpPr>
        <p:sp>
          <p:nvSpPr>
            <p:cNvPr id="54289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4290" name="Rectangle 18"/>
            <p:cNvSpPr/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  <p:sp>
          <p:nvSpPr>
            <p:cNvPr id="54291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4292" name="Rectangle 20"/>
            <p:cNvSpPr/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sp>
        <p:nvSpPr>
          <p:cNvPr id="54293" name="Rectangle 21"/>
          <p:cNvSpPr/>
          <p:nvPr/>
        </p:nvSpPr>
        <p:spPr bwMode="auto">
          <a:xfrm>
            <a:off x="8456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4294" name="Rectangle 22"/>
          <p:cNvSpPr/>
          <p:nvPr/>
        </p:nvSpPr>
        <p:spPr bwMode="auto">
          <a:xfrm>
            <a:off x="8908257" y="381000"/>
            <a:ext cx="381000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</a:t>
            </a:r>
            <a:endParaRPr lang="zh-CN" altLang="en-US" sz="24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graphicFrame>
        <p:nvGraphicFramePr>
          <p:cNvPr id="54295" name="Group 23"/>
          <p:cNvGraphicFramePr>
            <a:graphicFrameLocks noGrp="1"/>
          </p:cNvGraphicFramePr>
          <p:nvPr/>
        </p:nvGraphicFramePr>
        <p:xfrm>
          <a:off x="8458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/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yoo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who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amI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amI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9" name="Rectangle 4"/>
          <p:cNvSpPr/>
          <p:nvPr/>
        </p:nvSpPr>
        <p:spPr bwMode="auto">
          <a:xfrm>
            <a:off x="1816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who();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  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0" name="Rectangle 5"/>
          <p:cNvSpPr/>
          <p:nvPr/>
        </p:nvSpPr>
        <p:spPr bwMode="auto">
          <a:xfrm>
            <a:off x="2133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who(…)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2" name="Rectangle 6"/>
          <p:cNvSpPr/>
          <p:nvPr/>
        </p:nvSpPr>
        <p:spPr bwMode="auto">
          <a:xfrm>
            <a:off x="24384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3" name="Rectangle 6"/>
          <p:cNvSpPr/>
          <p:nvPr/>
        </p:nvSpPr>
        <p:spPr bwMode="auto">
          <a:xfrm>
            <a:off x="2882900" y="25908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1" name="AutoShape 56"/>
          <p:cNvSpPr/>
          <p:nvPr/>
        </p:nvSpPr>
        <p:spPr bwMode="auto">
          <a:xfrm>
            <a:off x="2133600" y="27305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5299" name="Rectangle 3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553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55301" name="Rectangle 5"/>
          <p:cNvSpPr/>
          <p:nvPr/>
        </p:nvSpPr>
        <p:spPr bwMode="auto">
          <a:xfrm>
            <a:off x="5038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5302" name="Rectangle 6"/>
          <p:cNvSpPr/>
          <p:nvPr/>
        </p:nvSpPr>
        <p:spPr bwMode="auto">
          <a:xfrm>
            <a:off x="5038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who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5303" name="Rectangle 7"/>
          <p:cNvSpPr/>
          <p:nvPr/>
        </p:nvSpPr>
        <p:spPr bwMode="auto">
          <a:xfrm>
            <a:off x="5027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5304" name="Rectangle 8"/>
          <p:cNvSpPr/>
          <p:nvPr/>
        </p:nvSpPr>
        <p:spPr bwMode="auto">
          <a:xfrm>
            <a:off x="5038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5305" name="Rectangle 9"/>
          <p:cNvSpPr/>
          <p:nvPr/>
        </p:nvSpPr>
        <p:spPr bwMode="auto">
          <a:xfrm>
            <a:off x="5038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5306" name="Line 10"/>
          <p:cNvSpPr>
            <a:spLocks noChangeShapeType="1"/>
          </p:cNvSpPr>
          <p:nvPr/>
        </p:nvSpPr>
        <p:spPr bwMode="auto">
          <a:xfrm>
            <a:off x="5345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07" name="Line 11"/>
          <p:cNvSpPr>
            <a:spLocks noChangeShapeType="1"/>
          </p:cNvSpPr>
          <p:nvPr/>
        </p:nvSpPr>
        <p:spPr bwMode="auto">
          <a:xfrm>
            <a:off x="5345113" y="2438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08" name="Line 12"/>
          <p:cNvSpPr>
            <a:spLocks noChangeShapeType="1"/>
          </p:cNvSpPr>
          <p:nvPr/>
        </p:nvSpPr>
        <p:spPr bwMode="auto">
          <a:xfrm>
            <a:off x="5345113" y="31242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09" name="Line 13"/>
          <p:cNvSpPr>
            <a:spLocks noChangeShapeType="1"/>
          </p:cNvSpPr>
          <p:nvPr/>
        </p:nvSpPr>
        <p:spPr bwMode="auto">
          <a:xfrm>
            <a:off x="5345113" y="38862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10" name="Rectangle 14"/>
          <p:cNvSpPr/>
          <p:nvPr/>
        </p:nvSpPr>
        <p:spPr bwMode="auto">
          <a:xfrm>
            <a:off x="5705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5311" name="Line 15"/>
          <p:cNvSpPr>
            <a:spLocks noChangeShapeType="1"/>
          </p:cNvSpPr>
          <p:nvPr/>
        </p:nvSpPr>
        <p:spPr bwMode="auto">
          <a:xfrm>
            <a:off x="5486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12" name="Rectangle 16"/>
          <p:cNvSpPr/>
          <p:nvPr/>
        </p:nvSpPr>
        <p:spPr bwMode="auto">
          <a:xfrm>
            <a:off x="8456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panose="02070609020205020404" charset="0"/>
              <a:ea typeface="Monaco" charset="0"/>
              <a:cs typeface="Monaco" charset="0"/>
              <a:sym typeface="Courier New Bold" panose="02070609020205020404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grpSp>
        <p:nvGrpSpPr>
          <p:cNvPr id="55313" name="Group 17"/>
          <p:cNvGrpSpPr/>
          <p:nvPr/>
        </p:nvGrpSpPr>
        <p:grpSpPr bwMode="auto">
          <a:xfrm>
            <a:off x="6915150" y="4919663"/>
            <a:ext cx="1495425" cy="928687"/>
            <a:chOff x="0" y="0"/>
            <a:chExt cx="941" cy="585"/>
          </a:xfrm>
        </p:grpSpPr>
        <p:sp>
          <p:nvSpPr>
            <p:cNvPr id="55314" name="Line 18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5315" name="Rectangle 19"/>
            <p:cNvSpPr/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  <p:sp>
          <p:nvSpPr>
            <p:cNvPr id="55316" name="Line 20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5317" name="Rectangle 21"/>
            <p:cNvSpPr/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sp>
        <p:nvSpPr>
          <p:cNvPr id="55318" name="Rectangle 22"/>
          <p:cNvSpPr/>
          <p:nvPr/>
        </p:nvSpPr>
        <p:spPr bwMode="auto">
          <a:xfrm>
            <a:off x="8456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5319" name="Rectangle 23"/>
          <p:cNvSpPr/>
          <p:nvPr/>
        </p:nvSpPr>
        <p:spPr bwMode="auto">
          <a:xfrm>
            <a:off x="8908257" y="381000"/>
            <a:ext cx="381000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</a:t>
            </a:r>
            <a:endParaRPr lang="zh-CN" altLang="en-US" sz="24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graphicFrame>
        <p:nvGraphicFramePr>
          <p:cNvPr id="55320" name="Group 24"/>
          <p:cNvGraphicFramePr>
            <a:graphicFrameLocks noGrp="1"/>
          </p:cNvGraphicFramePr>
          <p:nvPr/>
        </p:nvGraphicFramePr>
        <p:xfrm>
          <a:off x="8458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/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yoo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who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amI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amI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amI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Rectangle 4"/>
          <p:cNvSpPr/>
          <p:nvPr/>
        </p:nvSpPr>
        <p:spPr bwMode="auto">
          <a:xfrm>
            <a:off x="1816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who();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  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1" name="Rectangle 5"/>
          <p:cNvSpPr/>
          <p:nvPr/>
        </p:nvSpPr>
        <p:spPr bwMode="auto">
          <a:xfrm>
            <a:off x="2133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who(…)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2" name="Rectangle 6"/>
          <p:cNvSpPr/>
          <p:nvPr/>
        </p:nvSpPr>
        <p:spPr bwMode="auto">
          <a:xfrm>
            <a:off x="24384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3" name="Rectangle 6"/>
          <p:cNvSpPr/>
          <p:nvPr/>
        </p:nvSpPr>
        <p:spPr bwMode="auto">
          <a:xfrm>
            <a:off x="2882900" y="25908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4" name="AutoShape 56"/>
          <p:cNvSpPr/>
          <p:nvPr/>
        </p:nvSpPr>
        <p:spPr bwMode="auto">
          <a:xfrm>
            <a:off x="2590800" y="37338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5" name="Rectangle 6"/>
          <p:cNvSpPr/>
          <p:nvPr/>
        </p:nvSpPr>
        <p:spPr bwMode="auto">
          <a:xfrm>
            <a:off x="3340100" y="30480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6322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56324" name="Rectangle 4"/>
          <p:cNvSpPr/>
          <p:nvPr/>
        </p:nvSpPr>
        <p:spPr bwMode="auto">
          <a:xfrm>
            <a:off x="5038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6325" name="Rectangle 5"/>
          <p:cNvSpPr/>
          <p:nvPr/>
        </p:nvSpPr>
        <p:spPr bwMode="auto">
          <a:xfrm>
            <a:off x="5038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who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6326" name="Rectangle 6"/>
          <p:cNvSpPr/>
          <p:nvPr/>
        </p:nvSpPr>
        <p:spPr bwMode="auto">
          <a:xfrm>
            <a:off x="5027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6327" name="Rectangle 7"/>
          <p:cNvSpPr/>
          <p:nvPr/>
        </p:nvSpPr>
        <p:spPr bwMode="auto">
          <a:xfrm>
            <a:off x="5038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6328" name="Rectangle 8"/>
          <p:cNvSpPr/>
          <p:nvPr/>
        </p:nvSpPr>
        <p:spPr bwMode="auto">
          <a:xfrm>
            <a:off x="5038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6329" name="Line 9"/>
          <p:cNvSpPr>
            <a:spLocks noChangeShapeType="1"/>
          </p:cNvSpPr>
          <p:nvPr/>
        </p:nvSpPr>
        <p:spPr bwMode="auto">
          <a:xfrm>
            <a:off x="5345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30" name="Line 10"/>
          <p:cNvSpPr>
            <a:spLocks noChangeShapeType="1"/>
          </p:cNvSpPr>
          <p:nvPr/>
        </p:nvSpPr>
        <p:spPr bwMode="auto">
          <a:xfrm>
            <a:off x="5345113" y="2438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31" name="Line 11"/>
          <p:cNvSpPr>
            <a:spLocks noChangeShapeType="1"/>
          </p:cNvSpPr>
          <p:nvPr/>
        </p:nvSpPr>
        <p:spPr bwMode="auto">
          <a:xfrm>
            <a:off x="5345113" y="31242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32" name="Line 12"/>
          <p:cNvSpPr>
            <a:spLocks noChangeShapeType="1"/>
          </p:cNvSpPr>
          <p:nvPr/>
        </p:nvSpPr>
        <p:spPr bwMode="auto">
          <a:xfrm>
            <a:off x="5345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33" name="Rectangle 13"/>
          <p:cNvSpPr/>
          <p:nvPr/>
        </p:nvSpPr>
        <p:spPr bwMode="auto">
          <a:xfrm>
            <a:off x="5705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6334" name="Line 14"/>
          <p:cNvSpPr>
            <a:spLocks noChangeShapeType="1"/>
          </p:cNvSpPr>
          <p:nvPr/>
        </p:nvSpPr>
        <p:spPr bwMode="auto">
          <a:xfrm>
            <a:off x="5486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35" name="Rectangle 15"/>
          <p:cNvSpPr/>
          <p:nvPr/>
        </p:nvSpPr>
        <p:spPr bwMode="auto">
          <a:xfrm>
            <a:off x="8456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panose="02070609020205020404" charset="0"/>
              <a:ea typeface="Monaco" charset="0"/>
              <a:cs typeface="Monaco" charset="0"/>
              <a:sym typeface="Courier New Bold" panose="02070609020205020404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grpSp>
        <p:nvGrpSpPr>
          <p:cNvPr id="56336" name="Group 16"/>
          <p:cNvGrpSpPr/>
          <p:nvPr/>
        </p:nvGrpSpPr>
        <p:grpSpPr bwMode="auto">
          <a:xfrm>
            <a:off x="6915150" y="4056063"/>
            <a:ext cx="1495425" cy="928687"/>
            <a:chOff x="0" y="0"/>
            <a:chExt cx="941" cy="585"/>
          </a:xfrm>
        </p:grpSpPr>
        <p:sp>
          <p:nvSpPr>
            <p:cNvPr id="56337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6338" name="Rectangle 18"/>
            <p:cNvSpPr/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  <p:sp>
          <p:nvSpPr>
            <p:cNvPr id="56339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6340" name="Rectangle 20"/>
            <p:cNvSpPr/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sp>
        <p:nvSpPr>
          <p:cNvPr id="56341" name="Rectangle 21"/>
          <p:cNvSpPr/>
          <p:nvPr/>
        </p:nvSpPr>
        <p:spPr bwMode="auto">
          <a:xfrm>
            <a:off x="8456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6342" name="Rectangle 22"/>
          <p:cNvSpPr/>
          <p:nvPr/>
        </p:nvSpPr>
        <p:spPr bwMode="auto">
          <a:xfrm>
            <a:off x="8908257" y="381000"/>
            <a:ext cx="381000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</a:t>
            </a:r>
            <a:endParaRPr lang="zh-CN" altLang="en-US" sz="24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graphicFrame>
        <p:nvGraphicFramePr>
          <p:cNvPr id="56343" name="Group 23"/>
          <p:cNvGraphicFramePr>
            <a:graphicFrameLocks noGrp="1"/>
          </p:cNvGraphicFramePr>
          <p:nvPr/>
        </p:nvGraphicFramePr>
        <p:xfrm>
          <a:off x="8458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/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yoo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who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amI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amI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9" name="Rectangle 4"/>
          <p:cNvSpPr/>
          <p:nvPr/>
        </p:nvSpPr>
        <p:spPr bwMode="auto">
          <a:xfrm>
            <a:off x="1816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who();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  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0" name="Rectangle 5"/>
          <p:cNvSpPr/>
          <p:nvPr/>
        </p:nvSpPr>
        <p:spPr bwMode="auto">
          <a:xfrm>
            <a:off x="2133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who(…)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1" name="Rectangle 6"/>
          <p:cNvSpPr/>
          <p:nvPr/>
        </p:nvSpPr>
        <p:spPr bwMode="auto">
          <a:xfrm>
            <a:off x="24384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2" name="Rectangle 6"/>
          <p:cNvSpPr/>
          <p:nvPr/>
        </p:nvSpPr>
        <p:spPr bwMode="auto">
          <a:xfrm>
            <a:off x="2882900" y="25908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3" name="AutoShape 56"/>
          <p:cNvSpPr/>
          <p:nvPr/>
        </p:nvSpPr>
        <p:spPr bwMode="auto">
          <a:xfrm>
            <a:off x="2209800" y="34290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7346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57348" name="Rectangle 4"/>
          <p:cNvSpPr/>
          <p:nvPr/>
        </p:nvSpPr>
        <p:spPr bwMode="auto">
          <a:xfrm>
            <a:off x="5038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7349" name="Rectangle 5"/>
          <p:cNvSpPr/>
          <p:nvPr/>
        </p:nvSpPr>
        <p:spPr bwMode="auto">
          <a:xfrm>
            <a:off x="5038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who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7350" name="Rectangle 6"/>
          <p:cNvSpPr/>
          <p:nvPr/>
        </p:nvSpPr>
        <p:spPr bwMode="auto">
          <a:xfrm>
            <a:off x="5027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7351" name="Rectangle 7"/>
          <p:cNvSpPr/>
          <p:nvPr/>
        </p:nvSpPr>
        <p:spPr bwMode="auto">
          <a:xfrm>
            <a:off x="5038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7352" name="Rectangle 8"/>
          <p:cNvSpPr/>
          <p:nvPr/>
        </p:nvSpPr>
        <p:spPr bwMode="auto">
          <a:xfrm>
            <a:off x="5038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7353" name="Line 9"/>
          <p:cNvSpPr>
            <a:spLocks noChangeShapeType="1"/>
          </p:cNvSpPr>
          <p:nvPr/>
        </p:nvSpPr>
        <p:spPr bwMode="auto">
          <a:xfrm>
            <a:off x="5345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4" name="Line 10"/>
          <p:cNvSpPr>
            <a:spLocks noChangeShapeType="1"/>
          </p:cNvSpPr>
          <p:nvPr/>
        </p:nvSpPr>
        <p:spPr bwMode="auto">
          <a:xfrm>
            <a:off x="5345113" y="24384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5" name="Line 11"/>
          <p:cNvSpPr>
            <a:spLocks noChangeShapeType="1"/>
          </p:cNvSpPr>
          <p:nvPr/>
        </p:nvSpPr>
        <p:spPr bwMode="auto">
          <a:xfrm>
            <a:off x="5345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6" name="Line 12"/>
          <p:cNvSpPr>
            <a:spLocks noChangeShapeType="1"/>
          </p:cNvSpPr>
          <p:nvPr/>
        </p:nvSpPr>
        <p:spPr bwMode="auto">
          <a:xfrm>
            <a:off x="5345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7" name="Rectangle 13"/>
          <p:cNvSpPr/>
          <p:nvPr/>
        </p:nvSpPr>
        <p:spPr bwMode="auto">
          <a:xfrm>
            <a:off x="5705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7358" name="Line 14"/>
          <p:cNvSpPr>
            <a:spLocks noChangeShapeType="1"/>
          </p:cNvSpPr>
          <p:nvPr/>
        </p:nvSpPr>
        <p:spPr bwMode="auto">
          <a:xfrm>
            <a:off x="5486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59" name="Rectangle 15"/>
          <p:cNvSpPr/>
          <p:nvPr/>
        </p:nvSpPr>
        <p:spPr bwMode="auto">
          <a:xfrm>
            <a:off x="8456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panose="02070609020205020404" charset="0"/>
              <a:ea typeface="Monaco" charset="0"/>
              <a:cs typeface="Monaco" charset="0"/>
              <a:sym typeface="Courier New Bold" panose="02070609020205020404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grpSp>
        <p:nvGrpSpPr>
          <p:cNvPr id="57360" name="Group 16"/>
          <p:cNvGrpSpPr/>
          <p:nvPr/>
        </p:nvGrpSpPr>
        <p:grpSpPr bwMode="auto">
          <a:xfrm>
            <a:off x="6921500" y="3225800"/>
            <a:ext cx="1493838" cy="928688"/>
            <a:chOff x="0" y="0"/>
            <a:chExt cx="941" cy="585"/>
          </a:xfrm>
        </p:grpSpPr>
        <p:sp>
          <p:nvSpPr>
            <p:cNvPr id="57361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7362" name="Rectangle 18"/>
            <p:cNvSpPr/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  <p:sp>
          <p:nvSpPr>
            <p:cNvPr id="57363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7364" name="Rectangle 20"/>
            <p:cNvSpPr/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sp>
        <p:nvSpPr>
          <p:cNvPr id="57365" name="Rectangle 21"/>
          <p:cNvSpPr/>
          <p:nvPr/>
        </p:nvSpPr>
        <p:spPr bwMode="auto">
          <a:xfrm>
            <a:off x="8456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7366" name="Rectangle 22"/>
          <p:cNvSpPr/>
          <p:nvPr/>
        </p:nvSpPr>
        <p:spPr bwMode="auto">
          <a:xfrm>
            <a:off x="8908257" y="381000"/>
            <a:ext cx="381000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</a:t>
            </a:r>
            <a:endParaRPr lang="zh-CN" altLang="en-US" sz="24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graphicFrame>
        <p:nvGraphicFramePr>
          <p:cNvPr id="57367" name="Group 23"/>
          <p:cNvGraphicFramePr>
            <a:graphicFrameLocks noGrp="1"/>
          </p:cNvGraphicFramePr>
          <p:nvPr/>
        </p:nvGraphicFramePr>
        <p:xfrm>
          <a:off x="8458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/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yoo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who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amI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" name="Rectangle 4"/>
          <p:cNvSpPr/>
          <p:nvPr/>
        </p:nvSpPr>
        <p:spPr bwMode="auto">
          <a:xfrm>
            <a:off x="1816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who();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  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59" name="Rectangle 5"/>
          <p:cNvSpPr/>
          <p:nvPr/>
        </p:nvSpPr>
        <p:spPr bwMode="auto">
          <a:xfrm>
            <a:off x="2133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who(…)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0" name="Rectangle 6"/>
          <p:cNvSpPr/>
          <p:nvPr/>
        </p:nvSpPr>
        <p:spPr bwMode="auto">
          <a:xfrm>
            <a:off x="24384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2" name="AutoShape 56"/>
          <p:cNvSpPr/>
          <p:nvPr/>
        </p:nvSpPr>
        <p:spPr bwMode="auto">
          <a:xfrm>
            <a:off x="1752600" y="29718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837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58372" name="Rectangle 4"/>
          <p:cNvSpPr/>
          <p:nvPr/>
        </p:nvSpPr>
        <p:spPr bwMode="auto">
          <a:xfrm>
            <a:off x="5038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8373" name="Rectangle 5"/>
          <p:cNvSpPr/>
          <p:nvPr/>
        </p:nvSpPr>
        <p:spPr bwMode="auto">
          <a:xfrm>
            <a:off x="5038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who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8374" name="Rectangle 6"/>
          <p:cNvSpPr/>
          <p:nvPr/>
        </p:nvSpPr>
        <p:spPr bwMode="auto">
          <a:xfrm>
            <a:off x="5027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8375" name="Rectangle 7"/>
          <p:cNvSpPr/>
          <p:nvPr/>
        </p:nvSpPr>
        <p:spPr bwMode="auto">
          <a:xfrm>
            <a:off x="5038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8376" name="Rectangle 8"/>
          <p:cNvSpPr/>
          <p:nvPr/>
        </p:nvSpPr>
        <p:spPr bwMode="auto">
          <a:xfrm>
            <a:off x="5038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8377" name="Line 9"/>
          <p:cNvSpPr>
            <a:spLocks noChangeShapeType="1"/>
          </p:cNvSpPr>
          <p:nvPr/>
        </p:nvSpPr>
        <p:spPr bwMode="auto">
          <a:xfrm>
            <a:off x="5345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78" name="Line 10"/>
          <p:cNvSpPr>
            <a:spLocks noChangeShapeType="1"/>
          </p:cNvSpPr>
          <p:nvPr/>
        </p:nvSpPr>
        <p:spPr bwMode="auto">
          <a:xfrm>
            <a:off x="5345113" y="24384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79" name="Line 11"/>
          <p:cNvSpPr>
            <a:spLocks noChangeShapeType="1"/>
          </p:cNvSpPr>
          <p:nvPr/>
        </p:nvSpPr>
        <p:spPr bwMode="auto">
          <a:xfrm>
            <a:off x="5345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80" name="Line 12"/>
          <p:cNvSpPr>
            <a:spLocks noChangeShapeType="1"/>
          </p:cNvSpPr>
          <p:nvPr/>
        </p:nvSpPr>
        <p:spPr bwMode="auto">
          <a:xfrm>
            <a:off x="5345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81" name="Rectangle 13"/>
          <p:cNvSpPr/>
          <p:nvPr/>
        </p:nvSpPr>
        <p:spPr bwMode="auto">
          <a:xfrm>
            <a:off x="5705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8382" name="Line 14"/>
          <p:cNvSpPr>
            <a:spLocks noChangeShapeType="1"/>
          </p:cNvSpPr>
          <p:nvPr/>
        </p:nvSpPr>
        <p:spPr bwMode="auto">
          <a:xfrm>
            <a:off x="5486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83" name="Rectangle 15"/>
          <p:cNvSpPr/>
          <p:nvPr/>
        </p:nvSpPr>
        <p:spPr bwMode="auto">
          <a:xfrm>
            <a:off x="8456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panose="02070609020205020404" charset="0"/>
              <a:ea typeface="Monaco" charset="0"/>
              <a:cs typeface="Monaco" charset="0"/>
              <a:sym typeface="Courier New Bold" panose="02070609020205020404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grpSp>
        <p:nvGrpSpPr>
          <p:cNvPr id="58384" name="Group 16"/>
          <p:cNvGrpSpPr/>
          <p:nvPr/>
        </p:nvGrpSpPr>
        <p:grpSpPr bwMode="auto">
          <a:xfrm>
            <a:off x="6915150" y="2379663"/>
            <a:ext cx="1495425" cy="928687"/>
            <a:chOff x="0" y="0"/>
            <a:chExt cx="941" cy="585"/>
          </a:xfrm>
        </p:grpSpPr>
        <p:sp>
          <p:nvSpPr>
            <p:cNvPr id="58385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8386" name="Rectangle 18"/>
            <p:cNvSpPr/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  <p:sp>
          <p:nvSpPr>
            <p:cNvPr id="58387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8388" name="Rectangle 20"/>
            <p:cNvSpPr/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sp>
        <p:nvSpPr>
          <p:cNvPr id="58389" name="Rectangle 21"/>
          <p:cNvSpPr/>
          <p:nvPr/>
        </p:nvSpPr>
        <p:spPr bwMode="auto">
          <a:xfrm>
            <a:off x="8456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8390" name="Rectangle 22"/>
          <p:cNvSpPr/>
          <p:nvPr/>
        </p:nvSpPr>
        <p:spPr bwMode="auto">
          <a:xfrm>
            <a:off x="8908257" y="381000"/>
            <a:ext cx="381000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</a:t>
            </a:r>
            <a:endParaRPr lang="zh-CN" altLang="en-US" sz="24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graphicFrame>
        <p:nvGraphicFramePr>
          <p:cNvPr id="58391" name="Group 23"/>
          <p:cNvGraphicFramePr>
            <a:graphicFrameLocks noGrp="1"/>
          </p:cNvGraphicFramePr>
          <p:nvPr/>
        </p:nvGraphicFramePr>
        <p:xfrm>
          <a:off x="8458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/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yoo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who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Rectangle 4"/>
          <p:cNvSpPr/>
          <p:nvPr/>
        </p:nvSpPr>
        <p:spPr bwMode="auto">
          <a:xfrm>
            <a:off x="1816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who();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  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58" name="Rectangle 5"/>
          <p:cNvSpPr/>
          <p:nvPr/>
        </p:nvSpPr>
        <p:spPr bwMode="auto">
          <a:xfrm>
            <a:off x="2133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who(…)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1" name="AutoShape 56"/>
          <p:cNvSpPr/>
          <p:nvPr/>
        </p:nvSpPr>
        <p:spPr bwMode="auto">
          <a:xfrm>
            <a:off x="1371600" y="25146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p>
            <a:pPr marL="119380" indent="-119380"/>
            <a:r>
              <a:rPr lang="zh-CN" altLang="en-US"/>
              <a:t>例子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9394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59396" name="Rectangle 4"/>
          <p:cNvSpPr/>
          <p:nvPr/>
        </p:nvSpPr>
        <p:spPr bwMode="auto">
          <a:xfrm>
            <a:off x="5038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9397" name="Rectangle 5"/>
          <p:cNvSpPr/>
          <p:nvPr/>
        </p:nvSpPr>
        <p:spPr bwMode="auto">
          <a:xfrm>
            <a:off x="5038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who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9398" name="Rectangle 6"/>
          <p:cNvSpPr/>
          <p:nvPr/>
        </p:nvSpPr>
        <p:spPr bwMode="auto">
          <a:xfrm>
            <a:off x="5027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6A6A6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6A6A6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9399" name="Rectangle 7"/>
          <p:cNvSpPr/>
          <p:nvPr/>
        </p:nvSpPr>
        <p:spPr bwMode="auto">
          <a:xfrm>
            <a:off x="5038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9400" name="Rectangle 8"/>
          <p:cNvSpPr/>
          <p:nvPr/>
        </p:nvSpPr>
        <p:spPr bwMode="auto">
          <a:xfrm>
            <a:off x="5038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9401" name="Line 9"/>
          <p:cNvSpPr>
            <a:spLocks noChangeShapeType="1"/>
          </p:cNvSpPr>
          <p:nvPr/>
        </p:nvSpPr>
        <p:spPr bwMode="auto">
          <a:xfrm>
            <a:off x="5345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2" name="Line 10"/>
          <p:cNvSpPr>
            <a:spLocks noChangeShapeType="1"/>
          </p:cNvSpPr>
          <p:nvPr/>
        </p:nvSpPr>
        <p:spPr bwMode="auto">
          <a:xfrm>
            <a:off x="5345113" y="2438400"/>
            <a:ext cx="0" cy="431800"/>
          </a:xfrm>
          <a:prstGeom prst="line">
            <a:avLst/>
          </a:prstGeom>
          <a:noFill/>
          <a:ln w="25400" cap="flat">
            <a:solidFill>
              <a:srgbClr val="A6A6A6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3" name="Line 11"/>
          <p:cNvSpPr>
            <a:spLocks noChangeShapeType="1"/>
          </p:cNvSpPr>
          <p:nvPr/>
        </p:nvSpPr>
        <p:spPr bwMode="auto">
          <a:xfrm>
            <a:off x="5345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4" name="Line 12"/>
          <p:cNvSpPr>
            <a:spLocks noChangeShapeType="1"/>
          </p:cNvSpPr>
          <p:nvPr/>
        </p:nvSpPr>
        <p:spPr bwMode="auto">
          <a:xfrm>
            <a:off x="5345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5" name="Rectangle 13"/>
          <p:cNvSpPr/>
          <p:nvPr/>
        </p:nvSpPr>
        <p:spPr bwMode="auto">
          <a:xfrm>
            <a:off x="5705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9406" name="Line 14"/>
          <p:cNvSpPr>
            <a:spLocks noChangeShapeType="1"/>
          </p:cNvSpPr>
          <p:nvPr/>
        </p:nvSpPr>
        <p:spPr bwMode="auto">
          <a:xfrm>
            <a:off x="5486400" y="2438400"/>
            <a:ext cx="536575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07" name="Rectangle 15"/>
          <p:cNvSpPr/>
          <p:nvPr/>
        </p:nvSpPr>
        <p:spPr bwMode="auto">
          <a:xfrm>
            <a:off x="8456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panose="02070609020205020404" charset="0"/>
              <a:ea typeface="Monaco" charset="0"/>
              <a:cs typeface="Monaco" charset="0"/>
              <a:sym typeface="Courier New Bold" panose="02070609020205020404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grpSp>
        <p:nvGrpSpPr>
          <p:cNvPr id="59408" name="Group 16"/>
          <p:cNvGrpSpPr/>
          <p:nvPr/>
        </p:nvGrpSpPr>
        <p:grpSpPr bwMode="auto">
          <a:xfrm>
            <a:off x="6921500" y="3225800"/>
            <a:ext cx="1493838" cy="928688"/>
            <a:chOff x="0" y="0"/>
            <a:chExt cx="941" cy="585"/>
          </a:xfrm>
        </p:grpSpPr>
        <p:sp>
          <p:nvSpPr>
            <p:cNvPr id="59409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9410" name="Rectangle 18"/>
            <p:cNvSpPr/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  <p:sp>
          <p:nvSpPr>
            <p:cNvPr id="59411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59412" name="Rectangle 20"/>
            <p:cNvSpPr/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sp>
        <p:nvSpPr>
          <p:cNvPr id="59413" name="Rectangle 21"/>
          <p:cNvSpPr/>
          <p:nvPr/>
        </p:nvSpPr>
        <p:spPr bwMode="auto">
          <a:xfrm>
            <a:off x="8456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9414" name="Rectangle 22"/>
          <p:cNvSpPr/>
          <p:nvPr/>
        </p:nvSpPr>
        <p:spPr bwMode="auto">
          <a:xfrm>
            <a:off x="8908257" y="381000"/>
            <a:ext cx="381000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</a:t>
            </a:r>
            <a:endParaRPr lang="zh-CN" altLang="en-US" sz="24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graphicFrame>
        <p:nvGraphicFramePr>
          <p:cNvPr id="59415" name="Group 23"/>
          <p:cNvGraphicFramePr>
            <a:graphicFrameLocks noGrp="1"/>
          </p:cNvGraphicFramePr>
          <p:nvPr/>
        </p:nvGraphicFramePr>
        <p:xfrm>
          <a:off x="8458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/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yoo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who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amI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1C7C7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" name="Rectangle 4"/>
          <p:cNvSpPr/>
          <p:nvPr/>
        </p:nvSpPr>
        <p:spPr bwMode="auto">
          <a:xfrm>
            <a:off x="18161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who();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  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59" name="Rectangle 5"/>
          <p:cNvSpPr/>
          <p:nvPr/>
        </p:nvSpPr>
        <p:spPr bwMode="auto">
          <a:xfrm>
            <a:off x="21336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who(…)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0" name="Rectangle 6"/>
          <p:cNvSpPr/>
          <p:nvPr/>
        </p:nvSpPr>
        <p:spPr bwMode="auto">
          <a:xfrm>
            <a:off x="2438400" y="2133600"/>
            <a:ext cx="1536700" cy="2286000"/>
          </a:xfrm>
          <a:prstGeom prst="rect">
            <a:avLst/>
          </a:prstGeom>
          <a:solidFill>
            <a:srgbClr val="F1C7C7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1" name="AutoShape 56"/>
          <p:cNvSpPr/>
          <p:nvPr/>
        </p:nvSpPr>
        <p:spPr bwMode="auto">
          <a:xfrm>
            <a:off x="1752600" y="29718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0418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60420" name="Rectangle 4"/>
          <p:cNvSpPr/>
          <p:nvPr/>
        </p:nvSpPr>
        <p:spPr bwMode="auto">
          <a:xfrm>
            <a:off x="5038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0421" name="Rectangle 5"/>
          <p:cNvSpPr/>
          <p:nvPr/>
        </p:nvSpPr>
        <p:spPr bwMode="auto">
          <a:xfrm>
            <a:off x="5038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who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0422" name="Rectangle 6"/>
          <p:cNvSpPr/>
          <p:nvPr/>
        </p:nvSpPr>
        <p:spPr bwMode="auto">
          <a:xfrm>
            <a:off x="5027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0423" name="Rectangle 7"/>
          <p:cNvSpPr/>
          <p:nvPr/>
        </p:nvSpPr>
        <p:spPr bwMode="auto">
          <a:xfrm>
            <a:off x="5038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0424" name="Rectangle 8"/>
          <p:cNvSpPr/>
          <p:nvPr/>
        </p:nvSpPr>
        <p:spPr bwMode="auto">
          <a:xfrm>
            <a:off x="5038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0425" name="Line 9"/>
          <p:cNvSpPr>
            <a:spLocks noChangeShapeType="1"/>
          </p:cNvSpPr>
          <p:nvPr/>
        </p:nvSpPr>
        <p:spPr bwMode="auto">
          <a:xfrm>
            <a:off x="5345113" y="1752600"/>
            <a:ext cx="0" cy="43180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6" name="Line 10"/>
          <p:cNvSpPr>
            <a:spLocks noChangeShapeType="1"/>
          </p:cNvSpPr>
          <p:nvPr/>
        </p:nvSpPr>
        <p:spPr bwMode="auto">
          <a:xfrm>
            <a:off x="5345113" y="24384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7" name="Line 11"/>
          <p:cNvSpPr>
            <a:spLocks noChangeShapeType="1"/>
          </p:cNvSpPr>
          <p:nvPr/>
        </p:nvSpPr>
        <p:spPr bwMode="auto">
          <a:xfrm>
            <a:off x="5345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8" name="Line 12"/>
          <p:cNvSpPr>
            <a:spLocks noChangeShapeType="1"/>
          </p:cNvSpPr>
          <p:nvPr/>
        </p:nvSpPr>
        <p:spPr bwMode="auto">
          <a:xfrm>
            <a:off x="5345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29" name="Rectangle 13"/>
          <p:cNvSpPr/>
          <p:nvPr/>
        </p:nvSpPr>
        <p:spPr bwMode="auto">
          <a:xfrm>
            <a:off x="5705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0430" name="Line 14"/>
          <p:cNvSpPr>
            <a:spLocks noChangeShapeType="1"/>
          </p:cNvSpPr>
          <p:nvPr/>
        </p:nvSpPr>
        <p:spPr bwMode="auto">
          <a:xfrm>
            <a:off x="5486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31" name="Rectangle 15"/>
          <p:cNvSpPr/>
          <p:nvPr/>
        </p:nvSpPr>
        <p:spPr bwMode="auto">
          <a:xfrm>
            <a:off x="8456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panose="02070609020205020404" charset="0"/>
              <a:ea typeface="Monaco" charset="0"/>
              <a:cs typeface="Monaco" charset="0"/>
              <a:sym typeface="Courier New Bold" panose="02070609020205020404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grpSp>
        <p:nvGrpSpPr>
          <p:cNvPr id="60432" name="Group 16"/>
          <p:cNvGrpSpPr/>
          <p:nvPr/>
        </p:nvGrpSpPr>
        <p:grpSpPr bwMode="auto">
          <a:xfrm>
            <a:off x="6915150" y="2379663"/>
            <a:ext cx="1495425" cy="928687"/>
            <a:chOff x="0" y="0"/>
            <a:chExt cx="941" cy="585"/>
          </a:xfrm>
        </p:grpSpPr>
        <p:sp>
          <p:nvSpPr>
            <p:cNvPr id="60433" name="Line 17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0434" name="Rectangle 18"/>
            <p:cNvSpPr/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  <p:sp>
          <p:nvSpPr>
            <p:cNvPr id="60435" name="Line 19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0436" name="Rectangle 20"/>
            <p:cNvSpPr/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sp>
        <p:nvSpPr>
          <p:cNvPr id="60437" name="Rectangle 21"/>
          <p:cNvSpPr/>
          <p:nvPr/>
        </p:nvSpPr>
        <p:spPr bwMode="auto">
          <a:xfrm>
            <a:off x="8456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0438" name="Rectangle 22"/>
          <p:cNvSpPr/>
          <p:nvPr/>
        </p:nvSpPr>
        <p:spPr bwMode="auto">
          <a:xfrm>
            <a:off x="8908257" y="381000"/>
            <a:ext cx="381000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</a:t>
            </a:r>
            <a:endParaRPr lang="zh-CN" altLang="en-US" sz="24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graphicFrame>
        <p:nvGraphicFramePr>
          <p:cNvPr id="60439" name="Group 23"/>
          <p:cNvGraphicFramePr>
            <a:graphicFrameLocks noGrp="1"/>
          </p:cNvGraphicFramePr>
          <p:nvPr/>
        </p:nvGraphicFramePr>
        <p:xfrm>
          <a:off x="8458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/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yoo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who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DF1C5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7" name="Rectangle 4"/>
          <p:cNvSpPr/>
          <p:nvPr/>
        </p:nvSpPr>
        <p:spPr bwMode="auto">
          <a:xfrm>
            <a:off x="1955800" y="14478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who();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  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58" name="Rectangle 5"/>
          <p:cNvSpPr/>
          <p:nvPr/>
        </p:nvSpPr>
        <p:spPr bwMode="auto">
          <a:xfrm>
            <a:off x="2273300" y="1676400"/>
            <a:ext cx="1612900" cy="21336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who(…)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amI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 •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0" name="AutoShape 56"/>
          <p:cNvSpPr/>
          <p:nvPr/>
        </p:nvSpPr>
        <p:spPr bwMode="auto">
          <a:xfrm>
            <a:off x="1663700" y="25146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1443" name="Rectangle 3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614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/>
              <a:t>例子</a:t>
            </a:r>
            <a:endParaRPr lang="zh-CN" altLang="en-US"/>
          </a:p>
        </p:txBody>
      </p:sp>
      <p:sp>
        <p:nvSpPr>
          <p:cNvPr id="61445" name="Rectangle 5"/>
          <p:cNvSpPr/>
          <p:nvPr/>
        </p:nvSpPr>
        <p:spPr bwMode="auto">
          <a:xfrm>
            <a:off x="5038725" y="1446213"/>
            <a:ext cx="622300" cy="331787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1446" name="Rectangle 6"/>
          <p:cNvSpPr/>
          <p:nvPr/>
        </p:nvSpPr>
        <p:spPr bwMode="auto">
          <a:xfrm>
            <a:off x="5038725" y="21336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who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1447" name="Rectangle 7"/>
          <p:cNvSpPr/>
          <p:nvPr/>
        </p:nvSpPr>
        <p:spPr bwMode="auto">
          <a:xfrm>
            <a:off x="5027613" y="28082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1448" name="Rectangle 8"/>
          <p:cNvSpPr/>
          <p:nvPr/>
        </p:nvSpPr>
        <p:spPr bwMode="auto">
          <a:xfrm>
            <a:off x="5038725" y="3505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1449" name="Rectangle 9"/>
          <p:cNvSpPr/>
          <p:nvPr/>
        </p:nvSpPr>
        <p:spPr bwMode="auto">
          <a:xfrm>
            <a:off x="5038725" y="4267200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1450" name="Line 10"/>
          <p:cNvSpPr>
            <a:spLocks noChangeShapeType="1"/>
          </p:cNvSpPr>
          <p:nvPr/>
        </p:nvSpPr>
        <p:spPr bwMode="auto">
          <a:xfrm>
            <a:off x="5345113" y="17526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1" name="Line 11"/>
          <p:cNvSpPr>
            <a:spLocks noChangeShapeType="1"/>
          </p:cNvSpPr>
          <p:nvPr/>
        </p:nvSpPr>
        <p:spPr bwMode="auto">
          <a:xfrm>
            <a:off x="5345113" y="24384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2" name="Line 12"/>
          <p:cNvSpPr>
            <a:spLocks noChangeShapeType="1"/>
          </p:cNvSpPr>
          <p:nvPr/>
        </p:nvSpPr>
        <p:spPr bwMode="auto">
          <a:xfrm>
            <a:off x="5345113" y="3124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3" name="Line 13"/>
          <p:cNvSpPr>
            <a:spLocks noChangeShapeType="1"/>
          </p:cNvSpPr>
          <p:nvPr/>
        </p:nvSpPr>
        <p:spPr bwMode="auto">
          <a:xfrm>
            <a:off x="5345113" y="3886200"/>
            <a:ext cx="0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4" name="Rectangle 14"/>
          <p:cNvSpPr/>
          <p:nvPr/>
        </p:nvSpPr>
        <p:spPr bwMode="auto">
          <a:xfrm>
            <a:off x="5705475" y="2795588"/>
            <a:ext cx="6223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r>
              <a:rPr lang="en-US" sz="1800">
                <a:solidFill>
                  <a:srgbClr val="A5A5A5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amI</a:t>
            </a:r>
            <a:endParaRPr lang="en-US" sz="1800">
              <a:solidFill>
                <a:srgbClr val="A5A5A5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1455" name="Line 15"/>
          <p:cNvSpPr>
            <a:spLocks noChangeShapeType="1"/>
          </p:cNvSpPr>
          <p:nvPr/>
        </p:nvSpPr>
        <p:spPr bwMode="auto">
          <a:xfrm>
            <a:off x="5486400" y="2438400"/>
            <a:ext cx="536575" cy="431800"/>
          </a:xfrm>
          <a:prstGeom prst="line">
            <a:avLst/>
          </a:prstGeom>
          <a:noFill/>
          <a:ln w="25400" cap="flat">
            <a:solidFill>
              <a:srgbClr val="A5A5A5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56" name="Rectangle 16"/>
          <p:cNvSpPr/>
          <p:nvPr/>
        </p:nvSpPr>
        <p:spPr bwMode="auto">
          <a:xfrm>
            <a:off x="8456613" y="1641475"/>
            <a:ext cx="1308100" cy="609600"/>
          </a:xfrm>
          <a:prstGeom prst="rect">
            <a:avLst/>
          </a:prstGeom>
          <a:solidFill>
            <a:srgbClr val="F6F5BD"/>
          </a:solidFill>
          <a:ln w="1905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/>
            <a:endParaRPr lang="en-US" sz="1800">
              <a:solidFill>
                <a:schemeClr val="tx1"/>
              </a:solidFill>
              <a:latin typeface="Courier New Bold" panose="02070609020205020404" charset="0"/>
              <a:ea typeface="Monaco" charset="0"/>
              <a:cs typeface="Monaco" charset="0"/>
              <a:sym typeface="Courier New Bold" panose="02070609020205020404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endParaRPr lang="en-US" sz="180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grpSp>
        <p:nvGrpSpPr>
          <p:cNvPr id="61457" name="Group 17"/>
          <p:cNvGrpSpPr/>
          <p:nvPr/>
        </p:nvGrpSpPr>
        <p:grpSpPr bwMode="auto">
          <a:xfrm>
            <a:off x="6921500" y="1592263"/>
            <a:ext cx="1493838" cy="928687"/>
            <a:chOff x="0" y="0"/>
            <a:chExt cx="941" cy="585"/>
          </a:xfrm>
        </p:grpSpPr>
        <p:sp>
          <p:nvSpPr>
            <p:cNvPr id="61458" name="Line 18"/>
            <p:cNvSpPr>
              <a:spLocks noChangeShapeType="1"/>
            </p:cNvSpPr>
            <p:nvPr/>
          </p:nvSpPr>
          <p:spPr bwMode="auto">
            <a:xfrm>
              <a:off x="489" y="110"/>
              <a:ext cx="452" cy="0"/>
            </a:xfrm>
            <a:prstGeom prst="line">
              <a:avLst/>
            </a:prstGeom>
            <a:noFill/>
            <a:ln w="25400" cap="flat">
              <a:solidFill>
                <a:srgbClr val="7F7F7F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1459" name="Rectangle 19"/>
            <p:cNvSpPr/>
            <p:nvPr/>
          </p:nvSpPr>
          <p:spPr bwMode="auto">
            <a:xfrm>
              <a:off x="1" y="0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rbp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  <p:sp>
          <p:nvSpPr>
            <p:cNvPr id="61460" name="Line 20"/>
            <p:cNvSpPr>
              <a:spLocks noChangeShapeType="1"/>
            </p:cNvSpPr>
            <p:nvPr/>
          </p:nvSpPr>
          <p:spPr bwMode="auto">
            <a:xfrm>
              <a:off x="488" y="499"/>
              <a:ext cx="452" cy="0"/>
            </a:xfrm>
            <a:prstGeom prst="line">
              <a:avLst/>
            </a:prstGeom>
            <a:noFill/>
            <a:ln w="25400" cap="flat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lIns="0" tIns="0" rIns="0" bIns="0"/>
            <a:lstStyle/>
            <a:p>
              <a:endParaRPr lang="en-US"/>
            </a:p>
          </p:txBody>
        </p:sp>
        <p:sp>
          <p:nvSpPr>
            <p:cNvPr id="61461" name="Rectangle 21"/>
            <p:cNvSpPr/>
            <p:nvPr/>
          </p:nvSpPr>
          <p:spPr bwMode="auto">
            <a:xfrm>
              <a:off x="0" y="377"/>
              <a:ext cx="496" cy="208"/>
            </a:xfrm>
            <a:prstGeom prst="rect">
              <a:avLst/>
            </a:prstGeom>
            <a:noFill/>
            <a:ln w="25400" cap="flat">
              <a:noFill/>
              <a:miter lim="800000"/>
              <a:headEnd type="none" w="med" len="med"/>
              <a:tailEnd type="none" w="med" len="med"/>
            </a:ln>
          </p:spPr>
          <p:txBody>
            <a:bodyPr lIns="38100" tIns="38100" rIns="38100" bIns="38100"/>
            <a:lstStyle/>
            <a:p>
              <a:pPr algn="r"/>
              <a:r>
                <a:rPr lang="en-US" sz="1800" dirty="0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%</a:t>
              </a:r>
              <a:r>
                <a:rPr lang="en-US" sz="1800" dirty="0" err="1">
                  <a:solidFill>
                    <a:schemeClr val="tx1"/>
                  </a:solidFill>
                  <a:latin typeface="Courier New Bold" panose="02070609020205020404" charset="0"/>
                  <a:cs typeface="Courier New Bold" panose="02070609020205020404" charset="0"/>
                  <a:sym typeface="Courier New Bold" panose="02070609020205020404" charset="0"/>
                </a:rPr>
                <a:t>rsp</a:t>
              </a:r>
              <a:endPara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endParaRPr>
            </a:p>
          </p:txBody>
        </p:sp>
      </p:grpSp>
      <p:sp>
        <p:nvSpPr>
          <p:cNvPr id="61462" name="Rectangle 22"/>
          <p:cNvSpPr/>
          <p:nvPr/>
        </p:nvSpPr>
        <p:spPr bwMode="auto">
          <a:xfrm>
            <a:off x="8456613" y="1022350"/>
            <a:ext cx="1308100" cy="444500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1463" name="Rectangle 23"/>
          <p:cNvSpPr/>
          <p:nvPr/>
        </p:nvSpPr>
        <p:spPr bwMode="auto">
          <a:xfrm>
            <a:off x="8908257" y="381000"/>
            <a:ext cx="381000" cy="445135"/>
          </a:xfrm>
          <a:prstGeom prst="rect">
            <a:avLst/>
          </a:prstGeom>
          <a:noFill/>
          <a:ln w="12700" cap="rnd">
            <a:noFill/>
            <a:round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zh-CN" altLang="en-US" sz="24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</a:t>
            </a:r>
            <a:endParaRPr lang="zh-CN" altLang="en-US" sz="24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graphicFrame>
        <p:nvGraphicFramePr>
          <p:cNvPr id="61465" name="Group 25"/>
          <p:cNvGraphicFramePr>
            <a:graphicFrameLocks noGrp="1"/>
          </p:cNvGraphicFramePr>
          <p:nvPr/>
        </p:nvGraphicFramePr>
        <p:xfrm>
          <a:off x="8458200" y="838200"/>
          <a:ext cx="1397000" cy="5778500"/>
        </p:xfrm>
        <a:graphic>
          <a:graphicData uri="http://schemas.openxmlformats.org/drawingml/2006/table">
            <a:tbl>
              <a:tblPr/>
              <a:tblGrid>
                <a:gridCol w="1397000"/>
              </a:tblGrid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 Bold" panose="02070609020205020404" charset="0"/>
                          <a:cs typeface="Courier New Bold" panose="02070609020205020404" charset="0"/>
                          <a:sym typeface="Courier New Bold" panose="02070609020205020404" charset="0"/>
                        </a:rPr>
                        <a:t>yoo</a:t>
                      </a: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cs typeface="Courier New Bold" panose="020706090202050204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EB2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 Bold" panose="02070609020205020404" charset="0"/>
                        <a:ea typeface="ヒラギノ角ゴ ProN W6" panose="020B0300000000000000" charset="-128"/>
                        <a:cs typeface="ヒラギノ角ゴ ProN W6" panose="020B0300000000000000" charset="-128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" name="Rectangle 4"/>
          <p:cNvSpPr/>
          <p:nvPr/>
        </p:nvSpPr>
        <p:spPr bwMode="auto">
          <a:xfrm>
            <a:off x="2349500" y="1676400"/>
            <a:ext cx="1536700" cy="21336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yoo</a:t>
            </a:r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(…)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{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who();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•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  </a:t>
            </a:r>
            <a:endParaRPr lang="en-US" sz="1800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58" name="AutoShape 56"/>
          <p:cNvSpPr/>
          <p:nvPr/>
        </p:nvSpPr>
        <p:spPr bwMode="auto">
          <a:xfrm>
            <a:off x="1663700" y="2514600"/>
            <a:ext cx="685800" cy="431800"/>
          </a:xfrm>
          <a:prstGeom prst="rightArrow">
            <a:avLst>
              <a:gd name="adj1" fmla="val 41185"/>
              <a:gd name="adj2" fmla="val 76471"/>
            </a:avLst>
          </a:prstGeom>
          <a:solidFill>
            <a:srgbClr val="C00000"/>
          </a:solidFill>
          <a:ln w="25400" cap="flat">
            <a:noFill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1752600" y="4970780"/>
            <a:ext cx="831151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00B050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如何高效管理函数的局部</a:t>
            </a:r>
            <a:r>
              <a:rPr lang="zh-CN" altLang="en-US" sz="2400">
                <a:solidFill>
                  <a:srgbClr val="00B050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数据？</a:t>
            </a:r>
            <a:endParaRPr lang="zh-CN" altLang="en-US" sz="2400">
              <a:solidFill>
                <a:srgbClr val="00B050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  <a:p>
            <a:r>
              <a:rPr lang="zh-CN" altLang="en-US" sz="2400">
                <a:solidFill>
                  <a:srgbClr val="00B050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调用链是否满足栈式？</a:t>
            </a:r>
            <a:endParaRPr lang="zh-CN" altLang="en-US" sz="2400">
              <a:solidFill>
                <a:srgbClr val="00B050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  <a:sym typeface="+mn-ea"/>
            </a:endParaRPr>
          </a:p>
          <a:p>
            <a:r>
              <a:rPr lang="en-US" altLang="zh-CN" sz="2400">
                <a:solidFill>
                  <a:srgbClr val="00B050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Visual Studio</a:t>
            </a:r>
            <a:r>
              <a:rPr lang="zh-CN" altLang="en-US" sz="2400">
                <a:solidFill>
                  <a:srgbClr val="00B050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中的</a:t>
            </a:r>
            <a:r>
              <a:rPr lang="zh-CN" altLang="en-US" sz="2400">
                <a:solidFill>
                  <a:srgbClr val="00B050"/>
                </a:solidFill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</a:rPr>
              <a:t>调用栈？</a:t>
            </a:r>
            <a:endParaRPr lang="zh-CN" altLang="en-US" sz="2400">
              <a:solidFill>
                <a:srgbClr val="00B050"/>
              </a:solidFill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</a:endParaRPr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82" name="Rectangle 6"/>
          <p:cNvSpPr>
            <a:spLocks noGrp="1" noChangeArrowheads="1"/>
          </p:cNvSpPr>
          <p:nvPr>
            <p:ph idx="1"/>
          </p:nvPr>
        </p:nvSpPr>
        <p:spPr>
          <a:xfrm>
            <a:off x="1295400" y="1219200"/>
            <a:ext cx="8382000" cy="5435600"/>
          </a:xfrm>
        </p:spPr>
        <p:txBody>
          <a:bodyPr/>
          <a:lstStyle/>
          <a:p>
            <a:r>
              <a:rPr lang="zh-CN" altLang="en-US" dirty="0"/>
              <a:t>栈帧</a:t>
            </a:r>
            <a:r>
              <a:rPr lang="zh-CN" altLang="en-US" dirty="0"/>
              <a:t>中存放</a:t>
            </a:r>
            <a:r>
              <a:rPr lang="zh-CN" altLang="en-US" dirty="0"/>
              <a:t>的内容</a:t>
            </a:r>
            <a:endParaRPr lang="en-US" dirty="0"/>
          </a:p>
          <a:p>
            <a:pPr marL="552450" lvl="1"/>
            <a:r>
              <a:rPr lang="zh-CN" altLang="en-US" dirty="0"/>
              <a:t>返回地址</a:t>
            </a:r>
            <a:endParaRPr lang="zh-CN" altLang="en-US" dirty="0"/>
          </a:p>
          <a:p>
            <a:pPr marL="552450" lvl="1"/>
            <a:r>
              <a:rPr lang="zh-CN" altLang="en-US" dirty="0"/>
              <a:t>局部数据</a:t>
            </a:r>
            <a:r>
              <a:rPr lang="en-US" dirty="0"/>
              <a:t> (if needed)</a:t>
            </a:r>
            <a:endParaRPr lang="en-US" dirty="0"/>
          </a:p>
          <a:p>
            <a:pPr marL="552450" lvl="1"/>
            <a:r>
              <a:rPr lang="zh-CN" altLang="en-US" dirty="0"/>
              <a:t>临时数据</a:t>
            </a:r>
            <a:r>
              <a:rPr lang="en-US" dirty="0">
                <a:sym typeface="+mn-ea"/>
              </a:rPr>
              <a:t> (if needed)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zh-CN" altLang="en-US" dirty="0"/>
              <a:t>栈空间</a:t>
            </a:r>
            <a:r>
              <a:rPr lang="zh-CN" altLang="en-US" dirty="0"/>
              <a:t>的管理</a:t>
            </a:r>
            <a:endParaRPr lang="en-US" dirty="0"/>
          </a:p>
          <a:p>
            <a:pPr marL="552450" lvl="1"/>
            <a:r>
              <a:rPr lang="zh-CN" altLang="en-US" dirty="0"/>
              <a:t>进入函数时</a:t>
            </a:r>
            <a:r>
              <a:rPr lang="zh-CN" altLang="en-US" b="1" dirty="0">
                <a:latin typeface="Kaiti SC Bold" panose="02010600040101010101" charset="-122"/>
                <a:ea typeface="Kaiti SC Bold" panose="02010600040101010101" charset="-122"/>
              </a:rPr>
              <a:t>分配</a:t>
            </a:r>
            <a:r>
              <a:rPr lang="zh-CN" altLang="en-US" dirty="0"/>
              <a:t>空间</a:t>
            </a:r>
            <a:endParaRPr lang="en-US" dirty="0"/>
          </a:p>
          <a:p>
            <a:pPr marL="838200" lvl="2"/>
            <a:r>
              <a:rPr lang="en-US" dirty="0"/>
              <a:t>“Set-up” code</a:t>
            </a:r>
            <a:endParaRPr lang="en-US" dirty="0"/>
          </a:p>
          <a:p>
            <a:pPr marL="838200" lvl="2"/>
            <a:r>
              <a:rPr lang="en-US" dirty="0"/>
              <a:t>Includes push(by </a:t>
            </a:r>
            <a:r>
              <a:rPr lang="en-US" b="1" dirty="0">
                <a:latin typeface="Courier New" panose="02070609020205020404"/>
                <a:cs typeface="Courier New" panose="02070609020205020404"/>
              </a:rPr>
              <a:t>call</a:t>
            </a:r>
            <a:r>
              <a:rPr lang="en-US" dirty="0"/>
              <a:t> </a:t>
            </a:r>
            <a:r>
              <a:rPr lang="zh-CN" altLang="en-US" dirty="0"/>
              <a:t>指令</a:t>
            </a:r>
            <a:r>
              <a:rPr lang="en-US" dirty="0"/>
              <a:t>)</a:t>
            </a:r>
            <a:endParaRPr lang="en-US" dirty="0"/>
          </a:p>
          <a:p>
            <a:pPr marL="552450" lvl="1"/>
            <a:r>
              <a:rPr lang="zh-CN" altLang="en-US" dirty="0"/>
              <a:t>函数返回时</a:t>
            </a:r>
            <a:r>
              <a:rPr lang="zh-CN" altLang="en-US" b="1" dirty="0">
                <a:latin typeface="Kaiti SC Bold" panose="02010600040101010101" charset="-122"/>
                <a:ea typeface="Kaiti SC Bold" panose="02010600040101010101" charset="-122"/>
              </a:rPr>
              <a:t>释放</a:t>
            </a:r>
            <a:r>
              <a:rPr lang="zh-CN" altLang="en-US" dirty="0"/>
              <a:t>空间</a:t>
            </a:r>
            <a:endParaRPr lang="en-US" dirty="0"/>
          </a:p>
          <a:p>
            <a:pPr marL="838200" lvl="2"/>
            <a:r>
              <a:rPr lang="en-US" dirty="0"/>
              <a:t>“Finish” code</a:t>
            </a:r>
            <a:endParaRPr lang="en-US" dirty="0"/>
          </a:p>
          <a:p>
            <a:pPr marL="838200" lvl="2"/>
            <a:r>
              <a:rPr lang="en-US" dirty="0"/>
              <a:t>Includes pop(by </a:t>
            </a:r>
            <a:r>
              <a:rPr lang="en-US" b="1" dirty="0">
                <a:latin typeface="Courier New" panose="02070609020205020404"/>
                <a:cs typeface="Courier New" panose="02070609020205020404"/>
              </a:rPr>
              <a:t>ret</a:t>
            </a:r>
            <a:r>
              <a:rPr lang="en-US" dirty="0"/>
              <a:t> </a:t>
            </a:r>
            <a:r>
              <a:rPr lang="zh-CN" altLang="en-US" dirty="0"/>
              <a:t>指令</a:t>
            </a:r>
            <a:r>
              <a:rPr lang="en-US" dirty="0"/>
              <a:t>)</a:t>
            </a:r>
            <a:endParaRPr lang="en-US" dirty="0"/>
          </a:p>
        </p:txBody>
      </p:sp>
      <p:sp>
        <p:nvSpPr>
          <p:cNvPr id="50178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50179" name="Line 3"/>
          <p:cNvSpPr>
            <a:spLocks noChangeShapeType="1"/>
          </p:cNvSpPr>
          <p:nvPr/>
        </p:nvSpPr>
        <p:spPr bwMode="auto">
          <a:xfrm>
            <a:off x="8059737" y="2271713"/>
            <a:ext cx="717550" cy="0"/>
          </a:xfrm>
          <a:prstGeom prst="line">
            <a:avLst/>
          </a:prstGeom>
          <a:noFill/>
          <a:ln w="25400" cap="flat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0180" name="Rectangle 4"/>
          <p:cNvSpPr/>
          <p:nvPr/>
        </p:nvSpPr>
        <p:spPr bwMode="auto">
          <a:xfrm>
            <a:off x="5543550" y="2084388"/>
            <a:ext cx="2439987" cy="366712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zh-CN" alt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帧指针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: </a:t>
            </a:r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rbp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title"/>
          </p:nvPr>
        </p:nvSpPr>
        <p:spPr>
          <a:xfrm>
            <a:off x="1905000" y="342265"/>
            <a:ext cx="8382000" cy="913765"/>
          </a:xfrm>
        </p:spPr>
        <p:txBody>
          <a:bodyPr/>
          <a:lstStyle/>
          <a:p>
            <a:pPr marL="119380" indent="-119380"/>
            <a:r>
              <a:rPr lang="en-US" dirty="0"/>
              <a:t>Stack Frames</a:t>
            </a:r>
            <a:r>
              <a:rPr lang="zh-CN" altLang="en-US" dirty="0"/>
              <a:t>栈</a:t>
            </a:r>
            <a:r>
              <a:rPr lang="zh-CN" altLang="en-US" dirty="0"/>
              <a:t>帧</a:t>
            </a:r>
            <a:endParaRPr lang="zh-CN" altLang="en-US" dirty="0"/>
          </a:p>
        </p:txBody>
      </p:sp>
      <p:sp>
        <p:nvSpPr>
          <p:cNvPr id="50183" name="Line 7"/>
          <p:cNvSpPr>
            <a:spLocks noChangeShapeType="1"/>
          </p:cNvSpPr>
          <p:nvPr/>
        </p:nvSpPr>
        <p:spPr bwMode="auto">
          <a:xfrm>
            <a:off x="8069262" y="3641725"/>
            <a:ext cx="71755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0184" name="Rectangle 8"/>
          <p:cNvSpPr/>
          <p:nvPr/>
        </p:nvSpPr>
        <p:spPr bwMode="auto">
          <a:xfrm>
            <a:off x="5592762" y="3452813"/>
            <a:ext cx="2438400" cy="366712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zh-CN" alt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栈指针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: </a:t>
            </a:r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50186" name="AutoShape 10"/>
          <p:cNvSpPr/>
          <p:nvPr/>
        </p:nvSpPr>
        <p:spPr bwMode="auto">
          <a:xfrm rot="10800000" flipH="1">
            <a:off x="9196387" y="3902075"/>
            <a:ext cx="609600" cy="381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  <a:moveTo>
                  <a:pt x="0" y="10800"/>
                </a:moveTo>
              </a:path>
            </a:pathLst>
          </a:custGeom>
          <a:solidFill>
            <a:srgbClr val="980002"/>
          </a:solidFill>
          <a:ln w="25400" cap="flat">
            <a:noFill/>
            <a:round/>
            <a:headEnd type="none" w="med" len="med"/>
            <a:tailEnd type="triangl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0" tIns="0" rIns="0" bIns="0"/>
          <a:lstStyle/>
          <a:p>
            <a:endParaRPr lang="en-US"/>
          </a:p>
        </p:txBody>
      </p:sp>
      <p:graphicFrame>
        <p:nvGraphicFramePr>
          <p:cNvPr id="50187" name="Group 11"/>
          <p:cNvGraphicFramePr>
            <a:graphicFrameLocks noGrp="1"/>
          </p:cNvGraphicFramePr>
          <p:nvPr/>
        </p:nvGraphicFramePr>
        <p:xfrm>
          <a:off x="8834437" y="396875"/>
          <a:ext cx="1320800" cy="3403600"/>
        </p:xfrm>
        <a:graphic>
          <a:graphicData uri="http://schemas.openxmlformats.org/drawingml/2006/table">
            <a:tbl>
              <a:tblPr/>
              <a:tblGrid>
                <a:gridCol w="1320800"/>
              </a:tblGrid>
              <a:tr h="170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 Regular" panose="02020603050405020304" charset="0"/>
                          <a:ea typeface="Kaiti SC Regular" panose="02010600040101010101" charset="-122"/>
                          <a:cs typeface="Times New Roman Regular" panose="02020603050405020304" charset="0"/>
                          <a:sym typeface="Calibri Bold" charset="0"/>
                        </a:rPr>
                        <a:t>前一个帧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 Regular" panose="02020603050405020304" charset="0"/>
                        <a:ea typeface="Kaiti SC Regular" panose="02010600040101010101" charset="-122"/>
                        <a:cs typeface="Times New Roman Regular" panose="02020603050405020304" charset="0"/>
                        <a:sym typeface="Calibri Bold" charset="0"/>
                      </a:endParaRPr>
                    </a:p>
                  </a:txBody>
                  <a:tcPr marL="50800" marR="50800" marT="50800" marB="5080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7018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rgbClr val="990000"/>
                        </a:buClr>
                        <a:buSzPct val="60000"/>
                        <a:buFont typeface="Wingdings 2" panose="05020102010507070707" charset="2"/>
                        <a:buNone/>
                        <a:tabLst>
                          <a:tab pos="914400" algn="l"/>
                        </a:tabLst>
                      </a:pPr>
                      <a:b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 Regular" panose="02020603050405020304" charset="0"/>
                          <a:ea typeface="Kaiti SC Regular" panose="02010600040101010101" charset="-122"/>
                          <a:cs typeface="Times New Roman Regular" panose="02020603050405020304" charset="0"/>
                          <a:sym typeface="Calibri Bold" charset="0"/>
                        </a:rPr>
                      </a:b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 Regular" panose="02020603050405020304" charset="0"/>
                          <a:ea typeface="Kaiti SC Regular" panose="02010600040101010101" charset="-122"/>
                          <a:cs typeface="Times New Roman Regular" panose="02020603050405020304" charset="0"/>
                          <a:sym typeface="Courier New Bold" panose="02070609020205020404" charset="0"/>
                        </a:rPr>
                        <a:t>proc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 Regular" panose="02020603050405020304" charset="0"/>
                          <a:ea typeface="Kaiti SC Regular" panose="02010600040101010101" charset="-122"/>
                          <a:cs typeface="Times New Roman Regular" panose="02020603050405020304" charset="0"/>
                          <a:sym typeface="Courier New Bold" panose="02070609020205020404" charset="0"/>
                        </a:rPr>
                        <a:t>函数的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 Regular" panose="02020603050405020304" charset="0"/>
                          <a:ea typeface="Kaiti SC Regular" panose="02010600040101010101" charset="-122"/>
                          <a:cs typeface="Times New Roman Regular" panose="02020603050405020304" charset="0"/>
                          <a:sym typeface="Courier New Bold" panose="02070609020205020404" charset="0"/>
                        </a:rPr>
                        <a:t>帧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 Regular" panose="02020603050405020304" charset="0"/>
                        <a:ea typeface="Kaiti SC Regular" panose="02010600040101010101" charset="-122"/>
                        <a:cs typeface="Times New Roman Regular" panose="02020603050405020304" charset="0"/>
                        <a:sym typeface="Courier New Bold" panose="02070609020205020404" charset="0"/>
                      </a:endParaRPr>
                    </a:p>
                  </a:txBody>
                  <a:tcPr marL="50800" marR="50800" marT="50800" marB="50800" anchor="ctr" horzOverflow="overflow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BCCF3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4"/>
          <p:cNvSpPr/>
          <p:nvPr/>
        </p:nvSpPr>
        <p:spPr bwMode="auto">
          <a:xfrm>
            <a:off x="6528435" y="2365375"/>
            <a:ext cx="1456055" cy="36639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ct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</a:t>
            </a:r>
            <a:r>
              <a:rPr lang="zh-CN" alt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可选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)</a:t>
            </a:r>
            <a:endParaRPr lang="en-US" sz="1800" dirty="0">
              <a:solidFill>
                <a:schemeClr val="bg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9990" y="4487545"/>
            <a:ext cx="3920490" cy="2223770"/>
          </a:xfrm>
          <a:prstGeom prst="rect">
            <a:avLst/>
          </a:prstGeom>
        </p:spPr>
      </p:pic>
      <p:sp>
        <p:nvSpPr>
          <p:cNvPr id="5" name="TextBox 1"/>
          <p:cNvSpPr txBox="1"/>
          <p:nvPr/>
        </p:nvSpPr>
        <p:spPr>
          <a:xfrm>
            <a:off x="6247130" y="3820160"/>
            <a:ext cx="24079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2000" dirty="0" err="1">
                <a:solidFill>
                  <a:srgbClr val="00B050"/>
                </a:solidFill>
              </a:rPr>
              <a:t>gdb</a:t>
            </a:r>
            <a:r>
              <a:rPr lang="en-US" altLang="zh-CN" sz="2000" dirty="0">
                <a:solidFill>
                  <a:srgbClr val="00B050"/>
                </a:solidFill>
              </a:rPr>
              <a:t> &gt; </a:t>
            </a:r>
            <a:r>
              <a:rPr lang="en-US" altLang="zh-CN" sz="2000" dirty="0" err="1">
                <a:solidFill>
                  <a:srgbClr val="00B050"/>
                </a:solidFill>
              </a:rPr>
              <a:t>bt </a:t>
            </a:r>
            <a:endParaRPr lang="en-US" altLang="zh-CN" sz="2000" dirty="0" err="1">
              <a:solidFill>
                <a:srgbClr val="00B050"/>
              </a:solidFill>
            </a:endParaRPr>
          </a:p>
          <a:p>
            <a:pPr algn="l"/>
            <a:r>
              <a:rPr lang="en-US" altLang="zh-CN" sz="2000" dirty="0" err="1">
                <a:solidFill>
                  <a:srgbClr val="00B050"/>
                </a:solidFill>
              </a:rPr>
              <a:t>gdb&gt; </a:t>
            </a:r>
            <a:r>
              <a:rPr lang="en-US" altLang="zh-CN" sz="2000" dirty="0">
                <a:solidFill>
                  <a:srgbClr val="00B050"/>
                </a:solidFill>
              </a:rPr>
              <a:t>info frame</a:t>
            </a:r>
            <a:endParaRPr lang="zh-CN" altLang="en-US" sz="2000" dirty="0">
              <a:solidFill>
                <a:srgbClr val="00B050"/>
              </a:solidFill>
            </a:endParaRPr>
          </a:p>
        </p:txBody>
      </p:sp>
      <p:sp>
        <p:nvSpPr>
          <p:cNvPr id="50185" name="Rectangle 9"/>
          <p:cNvSpPr/>
          <p:nvPr/>
        </p:nvSpPr>
        <p:spPr bwMode="auto">
          <a:xfrm>
            <a:off x="8979377" y="4279900"/>
            <a:ext cx="1057910" cy="38354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zh-CN" altLang="en-US" sz="200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</a:t>
            </a:r>
            <a:r>
              <a:rPr lang="en-US" sz="2000">
                <a:solidFill>
                  <a:srgbClr val="262699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“Top”</a:t>
            </a:r>
            <a:endParaRPr lang="en-US" sz="2000">
              <a:solidFill>
                <a:srgbClr val="262699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dirty="0"/>
              <a:t>x86-64/Linux </a:t>
            </a:r>
            <a:r>
              <a:rPr lang="zh-CN" altLang="en-US" dirty="0"/>
              <a:t>栈</a:t>
            </a:r>
            <a:r>
              <a:rPr lang="zh-CN" altLang="en-US" dirty="0"/>
              <a:t>帧</a:t>
            </a:r>
            <a:endParaRPr lang="zh-CN" altLang="en-US" dirty="0"/>
          </a:p>
        </p:txBody>
      </p:sp>
      <p:sp>
        <p:nvSpPr>
          <p:cNvPr id="62468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当前栈帧</a:t>
            </a:r>
            <a:r>
              <a:rPr lang="en-US" dirty="0"/>
              <a:t> (</a:t>
            </a:r>
            <a:r>
              <a:rPr lang="zh-CN" altLang="en-US" dirty="0"/>
              <a:t>从栈顶到栈</a:t>
            </a:r>
            <a:r>
              <a:rPr lang="zh-CN" altLang="en-US" dirty="0"/>
              <a:t>底的顺序</a:t>
            </a:r>
            <a:r>
              <a:rPr lang="en-US" dirty="0"/>
              <a:t>)</a:t>
            </a:r>
            <a:endParaRPr lang="en-US" dirty="0"/>
          </a:p>
          <a:p>
            <a:pPr marL="552450" lvl="1"/>
            <a:r>
              <a:rPr lang="zh-CN" altLang="en-US" dirty="0"/>
              <a:t>为</a:t>
            </a:r>
            <a:r>
              <a:rPr lang="en-US" altLang="zh-CN" dirty="0"/>
              <a:t>callee</a:t>
            </a:r>
            <a:r>
              <a:rPr lang="zh-CN" altLang="en-US" dirty="0"/>
              <a:t>准备实际参数（</a:t>
            </a:r>
            <a:r>
              <a:rPr lang="zh-CN" altLang="en-US" dirty="0"/>
              <a:t>如果超过</a:t>
            </a:r>
            <a:r>
              <a:rPr lang="en-US" altLang="zh-CN" dirty="0"/>
              <a:t>6</a:t>
            </a:r>
            <a:r>
              <a:rPr lang="zh-CN" altLang="en-US" dirty="0"/>
              <a:t>个</a:t>
            </a:r>
            <a:r>
              <a:rPr lang="zh-CN" altLang="en-US" dirty="0"/>
              <a:t>参数）</a:t>
            </a:r>
            <a:endParaRPr lang="zh-CN" altLang="en-US" dirty="0"/>
          </a:p>
          <a:p>
            <a:pPr marL="552450" lvl="1"/>
            <a:r>
              <a:rPr lang="zh-CN" altLang="en-US" dirty="0"/>
              <a:t>局部变量</a:t>
            </a:r>
            <a:r>
              <a:rPr lang="en-US" dirty="0"/>
              <a:t> </a:t>
            </a:r>
            <a:r>
              <a:rPr lang="zh-CN" altLang="en-US" dirty="0"/>
              <a:t>（如果寄存器不够</a:t>
            </a:r>
            <a:r>
              <a:rPr lang="zh-CN" altLang="en-US" dirty="0"/>
              <a:t>用）</a:t>
            </a:r>
            <a:endParaRPr lang="zh-CN" altLang="en-US" dirty="0"/>
          </a:p>
          <a:p>
            <a:pPr marL="552450" lvl="1"/>
            <a:r>
              <a:rPr lang="zh-CN" altLang="en-US" dirty="0"/>
              <a:t>用于保存寄存器的临时空间</a:t>
            </a:r>
            <a:r>
              <a:rPr lang="en-US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  <a:p>
            <a:pPr marL="1009650" lvl="2"/>
            <a:r>
              <a:rPr lang="zh-CN" altLang="en-US" dirty="0">
                <a:solidFill>
                  <a:schemeClr val="tx1"/>
                </a:solidFill>
              </a:rPr>
              <a:t>为什么需要保护？（后面讨论）</a:t>
            </a:r>
            <a:endParaRPr lang="en-US" dirty="0">
              <a:solidFill>
                <a:schemeClr val="tx1"/>
              </a:solidFill>
            </a:endParaRPr>
          </a:p>
          <a:p>
            <a:pPr marL="552450" lvl="1"/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旧的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frame pointer </a:t>
            </a:r>
            <a:r>
              <a:rPr lang="zh-CN" altLang="en-US" dirty="0">
                <a:solidFill>
                  <a:schemeClr val="bg1">
                    <a:lumMod val="50000"/>
                  </a:schemeClr>
                </a:solidFill>
              </a:rPr>
              <a:t>帧指针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(optional)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pPr marL="552450" lvl="1"/>
            <a:endParaRPr lang="en-US" dirty="0"/>
          </a:p>
          <a:p>
            <a:r>
              <a:rPr lang="en-US" dirty="0"/>
              <a:t>Caller</a:t>
            </a:r>
            <a:r>
              <a:rPr lang="zh-CN" altLang="en-US" dirty="0"/>
              <a:t>函数的栈帧</a:t>
            </a:r>
            <a:endParaRPr lang="en-US" dirty="0"/>
          </a:p>
          <a:p>
            <a:pPr marL="552450" lvl="1"/>
            <a:r>
              <a:rPr lang="zh-CN" altLang="en-US" dirty="0"/>
              <a:t>返回地址——</a:t>
            </a:r>
            <a:r>
              <a:rPr lang="en-US" dirty="0"/>
              <a:t>Pushed by </a:t>
            </a:r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call</a:t>
            </a:r>
            <a:r>
              <a:rPr lang="en-US" dirty="0"/>
              <a:t> </a:t>
            </a:r>
            <a:r>
              <a:rPr lang="zh-CN" altLang="en-US" dirty="0"/>
              <a:t>指令</a:t>
            </a:r>
            <a:endParaRPr lang="en-US" dirty="0"/>
          </a:p>
          <a:p>
            <a:pPr marL="552450" lvl="1"/>
            <a:r>
              <a:rPr lang="zh-CN" altLang="en-US" dirty="0">
                <a:sym typeface="+mn-ea"/>
              </a:rPr>
              <a:t>为</a:t>
            </a:r>
            <a:r>
              <a:rPr lang="en-US" altLang="zh-CN" dirty="0">
                <a:sym typeface="+mn-ea"/>
              </a:rPr>
              <a:t>callee</a:t>
            </a:r>
            <a:r>
              <a:rPr lang="zh-CN" altLang="en-US" dirty="0">
                <a:sym typeface="+mn-ea"/>
              </a:rPr>
              <a:t>函数准备实际参数（如果超过</a:t>
            </a:r>
            <a:r>
              <a:rPr lang="en-US" altLang="zh-CN" dirty="0">
                <a:sym typeface="+mn-ea"/>
              </a:rPr>
              <a:t>6</a:t>
            </a:r>
            <a:r>
              <a:rPr lang="zh-CN" altLang="en-US" dirty="0">
                <a:sym typeface="+mn-ea"/>
              </a:rPr>
              <a:t>个参数）</a:t>
            </a:r>
            <a:endParaRPr lang="en-US" dirty="0"/>
          </a:p>
        </p:txBody>
      </p:sp>
      <p:sp>
        <p:nvSpPr>
          <p:cNvPr id="62469" name="Rectangle 5"/>
          <p:cNvSpPr/>
          <p:nvPr/>
        </p:nvSpPr>
        <p:spPr bwMode="auto">
          <a:xfrm>
            <a:off x="8838565" y="3276600"/>
            <a:ext cx="1426210" cy="3048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zh-CN" altLang="en-US" sz="1800">
                <a:solidFill>
                  <a:schemeClr val="tx1"/>
                </a:solidFill>
                <a:latin typeface="Times New Roman Regular" panose="02020603050405020304" charset="0"/>
                <a:ea typeface="Kaiti SC Regular" panose="02010600040101010101" charset="-122"/>
                <a:cs typeface="Calibri Bold" charset="0"/>
                <a:sym typeface="Calibri Bold" charset="0"/>
              </a:rPr>
              <a:t>返回地址</a:t>
            </a:r>
            <a:endParaRPr lang="zh-CN" altLang="en-US" sz="1800">
              <a:solidFill>
                <a:schemeClr val="tx1"/>
              </a:solidFill>
              <a:latin typeface="Times New Roman Regular" panose="02020603050405020304" charset="0"/>
              <a:ea typeface="Kaiti SC Regular" panose="02010600040101010101" charset="-122"/>
              <a:cs typeface="Calibri Bold" charset="0"/>
              <a:sym typeface="Calibri Bold" charset="0"/>
            </a:endParaRPr>
          </a:p>
        </p:txBody>
      </p:sp>
      <p:sp>
        <p:nvSpPr>
          <p:cNvPr id="62470" name="Rectangle 6"/>
          <p:cNvSpPr/>
          <p:nvPr/>
        </p:nvSpPr>
        <p:spPr bwMode="auto">
          <a:xfrm>
            <a:off x="8838565" y="3886200"/>
            <a:ext cx="1426210" cy="18161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zh-CN" altLang="en-US" sz="1800">
                <a:solidFill>
                  <a:schemeClr val="tx1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alibri Bold" charset="0"/>
              </a:rPr>
              <a:t>寄存器保护</a:t>
            </a:r>
            <a:r>
              <a:rPr lang="en-US" sz="1800">
                <a:solidFill>
                  <a:schemeClr val="tx1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alibri Bold" charset="0"/>
              </a:rPr>
              <a:t>+</a:t>
            </a:r>
            <a:endParaRPr lang="en-US" sz="1800">
              <a:solidFill>
                <a:schemeClr val="tx1"/>
              </a:solidFill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  <a:sym typeface="Calibri Bold" charset="0"/>
            </a:endParaRPr>
          </a:p>
          <a:p>
            <a:r>
              <a:rPr lang="zh-CN" altLang="en-US" sz="1800">
                <a:solidFill>
                  <a:schemeClr val="tx1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alibri Bold" charset="0"/>
              </a:rPr>
              <a:t>局部变量</a:t>
            </a:r>
            <a:endParaRPr lang="zh-CN" altLang="en-US" sz="1800">
              <a:solidFill>
                <a:schemeClr val="tx1"/>
              </a:solidFill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  <a:sym typeface="Calibri Bold" charset="0"/>
            </a:endParaRPr>
          </a:p>
        </p:txBody>
      </p:sp>
      <p:sp>
        <p:nvSpPr>
          <p:cNvPr id="62471" name="Rectangle 7"/>
          <p:cNvSpPr/>
          <p:nvPr/>
        </p:nvSpPr>
        <p:spPr bwMode="auto">
          <a:xfrm>
            <a:off x="8838565" y="5699125"/>
            <a:ext cx="1426210" cy="854075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zh-CN" altLang="en-US" sz="1800" dirty="0">
                <a:solidFill>
                  <a:srgbClr val="00B050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alibri Bold" charset="0"/>
              </a:rPr>
              <a:t>参数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  <a:sym typeface="Calibri Bold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alibri Bold" charset="0"/>
              </a:rPr>
              <a:t>7+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  <a:sym typeface="Calibri Bold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alibri Bold" charset="0"/>
              </a:rPr>
              <a:t>(Optional)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  <a:sym typeface="Calibri Bold" charset="0"/>
            </a:endParaRPr>
          </a:p>
        </p:txBody>
      </p:sp>
      <p:sp>
        <p:nvSpPr>
          <p:cNvPr id="62472" name="Rectangle 8"/>
          <p:cNvSpPr/>
          <p:nvPr/>
        </p:nvSpPr>
        <p:spPr bwMode="auto">
          <a:xfrm>
            <a:off x="8890000" y="1295400"/>
            <a:ext cx="1270000" cy="13716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</a:endParaRPr>
          </a:p>
        </p:txBody>
      </p:sp>
      <p:sp>
        <p:nvSpPr>
          <p:cNvPr id="62473" name="Rectangle 9"/>
          <p:cNvSpPr/>
          <p:nvPr/>
        </p:nvSpPr>
        <p:spPr bwMode="auto">
          <a:xfrm>
            <a:off x="8890000" y="3581400"/>
            <a:ext cx="127000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 dirty="0">
                <a:solidFill>
                  <a:srgbClr val="7F7F7F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alibri Bold" charset="0"/>
              </a:rPr>
              <a:t>Old %</a:t>
            </a:r>
            <a:r>
              <a:rPr lang="en-US" sz="1800" dirty="0" err="1">
                <a:solidFill>
                  <a:srgbClr val="7F7F7F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alibri Bold" charset="0"/>
              </a:rPr>
              <a:t>rbp</a:t>
            </a:r>
            <a:endParaRPr lang="en-US" sz="1800" dirty="0">
              <a:solidFill>
                <a:srgbClr val="7F7F7F"/>
              </a:solidFill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  <a:sym typeface="Calibri Bold" charset="0"/>
            </a:endParaRPr>
          </a:p>
        </p:txBody>
      </p:sp>
      <p:sp>
        <p:nvSpPr>
          <p:cNvPr id="62474" name="Rectangle 10"/>
          <p:cNvSpPr/>
          <p:nvPr/>
        </p:nvSpPr>
        <p:spPr bwMode="auto">
          <a:xfrm>
            <a:off x="8890000" y="2667000"/>
            <a:ext cx="1270000" cy="6096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alibri Bold" charset="0"/>
              </a:rPr>
              <a:t>Arguments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  <a:sym typeface="Calibri Bold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alibri Bold" charset="0"/>
              </a:rPr>
              <a:t>7+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  <a:sym typeface="Calibri Bold" charset="0"/>
            </a:endParaRPr>
          </a:p>
        </p:txBody>
      </p:sp>
      <p:sp>
        <p:nvSpPr>
          <p:cNvPr id="62475" name="Rectangle 11"/>
          <p:cNvSpPr/>
          <p:nvPr/>
        </p:nvSpPr>
        <p:spPr bwMode="auto">
          <a:xfrm>
            <a:off x="7275830" y="2125980"/>
            <a:ext cx="116840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square" lIns="38100" tIns="38100" rIns="38100" bIns="38100">
            <a:spAutoFit/>
          </a:bodyPr>
          <a:lstStyle/>
          <a:p>
            <a:pPr algn="r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Caller</a:t>
            </a:r>
            <a:r>
              <a:rPr lang="zh-CN" alt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的</a:t>
            </a:r>
            <a:r>
              <a:rPr lang="zh-CN" alt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帧</a:t>
            </a:r>
            <a:endParaRPr lang="zh-CN" altLang="en-US" sz="18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62476" name="AutoShape 12"/>
          <p:cNvSpPr/>
          <p:nvPr/>
        </p:nvSpPr>
        <p:spPr bwMode="auto">
          <a:xfrm>
            <a:off x="8505825" y="1295400"/>
            <a:ext cx="228600" cy="22606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0875"/>
                  <a:pt x="10800" y="19980"/>
                </a:cubicBezTo>
                <a:lnTo>
                  <a:pt x="10800" y="12420"/>
                </a:lnTo>
                <a:cubicBezTo>
                  <a:pt x="10800" y="11525"/>
                  <a:pt x="5965" y="10800"/>
                  <a:pt x="0" y="10800"/>
                </a:cubicBezTo>
                <a:cubicBezTo>
                  <a:pt x="5965" y="10800"/>
                  <a:pt x="10800" y="10075"/>
                  <a:pt x="10800" y="9180"/>
                </a:cubicBezTo>
                <a:lnTo>
                  <a:pt x="10800" y="1620"/>
                </a:lnTo>
                <a:cubicBezTo>
                  <a:pt x="10800" y="725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</a:endParaRPr>
          </a:p>
        </p:txBody>
      </p:sp>
      <p:sp>
        <p:nvSpPr>
          <p:cNvPr id="62477" name="Line 13"/>
          <p:cNvSpPr>
            <a:spLocks noChangeShapeType="1"/>
          </p:cNvSpPr>
          <p:nvPr/>
        </p:nvSpPr>
        <p:spPr bwMode="auto">
          <a:xfrm>
            <a:off x="7993063" y="3732213"/>
            <a:ext cx="717550" cy="0"/>
          </a:xfrm>
          <a:prstGeom prst="line">
            <a:avLst/>
          </a:prstGeom>
          <a:noFill/>
          <a:ln w="25400" cap="flat">
            <a:solidFill>
              <a:srgbClr val="7F7F7F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78" name="Rectangle 14"/>
          <p:cNvSpPr/>
          <p:nvPr/>
        </p:nvSpPr>
        <p:spPr bwMode="auto">
          <a:xfrm>
            <a:off x="6095365" y="3268980"/>
            <a:ext cx="1918335" cy="6096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zh-CN" alt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帧指针</a:t>
            </a:r>
            <a:b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</a:br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rbp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2479" name="Line 15"/>
          <p:cNvSpPr>
            <a:spLocks noChangeShapeType="1"/>
          </p:cNvSpPr>
          <p:nvPr/>
        </p:nvSpPr>
        <p:spPr bwMode="auto">
          <a:xfrm>
            <a:off x="8002588" y="6488112"/>
            <a:ext cx="719137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2480" name="Rectangle 16"/>
          <p:cNvSpPr/>
          <p:nvPr/>
        </p:nvSpPr>
        <p:spPr bwMode="auto">
          <a:xfrm>
            <a:off x="5984875" y="6019800"/>
            <a:ext cx="2030730" cy="6096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zh-CN" alt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栈指针</a:t>
            </a:r>
            <a:endParaRPr lang="en-US" dirty="0">
              <a:solidFill>
                <a:schemeClr val="tx1"/>
              </a:solidFill>
              <a:latin typeface="Arial Narrow Bold" panose="020B0706020202030204" charset="0"/>
              <a:ea typeface="Lucida Grande" panose="020B0600040502020204" charset="0"/>
              <a:cs typeface="Lucida Grande" panose="020B0600040502020204" charset="0"/>
              <a:sym typeface="Arial Narrow Bold" panose="020B0706020202030204" charset="0"/>
            </a:endParaRPr>
          </a:p>
          <a:p>
            <a:pPr algn="r"/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18" name="Rectangle 14"/>
          <p:cNvSpPr/>
          <p:nvPr/>
        </p:nvSpPr>
        <p:spPr bwMode="auto">
          <a:xfrm>
            <a:off x="6781800" y="3861435"/>
            <a:ext cx="15621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(Optional)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" name="Rectangle 8"/>
          <p:cNvSpPr/>
          <p:nvPr/>
        </p:nvSpPr>
        <p:spPr bwMode="auto">
          <a:xfrm>
            <a:off x="8890000" y="1295400"/>
            <a:ext cx="1270000" cy="13716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</a:endParaRPr>
          </a:p>
        </p:txBody>
      </p:sp>
      <p:sp>
        <p:nvSpPr>
          <p:cNvPr id="3" name="Rectangle 9"/>
          <p:cNvSpPr/>
          <p:nvPr/>
        </p:nvSpPr>
        <p:spPr bwMode="auto">
          <a:xfrm>
            <a:off x="8838565" y="3581400"/>
            <a:ext cx="1426210" cy="304800"/>
          </a:xfrm>
          <a:prstGeom prst="rect">
            <a:avLst/>
          </a:prstGeom>
          <a:solidFill>
            <a:schemeClr val="bg1">
              <a:lumMod val="85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 dirty="0">
                <a:solidFill>
                  <a:srgbClr val="7F7F7F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alibri Bold" charset="0"/>
              </a:rPr>
              <a:t>Old %</a:t>
            </a:r>
            <a:r>
              <a:rPr lang="en-US" sz="1800" dirty="0" err="1">
                <a:solidFill>
                  <a:srgbClr val="7F7F7F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alibri Bold" charset="0"/>
              </a:rPr>
              <a:t>rbp</a:t>
            </a:r>
            <a:endParaRPr lang="en-US" sz="1800" dirty="0">
              <a:solidFill>
                <a:srgbClr val="7F7F7F"/>
              </a:solidFill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  <a:sym typeface="Calibri Bold" charset="0"/>
            </a:endParaRPr>
          </a:p>
        </p:txBody>
      </p:sp>
      <p:sp>
        <p:nvSpPr>
          <p:cNvPr id="4" name="Rectangle 10"/>
          <p:cNvSpPr/>
          <p:nvPr/>
        </p:nvSpPr>
        <p:spPr bwMode="auto">
          <a:xfrm>
            <a:off x="8890000" y="2667000"/>
            <a:ext cx="1270000" cy="6096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alibri Bold" charset="0"/>
              </a:rPr>
              <a:t>Arguments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  <a:sym typeface="Calibri Bold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alibri Bold" charset="0"/>
              </a:rPr>
              <a:t>7+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  <a:sym typeface="Calibri Bold" charset="0"/>
            </a:endParaRPr>
          </a:p>
        </p:txBody>
      </p:sp>
      <p:sp>
        <p:nvSpPr>
          <p:cNvPr id="5" name="Rectangle 8"/>
          <p:cNvSpPr/>
          <p:nvPr/>
        </p:nvSpPr>
        <p:spPr bwMode="auto">
          <a:xfrm>
            <a:off x="8838565" y="1295400"/>
            <a:ext cx="1426210" cy="137160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</a:endParaRPr>
          </a:p>
        </p:txBody>
      </p:sp>
      <p:sp>
        <p:nvSpPr>
          <p:cNvPr id="6" name="Rectangle 10"/>
          <p:cNvSpPr/>
          <p:nvPr/>
        </p:nvSpPr>
        <p:spPr bwMode="auto">
          <a:xfrm>
            <a:off x="8838565" y="2423160"/>
            <a:ext cx="1426210" cy="85344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zh-CN" altLang="en-US" sz="1800" dirty="0">
                <a:solidFill>
                  <a:srgbClr val="00B050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alibri Bold" charset="0"/>
              </a:rPr>
              <a:t>参数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  <a:sym typeface="Calibri Bold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alibri Bold" charset="0"/>
              </a:rPr>
              <a:t>7+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  <a:sym typeface="Calibri Bold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alibri Bold" charset="0"/>
              </a:rPr>
              <a:t>(Optional)</a:t>
            </a:r>
            <a:endParaRPr lang="en-US" sz="1800" dirty="0">
              <a:solidFill>
                <a:schemeClr val="tx1"/>
              </a:solidFill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  <a:sym typeface="Calibri Bold" charset="0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10439400" y="3505200"/>
            <a:ext cx="0" cy="296799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349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 dirty="0"/>
              <a:t>例子</a:t>
            </a:r>
            <a:r>
              <a:rPr lang="en-US" dirty="0"/>
              <a:t>: </a:t>
            </a:r>
            <a:r>
              <a:rPr lang="en-US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incr</a:t>
            </a:r>
            <a:endParaRPr lang="en-US" dirty="0">
              <a:latin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3492" name="Rectangle 4"/>
          <p:cNvSpPr/>
          <p:nvPr/>
        </p:nvSpPr>
        <p:spPr bwMode="auto">
          <a:xfrm>
            <a:off x="1905000" y="1371600"/>
            <a:ext cx="4876800" cy="1828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(long *p, long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 {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long x = *p;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long y = x +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val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*p = y;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x;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3494" name="Rectangle 6"/>
          <p:cNvSpPr/>
          <p:nvPr/>
        </p:nvSpPr>
        <p:spPr bwMode="auto">
          <a:xfrm>
            <a:off x="1905000" y="4038600"/>
            <a:ext cx="4279900" cy="1524000"/>
          </a:xfrm>
          <a:prstGeom prst="rect">
            <a:avLst/>
          </a:prstGeom>
          <a:solidFill>
            <a:srgbClr val="CDF1C5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(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), </a:t>
            </a:r>
            <a:r>
              <a:rPr lang="en-US" sz="1800" b="1" dirty="0">
                <a:solidFill>
                  <a:srgbClr val="008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%</a:t>
            </a:r>
            <a:r>
              <a:rPr lang="en-US" sz="1800" b="1" dirty="0" err="1">
                <a:solidFill>
                  <a:srgbClr val="008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rax</a:t>
            </a:r>
            <a:endParaRPr lang="en-US" sz="1800" b="1" dirty="0">
              <a:solidFill>
                <a:srgbClr val="008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rax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rsi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rsi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(%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  <a:tab pos="457200" algn="l"/>
                <a:tab pos="1485900" algn="l"/>
                <a:tab pos="23495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ret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781800" y="4114800"/>
          <a:ext cx="33528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2133600"/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rdi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p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rsi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Argument 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val</a:t>
                      </a:r>
                      <a:r>
                        <a:rPr lang="en-US" dirty="0">
                          <a:latin typeface="Calibri"/>
                          <a:cs typeface="Calibri"/>
                        </a:rPr>
                        <a:t>, </a:t>
                      </a:r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y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rax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solidFill>
                            <a:srgbClr val="00B050"/>
                          </a:solidFill>
                          <a:latin typeface="Courier New" panose="02070609020205020404"/>
                          <a:cs typeface="Courier New" panose="02070609020205020404"/>
                        </a:rPr>
                        <a:t>x</a:t>
                      </a:r>
                      <a:r>
                        <a:rPr lang="en-US" dirty="0">
                          <a:solidFill>
                            <a:srgbClr val="00B050"/>
                          </a:solidFill>
                          <a:latin typeface="Calibri"/>
                          <a:cs typeface="Calibri"/>
                        </a:rPr>
                        <a:t>, Return value</a:t>
                      </a:r>
                      <a:endParaRPr lang="en-US" b="1" i="0" dirty="0">
                        <a:solidFill>
                          <a:srgbClr val="00B050"/>
                        </a:solidFill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349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 b="0" dirty="0"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rPr>
              <a:t>例子</a:t>
            </a:r>
            <a:r>
              <a:rPr lang="en-US" b="0" dirty="0"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rPr>
              <a:t>: </a:t>
            </a:r>
            <a:r>
              <a:rPr lang="zh-CN" altLang="en-US" b="0" dirty="0"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rPr>
              <a:t>调用</a:t>
            </a:r>
            <a:r>
              <a:rPr lang="en-US" b="0" dirty="0" err="1"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  <a:sym typeface="Courier New Bold" panose="02070609020205020404" charset="0"/>
              </a:rPr>
              <a:t>incr</a:t>
            </a:r>
            <a:r>
              <a:rPr lang="en-US" b="0" dirty="0"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rPr>
              <a:t> #1</a:t>
            </a:r>
            <a:endParaRPr lang="en-US" b="0" dirty="0"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  <a:sym typeface="Courier New Bold" panose="02070609020205020404" charset="0"/>
            </a:endParaRPr>
          </a:p>
        </p:txBody>
      </p:sp>
      <p:sp>
        <p:nvSpPr>
          <p:cNvPr id="63492" name="Rectangle 4"/>
          <p:cNvSpPr/>
          <p:nvPr/>
        </p:nvSpPr>
        <p:spPr bwMode="auto">
          <a:xfrm>
            <a:off x="1905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subq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$16, 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movq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$15213, 8(%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$3000,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esi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leaq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incr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ret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3493" name="Rectangle 5"/>
          <p:cNvSpPr/>
          <p:nvPr/>
        </p:nvSpPr>
        <p:spPr bwMode="auto">
          <a:xfrm>
            <a:off x="1905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 {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long v1 = 15213;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(&amp;v1, 3000);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v1+v2;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3498" name="Line 10"/>
          <p:cNvSpPr>
            <a:spLocks noChangeShapeType="1"/>
          </p:cNvSpPr>
          <p:nvPr/>
        </p:nvSpPr>
        <p:spPr bwMode="auto">
          <a:xfrm flipH="1">
            <a:off x="8077200" y="276098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499" name="Rectangle 11"/>
          <p:cNvSpPr/>
          <p:nvPr/>
        </p:nvSpPr>
        <p:spPr bwMode="auto">
          <a:xfrm>
            <a:off x="8522006" y="2584450"/>
            <a:ext cx="62484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3500" name="Rectangle 12"/>
          <p:cNvSpPr/>
          <p:nvPr/>
        </p:nvSpPr>
        <p:spPr bwMode="auto">
          <a:xfrm>
            <a:off x="7467600" y="1066800"/>
            <a:ext cx="1092200" cy="38354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初始的</a:t>
            </a:r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</a:t>
            </a:r>
            <a:endParaRPr lang="zh-CN" altLang="en-US" sz="20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63501" name="Rectangle 13"/>
          <p:cNvSpPr/>
          <p:nvPr/>
        </p:nvSpPr>
        <p:spPr bwMode="auto">
          <a:xfrm>
            <a:off x="6705600" y="16002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16" name="Rectangle 9"/>
          <p:cNvSpPr/>
          <p:nvPr/>
        </p:nvSpPr>
        <p:spPr bwMode="auto">
          <a:xfrm>
            <a:off x="6705600" y="25146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17" name="Rectangle 7"/>
          <p:cNvSpPr/>
          <p:nvPr/>
        </p:nvSpPr>
        <p:spPr bwMode="auto">
          <a:xfrm>
            <a:off x="6705600" y="5715000"/>
            <a:ext cx="13716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15213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18" name="Rectangle 9"/>
          <p:cNvSpPr/>
          <p:nvPr/>
        </p:nvSpPr>
        <p:spPr bwMode="auto">
          <a:xfrm>
            <a:off x="6705600" y="6096000"/>
            <a:ext cx="13716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zh-CN" alt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未使用</a:t>
            </a:r>
            <a:r>
              <a:rPr lang="zh-CN" alt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区</a:t>
            </a:r>
            <a:endParaRPr lang="zh-CN" alt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8104187" y="63309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/>
          <p:nvPr/>
        </p:nvSpPr>
        <p:spPr bwMode="auto">
          <a:xfrm>
            <a:off x="8534400" y="6102350"/>
            <a:ext cx="62484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1" name="Rectangle 12"/>
          <p:cNvSpPr/>
          <p:nvPr/>
        </p:nvSpPr>
        <p:spPr bwMode="auto">
          <a:xfrm>
            <a:off x="7467600" y="3886200"/>
            <a:ext cx="1854200" cy="38354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执行过程中的</a:t>
            </a:r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</a:t>
            </a:r>
            <a:endParaRPr lang="zh-CN" altLang="en-US" sz="20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22" name="Rectangle 13"/>
          <p:cNvSpPr/>
          <p:nvPr/>
        </p:nvSpPr>
        <p:spPr bwMode="auto">
          <a:xfrm>
            <a:off x="6705600" y="4419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23" name="Rectangle 9"/>
          <p:cNvSpPr/>
          <p:nvPr/>
        </p:nvSpPr>
        <p:spPr bwMode="auto">
          <a:xfrm>
            <a:off x="6705600" y="5334000"/>
            <a:ext cx="13716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zh-CN" alt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返回地址</a:t>
            </a:r>
            <a:endParaRPr lang="zh-CN" altLang="en-US" sz="1800" dirty="0" err="1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8077200" y="5943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/>
          <p:nvPr/>
        </p:nvSpPr>
        <p:spPr bwMode="auto">
          <a:xfrm>
            <a:off x="8507730" y="5714365"/>
            <a:ext cx="163703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squar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%rsp+8(&amp;v1)</a:t>
            </a:r>
            <a:endParaRPr lang="zh-CN" alt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" name="Rectangle 13"/>
          <p:cNvSpPr/>
          <p:nvPr/>
        </p:nvSpPr>
        <p:spPr bwMode="auto">
          <a:xfrm>
            <a:off x="6705600" y="1600200"/>
            <a:ext cx="13716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3" name="Rectangle 9"/>
          <p:cNvSpPr/>
          <p:nvPr/>
        </p:nvSpPr>
        <p:spPr bwMode="auto">
          <a:xfrm>
            <a:off x="6705600" y="2514600"/>
            <a:ext cx="13716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zh-CN" alt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返回地址</a:t>
            </a:r>
            <a:endParaRPr lang="zh-CN" altLang="en-US" sz="1800" dirty="0" err="1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4" name="Rectangle 13"/>
          <p:cNvSpPr/>
          <p:nvPr/>
        </p:nvSpPr>
        <p:spPr bwMode="auto">
          <a:xfrm>
            <a:off x="6705600" y="4419600"/>
            <a:ext cx="13716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4724400" y="1348740"/>
            <a:ext cx="1980565" cy="575310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call</a:t>
            </a:r>
            <a:r>
              <a:rPr kumimoji="0" lang="zh-CN" altLang="en-US" sz="2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指令分配栈空间</a:t>
            </a:r>
            <a:endParaRPr kumimoji="0" lang="zh-CN" altLang="en-US" sz="2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Microsoft YaHei" charset="0"/>
              <a:ea typeface="Microsoft YaHei" charset="0"/>
              <a:cs typeface="Microsoft YaHei" charset="0"/>
              <a:sym typeface="Gill Sans" panose="020B0502020104020203" charset="0"/>
            </a:endParaRPr>
          </a:p>
        </p:txBody>
      </p:sp>
      <p:sp>
        <p:nvSpPr>
          <p:cNvPr id="7" name="矩形 6"/>
          <p:cNvSpPr/>
          <p:nvPr>
            <p:custDataLst>
              <p:tags r:id="rId2"/>
            </p:custDataLst>
          </p:nvPr>
        </p:nvSpPr>
        <p:spPr>
          <a:xfrm>
            <a:off x="4516120" y="3586480"/>
            <a:ext cx="2560320" cy="604520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入口代码分配栈空间，</a:t>
            </a:r>
            <a:endParaRPr kumimoji="0" lang="zh-CN" altLang="en-US" sz="2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Microsoft YaHei" charset="0"/>
              <a:ea typeface="Microsoft YaHei" charset="0"/>
              <a:cs typeface="Microsoft YaHei" charset="0"/>
              <a:sym typeface="Gill Sans" panose="020B0502020104020203" charset="0"/>
            </a:endParaRPr>
          </a:p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并为局部变量</a:t>
            </a:r>
            <a:r>
              <a:rPr kumimoji="0" lang="en-US" altLang="zh-CN" sz="2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v1</a:t>
            </a:r>
            <a:r>
              <a:rPr kumimoji="0" lang="zh-CN" altLang="en-US" sz="2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赋值</a:t>
            </a:r>
            <a:endParaRPr kumimoji="0" lang="zh-CN" altLang="en-US" sz="2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Microsoft YaHei" charset="0"/>
              <a:ea typeface="Microsoft YaHei" charset="0"/>
              <a:cs typeface="Microsoft YaHei" charset="0"/>
              <a:sym typeface="Gill Sans" panose="020B0502020104020203" charset="0"/>
            </a:endParaRPr>
          </a:p>
        </p:txBody>
      </p:sp>
      <p:sp>
        <p:nvSpPr>
          <p:cNvPr id="6" name="矩形 5"/>
          <p:cNvSpPr/>
          <p:nvPr>
            <p:custDataLst>
              <p:tags r:id="rId3"/>
            </p:custDataLst>
          </p:nvPr>
        </p:nvSpPr>
        <p:spPr>
          <a:xfrm>
            <a:off x="3200400" y="4419600"/>
            <a:ext cx="1980565" cy="353060"/>
          </a:xfrm>
          <a:prstGeom prst="rect">
            <a:avLst/>
          </a:prstGeom>
          <a:noFill/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Microsoft YaHei" charset="0"/>
              <a:ea typeface="Microsoft YaHei" charset="0"/>
              <a:cs typeface="Microsoft YaHei" charset="0"/>
              <a:sym typeface="Gill Sans" panose="020B0502020104020203" charset="0"/>
            </a:endParaRP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349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 dirty="0"/>
              <a:t>例子</a:t>
            </a:r>
            <a:r>
              <a:rPr lang="en-US" dirty="0"/>
              <a:t>: </a:t>
            </a:r>
            <a:r>
              <a:rPr lang="zh-CN" altLang="en-US" dirty="0"/>
              <a:t>调用</a:t>
            </a:r>
            <a:r>
              <a:rPr lang="en-US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incr</a:t>
            </a:r>
            <a:r>
              <a:rPr lang="en-US" dirty="0"/>
              <a:t> #2</a:t>
            </a:r>
            <a:endParaRPr lang="en-US" dirty="0">
              <a:latin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3492" name="Rectangle 4"/>
          <p:cNvSpPr/>
          <p:nvPr/>
        </p:nvSpPr>
        <p:spPr bwMode="auto">
          <a:xfrm>
            <a:off x="1905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movl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$3000, 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esi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leaq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8(%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), 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call    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incr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ret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3493" name="Rectangle 5"/>
          <p:cNvSpPr/>
          <p:nvPr/>
        </p:nvSpPr>
        <p:spPr bwMode="auto">
          <a:xfrm>
            <a:off x="1905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 {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long v1 = 15213;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long v2 =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incr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(&amp;v1, 3000);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v1+v2;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17" name="Rectangle 7"/>
          <p:cNvSpPr/>
          <p:nvPr/>
        </p:nvSpPr>
        <p:spPr bwMode="auto">
          <a:xfrm>
            <a:off x="6705600" y="2971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15213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18" name="Rectangle 9"/>
          <p:cNvSpPr/>
          <p:nvPr/>
        </p:nvSpPr>
        <p:spPr bwMode="auto">
          <a:xfrm>
            <a:off x="6705600" y="3352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zh-CN" alt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未使用区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8027987" y="35877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/>
          <p:nvPr/>
        </p:nvSpPr>
        <p:spPr bwMode="auto">
          <a:xfrm>
            <a:off x="8534400" y="3359150"/>
            <a:ext cx="62484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1" name="Rectangle 12"/>
          <p:cNvSpPr/>
          <p:nvPr/>
        </p:nvSpPr>
        <p:spPr bwMode="auto">
          <a:xfrm>
            <a:off x="6694170" y="1217930"/>
            <a:ext cx="1294765" cy="38354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square" lIns="38100" tIns="38100" rIns="38100" bIns="3810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栈的</a:t>
            </a:r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结构</a:t>
            </a:r>
            <a:endParaRPr lang="zh-CN" altLang="en-US" sz="20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22" name="Rectangle 13"/>
          <p:cNvSpPr/>
          <p:nvPr/>
        </p:nvSpPr>
        <p:spPr bwMode="auto">
          <a:xfrm>
            <a:off x="6705600" y="16764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23" name="Rectangle 9"/>
          <p:cNvSpPr/>
          <p:nvPr/>
        </p:nvSpPr>
        <p:spPr bwMode="auto">
          <a:xfrm>
            <a:off x="6705600" y="2590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zh-CN" altLang="en-US" sz="16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返回地址</a:t>
            </a:r>
            <a:endParaRPr lang="zh-CN" altLang="en-US" sz="1600" dirty="0" err="1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8001000" y="32004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/>
          <p:nvPr/>
        </p:nvSpPr>
        <p:spPr bwMode="auto">
          <a:xfrm>
            <a:off x="8507413" y="2971800"/>
            <a:ext cx="89916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%rsp+8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781800" y="4114800"/>
          <a:ext cx="335280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2133600"/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rdi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&amp;v1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rsi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3000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5181600" y="4648200"/>
            <a:ext cx="1524000" cy="594360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利用</a:t>
            </a: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rdi</a:t>
            </a: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传递</a:t>
            </a: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参数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Microsoft YaHei" charset="0"/>
              <a:ea typeface="Microsoft YaHei" charset="0"/>
              <a:cs typeface="Microsoft YaHei" charset="0"/>
              <a:sym typeface="Gill Sans" panose="020B0502020104020203" charset="0"/>
            </a:endParaRP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349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dirty="0"/>
              <a:t>Example: </a:t>
            </a:r>
            <a:r>
              <a:rPr lang="zh-CN" altLang="en-US" dirty="0"/>
              <a:t>调用</a:t>
            </a:r>
            <a:r>
              <a:rPr lang="en-US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incr</a:t>
            </a:r>
            <a:r>
              <a:rPr lang="en-US" dirty="0"/>
              <a:t> #3</a:t>
            </a:r>
            <a:endParaRPr lang="en-US" dirty="0">
              <a:latin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3492" name="Rectangle 4"/>
          <p:cNvSpPr/>
          <p:nvPr/>
        </p:nvSpPr>
        <p:spPr bwMode="auto">
          <a:xfrm>
            <a:off x="1905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movl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$3000, 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esi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leaq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8(%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), 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call   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incr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ret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3493" name="Rectangle 5"/>
          <p:cNvSpPr/>
          <p:nvPr/>
        </p:nvSpPr>
        <p:spPr bwMode="auto">
          <a:xfrm>
            <a:off x="1905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 {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long v1 = 15213;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long v2 =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incr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(&amp;v1, 3000);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v1+v2;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17" name="Rectangle 7"/>
          <p:cNvSpPr/>
          <p:nvPr/>
        </p:nvSpPr>
        <p:spPr bwMode="auto">
          <a:xfrm>
            <a:off x="6705600" y="2971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b="1" dirty="0">
                <a:solidFill>
                  <a:srgbClr val="FF0000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18213</a:t>
            </a:r>
            <a:endParaRPr lang="en-US" sz="1800" b="1" dirty="0">
              <a:solidFill>
                <a:srgbClr val="FF0000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18" name="Rectangle 9"/>
          <p:cNvSpPr/>
          <p:nvPr/>
        </p:nvSpPr>
        <p:spPr bwMode="auto">
          <a:xfrm>
            <a:off x="6705600" y="3352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zh-CN" alt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未使用</a:t>
            </a:r>
            <a:r>
              <a:rPr lang="zh-CN" alt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区</a:t>
            </a:r>
            <a:endParaRPr lang="zh-CN" alt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8027987" y="35877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/>
          <p:nvPr/>
        </p:nvSpPr>
        <p:spPr bwMode="auto">
          <a:xfrm>
            <a:off x="8534400" y="3359150"/>
            <a:ext cx="62484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2" name="Rectangle 13"/>
          <p:cNvSpPr/>
          <p:nvPr/>
        </p:nvSpPr>
        <p:spPr bwMode="auto">
          <a:xfrm>
            <a:off x="6705600" y="16764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23" name="Rectangle 9"/>
          <p:cNvSpPr/>
          <p:nvPr/>
        </p:nvSpPr>
        <p:spPr bwMode="auto">
          <a:xfrm>
            <a:off x="6705600" y="2590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zh-CN" altLang="en-US" sz="16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返回</a:t>
            </a:r>
            <a:r>
              <a:rPr lang="zh-CN" altLang="en-US" sz="16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地址</a:t>
            </a:r>
            <a:endParaRPr lang="zh-CN" altLang="en-US" sz="1600" dirty="0" err="1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8001000" y="32004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/>
          <p:nvPr/>
        </p:nvSpPr>
        <p:spPr bwMode="auto">
          <a:xfrm>
            <a:off x="8507413" y="2971800"/>
            <a:ext cx="89916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%rsp+8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781800" y="4114800"/>
          <a:ext cx="335280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2133600"/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rdi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&amp;v1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rsi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3000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5105400" y="5087620"/>
            <a:ext cx="1524000" cy="383540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调用</a:t>
            </a: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incr</a:t>
            </a: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函数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Microsoft YaHei" charset="0"/>
              <a:ea typeface="Microsoft YaHei" charset="0"/>
              <a:cs typeface="Microsoft YaHei" charset="0"/>
              <a:sym typeface="Gill Sans" panose="020B0502020104020203" charset="0"/>
            </a:endParaRPr>
          </a:p>
        </p:txBody>
      </p:sp>
      <p:sp>
        <p:nvSpPr>
          <p:cNvPr id="3" name="Rectangle 12"/>
          <p:cNvSpPr/>
          <p:nvPr>
            <p:custDataLst>
              <p:tags r:id="rId2"/>
            </p:custDataLst>
          </p:nvPr>
        </p:nvSpPr>
        <p:spPr bwMode="auto">
          <a:xfrm>
            <a:off x="6694170" y="1217930"/>
            <a:ext cx="1294765" cy="38354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square" lIns="38100" tIns="38100" rIns="38100" bIns="38100">
            <a:spAutoFit/>
          </a:bodyPr>
          <a:p>
            <a:pPr algn="ctr"/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栈的</a:t>
            </a:r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结构</a:t>
            </a:r>
            <a:endParaRPr lang="zh-CN" altLang="en-US" sz="20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349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dirty="0"/>
              <a:t>Example: </a:t>
            </a:r>
            <a:r>
              <a:rPr lang="zh-CN" altLang="en-US" dirty="0">
                <a:sym typeface="+mn-ea"/>
              </a:rPr>
              <a:t>调用</a:t>
            </a:r>
            <a:r>
              <a:rPr lang="en-US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incr</a:t>
            </a:r>
            <a:r>
              <a:rPr lang="en-US" dirty="0"/>
              <a:t> #4</a:t>
            </a:r>
            <a:endParaRPr lang="en-US" dirty="0">
              <a:latin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3492" name="Rectangle 4"/>
          <p:cNvSpPr/>
          <p:nvPr/>
        </p:nvSpPr>
        <p:spPr bwMode="auto">
          <a:xfrm>
            <a:off x="1905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movl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$3000, 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esi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leaq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8(%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), 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call    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incr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8(%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), 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rax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$16, 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ret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3493" name="Rectangle 5"/>
          <p:cNvSpPr/>
          <p:nvPr/>
        </p:nvSpPr>
        <p:spPr bwMode="auto">
          <a:xfrm>
            <a:off x="1905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 {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long v1 = 15213;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(&amp;v1, 3000);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v1+v2;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17" name="Rectangle 7"/>
          <p:cNvSpPr/>
          <p:nvPr/>
        </p:nvSpPr>
        <p:spPr bwMode="auto">
          <a:xfrm>
            <a:off x="6705600" y="2590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18213</a:t>
            </a:r>
            <a:endParaRPr lang="en-US" sz="1800" b="1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18" name="Rectangle 9"/>
          <p:cNvSpPr/>
          <p:nvPr/>
        </p:nvSpPr>
        <p:spPr bwMode="auto">
          <a:xfrm>
            <a:off x="6705600" y="2971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zh-CN" alt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未使用区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8027987" y="32067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/>
          <p:nvPr/>
        </p:nvSpPr>
        <p:spPr bwMode="auto">
          <a:xfrm>
            <a:off x="8534400" y="2978150"/>
            <a:ext cx="62484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2" name="Rectangle 13"/>
          <p:cNvSpPr/>
          <p:nvPr/>
        </p:nvSpPr>
        <p:spPr bwMode="auto">
          <a:xfrm>
            <a:off x="6705600" y="12954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23" name="Rectangle 9"/>
          <p:cNvSpPr/>
          <p:nvPr/>
        </p:nvSpPr>
        <p:spPr bwMode="auto">
          <a:xfrm>
            <a:off x="6705600" y="22098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zh-CN" altLang="en-US" sz="16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返回地址</a:t>
            </a:r>
            <a:endParaRPr lang="zh-CN" altLang="en-US" sz="1600" dirty="0" err="1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8001000" y="28194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/>
          <p:nvPr/>
        </p:nvSpPr>
        <p:spPr bwMode="auto">
          <a:xfrm>
            <a:off x="8507413" y="2590800"/>
            <a:ext cx="89916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%rsp+8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781800" y="3733800"/>
          <a:ext cx="3352800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2133600"/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rax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Calibri"/>
                          <a:cs typeface="Calibri"/>
                        </a:rPr>
                        <a:t>返回值</a:t>
                      </a:r>
                      <a:endParaRPr lang="zh-CN" alt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9" name="Line 10"/>
          <p:cNvSpPr>
            <a:spLocks noChangeShapeType="1"/>
          </p:cNvSpPr>
          <p:nvPr/>
        </p:nvSpPr>
        <p:spPr bwMode="auto">
          <a:xfrm flipH="1">
            <a:off x="8001000" y="6324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Rectangle 11"/>
          <p:cNvSpPr/>
          <p:nvPr/>
        </p:nvSpPr>
        <p:spPr bwMode="auto">
          <a:xfrm>
            <a:off x="8507413" y="6096000"/>
            <a:ext cx="62484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31" name="Rectangle 12"/>
          <p:cNvSpPr/>
          <p:nvPr/>
        </p:nvSpPr>
        <p:spPr bwMode="auto">
          <a:xfrm>
            <a:off x="6680200" y="4724400"/>
            <a:ext cx="1854200" cy="38354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更新后的栈结构</a:t>
            </a:r>
            <a:endParaRPr lang="en-US" sz="20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32" name="Rectangle 13"/>
          <p:cNvSpPr/>
          <p:nvPr/>
        </p:nvSpPr>
        <p:spPr bwMode="auto">
          <a:xfrm>
            <a:off x="6705600" y="5181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36" name="Rectangle 9"/>
          <p:cNvSpPr/>
          <p:nvPr/>
        </p:nvSpPr>
        <p:spPr bwMode="auto">
          <a:xfrm>
            <a:off x="6705600" y="6096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zh-CN" altLang="en-US" sz="16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返回地址</a:t>
            </a:r>
            <a:endParaRPr lang="zh-CN" altLang="en-US" sz="1600" dirty="0" err="1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4563110" y="5562600"/>
            <a:ext cx="1761490" cy="890905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出口代码：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Microsoft YaHei" charset="0"/>
              <a:ea typeface="Microsoft YaHei" charset="0"/>
              <a:cs typeface="Microsoft YaHei" charset="0"/>
              <a:sym typeface="Gill Sans" panose="020B0502020104020203" charset="0"/>
            </a:endParaRPr>
          </a:p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1</a:t>
            </a: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）准备</a:t>
            </a: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返回值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Microsoft YaHei" charset="0"/>
              <a:ea typeface="Microsoft YaHei" charset="0"/>
              <a:cs typeface="Microsoft YaHei" charset="0"/>
              <a:sym typeface="Gill Sans" panose="020B0502020104020203" charset="0"/>
            </a:endParaRPr>
          </a:p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2</a:t>
            </a: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）释放栈</a:t>
            </a: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Microsoft YaHei" charset="0"/>
                <a:ea typeface="Microsoft YaHei" charset="0"/>
                <a:cs typeface="Microsoft YaHei" charset="0"/>
                <a:sym typeface="Gill Sans" panose="020B0502020104020203" charset="0"/>
              </a:rPr>
              <a:t>空间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Microsoft YaHei" charset="0"/>
              <a:ea typeface="Microsoft YaHei" charset="0"/>
              <a:cs typeface="Microsoft YaHei" charset="0"/>
              <a:sym typeface="Gill Sans" panose="020B0502020104020203" charset="0"/>
            </a:endParaRPr>
          </a:p>
        </p:txBody>
      </p:sp>
      <p:sp>
        <p:nvSpPr>
          <p:cNvPr id="3" name="Rectangle 12"/>
          <p:cNvSpPr/>
          <p:nvPr>
            <p:custDataLst>
              <p:tags r:id="rId2"/>
            </p:custDataLst>
          </p:nvPr>
        </p:nvSpPr>
        <p:spPr bwMode="auto">
          <a:xfrm>
            <a:off x="6694170" y="848995"/>
            <a:ext cx="1294765" cy="38354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square" lIns="38100" tIns="38100" rIns="38100" bIns="3810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栈的</a:t>
            </a:r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结构</a:t>
            </a:r>
            <a:endParaRPr lang="zh-CN" altLang="en-US" sz="20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349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dirty="0"/>
              <a:t>Example: </a:t>
            </a:r>
            <a:r>
              <a:rPr lang="zh-CN" altLang="en-US" dirty="0">
                <a:sym typeface="+mn-ea"/>
              </a:rPr>
              <a:t>调用</a:t>
            </a:r>
            <a:r>
              <a:rPr lang="en-US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incr</a:t>
            </a:r>
            <a:r>
              <a:rPr lang="en-US" dirty="0"/>
              <a:t> #5</a:t>
            </a:r>
            <a:endParaRPr lang="en-US" dirty="0">
              <a:latin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3492" name="Rectangle 4"/>
          <p:cNvSpPr/>
          <p:nvPr/>
        </p:nvSpPr>
        <p:spPr bwMode="auto">
          <a:xfrm>
            <a:off x="1905000" y="3581400"/>
            <a:ext cx="4419600" cy="29718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movl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$3000, 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esi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leaq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8(%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), 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call    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incr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8(%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), 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rax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$16, 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ret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3493" name="Rectangle 5"/>
          <p:cNvSpPr/>
          <p:nvPr/>
        </p:nvSpPr>
        <p:spPr bwMode="auto">
          <a:xfrm>
            <a:off x="1905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call_incr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() {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long v1 = 15213;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(&amp;v1, 3000);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return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v1+v2;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781800" y="3733800"/>
          <a:ext cx="3352800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/>
                <a:gridCol w="2133600"/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rax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>
                          <a:latin typeface="Calibri"/>
                          <a:cs typeface="Calibri"/>
                        </a:rPr>
                        <a:t>返回地址</a:t>
                      </a:r>
                      <a:endParaRPr lang="zh-CN" alt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9" name="Line 10"/>
          <p:cNvSpPr>
            <a:spLocks noChangeShapeType="1"/>
          </p:cNvSpPr>
          <p:nvPr/>
        </p:nvSpPr>
        <p:spPr bwMode="auto">
          <a:xfrm flipH="1">
            <a:off x="8077200" y="2895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30" name="Rectangle 11"/>
          <p:cNvSpPr/>
          <p:nvPr/>
        </p:nvSpPr>
        <p:spPr bwMode="auto">
          <a:xfrm>
            <a:off x="8583613" y="2667000"/>
            <a:ext cx="62484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31" name="Rectangle 12"/>
          <p:cNvSpPr/>
          <p:nvPr/>
        </p:nvSpPr>
        <p:spPr bwMode="auto">
          <a:xfrm>
            <a:off x="6729730" y="1256030"/>
            <a:ext cx="1854200" cy="38354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更新后的栈</a:t>
            </a:r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结构</a:t>
            </a:r>
            <a:endParaRPr lang="zh-CN" altLang="en-US" sz="20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32" name="Rectangle 13"/>
          <p:cNvSpPr/>
          <p:nvPr/>
        </p:nvSpPr>
        <p:spPr bwMode="auto">
          <a:xfrm>
            <a:off x="6781800" y="1752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36" name="Rectangle 9"/>
          <p:cNvSpPr/>
          <p:nvPr/>
        </p:nvSpPr>
        <p:spPr bwMode="auto">
          <a:xfrm>
            <a:off x="6781800" y="26670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zh-CN" altLang="en-US" sz="16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返回地址</a:t>
            </a:r>
            <a:endParaRPr lang="zh-CN" altLang="en-US" sz="1600" dirty="0" err="1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25" name="Line 10"/>
          <p:cNvSpPr>
            <a:spLocks noChangeShapeType="1"/>
          </p:cNvSpPr>
          <p:nvPr/>
        </p:nvSpPr>
        <p:spPr bwMode="auto">
          <a:xfrm flipH="1">
            <a:off x="8077200" y="5943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8" name="Rectangle 11"/>
          <p:cNvSpPr/>
          <p:nvPr/>
        </p:nvSpPr>
        <p:spPr bwMode="auto">
          <a:xfrm>
            <a:off x="8583613" y="5715000"/>
            <a:ext cx="62484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33" name="Rectangle 12"/>
          <p:cNvSpPr/>
          <p:nvPr/>
        </p:nvSpPr>
        <p:spPr bwMode="auto">
          <a:xfrm>
            <a:off x="6781800" y="4673600"/>
            <a:ext cx="1600200" cy="38354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最后的栈</a:t>
            </a:r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结构</a:t>
            </a:r>
            <a:endParaRPr lang="zh-CN" altLang="en-US" sz="20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34" name="Rectangle 13"/>
          <p:cNvSpPr/>
          <p:nvPr/>
        </p:nvSpPr>
        <p:spPr bwMode="auto">
          <a:xfrm>
            <a:off x="6781800" y="51816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7" name="矩形 6"/>
          <p:cNvSpPr/>
          <p:nvPr>
            <p:custDataLst>
              <p:tags r:id="rId1"/>
            </p:custDataLst>
          </p:nvPr>
        </p:nvSpPr>
        <p:spPr>
          <a:xfrm>
            <a:off x="3505200" y="5915660"/>
            <a:ext cx="1761490" cy="353060"/>
          </a:xfrm>
          <a:prstGeom prst="rect">
            <a:avLst/>
          </a:prstGeom>
          <a:noFill/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楷体_GB2312" charset="0"/>
                <a:ea typeface="楷体_GB2312" charset="0"/>
                <a:cs typeface="ヒラギノ角ゴ ProN W3" panose="020B0300000000000000" charset="-128"/>
                <a:sym typeface="Gill Sans" panose="020B0502020104020203" charset="0"/>
              </a:rPr>
              <a:t>函数</a:t>
            </a:r>
            <a:r>
              <a:rPr kumimoji="0" lang="zh-CN" altLang="en-US" sz="18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楷体_GB2312" charset="0"/>
                <a:ea typeface="楷体_GB2312" charset="0"/>
                <a:cs typeface="ヒラギノ角ゴ ProN W3" panose="020B0300000000000000" charset="-128"/>
                <a:sym typeface="Gill Sans" panose="020B0502020104020203" charset="0"/>
              </a:rPr>
              <a:t>返回</a:t>
            </a: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楷体_GB2312" charset="0"/>
              <a:ea typeface="楷体_GB2312" charset="0"/>
              <a:cs typeface="ヒラギノ角ゴ ProN W3" panose="020B0300000000000000" charset="-128"/>
              <a:sym typeface="Gill Sans" panose="020B0502020104020203" charset="0"/>
            </a:endParaRP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 dirty="0"/>
              <a:t>寄存器保护的</a:t>
            </a:r>
            <a:r>
              <a:rPr lang="zh-CN" altLang="en-US" dirty="0"/>
              <a:t>约定</a:t>
            </a:r>
            <a:endParaRPr lang="zh-CN" altLang="en-US" dirty="0"/>
          </a:p>
        </p:txBody>
      </p:sp>
      <p:sp>
        <p:nvSpPr>
          <p:cNvPr id="74756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当函数</a:t>
            </a:r>
            <a:r>
              <a:rPr lang="en-US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r>
              <a:rPr lang="en-US" dirty="0"/>
              <a:t> </a:t>
            </a:r>
            <a:r>
              <a:rPr lang="zh-CN" altLang="en-US" dirty="0"/>
              <a:t>调用</a:t>
            </a:r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who</a:t>
            </a:r>
            <a:r>
              <a:rPr lang="en-US" dirty="0"/>
              <a:t>:</a:t>
            </a:r>
            <a:endParaRPr lang="en-US" dirty="0"/>
          </a:p>
          <a:p>
            <a:pPr marL="552450" lvl="1"/>
            <a:r>
              <a:rPr lang="en-US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yoo</a:t>
            </a:r>
            <a:r>
              <a:rPr lang="en-US" dirty="0"/>
              <a:t> is the </a:t>
            </a:r>
            <a:r>
              <a:rPr 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caller </a:t>
            </a:r>
            <a:r>
              <a:rPr lang="zh-CN" altLang="en-US" dirty="0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调用者</a:t>
            </a:r>
            <a:endParaRPr lang="en-US" dirty="0"/>
          </a:p>
          <a:p>
            <a:pPr marL="552450" lvl="1"/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who</a:t>
            </a:r>
            <a:r>
              <a:rPr lang="en-US" dirty="0"/>
              <a:t> is the </a:t>
            </a:r>
            <a:r>
              <a:rPr lang="en-US" dirty="0" err="1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callee </a:t>
            </a:r>
            <a:r>
              <a:rPr lang="zh-CN" altLang="en-US" dirty="0" err="1">
                <a:solidFill>
                  <a:srgbClr val="980002"/>
                </a:solidFill>
                <a:latin typeface="Calibri Bold Italic" charset="0"/>
                <a:ea typeface="Calibri Bold Italic" charset="0"/>
                <a:cs typeface="Calibri Bold Italic" charset="0"/>
                <a:sym typeface="Calibri Bold Italic" charset="0"/>
              </a:rPr>
              <a:t>被调用者</a:t>
            </a:r>
            <a:endParaRPr lang="en-US" dirty="0"/>
          </a:p>
          <a:p>
            <a:pPr>
              <a:spcBef>
                <a:spcPts val="1200"/>
              </a:spcBef>
            </a:pPr>
            <a:r>
              <a:rPr lang="en-US" dirty="0"/>
              <a:t>yoo</a:t>
            </a:r>
            <a:r>
              <a:rPr lang="zh-CN" altLang="en-US" dirty="0"/>
              <a:t>和</a:t>
            </a:r>
            <a:r>
              <a:rPr lang="en-US" altLang="zh-CN" dirty="0"/>
              <a:t>who</a:t>
            </a:r>
            <a:r>
              <a:rPr lang="zh-CN" altLang="en-US" dirty="0"/>
              <a:t>函数中同时使用</a:t>
            </a:r>
            <a:r>
              <a:rPr lang="en-US" altLang="zh-CN" dirty="0"/>
              <a:t>rdx</a:t>
            </a:r>
            <a:r>
              <a:rPr lang="zh-CN" altLang="en-US" dirty="0"/>
              <a:t>来存放临时数据</a:t>
            </a:r>
            <a:r>
              <a:rPr lang="en-US" dirty="0"/>
              <a:t>?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552450" lvl="1"/>
            <a:r>
              <a:rPr lang="en-US" dirty="0"/>
              <a:t>yoo</a:t>
            </a:r>
            <a:r>
              <a:rPr lang="zh-CN" altLang="en-US" dirty="0"/>
              <a:t>中</a:t>
            </a:r>
            <a:r>
              <a:rPr lang="en-US" dirty="0"/>
              <a:t> </a:t>
            </a:r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rdx</a:t>
            </a:r>
            <a:r>
              <a:rPr lang="en-US" dirty="0"/>
              <a:t> </a:t>
            </a:r>
            <a:r>
              <a:rPr lang="zh-CN" altLang="en-US" dirty="0"/>
              <a:t>的内容可能被</a:t>
            </a:r>
            <a:r>
              <a:rPr lang="en-US" dirty="0"/>
              <a:t> </a:t>
            </a:r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who</a:t>
            </a:r>
            <a:r>
              <a:rPr lang="zh-CN" alt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覆盖！</a:t>
            </a:r>
            <a:endParaRPr lang="zh-CN" altLang="en-US" dirty="0"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marL="1009650" lvl="2"/>
            <a:r>
              <a:rPr lang="zh-CN" alt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函数可以很多，</a:t>
            </a:r>
            <a:r>
              <a:rPr lang="zh-CN" alt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通用寄存器只有</a:t>
            </a:r>
            <a:r>
              <a:rPr lang="en-US" altLang="zh-CN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16</a:t>
            </a:r>
            <a:r>
              <a:rPr lang="zh-CN" alt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个</a:t>
            </a:r>
            <a:endParaRPr lang="zh-CN" altLang="en-US" dirty="0"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marL="552450" lvl="1" algn="l"/>
            <a:r>
              <a:rPr lang="en-US" dirty="0"/>
              <a:t>需要协调使用——</a:t>
            </a:r>
            <a:r>
              <a:rPr lang="en-US" dirty="0">
                <a:solidFill>
                  <a:srgbClr val="00B050"/>
                </a:solidFill>
              </a:rPr>
              <a:t>寄存器保护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74757" name="Rectangle 5"/>
          <p:cNvSpPr/>
          <p:nvPr/>
        </p:nvSpPr>
        <p:spPr bwMode="auto">
          <a:xfrm>
            <a:off x="2284413" y="3200400"/>
            <a:ext cx="3797300" cy="1976438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yoo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:</a:t>
            </a:r>
            <a:endParaRPr lang="en-US" sz="2400" b="1" dirty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Courier New Bold" panose="02070609020205020404" charset="0"/>
              </a:rPr>
              <a:t>	• • •</a:t>
            </a:r>
            <a:endParaRPr lang="en-US" sz="2400" b="1" dirty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$15213, </a:t>
            </a:r>
            <a:r>
              <a:rPr lang="en-US" sz="1800" b="1" dirty="0">
                <a:solidFill>
                  <a:srgbClr val="C0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%</a:t>
            </a:r>
            <a:r>
              <a:rPr lang="en-US" sz="1800" b="1" dirty="0" err="1">
                <a:solidFill>
                  <a:srgbClr val="C0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rdx</a:t>
            </a:r>
            <a:endParaRPr lang="en-US" sz="2400" b="1" dirty="0">
              <a:solidFill>
                <a:srgbClr val="C00000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call who</a:t>
            </a:r>
            <a:endParaRPr lang="en-US" sz="2400" b="1" dirty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>
                <a:solidFill>
                  <a:srgbClr val="C0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%</a:t>
            </a:r>
            <a:r>
              <a:rPr lang="en-US" sz="1800" b="1" dirty="0" err="1">
                <a:solidFill>
                  <a:srgbClr val="C0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rdx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rax</a:t>
            </a:r>
            <a:endParaRPr lang="en-US" sz="2400" b="1" dirty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Courier New Bold" panose="02070609020205020404" charset="0"/>
              </a:rPr>
              <a:t>	• • •</a:t>
            </a:r>
            <a:endParaRPr lang="en-US" sz="2400" b="1" dirty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74758" name="Rectangle 6"/>
          <p:cNvSpPr/>
          <p:nvPr/>
        </p:nvSpPr>
        <p:spPr bwMode="auto">
          <a:xfrm>
            <a:off x="6275388" y="3200400"/>
            <a:ext cx="3797300" cy="1981200"/>
          </a:xfrm>
          <a:prstGeom prst="rect">
            <a:avLst/>
          </a:prstGeom>
          <a:solidFill>
            <a:srgbClr val="D5F1CF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who:</a:t>
            </a:r>
            <a:endParaRPr lang="en-US" sz="2400" b="1" dirty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Courier New Bold" panose="02070609020205020404" charset="0"/>
              </a:rPr>
              <a:t>	• • •</a:t>
            </a:r>
            <a:endParaRPr lang="en-US" sz="2400" b="1" dirty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	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$18213, </a:t>
            </a:r>
            <a:r>
              <a:rPr lang="en-US" sz="1800" b="1" dirty="0">
                <a:solidFill>
                  <a:srgbClr val="C0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%</a:t>
            </a:r>
            <a:r>
              <a:rPr lang="en-US" sz="1800" b="1" dirty="0" err="1">
                <a:solidFill>
                  <a:srgbClr val="C0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rdx</a:t>
            </a:r>
            <a:endParaRPr lang="en-US" sz="2400" b="1" dirty="0">
              <a:solidFill>
                <a:srgbClr val="C00000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ea typeface="Monaco" charset="0"/>
                <a:cs typeface="Courier New" panose="02070609020205020404" pitchFamily="49" charset="0"/>
                <a:sym typeface="Courier New Bold" panose="02070609020205020404" charset="0"/>
              </a:rPr>
              <a:t>	• • •</a:t>
            </a:r>
            <a:endParaRPr lang="en-US" sz="2400" b="1" dirty="0">
              <a:solidFill>
                <a:schemeClr val="tx1"/>
              </a:solidFill>
              <a:latin typeface="Courier New" panose="02070609020205020404" pitchFamily="49" charset="0"/>
              <a:ea typeface="Lucida Grande" panose="020B0600040502020204" charset="0"/>
              <a:cs typeface="Courier New" panose="02070609020205020404" pitchFamily="49" charset="0"/>
              <a:sym typeface="Arial Narrow Bold" panose="020B0706020202030204" charset="0"/>
            </a:endParaRPr>
          </a:p>
          <a:p>
            <a:pPr algn="l">
              <a:tabLst>
                <a:tab pos="457200" algn="l"/>
                <a:tab pos="457200" algn="l"/>
                <a:tab pos="457200" algn="l"/>
                <a:tab pos="457200" algn="l"/>
                <a:tab pos="457200" algn="l"/>
                <a:tab pos="4572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latin typeface="Times New Roman Regular" panose="02020603050405020304" charset="0"/>
                <a:ea typeface="Gill Sans" panose="020B0502020104020203" charset="0"/>
                <a:cs typeface="Times New Roman Regular" panose="02020603050405020304" charset="0"/>
              </a:rPr>
              <a:t>Carnegie Mellon</a:t>
            </a:r>
            <a:endParaRPr lang="en-US" sz="1200">
              <a:solidFill>
                <a:srgbClr val="FFFFFF"/>
              </a:solidFill>
              <a:latin typeface="Times New Roman Regular" panose="02020603050405020304" charset="0"/>
              <a:ea typeface="Gill Sans" panose="020B0502020104020203" charset="0"/>
              <a:cs typeface="Times New Roman Regular" panose="02020603050405020304" charset="0"/>
            </a:endParaRPr>
          </a:p>
        </p:txBody>
      </p:sp>
      <p:sp>
        <p:nvSpPr>
          <p:cNvPr id="75779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 dirty="0">
                <a:ea typeface="Kaiti SC Bold" panose="02010600040101010101" charset="-122"/>
                <a:sym typeface="+mn-ea"/>
              </a:rPr>
              <a:t>寄存器保护的策略</a:t>
            </a:r>
            <a:endParaRPr lang="zh-CN" altLang="en-US" dirty="0">
              <a:sym typeface="+mn-ea"/>
            </a:endParaRPr>
          </a:p>
        </p:txBody>
      </p:sp>
      <p:sp>
        <p:nvSpPr>
          <p:cNvPr id="75780" name="Rectangle 4"/>
          <p:cNvSpPr>
            <a:spLocks noGrp="1" noChangeArrowheads="1"/>
          </p:cNvSpPr>
          <p:nvPr>
            <p:ph idx="1"/>
          </p:nvPr>
        </p:nvSpPr>
        <p:spPr>
          <a:xfrm>
            <a:off x="1905000" y="1203960"/>
            <a:ext cx="8382000" cy="5628640"/>
          </a:xfrm>
        </p:spPr>
        <p:txBody>
          <a:bodyPr/>
          <a:lstStyle/>
          <a:p>
            <a:pPr marL="95250" lvl="0"/>
            <a:r>
              <a:rPr lang="zh-CN" altLang="en-US" dirty="0">
                <a:solidFill>
                  <a:srgbClr val="980002"/>
                </a:solidFill>
                <a:ea typeface="Microsoft YaHei" charset="0"/>
                <a:sym typeface="Calibri Bold Italic" charset="0"/>
              </a:rPr>
              <a:t>调用者负责保护（</a:t>
            </a:r>
            <a:r>
              <a:rPr lang="en-US" dirty="0">
                <a:solidFill>
                  <a:srgbClr val="980002"/>
                </a:solidFill>
                <a:ea typeface="Microsoft YaHei" charset="0"/>
                <a:sym typeface="Calibri Bold Italic" charset="0"/>
              </a:rPr>
              <a:t>“Caller Saved”</a:t>
            </a:r>
            <a:r>
              <a:rPr lang="zh-CN" altLang="en-US" dirty="0">
                <a:solidFill>
                  <a:srgbClr val="980002"/>
                </a:solidFill>
                <a:ea typeface="Microsoft YaHei" charset="0"/>
                <a:sym typeface="Calibri Bold Italic" charset="0"/>
              </a:rPr>
              <a:t>）</a:t>
            </a:r>
            <a:endParaRPr lang="en-US" dirty="0">
              <a:solidFill>
                <a:srgbClr val="980002"/>
              </a:solidFill>
              <a:ea typeface="Microsoft YaHei" charset="0"/>
              <a:sym typeface="Calibri Bold Italic" charset="0"/>
            </a:endParaRPr>
          </a:p>
          <a:p>
            <a:pPr marL="381000" lvl="1"/>
            <a:r>
              <a:rPr lang="zh-CN" altLang="en-US" dirty="0">
                <a:ea typeface="Microsoft YaHei" charset="0"/>
              </a:rPr>
              <a:t>调用者将一部分寄存器的值</a:t>
            </a:r>
            <a:r>
              <a:rPr lang="zh-CN" altLang="en-US" dirty="0">
                <a:solidFill>
                  <a:srgbClr val="00B050"/>
                </a:solidFill>
                <a:ea typeface="Microsoft YaHei" charset="0"/>
              </a:rPr>
              <a:t>保存</a:t>
            </a:r>
            <a:r>
              <a:rPr lang="zh-CN" altLang="en-US" dirty="0">
                <a:ea typeface="Microsoft YaHei" charset="0"/>
              </a:rPr>
              <a:t>到自己的栈帧（</a:t>
            </a:r>
            <a:r>
              <a:rPr lang="zh-CN" altLang="en-US" dirty="0">
                <a:solidFill>
                  <a:srgbClr val="FF0000"/>
                </a:solidFill>
                <a:ea typeface="Microsoft YaHei" charset="0"/>
              </a:rPr>
              <a:t>时机</a:t>
            </a:r>
            <a:r>
              <a:rPr lang="zh-CN" altLang="en-US" dirty="0">
                <a:ea typeface="Microsoft YaHei" charset="0"/>
              </a:rPr>
              <a:t>：</a:t>
            </a:r>
            <a:r>
              <a:rPr lang="en-US" dirty="0">
                <a:ea typeface="Microsoft YaHei" charset="0"/>
                <a:sym typeface="+mn-ea"/>
              </a:rPr>
              <a:t> before the call</a:t>
            </a:r>
            <a:r>
              <a:rPr lang="zh-CN" altLang="en-US" dirty="0">
                <a:ea typeface="Microsoft YaHei" charset="0"/>
                <a:sym typeface="+mn-ea"/>
              </a:rPr>
              <a:t>）</a:t>
            </a:r>
            <a:endParaRPr lang="en-US" dirty="0">
              <a:ea typeface="Microsoft YaHei" charset="0"/>
              <a:sym typeface="+mn-ea"/>
            </a:endParaRPr>
          </a:p>
          <a:p>
            <a:pPr marL="381000" lvl="1"/>
            <a:r>
              <a:rPr lang="zh-CN" altLang="en-US" dirty="0">
                <a:ea typeface="Microsoft YaHei" charset="0"/>
                <a:sym typeface="+mn-ea"/>
              </a:rPr>
              <a:t>调用者</a:t>
            </a:r>
            <a:r>
              <a:rPr lang="zh-CN" altLang="en-US" dirty="0">
                <a:solidFill>
                  <a:srgbClr val="00B050"/>
                </a:solidFill>
                <a:ea typeface="Microsoft YaHei" charset="0"/>
                <a:sym typeface="+mn-ea"/>
              </a:rPr>
              <a:t>恢复</a:t>
            </a:r>
            <a:r>
              <a:rPr lang="zh-CN" altLang="en-US" dirty="0">
                <a:solidFill>
                  <a:schemeClr val="tx1"/>
                </a:solidFill>
                <a:ea typeface="Microsoft YaHei" charset="0"/>
                <a:sym typeface="+mn-ea"/>
              </a:rPr>
              <a:t>寄存器的值（</a:t>
            </a:r>
            <a:r>
              <a:rPr lang="zh-CN" altLang="en-US" dirty="0">
                <a:solidFill>
                  <a:srgbClr val="FF0000"/>
                </a:solidFill>
                <a:ea typeface="Microsoft YaHei" charset="0"/>
                <a:sym typeface="+mn-ea"/>
              </a:rPr>
              <a:t>时机</a:t>
            </a:r>
            <a:r>
              <a:rPr lang="zh-CN" altLang="en-US" dirty="0">
                <a:ea typeface="Microsoft YaHei" charset="0"/>
              </a:rPr>
              <a:t>：</a:t>
            </a:r>
            <a:r>
              <a:rPr lang="en-US" altLang="zh-CN" dirty="0">
                <a:ea typeface="Microsoft YaHei" charset="0"/>
              </a:rPr>
              <a:t>after the call</a:t>
            </a:r>
            <a:r>
              <a:rPr lang="zh-CN" altLang="en-US" dirty="0">
                <a:ea typeface="Microsoft YaHei" charset="0"/>
              </a:rPr>
              <a:t>）</a:t>
            </a:r>
            <a:endParaRPr lang="en-US" dirty="0">
              <a:ea typeface="Microsoft YaHei" charset="0"/>
            </a:endParaRPr>
          </a:p>
          <a:p>
            <a:pPr marL="381000" lvl="1"/>
            <a:r>
              <a:rPr lang="zh-CN" altLang="en-US" dirty="0">
                <a:ea typeface="Microsoft YaHei" charset="0"/>
              </a:rPr>
              <a:t>好处：</a:t>
            </a:r>
            <a:endParaRPr lang="zh-CN" altLang="en-US" dirty="0">
              <a:ea typeface="Microsoft YaHei" charset="0"/>
            </a:endParaRPr>
          </a:p>
          <a:p>
            <a:pPr marL="838200" lvl="2"/>
            <a:r>
              <a:rPr lang="en-US" altLang="zh-CN" dirty="0">
                <a:ea typeface="Microsoft YaHei" charset="0"/>
              </a:rPr>
              <a:t>callee</a:t>
            </a:r>
            <a:r>
              <a:rPr lang="zh-CN" altLang="en-US" dirty="0">
                <a:ea typeface="Microsoft YaHei" charset="0"/>
              </a:rPr>
              <a:t>可以随便使用，无需考虑保护与恢复</a:t>
            </a:r>
            <a:endParaRPr lang="zh-CN" altLang="en-US" dirty="0">
              <a:ea typeface="Microsoft YaHei" charset="0"/>
            </a:endParaRPr>
          </a:p>
          <a:p>
            <a:pPr marL="838200" lvl="2"/>
            <a:endParaRPr lang="en-US" dirty="0">
              <a:ea typeface="Microsoft YaHei" charset="0"/>
            </a:endParaRPr>
          </a:p>
          <a:p>
            <a:pPr marL="95250" lvl="0"/>
            <a:r>
              <a:rPr lang="zh-CN" altLang="en-US" dirty="0">
                <a:solidFill>
                  <a:srgbClr val="980002"/>
                </a:solidFill>
                <a:ea typeface="Microsoft YaHei" charset="0"/>
                <a:sym typeface="Calibri Bold Italic" charset="0"/>
              </a:rPr>
              <a:t>被调用者负责保护（</a:t>
            </a:r>
            <a:r>
              <a:rPr lang="en-US" dirty="0">
                <a:solidFill>
                  <a:srgbClr val="980002"/>
                </a:solidFill>
                <a:ea typeface="Microsoft YaHei" charset="0"/>
                <a:sym typeface="Calibri Bold Italic" charset="0"/>
              </a:rPr>
              <a:t>“</a:t>
            </a:r>
            <a:r>
              <a:rPr lang="en-US" dirty="0" err="1">
                <a:solidFill>
                  <a:srgbClr val="980002"/>
                </a:solidFill>
                <a:ea typeface="Microsoft YaHei" charset="0"/>
                <a:sym typeface="Calibri Bold Italic" charset="0"/>
              </a:rPr>
              <a:t>Callee</a:t>
            </a:r>
            <a:r>
              <a:rPr lang="en-US" dirty="0">
                <a:solidFill>
                  <a:srgbClr val="980002"/>
                </a:solidFill>
                <a:ea typeface="Microsoft YaHei" charset="0"/>
                <a:sym typeface="Calibri Bold Italic" charset="0"/>
              </a:rPr>
              <a:t> Saved” </a:t>
            </a:r>
            <a:r>
              <a:rPr lang="zh-CN" altLang="en-US" dirty="0">
                <a:solidFill>
                  <a:srgbClr val="980002"/>
                </a:solidFill>
                <a:ea typeface="Microsoft YaHei" charset="0"/>
                <a:sym typeface="Calibri Bold Italic" charset="0"/>
              </a:rPr>
              <a:t>）</a:t>
            </a:r>
            <a:endParaRPr lang="en-US" dirty="0">
              <a:solidFill>
                <a:srgbClr val="980002"/>
              </a:solidFill>
              <a:ea typeface="Microsoft YaHei" charset="0"/>
              <a:sym typeface="Calibri Bold Italic" charset="0"/>
            </a:endParaRPr>
          </a:p>
          <a:p>
            <a:pPr marL="381000" lvl="1"/>
            <a:r>
              <a:rPr lang="zh-CN" altLang="en-US" dirty="0" err="1">
                <a:ea typeface="Microsoft YaHei" charset="0"/>
                <a:sym typeface="+mn-ea"/>
              </a:rPr>
              <a:t>被调用者将一部分寄存器的值</a:t>
            </a:r>
            <a:r>
              <a:rPr lang="zh-CN" altLang="en-US" dirty="0" err="1">
                <a:solidFill>
                  <a:srgbClr val="00B050"/>
                </a:solidFill>
                <a:ea typeface="Microsoft YaHei" charset="0"/>
                <a:sym typeface="+mn-ea"/>
              </a:rPr>
              <a:t>保存</a:t>
            </a:r>
            <a:r>
              <a:rPr lang="zh-CN" altLang="en-US" dirty="0" err="1">
                <a:ea typeface="Microsoft YaHei" charset="0"/>
                <a:sym typeface="+mn-ea"/>
              </a:rPr>
              <a:t>到自己的栈帧（</a:t>
            </a:r>
            <a:r>
              <a:rPr lang="zh-CN" altLang="en-US" dirty="0">
                <a:solidFill>
                  <a:srgbClr val="FF0000"/>
                </a:solidFill>
                <a:ea typeface="Microsoft YaHei" charset="0"/>
                <a:sym typeface="+mn-ea"/>
              </a:rPr>
              <a:t>时机</a:t>
            </a:r>
            <a:r>
              <a:rPr lang="zh-CN" altLang="en-US" dirty="0" err="1">
                <a:ea typeface="Microsoft YaHei" charset="0"/>
                <a:sym typeface="+mn-ea"/>
              </a:rPr>
              <a:t>：函数入口）</a:t>
            </a:r>
            <a:endParaRPr lang="en-US" dirty="0">
              <a:ea typeface="Microsoft YaHei" charset="0"/>
            </a:endParaRPr>
          </a:p>
          <a:p>
            <a:pPr marL="381000" lvl="1"/>
            <a:r>
              <a:rPr lang="en-US" dirty="0">
                <a:ea typeface="Microsoft YaHei" charset="0"/>
              </a:rPr>
              <a:t>callee</a:t>
            </a:r>
            <a:r>
              <a:rPr lang="zh-CN" altLang="en-US" dirty="0">
                <a:solidFill>
                  <a:srgbClr val="00B050"/>
                </a:solidFill>
                <a:ea typeface="Microsoft YaHei" charset="0"/>
              </a:rPr>
              <a:t>恢复</a:t>
            </a:r>
            <a:r>
              <a:rPr lang="zh-CN" altLang="en-US" dirty="0">
                <a:ea typeface="Microsoft YaHei" charset="0"/>
              </a:rPr>
              <a:t>寄存器的值（</a:t>
            </a:r>
            <a:r>
              <a:rPr lang="zh-CN" altLang="en-US" dirty="0">
                <a:solidFill>
                  <a:srgbClr val="FF0000"/>
                </a:solidFill>
                <a:ea typeface="Microsoft YaHei" charset="0"/>
                <a:sym typeface="+mn-ea"/>
              </a:rPr>
              <a:t>时机</a:t>
            </a:r>
            <a:r>
              <a:rPr lang="zh-CN" altLang="en-US" dirty="0">
                <a:ea typeface="Microsoft YaHei" charset="0"/>
              </a:rPr>
              <a:t>：返回到</a:t>
            </a:r>
            <a:r>
              <a:rPr lang="en-US" altLang="zh-CN" dirty="0">
                <a:ea typeface="Microsoft YaHei" charset="0"/>
              </a:rPr>
              <a:t>caller</a:t>
            </a:r>
            <a:r>
              <a:rPr lang="zh-CN" altLang="en-US" dirty="0">
                <a:ea typeface="Microsoft YaHei" charset="0"/>
              </a:rPr>
              <a:t>之前）</a:t>
            </a:r>
            <a:endParaRPr lang="en-US" dirty="0">
              <a:ea typeface="Microsoft YaHei" charset="0"/>
            </a:endParaRPr>
          </a:p>
          <a:p>
            <a:pPr marL="381000" lvl="1"/>
            <a:r>
              <a:rPr lang="zh-CN" altLang="en-US" dirty="0">
                <a:ea typeface="Microsoft YaHei" charset="0"/>
              </a:rPr>
              <a:t>好处：</a:t>
            </a:r>
            <a:endParaRPr lang="zh-CN" altLang="en-US" dirty="0">
              <a:ea typeface="Microsoft YaHei" charset="0"/>
            </a:endParaRPr>
          </a:p>
          <a:p>
            <a:pPr marL="838200" lvl="2"/>
            <a:r>
              <a:rPr lang="en-US" dirty="0">
                <a:ea typeface="Microsoft YaHei" charset="0"/>
              </a:rPr>
              <a:t>caller</a:t>
            </a:r>
            <a:r>
              <a:rPr lang="zh-CN" altLang="en-US" dirty="0">
                <a:ea typeface="Microsoft YaHei" charset="0"/>
                <a:sym typeface="+mn-ea"/>
              </a:rPr>
              <a:t>无需考虑保护与恢复</a:t>
            </a:r>
            <a:endParaRPr lang="zh-CN" altLang="en-US" dirty="0">
              <a:ea typeface="Microsoft YaHei" charset="0"/>
              <a:sym typeface="+mn-ea"/>
            </a:endParaRPr>
          </a:p>
          <a:p>
            <a:pPr marL="838200" lvl="2"/>
            <a:r>
              <a:rPr lang="en-US" dirty="0">
                <a:ea typeface="Microsoft YaHei" charset="0"/>
              </a:rPr>
              <a:t>callee</a:t>
            </a:r>
            <a:r>
              <a:rPr lang="zh-CN" altLang="en-US" dirty="0">
                <a:ea typeface="Microsoft YaHei" charset="0"/>
              </a:rPr>
              <a:t>先保护、再使用、最后恢复</a:t>
            </a:r>
            <a:endParaRPr lang="zh-CN" altLang="en-US" dirty="0">
              <a:ea typeface="Microsoft YaHei" charset="0"/>
            </a:endParaRPr>
          </a:p>
        </p:txBody>
      </p:sp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7680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sz="3200" dirty="0">
                <a:sym typeface="+mn-ea"/>
              </a:rPr>
              <a:t>x86-64 Linux #1</a:t>
            </a:r>
            <a:r>
              <a:rPr lang="zh-CN" altLang="en-US" sz="3200" dirty="0">
                <a:sym typeface="+mn-ea"/>
              </a:rPr>
              <a:t>——</a:t>
            </a:r>
            <a:r>
              <a:rPr lang="en-US" altLang="zh-CN" sz="3200" dirty="0">
                <a:sym typeface="+mn-ea"/>
              </a:rPr>
              <a:t>caller</a:t>
            </a:r>
            <a:r>
              <a:rPr lang="zh-CN" altLang="en-US" sz="3200" dirty="0">
                <a:sym typeface="+mn-ea"/>
              </a:rPr>
              <a:t>保护寄存器的例子</a:t>
            </a:r>
            <a:endParaRPr lang="en-US" altLang="zh-CN" sz="3200" dirty="0">
              <a:ea typeface="SimSun" charset="0"/>
            </a:endParaRPr>
          </a:p>
        </p:txBody>
      </p:sp>
      <p:sp>
        <p:nvSpPr>
          <p:cNvPr id="76804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rax</a:t>
            </a:r>
            <a:endParaRPr lang="en-US" dirty="0">
              <a:latin typeface="Courier New Bold" panose="02070609020205020404" charset="0"/>
              <a:sym typeface="Courier New Bold" panose="02070609020205020404" charset="0"/>
            </a:endParaRPr>
          </a:p>
          <a:p>
            <a:pPr marL="552450" lvl="1"/>
            <a:r>
              <a:rPr lang="en-US" dirty="0"/>
              <a:t>Return value </a:t>
            </a:r>
            <a:r>
              <a:rPr lang="zh-CN" altLang="en-US" dirty="0"/>
              <a:t>返回值</a:t>
            </a:r>
            <a:endParaRPr lang="zh-CN" altLang="en-US" dirty="0"/>
          </a:p>
          <a:p>
            <a:pPr marL="292100"/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dirty="0" err="1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rdi</a:t>
            </a:r>
            <a:r>
              <a:rPr lang="en-US" b="0" dirty="0">
                <a:cs typeface="Courier New Bold" panose="02070609020205020404" charset="0"/>
                <a:sym typeface="Courier New Bold" panose="02070609020205020404" charset="0"/>
              </a:rPr>
              <a:t>, ..., </a:t>
            </a:r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%r9</a:t>
            </a:r>
            <a:endParaRPr lang="en-US" dirty="0">
              <a:latin typeface="Courier New Bold" panose="02070609020205020404" charset="0"/>
              <a:sym typeface="Courier New Bold" panose="02070609020205020404" charset="0"/>
            </a:endParaRPr>
          </a:p>
          <a:p>
            <a:pPr marL="552450" lvl="1"/>
            <a:r>
              <a:rPr lang="en-US" dirty="0"/>
              <a:t>Arguments </a:t>
            </a:r>
            <a:r>
              <a:rPr lang="zh-CN" altLang="en-US" dirty="0"/>
              <a:t>参数</a:t>
            </a:r>
            <a:endParaRPr lang="zh-CN" altLang="en-US" dirty="0"/>
          </a:p>
          <a:p>
            <a:pPr marL="95250" lvl="0"/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%r10</a:t>
            </a:r>
            <a:r>
              <a:rPr lang="en-US" b="0" dirty="0">
                <a:cs typeface="Courier New Bold" panose="02070609020205020404" charset="0"/>
                <a:sym typeface="Courier New Bold" panose="02070609020205020404" charset="0"/>
              </a:rPr>
              <a:t>, </a:t>
            </a:r>
            <a:r>
              <a:rPr lang="en-US" dirty="0"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%r11</a:t>
            </a:r>
            <a:endParaRPr lang="en-US" dirty="0"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marL="95250" lvl="0"/>
            <a:endParaRPr lang="en-US" altLang="en-US" sz="2400" dirty="0"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marL="95250" lvl="0"/>
            <a:r>
              <a:rPr lang="zh-CN" altLang="en-US" sz="2400" dirty="0">
                <a:sym typeface="+mn-ea"/>
              </a:rPr>
              <a:t>这些寄存器，</a:t>
            </a:r>
            <a:r>
              <a:rPr lang="en-US" sz="2400" dirty="0">
                <a:sym typeface="+mn-ea"/>
              </a:rPr>
              <a:t>callee</a:t>
            </a:r>
            <a:r>
              <a:rPr lang="zh-CN" altLang="en-US" sz="2400" dirty="0">
                <a:sym typeface="+mn-ea"/>
              </a:rPr>
              <a:t>可以随便修改</a:t>
            </a:r>
            <a:endParaRPr lang="en-US" sz="2400" dirty="0"/>
          </a:p>
          <a:p>
            <a:pPr marL="95250" lvl="0" algn="l"/>
            <a:endParaRPr lang="en-US" altLang="zh-CN" dirty="0"/>
          </a:p>
          <a:p>
            <a:pPr marL="552450" lvl="1"/>
            <a:endParaRPr lang="en-US" dirty="0"/>
          </a:p>
          <a:p>
            <a:pPr marL="552450" lvl="1"/>
            <a:endParaRPr lang="en-US" dirty="0"/>
          </a:p>
          <a:p>
            <a:pPr marL="552450" lvl="1"/>
            <a:endParaRPr lang="en-US" dirty="0"/>
          </a:p>
        </p:txBody>
      </p:sp>
      <p:sp>
        <p:nvSpPr>
          <p:cNvPr id="76805" name="Rectangle 5"/>
          <p:cNvSpPr/>
          <p:nvPr/>
        </p:nvSpPr>
        <p:spPr bwMode="auto">
          <a:xfrm>
            <a:off x="7848600" y="1600200"/>
            <a:ext cx="254000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rax</a:t>
            </a:r>
            <a:endParaRPr lang="en-US" sz="24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76806" name="Rectangle 6"/>
          <p:cNvSpPr/>
          <p:nvPr/>
        </p:nvSpPr>
        <p:spPr bwMode="auto">
          <a:xfrm>
            <a:off x="7848600" y="29718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rdx</a:t>
            </a:r>
            <a:endParaRPr lang="en-US" sz="24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76807" name="Rectangle 7"/>
          <p:cNvSpPr/>
          <p:nvPr/>
        </p:nvSpPr>
        <p:spPr bwMode="auto">
          <a:xfrm>
            <a:off x="7848600" y="34290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rcx</a:t>
            </a:r>
            <a:endParaRPr lang="en-US" sz="24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76813" name="AutoShape 13"/>
          <p:cNvSpPr/>
          <p:nvPr/>
        </p:nvSpPr>
        <p:spPr bwMode="auto">
          <a:xfrm>
            <a:off x="7391400" y="2057400"/>
            <a:ext cx="304800" cy="2667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40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6816" name="Rectangle 16"/>
          <p:cNvSpPr/>
          <p:nvPr/>
        </p:nvSpPr>
        <p:spPr bwMode="auto">
          <a:xfrm>
            <a:off x="6558111" y="1600200"/>
            <a:ext cx="76200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zh-CN" alt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返回值</a:t>
            </a:r>
            <a:endParaRPr lang="zh-CN" alt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20" name="Rectangle 7"/>
          <p:cNvSpPr/>
          <p:nvPr/>
        </p:nvSpPr>
        <p:spPr bwMode="auto">
          <a:xfrm>
            <a:off x="7848600" y="38862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%r8</a:t>
            </a:r>
            <a:endParaRPr lang="en-US" sz="24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1" name="Rectangle 7"/>
          <p:cNvSpPr/>
          <p:nvPr/>
        </p:nvSpPr>
        <p:spPr bwMode="auto">
          <a:xfrm>
            <a:off x="7848600" y="43434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%r9</a:t>
            </a:r>
            <a:endParaRPr lang="en-US" sz="24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2" name="Rectangle 7"/>
          <p:cNvSpPr/>
          <p:nvPr/>
        </p:nvSpPr>
        <p:spPr bwMode="auto">
          <a:xfrm>
            <a:off x="7848600" y="4800600"/>
            <a:ext cx="2540000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%r10</a:t>
            </a:r>
            <a:endParaRPr lang="en-US" sz="24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3" name="Rectangle 7"/>
          <p:cNvSpPr/>
          <p:nvPr/>
        </p:nvSpPr>
        <p:spPr bwMode="auto">
          <a:xfrm>
            <a:off x="7848600" y="5257800"/>
            <a:ext cx="2540000" cy="381000"/>
          </a:xfrm>
          <a:prstGeom prst="rect">
            <a:avLst/>
          </a:prstGeom>
          <a:solidFill>
            <a:srgbClr val="F6F5BD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%r11</a:t>
            </a:r>
            <a:endParaRPr lang="en-US" sz="24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4" name="Rectangle 5"/>
          <p:cNvSpPr/>
          <p:nvPr/>
        </p:nvSpPr>
        <p:spPr bwMode="auto">
          <a:xfrm>
            <a:off x="7848600" y="20574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rdi</a:t>
            </a:r>
            <a:endParaRPr lang="en-US" sz="24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5" name="Rectangle 5"/>
          <p:cNvSpPr/>
          <p:nvPr/>
        </p:nvSpPr>
        <p:spPr bwMode="auto">
          <a:xfrm>
            <a:off x="7848600" y="25146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rsi</a:t>
            </a:r>
            <a:endParaRPr lang="en-US" sz="24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6" name="Rectangle 16"/>
          <p:cNvSpPr/>
          <p:nvPr/>
        </p:nvSpPr>
        <p:spPr bwMode="auto">
          <a:xfrm>
            <a:off x="6786711" y="3200400"/>
            <a:ext cx="53340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zh-CN" alt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参数</a:t>
            </a:r>
            <a:endParaRPr lang="zh-CN" alt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27" name="Rectangle 16"/>
          <p:cNvSpPr/>
          <p:nvPr/>
        </p:nvSpPr>
        <p:spPr bwMode="auto">
          <a:xfrm>
            <a:off x="6171260" y="5007610"/>
            <a:ext cx="114554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Caller</a:t>
            </a:r>
            <a:r>
              <a:rPr lang="zh-CN" alt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保护</a:t>
            </a:r>
            <a:endParaRPr lang="zh-CN" alt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28" name="AutoShape 13"/>
          <p:cNvSpPr/>
          <p:nvPr/>
        </p:nvSpPr>
        <p:spPr bwMode="auto">
          <a:xfrm>
            <a:off x="7391400" y="4800600"/>
            <a:ext cx="304800" cy="8382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40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76804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Microsoft YaHei" charset="0"/>
                <a:ea typeface="Microsoft YaHei" charset="0"/>
                <a:cs typeface="Microsoft YaHei" charset="0"/>
                <a:sym typeface="Courier New Bold" panose="02070609020205020404" charset="0"/>
              </a:rPr>
              <a:t>%</a:t>
            </a:r>
            <a:r>
              <a:rPr lang="en-US" dirty="0" err="1">
                <a:latin typeface="Microsoft YaHei" charset="0"/>
                <a:ea typeface="Microsoft YaHei" charset="0"/>
                <a:cs typeface="Microsoft YaHei" charset="0"/>
                <a:sym typeface="Courier New Bold" panose="02070609020205020404" charset="0"/>
              </a:rPr>
              <a:t>rbx</a:t>
            </a:r>
            <a:r>
              <a:rPr lang="en-US" dirty="0">
                <a:latin typeface="Microsoft YaHei" charset="0"/>
                <a:ea typeface="Microsoft YaHei" charset="0"/>
                <a:cs typeface="Microsoft YaHei" charset="0"/>
              </a:rPr>
              <a:t>, </a:t>
            </a:r>
            <a:r>
              <a:rPr lang="en-US" dirty="0">
                <a:latin typeface="Microsoft YaHei" charset="0"/>
                <a:ea typeface="Microsoft YaHei" charset="0"/>
                <a:cs typeface="Microsoft YaHei" charset="0"/>
                <a:sym typeface="Courier New Bold" panose="02070609020205020404" charset="0"/>
              </a:rPr>
              <a:t>%r12</a:t>
            </a:r>
            <a:r>
              <a:rPr lang="en-US" dirty="0">
                <a:latin typeface="Microsoft YaHei" charset="0"/>
                <a:ea typeface="Microsoft YaHei" charset="0"/>
                <a:cs typeface="Microsoft YaHei" charset="0"/>
              </a:rPr>
              <a:t>, </a:t>
            </a:r>
            <a:r>
              <a:rPr lang="en-US" dirty="0">
                <a:latin typeface="Microsoft YaHei" charset="0"/>
                <a:ea typeface="Microsoft YaHei" charset="0"/>
                <a:cs typeface="Microsoft YaHei" charset="0"/>
                <a:sym typeface="Courier New Bold" panose="02070609020205020404" charset="0"/>
              </a:rPr>
              <a:t>%r13</a:t>
            </a:r>
            <a:r>
              <a:rPr lang="en-US" dirty="0">
                <a:latin typeface="Microsoft YaHei" charset="0"/>
                <a:ea typeface="Microsoft YaHei" charset="0"/>
                <a:cs typeface="Microsoft YaHei" charset="0"/>
              </a:rPr>
              <a:t>, </a:t>
            </a:r>
            <a:r>
              <a:rPr lang="en-US" dirty="0">
                <a:latin typeface="Microsoft YaHei" charset="0"/>
                <a:ea typeface="Microsoft YaHei" charset="0"/>
                <a:cs typeface="Microsoft YaHei" charset="0"/>
                <a:sym typeface="Courier New Bold" panose="02070609020205020404" charset="0"/>
              </a:rPr>
              <a:t>%r14</a:t>
            </a:r>
            <a:r>
              <a:rPr lang="en-US" dirty="0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  <a:sym typeface="Courier New Bold" panose="02070609020205020404" charset="0"/>
              </a:rPr>
              <a:t>,%15</a:t>
            </a:r>
            <a:endParaRPr lang="en-US" dirty="0">
              <a:solidFill>
                <a:srgbClr val="00B050"/>
              </a:solidFill>
              <a:latin typeface="Microsoft YaHei" charset="0"/>
              <a:ea typeface="Microsoft YaHei" charset="0"/>
              <a:cs typeface="Microsoft YaHei" charset="0"/>
              <a:sym typeface="Courier New Bold" panose="02070609020205020404" charset="0"/>
            </a:endParaRPr>
          </a:p>
          <a:p>
            <a:pPr marL="749300" lvl="1"/>
            <a:r>
              <a:rPr lang="zh-CN" altLang="en-US" dirty="0">
                <a:latin typeface="Microsoft YaHei" charset="0"/>
                <a:ea typeface="Microsoft YaHei" charset="0"/>
                <a:cs typeface="Microsoft YaHei" charset="0"/>
                <a:sym typeface="Courier New Bold" panose="02070609020205020404" charset="0"/>
              </a:rPr>
              <a:t>用于临时数据或局部变量</a:t>
            </a:r>
            <a:endParaRPr lang="en-US" dirty="0">
              <a:latin typeface="Microsoft YaHei" charset="0"/>
              <a:ea typeface="Microsoft YaHei" charset="0"/>
              <a:cs typeface="Microsoft YaHei" charset="0"/>
              <a:sym typeface="Courier New Bold" panose="02070609020205020404" charset="0"/>
            </a:endParaRPr>
          </a:p>
          <a:p>
            <a:pPr marL="292100"/>
            <a:r>
              <a:rPr lang="en-US" dirty="0">
                <a:latin typeface="Microsoft YaHei" charset="0"/>
                <a:ea typeface="Microsoft YaHei" charset="0"/>
                <a:cs typeface="Microsoft YaHei" charset="0"/>
                <a:sym typeface="Courier New Bold" panose="02070609020205020404" charset="0"/>
              </a:rPr>
              <a:t>%</a:t>
            </a:r>
            <a:r>
              <a:rPr lang="en-US" dirty="0" err="1">
                <a:latin typeface="Microsoft YaHei" charset="0"/>
                <a:ea typeface="Microsoft YaHei" charset="0"/>
                <a:cs typeface="Microsoft YaHei" charset="0"/>
                <a:sym typeface="Courier New Bold" panose="02070609020205020404" charset="0"/>
              </a:rPr>
              <a:t>rbp</a:t>
            </a:r>
            <a:endParaRPr lang="en-US" dirty="0">
              <a:latin typeface="Microsoft YaHei" charset="0"/>
              <a:ea typeface="Microsoft YaHei" charset="0"/>
              <a:cs typeface="Microsoft YaHei" charset="0"/>
            </a:endParaRPr>
          </a:p>
          <a:p>
            <a:r>
              <a:rPr lang="en-US" dirty="0">
                <a:latin typeface="Microsoft YaHei" charset="0"/>
                <a:ea typeface="Microsoft YaHei" charset="0"/>
                <a:cs typeface="Microsoft YaHei" charset="0"/>
                <a:sym typeface="Courier New Bold" panose="02070609020205020404" charset="0"/>
              </a:rPr>
              <a:t>%</a:t>
            </a:r>
            <a:r>
              <a:rPr lang="en-US" dirty="0" err="1">
                <a:latin typeface="Microsoft YaHei" charset="0"/>
                <a:ea typeface="Microsoft YaHei" charset="0"/>
                <a:cs typeface="Microsoft YaHei" charset="0"/>
                <a:sym typeface="Courier New Bold" panose="02070609020205020404" charset="0"/>
              </a:rPr>
              <a:t>rsp</a:t>
            </a:r>
            <a:endParaRPr lang="en-US" dirty="0">
              <a:latin typeface="Microsoft YaHei" charset="0"/>
              <a:ea typeface="Microsoft YaHei" charset="0"/>
              <a:cs typeface="Microsoft YaHei" charset="0"/>
              <a:sym typeface="Courier New Bold" panose="02070609020205020404" charset="0"/>
            </a:endParaRPr>
          </a:p>
          <a:p>
            <a:pPr marL="552450" lvl="1"/>
            <a:r>
              <a:rPr lang="zh-CN" altLang="en-US" dirty="0">
                <a:latin typeface="Microsoft YaHei" charset="0"/>
                <a:ea typeface="Microsoft YaHei" charset="0"/>
                <a:cs typeface="Microsoft YaHei" charset="0"/>
              </a:rPr>
              <a:t>特殊的</a:t>
            </a:r>
            <a:r>
              <a:rPr lang="en-US" altLang="zh-CN" dirty="0">
                <a:latin typeface="Microsoft YaHei" charset="0"/>
                <a:ea typeface="Microsoft YaHei" charset="0"/>
                <a:cs typeface="Microsoft YaHei" charset="0"/>
              </a:rPr>
              <a:t>callee</a:t>
            </a:r>
            <a:r>
              <a:rPr lang="zh-CN" altLang="en-US" dirty="0">
                <a:latin typeface="Microsoft YaHei" charset="0"/>
                <a:ea typeface="Microsoft YaHei" charset="0"/>
                <a:cs typeface="Microsoft YaHei" charset="0"/>
              </a:rPr>
              <a:t>保护寄存器</a:t>
            </a:r>
            <a:endParaRPr lang="zh-CN" altLang="en-US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1009650" lvl="2"/>
            <a:r>
              <a:rPr lang="zh-CN" altLang="en-US" dirty="0">
                <a:latin typeface="Microsoft YaHei" charset="0"/>
                <a:ea typeface="Microsoft YaHei" charset="0"/>
                <a:cs typeface="Microsoft YaHei" charset="0"/>
              </a:rPr>
              <a:t>在函数入口，通过</a:t>
            </a:r>
            <a:r>
              <a:rPr lang="en-US" altLang="zh-CN" dirty="0">
                <a:latin typeface="Microsoft YaHei" charset="0"/>
                <a:ea typeface="Microsoft YaHei" charset="0"/>
                <a:cs typeface="Microsoft YaHei" charset="0"/>
              </a:rPr>
              <a:t>rsp-</a:t>
            </a:r>
            <a:r>
              <a:rPr lang="zh-CN" altLang="en-US" dirty="0">
                <a:latin typeface="Microsoft YaHei" charset="0"/>
                <a:ea typeface="Microsoft YaHei" charset="0"/>
                <a:cs typeface="Microsoft YaHei" charset="0"/>
              </a:rPr>
              <a:t>来“保存”</a:t>
            </a:r>
            <a:endParaRPr lang="en-US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1009650" lvl="2"/>
            <a:r>
              <a:rPr lang="zh-CN" altLang="en-US" dirty="0">
                <a:latin typeface="Microsoft YaHei" charset="0"/>
                <a:ea typeface="Microsoft YaHei" charset="0"/>
                <a:cs typeface="Microsoft YaHei" charset="0"/>
              </a:rPr>
              <a:t>在函数返回之前，通过</a:t>
            </a:r>
            <a:r>
              <a:rPr lang="en-US" altLang="zh-CN" dirty="0">
                <a:latin typeface="Microsoft YaHei" charset="0"/>
                <a:ea typeface="Microsoft YaHei" charset="0"/>
                <a:cs typeface="Microsoft YaHei" charset="0"/>
              </a:rPr>
              <a:t>rsp+</a:t>
            </a:r>
            <a:r>
              <a:rPr lang="zh-CN" altLang="en-US" dirty="0">
                <a:latin typeface="Microsoft YaHei" charset="0"/>
                <a:ea typeface="Microsoft YaHei" charset="0"/>
                <a:cs typeface="Microsoft YaHei" charset="0"/>
              </a:rPr>
              <a:t>来恢复</a:t>
            </a:r>
            <a:endParaRPr lang="en-US" dirty="0">
              <a:latin typeface="Microsoft YaHei" charset="0"/>
              <a:ea typeface="Microsoft YaHei" charset="0"/>
              <a:cs typeface="Microsoft YaHei" charset="0"/>
            </a:endParaRPr>
          </a:p>
          <a:p>
            <a:pPr marL="95250" lvl="0"/>
            <a:endParaRPr lang="zh-CN" altLang="en-US" dirty="0">
              <a:solidFill>
                <a:srgbClr val="00B050"/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95250" lvl="0"/>
            <a:r>
              <a:rPr lang="zh-CN" altLang="en-US" dirty="0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</a:rPr>
              <a:t>扩展：为什么同时使用</a:t>
            </a:r>
            <a:r>
              <a:rPr lang="en-US" dirty="0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</a:rPr>
              <a:t>callee</a:t>
            </a:r>
            <a:r>
              <a:rPr lang="zh-CN" altLang="en-US" dirty="0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</a:rPr>
              <a:t>保护和</a:t>
            </a:r>
            <a:r>
              <a:rPr lang="en-US" altLang="zh-CN" dirty="0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</a:rPr>
              <a:t>caller</a:t>
            </a:r>
            <a:r>
              <a:rPr lang="zh-CN" altLang="en-US" dirty="0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</a:rPr>
              <a:t>保护两种策略</a:t>
            </a:r>
            <a:r>
              <a:rPr lang="en-US" dirty="0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</a:rPr>
              <a:t>?</a:t>
            </a:r>
            <a:endParaRPr lang="en-US" dirty="0">
              <a:solidFill>
                <a:srgbClr val="00B050"/>
              </a:solidFill>
              <a:latin typeface="Microsoft YaHei" charset="0"/>
              <a:ea typeface="Microsoft YaHei" charset="0"/>
              <a:cs typeface="Microsoft YaHei" charset="0"/>
            </a:endParaRPr>
          </a:p>
          <a:p>
            <a:pPr marL="552450" lvl="1"/>
            <a:r>
              <a:rPr lang="en-US" dirty="0">
                <a:solidFill>
                  <a:srgbClr val="00B050"/>
                </a:solidFill>
                <a:latin typeface="Microsoft YaHei" charset="0"/>
                <a:ea typeface="Microsoft YaHei" charset="0"/>
                <a:cs typeface="Microsoft YaHei" charset="0"/>
              </a:rPr>
              <a:t>https://cs.stackexchange.com/questions/108986/why-are-both-caller-save-registers-and-callee-save-registers-needed</a:t>
            </a:r>
            <a:endParaRPr lang="en-US" dirty="0">
              <a:solidFill>
                <a:srgbClr val="00B050"/>
              </a:solidFill>
              <a:latin typeface="Microsoft YaHei" charset="0"/>
              <a:ea typeface="Microsoft YaHei" charset="0"/>
              <a:cs typeface="Microsoft YaHei" charset="0"/>
            </a:endParaRPr>
          </a:p>
        </p:txBody>
      </p:sp>
      <p:sp>
        <p:nvSpPr>
          <p:cNvPr id="76808" name="Rectangle 8"/>
          <p:cNvSpPr/>
          <p:nvPr/>
        </p:nvSpPr>
        <p:spPr bwMode="auto">
          <a:xfrm>
            <a:off x="7924800" y="1371600"/>
            <a:ext cx="254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rbx</a:t>
            </a:r>
            <a:endParaRPr lang="en-US" sz="24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76811" name="Rectangle 11"/>
          <p:cNvSpPr/>
          <p:nvPr/>
        </p:nvSpPr>
        <p:spPr bwMode="auto">
          <a:xfrm>
            <a:off x="7924800" y="3657600"/>
            <a:ext cx="2540000" cy="381000"/>
          </a:xfrm>
          <a:prstGeom prst="rect">
            <a:avLst/>
          </a:prstGeom>
          <a:solidFill>
            <a:srgbClr val="F1C7C7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rsp</a:t>
            </a:r>
            <a:endParaRPr lang="en-US" sz="24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76814" name="AutoShape 14"/>
          <p:cNvSpPr/>
          <p:nvPr/>
        </p:nvSpPr>
        <p:spPr bwMode="auto">
          <a:xfrm>
            <a:off x="7467600" y="1371600"/>
            <a:ext cx="304800" cy="17526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40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6815" name="AutoShape 15"/>
          <p:cNvSpPr/>
          <p:nvPr/>
        </p:nvSpPr>
        <p:spPr bwMode="auto">
          <a:xfrm>
            <a:off x="7467600" y="3200400"/>
            <a:ext cx="304800" cy="8382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1139"/>
                  <a:pt x="10800" y="20571"/>
                </a:cubicBezTo>
                <a:lnTo>
                  <a:pt x="10800" y="11829"/>
                </a:lnTo>
                <a:cubicBezTo>
                  <a:pt x="10800" y="11261"/>
                  <a:pt x="5965" y="10800"/>
                  <a:pt x="0" y="10800"/>
                </a:cubicBezTo>
                <a:cubicBezTo>
                  <a:pt x="5965" y="10800"/>
                  <a:pt x="10800" y="10339"/>
                  <a:pt x="10800" y="9771"/>
                </a:cubicBezTo>
                <a:lnTo>
                  <a:pt x="10800" y="1029"/>
                </a:lnTo>
                <a:cubicBezTo>
                  <a:pt x="10800" y="461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76817" name="Rectangle 17"/>
          <p:cNvSpPr/>
          <p:nvPr/>
        </p:nvSpPr>
        <p:spPr bwMode="auto">
          <a:xfrm>
            <a:off x="5940107" y="1981200"/>
            <a:ext cx="1417955" cy="62992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Callee</a:t>
            </a:r>
            <a:r>
              <a:rPr lang="zh-CN" alt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保护的</a:t>
            </a:r>
            <a:endParaRPr lang="en-US" dirty="0">
              <a:solidFill>
                <a:schemeClr val="tx1"/>
              </a:solidFill>
              <a:latin typeface="Arial Narrow Bold" panose="020B0706020202030204" charset="0"/>
              <a:ea typeface="Lucida Grande" panose="020B0600040502020204" charset="0"/>
              <a:cs typeface="Lucida Grande" panose="020B0600040502020204" charset="0"/>
              <a:sym typeface="Arial Narrow Bold" panose="020B0706020202030204" charset="0"/>
            </a:endParaRPr>
          </a:p>
          <a:p>
            <a:pPr algn="r"/>
            <a:r>
              <a:rPr lang="zh-CN" alt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临时</a:t>
            </a:r>
            <a:r>
              <a:rPr lang="zh-CN" alt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寄存器</a:t>
            </a:r>
            <a:endParaRPr lang="zh-CN" alt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76818" name="Rectangle 18"/>
          <p:cNvSpPr/>
          <p:nvPr/>
        </p:nvSpPr>
        <p:spPr bwMode="auto">
          <a:xfrm>
            <a:off x="6908800" y="3429000"/>
            <a:ext cx="53340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zh-CN" alt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特殊</a:t>
            </a:r>
            <a:endParaRPr lang="en-US" altLang="zh-CN" sz="18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7924800" y="3200400"/>
            <a:ext cx="25400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24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rbp</a:t>
            </a:r>
            <a:endParaRPr lang="en-US" sz="24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5" name="Rectangle 8"/>
          <p:cNvSpPr/>
          <p:nvPr/>
        </p:nvSpPr>
        <p:spPr bwMode="auto">
          <a:xfrm>
            <a:off x="7924800" y="1828800"/>
            <a:ext cx="254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%r12</a:t>
            </a:r>
            <a:endParaRPr lang="en-US" sz="24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6" name="Rectangle 8"/>
          <p:cNvSpPr/>
          <p:nvPr/>
        </p:nvSpPr>
        <p:spPr bwMode="auto">
          <a:xfrm>
            <a:off x="7924800" y="2286000"/>
            <a:ext cx="254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%r13</a:t>
            </a:r>
            <a:endParaRPr lang="en-US" sz="24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7" name="Rectangle 8"/>
          <p:cNvSpPr/>
          <p:nvPr/>
        </p:nvSpPr>
        <p:spPr bwMode="auto">
          <a:xfrm>
            <a:off x="7924800" y="2743200"/>
            <a:ext cx="2540000" cy="381000"/>
          </a:xfrm>
          <a:prstGeom prst="rect">
            <a:avLst/>
          </a:prstGeom>
          <a:solidFill>
            <a:srgbClr val="D5F1CF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24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%r14, </a:t>
            </a:r>
            <a:r>
              <a:rPr lang="en-US" sz="2400" dirty="0">
                <a:solidFill>
                  <a:srgbClr val="00B050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%r15</a:t>
            </a:r>
            <a:endParaRPr lang="en-US" sz="2400" dirty="0">
              <a:solidFill>
                <a:srgbClr val="00B050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/>
        </p:nvSpPr>
        <p:spPr>
          <a:xfrm>
            <a:off x="1905000" y="254000"/>
            <a:ext cx="8317865" cy="1143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38100" tIns="38100" rIns="38100" bIns="38100" numCol="1" anchor="ctr" anchorCtr="0" compatLnSpc="1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tx1"/>
                </a:solidFill>
                <a:latin typeface="+mj-lt"/>
                <a:ea typeface="+mj-ea"/>
                <a:cs typeface="+mj-cs"/>
                <a:sym typeface="Calibri Bold" charset="0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panose="020B0300000000000000" charset="-128"/>
                <a:cs typeface="ヒラギノ角ゴ ProN W6" panose="020B0300000000000000" charset="-128"/>
                <a:sym typeface="Calibri Bold" charset="0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panose="020B0300000000000000" charset="-128"/>
                <a:cs typeface="ヒラギノ角ゴ ProN W6" panose="020B0300000000000000" charset="-128"/>
                <a:sym typeface="Calibri Bold" charset="0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panose="020B0300000000000000" charset="-128"/>
                <a:cs typeface="ヒラギノ角ゴ ProN W6" panose="020B0300000000000000" charset="-128"/>
                <a:sym typeface="Calibri Bold" charset="0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panose="020B0300000000000000" charset="-128"/>
                <a:cs typeface="ヒラギノ角ゴ ProN W6" panose="020B0300000000000000" charset="-128"/>
                <a:sym typeface="Calibri Bold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panose="020B0300000000000000" charset="-128"/>
                <a:cs typeface="ヒラギノ角ゴ ProN W6" panose="020B0300000000000000" charset="-128"/>
                <a:sym typeface="Calibri Bold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panose="020B0300000000000000" charset="-128"/>
                <a:cs typeface="ヒラギノ角ゴ ProN W6" panose="020B0300000000000000" charset="-128"/>
                <a:sym typeface="Calibri Bold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panose="020B0300000000000000" charset="-128"/>
                <a:cs typeface="ヒラギノ角ゴ ProN W6" panose="020B0300000000000000" charset="-128"/>
                <a:sym typeface="Calibri Bold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Calibri Bold" charset="0"/>
                <a:ea typeface="ヒラギノ角ゴ ProN W6" panose="020B0300000000000000" charset="-128"/>
                <a:cs typeface="ヒラギノ角ゴ ProN W6" panose="020B0300000000000000" charset="-128"/>
                <a:sym typeface="Calibri Bold" charset="0"/>
              </a:defRPr>
            </a:lvl9pPr>
          </a:lstStyle>
          <a:p>
            <a:pPr marL="119380" indent="-119380"/>
            <a:r>
              <a:rPr lang="en-US" sz="3200" b="0" dirty="0"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rPr>
              <a:t>x86-64 Linux #2</a:t>
            </a:r>
            <a:r>
              <a:rPr lang="zh-CN" altLang="en-US" sz="3200" b="0" dirty="0"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rPr>
              <a:t>——</a:t>
            </a:r>
            <a:r>
              <a:rPr lang="en-US" altLang="zh-CN" sz="3200" b="0" dirty="0"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rPr>
              <a:t>callee</a:t>
            </a:r>
            <a:r>
              <a:rPr lang="zh-CN" altLang="en-US" sz="3200" b="0" dirty="0"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rPr>
              <a:t>保护</a:t>
            </a:r>
            <a:r>
              <a:rPr lang="zh-CN" altLang="en-US" sz="3200" b="0" dirty="0"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rPr>
              <a:t>寄存器的</a:t>
            </a:r>
            <a:r>
              <a:rPr lang="zh-CN" altLang="en-US" sz="3200" b="0" dirty="0">
                <a:latin typeface="Times New Roman Regular" panose="02020603050405020304" charset="0"/>
                <a:ea typeface="Kaiti SC Regular" panose="02010600040101010101" charset="-122"/>
                <a:cs typeface="Times New Roman Regular" panose="02020603050405020304" charset="0"/>
              </a:rPr>
              <a:t>例子</a:t>
            </a:r>
            <a:endParaRPr lang="zh-CN" altLang="en-US" sz="3200" b="0" dirty="0">
              <a:latin typeface="Times New Roman Regular" panose="02020603050405020304" charset="0"/>
              <a:ea typeface="Kaiti SC Regular" panose="02010600040101010101" charset="-122"/>
              <a:cs typeface="Times New Roman Regular" panose="02020603050405020304" charset="0"/>
            </a:endParaRP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349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sz="3200" dirty="0">
                <a:sym typeface="+mn-ea"/>
              </a:rPr>
              <a:t>x86-64 Linux #2</a:t>
            </a:r>
            <a:r>
              <a:rPr lang="zh-CN" altLang="en-US" sz="3200" dirty="0">
                <a:sym typeface="+mn-ea"/>
              </a:rPr>
              <a:t>——</a:t>
            </a:r>
            <a:r>
              <a:rPr lang="en-US" altLang="zh-CN" sz="3200" dirty="0">
                <a:sym typeface="+mn-ea"/>
              </a:rPr>
              <a:t>callee</a:t>
            </a:r>
            <a:r>
              <a:rPr lang="zh-CN" altLang="en-US" sz="3200" dirty="0">
                <a:sym typeface="+mn-ea"/>
              </a:rPr>
              <a:t>保护寄存器的例子</a:t>
            </a:r>
            <a:endParaRPr lang="en-US" sz="3200" dirty="0">
              <a:latin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3492" name="Rectangle 4"/>
          <p:cNvSpPr/>
          <p:nvPr/>
        </p:nvSpPr>
        <p:spPr bwMode="auto">
          <a:xfrm>
            <a:off x="1905000" y="3200400"/>
            <a:ext cx="4419600" cy="3505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call_incr2: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pushq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	# callee</a:t>
            </a:r>
            <a:r>
              <a:rPr lang="zh-CN" alt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保护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subq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$16, 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movq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movq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$15213, 8(%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$3000,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esi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leaq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incr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$16, 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popq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	# callee</a:t>
            </a:r>
            <a:r>
              <a:rPr lang="zh-CN" alt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恢复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ret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3493" name="Rectangle 5"/>
          <p:cNvSpPr/>
          <p:nvPr/>
        </p:nvSpPr>
        <p:spPr bwMode="auto">
          <a:xfrm>
            <a:off x="1905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long call_incr2(long x) {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long v1 = 15213;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(&amp;v1, 3000);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x+v2;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3498" name="Line 10"/>
          <p:cNvSpPr>
            <a:spLocks noChangeShapeType="1"/>
          </p:cNvSpPr>
          <p:nvPr/>
        </p:nvSpPr>
        <p:spPr bwMode="auto">
          <a:xfrm flipH="1">
            <a:off x="8001000" y="27432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499" name="Rectangle 11"/>
          <p:cNvSpPr/>
          <p:nvPr/>
        </p:nvSpPr>
        <p:spPr bwMode="auto">
          <a:xfrm>
            <a:off x="8522006" y="2584450"/>
            <a:ext cx="62484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3500" name="Rectangle 12"/>
          <p:cNvSpPr/>
          <p:nvPr/>
        </p:nvSpPr>
        <p:spPr bwMode="auto">
          <a:xfrm>
            <a:off x="7467600" y="1066800"/>
            <a:ext cx="2282825" cy="38354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调用</a:t>
            </a:r>
            <a:r>
              <a:rPr 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callee</a:t>
            </a:r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之前的</a:t>
            </a:r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</a:t>
            </a:r>
            <a:endParaRPr lang="zh-CN" altLang="en-US" sz="20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16" name="Rectangle 9"/>
          <p:cNvSpPr/>
          <p:nvPr/>
        </p:nvSpPr>
        <p:spPr bwMode="auto">
          <a:xfrm>
            <a:off x="6705600" y="25146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17" name="Rectangle 7"/>
          <p:cNvSpPr/>
          <p:nvPr/>
        </p:nvSpPr>
        <p:spPr bwMode="auto">
          <a:xfrm>
            <a:off x="6569075" y="5809615"/>
            <a:ext cx="1431925" cy="362585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15213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18" name="Rectangle 9"/>
          <p:cNvSpPr/>
          <p:nvPr/>
        </p:nvSpPr>
        <p:spPr bwMode="auto">
          <a:xfrm>
            <a:off x="6569075" y="6190615"/>
            <a:ext cx="1431925" cy="362585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8027987" y="64071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/>
          <p:nvPr/>
        </p:nvSpPr>
        <p:spPr bwMode="auto">
          <a:xfrm>
            <a:off x="8534400" y="6178550"/>
            <a:ext cx="62484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1" name="Rectangle 12"/>
          <p:cNvSpPr/>
          <p:nvPr/>
        </p:nvSpPr>
        <p:spPr bwMode="auto">
          <a:xfrm>
            <a:off x="7467600" y="3581400"/>
            <a:ext cx="2282825" cy="38354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调用</a:t>
            </a:r>
            <a:r>
              <a:rPr lang="en-US" altLang="zh-CN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callee</a:t>
            </a:r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之后的</a:t>
            </a:r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</a:t>
            </a:r>
            <a:endParaRPr lang="zh-CN" altLang="en-US" sz="20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23" name="Rectangle 9"/>
          <p:cNvSpPr/>
          <p:nvPr/>
        </p:nvSpPr>
        <p:spPr bwMode="auto">
          <a:xfrm>
            <a:off x="6569075" y="5047615"/>
            <a:ext cx="1431925" cy="362585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8001000" y="60198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/>
          <p:nvPr/>
        </p:nvSpPr>
        <p:spPr bwMode="auto">
          <a:xfrm>
            <a:off x="8507413" y="5791200"/>
            <a:ext cx="89916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%rsp+8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4" name="Rectangle 9"/>
          <p:cNvSpPr/>
          <p:nvPr/>
        </p:nvSpPr>
        <p:spPr bwMode="auto">
          <a:xfrm>
            <a:off x="6569075" y="5428615"/>
            <a:ext cx="1431925" cy="362585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 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Calibri Bold" charset="0"/>
                <a:cs typeface="Courier New" panose="02070609020205020404"/>
                <a:sym typeface="Calibri Bold" charset="0"/>
              </a:rPr>
              <a:t>%</a:t>
            </a:r>
            <a:r>
              <a:rPr lang="en-US" sz="1600" b="1" dirty="0" err="1">
                <a:solidFill>
                  <a:schemeClr val="tx1"/>
                </a:solidFill>
                <a:latin typeface="Courier New" panose="02070609020205020404"/>
                <a:ea typeface="Calibri Bold" charset="0"/>
                <a:cs typeface="Courier New" panose="02070609020205020404"/>
                <a:sym typeface="Calibri Bold" charset="0"/>
              </a:rPr>
              <a:t>rbx</a:t>
            </a:r>
            <a:endParaRPr lang="en-US" sz="1600" b="1" dirty="0">
              <a:solidFill>
                <a:schemeClr val="tx1"/>
              </a:solidFill>
              <a:latin typeface="Courier New" panose="02070609020205020404"/>
              <a:ea typeface="Calibri Bold" charset="0"/>
              <a:cs typeface="Courier New" panose="02070609020205020404"/>
              <a:sym typeface="Calibri Bold" charset="0"/>
            </a:endParaRPr>
          </a:p>
        </p:txBody>
      </p:sp>
      <p:sp>
        <p:nvSpPr>
          <p:cNvPr id="2" name="Rectangle 13"/>
          <p:cNvSpPr/>
          <p:nvPr/>
        </p:nvSpPr>
        <p:spPr bwMode="auto">
          <a:xfrm>
            <a:off x="6569075" y="1644650"/>
            <a:ext cx="1431925" cy="86995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3" name="Rectangle 9"/>
          <p:cNvSpPr/>
          <p:nvPr/>
        </p:nvSpPr>
        <p:spPr bwMode="auto">
          <a:xfrm>
            <a:off x="6569075" y="2533015"/>
            <a:ext cx="1431925" cy="362585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4" name="Rectangle 13"/>
          <p:cNvSpPr/>
          <p:nvPr/>
        </p:nvSpPr>
        <p:spPr bwMode="auto">
          <a:xfrm>
            <a:off x="6569075" y="4159250"/>
            <a:ext cx="1431925" cy="86995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6349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sz="3200" dirty="0">
                <a:sym typeface="+mn-ea"/>
              </a:rPr>
              <a:t>x86-64 Linux #2</a:t>
            </a:r>
            <a:r>
              <a:rPr lang="zh-CN" altLang="en-US" sz="3200" dirty="0">
                <a:sym typeface="+mn-ea"/>
              </a:rPr>
              <a:t>——</a:t>
            </a:r>
            <a:r>
              <a:rPr lang="en-US" altLang="zh-CN" sz="3200" dirty="0">
                <a:sym typeface="+mn-ea"/>
              </a:rPr>
              <a:t>callee</a:t>
            </a:r>
            <a:r>
              <a:rPr lang="zh-CN" altLang="en-US" sz="3200" dirty="0">
                <a:sym typeface="+mn-ea"/>
              </a:rPr>
              <a:t>保护寄存器的例子</a:t>
            </a:r>
            <a:endParaRPr lang="en-US" sz="3200" dirty="0">
              <a:latin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3492" name="Rectangle 4"/>
          <p:cNvSpPr/>
          <p:nvPr/>
        </p:nvSpPr>
        <p:spPr bwMode="auto">
          <a:xfrm>
            <a:off x="1905000" y="3200400"/>
            <a:ext cx="4419600" cy="34290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call_incr2: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pushq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	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# callee</a:t>
            </a:r>
            <a:r>
              <a:rPr lang="zh-CN" alt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保护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subq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$16,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$15213, 8(%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$3000,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esi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leaq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8(%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incr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$16, 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rsp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popq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	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# callee</a:t>
            </a:r>
            <a:r>
              <a:rPr lang="zh-CN" alt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恢复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ret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3493" name="Rectangle 5"/>
          <p:cNvSpPr/>
          <p:nvPr/>
        </p:nvSpPr>
        <p:spPr bwMode="auto">
          <a:xfrm>
            <a:off x="1905000" y="1371600"/>
            <a:ext cx="4343400" cy="1600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long call_incr2(long x) {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long v1 = 15213;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long v2 =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incr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(&amp;v1, 3000);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x+v2;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  <a:tab pos="457200" algn="l"/>
                <a:tab pos="14859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63498" name="Line 10"/>
          <p:cNvSpPr>
            <a:spLocks noChangeShapeType="1"/>
          </p:cNvSpPr>
          <p:nvPr/>
        </p:nvSpPr>
        <p:spPr bwMode="auto">
          <a:xfrm flipH="1">
            <a:off x="8001000" y="5943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63499" name="Rectangle 11"/>
          <p:cNvSpPr/>
          <p:nvPr/>
        </p:nvSpPr>
        <p:spPr bwMode="auto">
          <a:xfrm>
            <a:off x="8522006" y="5784850"/>
            <a:ext cx="62484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63500" name="Rectangle 12"/>
          <p:cNvSpPr/>
          <p:nvPr/>
        </p:nvSpPr>
        <p:spPr bwMode="auto">
          <a:xfrm>
            <a:off x="7467600" y="4267200"/>
            <a:ext cx="2790825" cy="38354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altLang="zh-CN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callee</a:t>
            </a:r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函数</a:t>
            </a:r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返回之前的栈</a:t>
            </a:r>
            <a:endParaRPr lang="en-US" sz="20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63501" name="Rectangle 13"/>
          <p:cNvSpPr/>
          <p:nvPr/>
        </p:nvSpPr>
        <p:spPr bwMode="auto">
          <a:xfrm>
            <a:off x="6569075" y="4800600"/>
            <a:ext cx="1431925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16" name="Rectangle 9"/>
          <p:cNvSpPr/>
          <p:nvPr/>
        </p:nvSpPr>
        <p:spPr bwMode="auto">
          <a:xfrm>
            <a:off x="6569075" y="5715000"/>
            <a:ext cx="1431925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17" name="Rectangle 7"/>
          <p:cNvSpPr/>
          <p:nvPr/>
        </p:nvSpPr>
        <p:spPr bwMode="auto">
          <a:xfrm>
            <a:off x="6569075" y="3054350"/>
            <a:ext cx="1431925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15213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18" name="Rectangle 9"/>
          <p:cNvSpPr/>
          <p:nvPr/>
        </p:nvSpPr>
        <p:spPr bwMode="auto">
          <a:xfrm>
            <a:off x="6569075" y="3435350"/>
            <a:ext cx="1431925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Unused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19" name="Line 10"/>
          <p:cNvSpPr>
            <a:spLocks noChangeShapeType="1"/>
          </p:cNvSpPr>
          <p:nvPr/>
        </p:nvSpPr>
        <p:spPr bwMode="auto">
          <a:xfrm flipH="1">
            <a:off x="8027987" y="366395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0" name="Rectangle 11"/>
          <p:cNvSpPr/>
          <p:nvPr/>
        </p:nvSpPr>
        <p:spPr bwMode="auto">
          <a:xfrm>
            <a:off x="8534400" y="3435350"/>
            <a:ext cx="62484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1" name="Rectangle 12"/>
          <p:cNvSpPr/>
          <p:nvPr/>
        </p:nvSpPr>
        <p:spPr bwMode="auto">
          <a:xfrm>
            <a:off x="7467600" y="838200"/>
            <a:ext cx="2282825" cy="38354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调用</a:t>
            </a:r>
            <a:r>
              <a:rPr lang="en-US" altLang="zh-CN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callee</a:t>
            </a:r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之后的</a:t>
            </a:r>
            <a:r>
              <a:rPr lang="zh-CN" altLang="en-US" sz="20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栈</a:t>
            </a:r>
            <a:endParaRPr lang="zh-CN" altLang="en-US" sz="20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22" name="Rectangle 13"/>
          <p:cNvSpPr/>
          <p:nvPr/>
        </p:nvSpPr>
        <p:spPr bwMode="auto">
          <a:xfrm>
            <a:off x="6569075" y="1377950"/>
            <a:ext cx="1431925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23" name="Rectangle 9"/>
          <p:cNvSpPr/>
          <p:nvPr/>
        </p:nvSpPr>
        <p:spPr bwMode="auto">
          <a:xfrm>
            <a:off x="6569075" y="2292350"/>
            <a:ext cx="1431925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 flipH="1">
            <a:off x="8001000" y="32766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27" name="Rectangle 11"/>
          <p:cNvSpPr/>
          <p:nvPr/>
        </p:nvSpPr>
        <p:spPr bwMode="auto">
          <a:xfrm>
            <a:off x="8507413" y="3048000"/>
            <a:ext cx="89916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%rsp+8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4" name="Rectangle 9"/>
          <p:cNvSpPr/>
          <p:nvPr/>
        </p:nvSpPr>
        <p:spPr bwMode="auto">
          <a:xfrm>
            <a:off x="6569075" y="2673350"/>
            <a:ext cx="1431925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 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/>
                <a:ea typeface="Calibri Bold" charset="0"/>
                <a:cs typeface="Courier New" panose="02070609020205020404"/>
                <a:sym typeface="Calibri Bold" charset="0"/>
              </a:rPr>
              <a:t>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/>
                <a:ea typeface="Calibri Bold" charset="0"/>
                <a:cs typeface="Courier New" panose="02070609020205020404"/>
                <a:sym typeface="Calibri Bold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anose="02070609020205020404"/>
              <a:ea typeface="Calibri Bold" charset="0"/>
              <a:cs typeface="Courier New" panose="02070609020205020404"/>
              <a:sym typeface="Calibri Bold" charset="0"/>
            </a:endParaRPr>
          </a:p>
        </p:txBody>
      </p:sp>
    </p:spTree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05000" y="101600"/>
            <a:ext cx="8382000" cy="763270"/>
          </a:xfrm>
        </p:spPr>
        <p:txBody>
          <a:bodyPr/>
          <a:p>
            <a:r>
              <a:rPr lang="en-US" altLang="zh-CN" sz="3200"/>
              <a:t>Caller-Callee</a:t>
            </a:r>
            <a:r>
              <a:rPr lang="zh-CN" altLang="en-US" sz="3200"/>
              <a:t>的</a:t>
            </a:r>
            <a:r>
              <a:rPr lang="zh-CN" altLang="en-US" sz="3200"/>
              <a:t>分工</a:t>
            </a:r>
            <a:endParaRPr lang="zh-CN" altLang="en-US" sz="3200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752600" y="685800"/>
          <a:ext cx="8322310" cy="604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2115"/>
                <a:gridCol w="4100195"/>
              </a:tblGrid>
              <a:tr h="34544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latin typeface="Microsoft YaHei" charset="0"/>
                          <a:ea typeface="Microsoft YaHei" charset="0"/>
                        </a:rPr>
                        <a:t>caller</a:t>
                      </a:r>
                      <a:endParaRPr lang="en-US" altLang="zh-CN" sz="1600">
                        <a:latin typeface="Microsoft YaHei" charset="0"/>
                        <a:ea typeface="Microsoft YaHei" charset="0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latin typeface="Microsoft YaHei" charset="0"/>
                          <a:ea typeface="Microsoft YaHei" charset="0"/>
                        </a:rPr>
                        <a:t>callee</a:t>
                      </a:r>
                      <a:endParaRPr lang="en-US" altLang="zh-CN" sz="1600">
                        <a:latin typeface="Microsoft YaHei" charset="0"/>
                        <a:ea typeface="Microsoft YaHei" charset="0"/>
                      </a:endParaRPr>
                    </a:p>
                  </a:txBody>
                  <a:tcPr/>
                </a:tc>
              </a:tr>
              <a:tr h="5652770">
                <a:tc>
                  <a:txBody>
                    <a:bodyPr/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调用前</a:t>
                      </a:r>
                      <a:r>
                        <a:rPr lang="zh-CN" altLang="en-US" sz="1600" b="1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，</a:t>
                      </a:r>
                      <a:r>
                        <a:rPr lang="zh-CN" altLang="en-US" sz="1600">
                          <a:highlight>
                            <a:srgbClr val="FFFF00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保存</a:t>
                      </a:r>
                      <a:r>
                        <a:rPr lang="en-US" altLang="zh-CN" sz="1600">
                          <a:highlight>
                            <a:srgbClr val="FFFF00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caller-save</a:t>
                      </a:r>
                      <a:r>
                        <a:rPr lang="zh-CN" altLang="en-US" sz="1600">
                          <a:highlight>
                            <a:srgbClr val="FFFF00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寄存器到</a:t>
                      </a:r>
                      <a:r>
                        <a:rPr lang="en-US" altLang="zh-CN" sz="1600">
                          <a:highlight>
                            <a:srgbClr val="FFFF00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caller</a:t>
                      </a:r>
                      <a:r>
                        <a:rPr lang="zh-CN" altLang="en-US" sz="1600">
                          <a:highlight>
                            <a:srgbClr val="FFFF00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的栈上（参数</a:t>
                      </a:r>
                      <a:r>
                        <a:rPr lang="en-US" altLang="zh-CN" sz="1600">
                          <a:highlight>
                            <a:srgbClr val="FFFF00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rdi..</a:t>
                      </a:r>
                      <a:r>
                        <a:rPr lang="zh-CN" altLang="en-US" sz="1600">
                          <a:highlight>
                            <a:srgbClr val="FFFF00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返回值</a:t>
                      </a:r>
                      <a:r>
                        <a:rPr lang="en-US" altLang="zh-CN" sz="1600">
                          <a:highlight>
                            <a:srgbClr val="FFFF00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rax, </a:t>
                      </a:r>
                      <a:r>
                        <a:rPr lang="en-US" altLang="zh-CN" sz="1600">
                          <a:solidFill>
                            <a:schemeClr val="bg1">
                              <a:lumMod val="65000"/>
                            </a:schemeClr>
                          </a:solidFill>
                          <a:highlight>
                            <a:srgbClr val="FFFF00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r10-r11</a:t>
                      </a:r>
                      <a:r>
                        <a:rPr lang="en-US" altLang="zh-CN" sz="1600">
                          <a:highlight>
                            <a:srgbClr val="FFFF00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)</a:t>
                      </a:r>
                      <a:endParaRPr lang="zh-CN" altLang="en-US" sz="1600">
                        <a:highlight>
                          <a:srgbClr val="FFFF00"/>
                        </a:highlight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将</a:t>
                      </a:r>
                      <a:r>
                        <a:rPr lang="en-US" altLang="zh-CN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callee</a:t>
                      </a: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所需实际参数准备好，即拷贝到</a:t>
                      </a:r>
                      <a:r>
                        <a:rPr lang="zh-CN" altLang="en-US" sz="1600">
                          <a:solidFill>
                            <a:srgbClr val="00B050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约定</a:t>
                      </a: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的形式参数位置（</a:t>
                      </a:r>
                      <a:r>
                        <a:rPr lang="en-US" altLang="zh-CN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rdi...</a:t>
                      </a: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）</a:t>
                      </a:r>
                      <a:endParaRPr lang="en-US" altLang="zh-CN" sz="160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调用时</a:t>
                      </a: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，</a:t>
                      </a:r>
                      <a:r>
                        <a:rPr 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call calleeFunc</a:t>
                      </a: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指令：将</a:t>
                      </a: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  <a:sym typeface="+mn-ea"/>
                        </a:rPr>
                        <a:t>返回地址</a:t>
                      </a: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填入</a:t>
                      </a:r>
                      <a:r>
                        <a:rPr lang="zh-CN" altLang="en-US" sz="1600">
                          <a:solidFill>
                            <a:srgbClr val="00B050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约定</a:t>
                      </a: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的栈顶，同时将</a:t>
                      </a:r>
                      <a:r>
                        <a:rPr lang="en-US" altLang="zh-CN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PC</a:t>
                      </a: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寄存器更新为</a:t>
                      </a:r>
                      <a:r>
                        <a:rPr lang="en-US" altLang="zh-CN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calleeFunc</a:t>
                      </a:r>
                      <a:endParaRPr lang="en-US" altLang="zh-CN" sz="160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endParaRPr lang="zh-CN" altLang="en-US" sz="1600" b="1">
                        <a:solidFill>
                          <a:srgbClr val="FF0000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endParaRPr lang="zh-CN" altLang="en-US" sz="1600" b="1">
                        <a:solidFill>
                          <a:srgbClr val="FF0000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endParaRPr lang="zh-CN" altLang="en-US" sz="1600" b="1">
                        <a:solidFill>
                          <a:srgbClr val="FF0000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endParaRPr lang="zh-CN" altLang="en-US" sz="1600" b="1">
                        <a:solidFill>
                          <a:srgbClr val="FF0000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endParaRPr lang="zh-CN" altLang="en-US" sz="1600" b="1">
                        <a:solidFill>
                          <a:srgbClr val="FF0000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endParaRPr lang="zh-CN" altLang="en-US" sz="1600" b="1">
                        <a:solidFill>
                          <a:srgbClr val="FF0000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endParaRPr lang="zh-CN" altLang="en-US" sz="1600" b="1">
                        <a:solidFill>
                          <a:srgbClr val="FF0000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endParaRPr lang="zh-CN" altLang="en-US" sz="1600" b="1">
                        <a:solidFill>
                          <a:srgbClr val="FF0000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endParaRPr lang="zh-CN" altLang="en-US" sz="1600" b="1">
                        <a:solidFill>
                          <a:srgbClr val="FF0000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endParaRPr lang="zh-CN" altLang="en-US" sz="1600" b="1">
                        <a:solidFill>
                          <a:srgbClr val="FF0000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endParaRPr lang="zh-CN" altLang="en-US" sz="1600" b="1">
                        <a:solidFill>
                          <a:srgbClr val="FF0000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endParaRPr lang="zh-CN" altLang="en-US" sz="1600" b="1">
                        <a:solidFill>
                          <a:srgbClr val="FF0000"/>
                        </a:solidFill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r>
                        <a:rPr lang="zh-CN" altLang="en-US" sz="1600" b="1">
                          <a:solidFill>
                            <a:srgbClr val="FF0000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调用后</a:t>
                      </a:r>
                      <a:r>
                        <a:rPr lang="zh-CN" altLang="en-US" sz="1600">
                          <a:solidFill>
                            <a:srgbClr val="FF0000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，</a:t>
                      </a: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从</a:t>
                      </a:r>
                      <a:r>
                        <a:rPr lang="en-US" altLang="zh-CN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callee</a:t>
                      </a:r>
                      <a:r>
                        <a:rPr lang="zh-CN" altLang="en-US" sz="1600">
                          <a:solidFill>
                            <a:srgbClr val="00B050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约定</a:t>
                      </a: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的返回值寄存器（</a:t>
                      </a:r>
                      <a:r>
                        <a:rPr lang="en-US" altLang="zh-CN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rax</a:t>
                      </a: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）获取返回值</a:t>
                      </a:r>
                      <a:endParaRPr lang="zh-CN" altLang="en-US" sz="160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r>
                        <a:rPr lang="zh-CN" altLang="en-US" sz="1600">
                          <a:highlight>
                            <a:srgbClr val="FFFF00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从栈上恢复</a:t>
                      </a:r>
                      <a:r>
                        <a:rPr lang="en-US" altLang="zh-CN" sz="1600">
                          <a:highlight>
                            <a:srgbClr val="FFFF00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  <a:sym typeface="+mn-ea"/>
                        </a:rPr>
                        <a:t>caller-saving</a:t>
                      </a:r>
                      <a:r>
                        <a:rPr lang="zh-CN" altLang="en-US" sz="1600">
                          <a:highlight>
                            <a:srgbClr val="FFFF00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  <a:sym typeface="+mn-ea"/>
                        </a:rPr>
                        <a:t>寄存器</a:t>
                      </a:r>
                      <a:endParaRPr lang="zh-CN" altLang="en-US" sz="1600">
                        <a:latin typeface="Microsoft YaHei" charset="0"/>
                        <a:ea typeface="Microsoft YaHei" charset="0"/>
                        <a:cs typeface="Microsoft YaHei" charset="0"/>
                        <a:sym typeface="+mn-ea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往后执行</a:t>
                      </a:r>
                      <a:endParaRPr lang="zh-CN" altLang="en-US" sz="160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endParaRPr lang="zh-CN" altLang="en-US" sz="1600">
                        <a:highlight>
                          <a:srgbClr val="FF00FF"/>
                        </a:highlight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endParaRPr lang="zh-CN" altLang="en-US" sz="1600">
                        <a:highlight>
                          <a:srgbClr val="FF00FF"/>
                        </a:highlight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endParaRPr lang="zh-CN" altLang="en-US" sz="1600">
                        <a:highlight>
                          <a:srgbClr val="FF00FF"/>
                        </a:highlight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endParaRPr lang="zh-CN" altLang="en-US" sz="1600">
                        <a:highlight>
                          <a:srgbClr val="FF00FF"/>
                        </a:highlight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endParaRPr lang="zh-CN" altLang="en-US" sz="1600">
                        <a:highlight>
                          <a:srgbClr val="FF00FF"/>
                        </a:highlight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endParaRPr lang="zh-CN" altLang="en-US" sz="1600">
                        <a:highlight>
                          <a:srgbClr val="FF00FF"/>
                        </a:highlight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endParaRPr lang="zh-CN" altLang="en-US" sz="1600">
                        <a:highlight>
                          <a:srgbClr val="FF00FF"/>
                        </a:highlight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r>
                        <a:rPr lang="zh-CN" altLang="en-US" sz="1600">
                          <a:highlight>
                            <a:srgbClr val="00FFFF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保护</a:t>
                      </a:r>
                      <a:r>
                        <a:rPr lang="en-US" altLang="zh-CN" sz="1600">
                          <a:highlight>
                            <a:srgbClr val="00FFFF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callee-saving</a:t>
                      </a:r>
                      <a:r>
                        <a:rPr lang="zh-CN" altLang="en-US" sz="1600">
                          <a:highlight>
                            <a:srgbClr val="00FFFF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寄存器到栈上</a:t>
                      </a:r>
                      <a:r>
                        <a:rPr lang="en-US" altLang="zh-CN" sz="1600">
                          <a:highlight>
                            <a:srgbClr val="00FFFF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(r12-r15, rsp, rbx)</a:t>
                      </a:r>
                      <a:endParaRPr lang="en-US" altLang="zh-CN" sz="1600">
                        <a:highlight>
                          <a:srgbClr val="00FFFF"/>
                        </a:highlight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 algn="l">
                        <a:buClrTx/>
                        <a:buSzTx/>
                        <a:buFont typeface="Arial" panose="020B0704020202020204" pitchFamily="34" charset="0"/>
                        <a:buChar char="•"/>
                      </a:pPr>
                      <a:r>
                        <a:rPr lang="zh-CN" altLang="en-US" sz="1600">
                          <a:highlight>
                            <a:srgbClr val="FFFF00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  <a:sym typeface="+mn-ea"/>
                        </a:rPr>
                        <a:t>分配栈空间</a:t>
                      </a:r>
                      <a:r>
                        <a:rPr lang="en-US" altLang="zh-CN" sz="1600">
                          <a:highlight>
                            <a:srgbClr val="FFFF00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  <a:sym typeface="+mn-ea"/>
                        </a:rPr>
                        <a:t>(</a:t>
                      </a:r>
                      <a:r>
                        <a:rPr lang="zh-CN" altLang="en-US" sz="1600">
                          <a:highlight>
                            <a:srgbClr val="FFFF00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  <a:sym typeface="+mn-ea"/>
                        </a:rPr>
                        <a:t>通过修改</a:t>
                      </a:r>
                      <a:r>
                        <a:rPr lang="en-US" altLang="zh-CN" sz="1600">
                          <a:highlight>
                            <a:srgbClr val="FFFF00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  <a:sym typeface="+mn-ea"/>
                        </a:rPr>
                        <a:t>rsp</a:t>
                      </a:r>
                      <a:r>
                        <a:rPr lang="zh-CN" altLang="en-US" sz="1600">
                          <a:highlight>
                            <a:srgbClr val="FFFF00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  <a:sym typeface="+mn-ea"/>
                        </a:rPr>
                        <a:t>）</a:t>
                      </a:r>
                      <a:endParaRPr lang="zh-CN" altLang="en-US" sz="1600">
                        <a:highlight>
                          <a:srgbClr val="FFFF00"/>
                        </a:highlight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从</a:t>
                      </a:r>
                      <a:r>
                        <a:rPr lang="zh-CN" altLang="en-US" sz="1600">
                          <a:solidFill>
                            <a:srgbClr val="00B050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约定</a:t>
                      </a: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的形式参数位置（</a:t>
                      </a:r>
                      <a:r>
                        <a:rPr lang="en-US" altLang="zh-CN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rdi...</a:t>
                      </a: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）读取实际参数值</a:t>
                      </a:r>
                      <a:endParaRPr lang="zh-CN" altLang="en-US" sz="160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完成计算任务</a:t>
                      </a:r>
                      <a:endParaRPr lang="zh-CN" altLang="en-US" sz="160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将计算结果存储到</a:t>
                      </a:r>
                      <a:r>
                        <a:rPr lang="zh-CN" altLang="en-US" sz="1600">
                          <a:solidFill>
                            <a:srgbClr val="00B050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约定</a:t>
                      </a: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的返回值寄存器（</a:t>
                      </a:r>
                      <a:r>
                        <a:rPr lang="en-US" altLang="zh-CN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rax</a:t>
                      </a: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）</a:t>
                      </a:r>
                      <a:endParaRPr lang="zh-CN" altLang="en-US" sz="160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r>
                        <a:rPr lang="zh-CN" altLang="en-US" sz="1600">
                          <a:highlight>
                            <a:srgbClr val="FFFF00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  <a:sym typeface="+mn-ea"/>
                        </a:rPr>
                        <a:t>释放栈空间（通过修改</a:t>
                      </a:r>
                      <a:r>
                        <a:rPr lang="en-US" altLang="zh-CN" sz="1600">
                          <a:highlight>
                            <a:srgbClr val="FFFF00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  <a:sym typeface="+mn-ea"/>
                        </a:rPr>
                        <a:t>rsp</a:t>
                      </a:r>
                      <a:r>
                        <a:rPr lang="zh-CN" altLang="en-US" sz="1600">
                          <a:highlight>
                            <a:srgbClr val="FFFF00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  <a:sym typeface="+mn-ea"/>
                        </a:rPr>
                        <a:t>）</a:t>
                      </a:r>
                      <a:endParaRPr lang="zh-CN" altLang="en-US" sz="160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r>
                        <a:rPr lang="zh-CN" altLang="en-US" sz="1600">
                          <a:highlight>
                            <a:srgbClr val="00FFFF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从栈上恢复</a:t>
                      </a:r>
                      <a:r>
                        <a:rPr lang="en-US" altLang="zh-CN" sz="1600">
                          <a:highlight>
                            <a:srgbClr val="00FFFF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  <a:sym typeface="+mn-ea"/>
                        </a:rPr>
                        <a:t>callee-saving</a:t>
                      </a:r>
                      <a:r>
                        <a:rPr lang="zh-CN" altLang="en-US" sz="1600">
                          <a:highlight>
                            <a:srgbClr val="00FFFF"/>
                          </a:highlight>
                          <a:latin typeface="Microsoft YaHei" charset="0"/>
                          <a:ea typeface="Microsoft YaHei" charset="0"/>
                          <a:cs typeface="Microsoft YaHei" charset="0"/>
                          <a:sym typeface="+mn-ea"/>
                        </a:rPr>
                        <a:t>寄存器</a:t>
                      </a:r>
                      <a:endParaRPr lang="zh-CN" altLang="en-US" sz="1600">
                        <a:highlight>
                          <a:srgbClr val="00FFFF"/>
                        </a:highlight>
                        <a:latin typeface="Microsoft YaHei" charset="0"/>
                        <a:ea typeface="Microsoft YaHei" charset="0"/>
                        <a:cs typeface="Microsoft YaHei" charset="0"/>
                        <a:sym typeface="+mn-ea"/>
                      </a:endParaRPr>
                    </a:p>
                    <a:p>
                      <a:pPr marL="285750" indent="-285750">
                        <a:buFont typeface="Arial" panose="020B0704020202020204" pitchFamily="34" charset="0"/>
                        <a:buChar char="•"/>
                      </a:pP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利用</a:t>
                      </a:r>
                      <a:r>
                        <a:rPr 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ret</a:t>
                      </a: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指令，跳转到</a:t>
                      </a:r>
                      <a:r>
                        <a:rPr lang="zh-CN" altLang="en-US" sz="1600">
                          <a:solidFill>
                            <a:srgbClr val="00B050"/>
                          </a:solidFill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约定</a:t>
                      </a: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的返回地址（保存在</a:t>
                      </a:r>
                      <a:r>
                        <a:rPr lang="zh-CN" altLang="en-US" sz="1600">
                          <a:latin typeface="Microsoft YaHei" charset="0"/>
                          <a:ea typeface="Microsoft YaHei" charset="0"/>
                          <a:cs typeface="Microsoft YaHei" charset="0"/>
                        </a:rPr>
                        <a:t>栈顶）</a:t>
                      </a:r>
                      <a:endParaRPr lang="zh-CN" altLang="en-US" sz="160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cxnSp>
        <p:nvCxnSpPr>
          <p:cNvPr id="4" name="曲线连接符 3"/>
          <p:cNvCxnSpPr/>
          <p:nvPr/>
        </p:nvCxnSpPr>
        <p:spPr>
          <a:xfrm>
            <a:off x="2743200" y="1981200"/>
            <a:ext cx="3886200" cy="1524000"/>
          </a:xfrm>
          <a:prstGeom prst="curvedConnector3">
            <a:avLst>
              <a:gd name="adj1" fmla="val 50016"/>
            </a:avLst>
          </a:prstGeom>
          <a:solidFill>
            <a:schemeClr val="accent1"/>
          </a:solidFill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6" name="曲线连接符 5"/>
          <p:cNvCxnSpPr/>
          <p:nvPr/>
        </p:nvCxnSpPr>
        <p:spPr>
          <a:xfrm rot="10800000" flipV="1">
            <a:off x="4267200" y="4265930"/>
            <a:ext cx="3886200" cy="1600835"/>
          </a:xfrm>
          <a:prstGeom prst="curvedConnector3">
            <a:avLst>
              <a:gd name="adj1" fmla="val 49984"/>
            </a:avLst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7" name="曲线连接符 6"/>
          <p:cNvCxnSpPr/>
          <p:nvPr/>
        </p:nvCxnSpPr>
        <p:spPr>
          <a:xfrm>
            <a:off x="3200400" y="2514600"/>
            <a:ext cx="5334000" cy="2743200"/>
          </a:xfrm>
          <a:prstGeom prst="curvedConnector3">
            <a:avLst>
              <a:gd name="adj1" fmla="val 6357"/>
            </a:avLst>
          </a:prstGeom>
          <a:solidFill>
            <a:schemeClr val="accent1"/>
          </a:solidFill>
          <a:ln w="25400" cap="flat" cmpd="sng" algn="ctr">
            <a:solidFill>
              <a:srgbClr val="00B05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9" name="文本框 8"/>
          <p:cNvSpPr txBox="1"/>
          <p:nvPr/>
        </p:nvSpPr>
        <p:spPr>
          <a:xfrm>
            <a:off x="2133600" y="4343400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控制的</a:t>
            </a:r>
            <a:r>
              <a:rPr lang="zh-CN" altLang="en-US" sz="16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传递</a:t>
            </a:r>
            <a:endParaRPr lang="zh-CN" altLang="en-US" sz="160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2"/>
            </p:custDataLst>
          </p:nvPr>
        </p:nvSpPr>
        <p:spPr>
          <a:xfrm>
            <a:off x="2667000" y="2667000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参数的</a:t>
            </a:r>
            <a:r>
              <a:rPr lang="zh-CN" altLang="en-US" sz="16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传递</a:t>
            </a:r>
            <a:endParaRPr lang="zh-CN" altLang="en-US" sz="160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3429000" y="5181600"/>
            <a:ext cx="4572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返回值的</a:t>
            </a:r>
            <a:r>
              <a:rPr lang="zh-CN" altLang="en-US" sz="1600">
                <a:latin typeface="Kaiti SC Regular" panose="02010600040101010101" charset="-122"/>
                <a:ea typeface="Kaiti SC Regular" panose="02010600040101010101" charset="-122"/>
                <a:cs typeface="Kaiti SC Regular" panose="02010600040101010101" charset="-122"/>
                <a:sym typeface="+mn-ea"/>
              </a:rPr>
              <a:t>传递</a:t>
            </a:r>
            <a:endParaRPr lang="zh-CN" altLang="en-US" sz="1600">
              <a:latin typeface="Kaiti SC Regular" panose="02010600040101010101" charset="-122"/>
              <a:ea typeface="Kaiti SC Regular" panose="02010600040101010101" charset="-122"/>
              <a:cs typeface="Kaiti SC Regular" panose="02010600040101010101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B050"/>
                </a:solidFill>
              </a:rPr>
              <a:t>局部变量放寄存器还是栈</a:t>
            </a:r>
            <a:r>
              <a:rPr lang="en-US" altLang="zh-CN" dirty="0">
                <a:solidFill>
                  <a:srgbClr val="00B050"/>
                </a:solidFill>
              </a:rPr>
              <a:t>?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dirty="0">
                <a:solidFill>
                  <a:srgbClr val="00B050"/>
                </a:solidFill>
              </a:rPr>
              <a:t>何时使用寄存器</a:t>
            </a:r>
            <a:r>
              <a:rPr lang="en-US" altLang="zh-CN" sz="2800" dirty="0">
                <a:solidFill>
                  <a:srgbClr val="00B050"/>
                </a:solidFill>
              </a:rPr>
              <a:t> ?</a:t>
            </a:r>
            <a:endParaRPr lang="en-US" altLang="zh-CN" sz="2800" dirty="0">
              <a:solidFill>
                <a:srgbClr val="00B050"/>
              </a:solidFill>
            </a:endParaRPr>
          </a:p>
          <a:p>
            <a:pPr lvl="1"/>
            <a:r>
              <a:rPr lang="zh-CN" altLang="en-US" dirty="0">
                <a:solidFill>
                  <a:srgbClr val="00B050"/>
                </a:solidFill>
              </a:rPr>
              <a:t>参数：前</a:t>
            </a:r>
            <a:r>
              <a:rPr lang="en-US" altLang="zh-CN" dirty="0">
                <a:solidFill>
                  <a:srgbClr val="00B050"/>
                </a:solidFill>
              </a:rPr>
              <a:t>6</a:t>
            </a:r>
            <a:r>
              <a:rPr lang="zh-CN" altLang="en-US" dirty="0">
                <a:solidFill>
                  <a:srgbClr val="00B050"/>
                </a:solidFill>
              </a:rPr>
              <a:t>个参数放</a:t>
            </a:r>
            <a:r>
              <a:rPr lang="zh-CN" altLang="en-US" dirty="0">
                <a:solidFill>
                  <a:srgbClr val="00B050"/>
                </a:solidFill>
              </a:rPr>
              <a:t>寄存器</a:t>
            </a:r>
            <a:endParaRPr lang="zh-CN" altLang="en-US" dirty="0">
              <a:solidFill>
                <a:srgbClr val="00B050"/>
              </a:solidFill>
            </a:endParaRPr>
          </a:p>
          <a:p>
            <a:pPr lvl="1"/>
            <a:r>
              <a:rPr lang="zh-CN" altLang="en-US" dirty="0">
                <a:solidFill>
                  <a:srgbClr val="00B050"/>
                </a:solidFill>
              </a:rPr>
              <a:t>局部变量：尽量放寄存器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zh-CN" altLang="en-US" sz="2800" dirty="0">
                <a:solidFill>
                  <a:srgbClr val="00B050"/>
                </a:solidFill>
              </a:rPr>
              <a:t>何时使用栈帧</a:t>
            </a:r>
            <a:r>
              <a:rPr lang="en-US" altLang="zh-CN" sz="2800" dirty="0">
                <a:solidFill>
                  <a:srgbClr val="00B050"/>
                </a:solidFill>
              </a:rPr>
              <a:t>?</a:t>
            </a:r>
            <a:endParaRPr lang="en-US" altLang="zh-CN" sz="2800" dirty="0">
              <a:solidFill>
                <a:srgbClr val="00B050"/>
              </a:solidFill>
            </a:endParaRPr>
          </a:p>
          <a:p>
            <a:pPr lvl="1"/>
            <a:r>
              <a:rPr lang="zh-CN" altLang="en-US" sz="2000" dirty="0">
                <a:solidFill>
                  <a:srgbClr val="00B050"/>
                </a:solidFill>
              </a:rPr>
              <a:t>寄存器不够时</a:t>
            </a:r>
            <a:endParaRPr lang="en-US" altLang="zh-CN" sz="2000" dirty="0">
              <a:solidFill>
                <a:srgbClr val="00B050"/>
              </a:solidFill>
            </a:endParaRPr>
          </a:p>
          <a:p>
            <a:pPr lvl="2"/>
            <a:r>
              <a:rPr lang="zh-CN" altLang="en-US" sz="2000" dirty="0">
                <a:solidFill>
                  <a:srgbClr val="00B050"/>
                </a:solidFill>
              </a:rPr>
              <a:t>参数数目大于</a:t>
            </a:r>
            <a:r>
              <a:rPr lang="en-US" altLang="zh-CN" sz="2000" dirty="0">
                <a:solidFill>
                  <a:srgbClr val="00B050"/>
                </a:solidFill>
              </a:rPr>
              <a:t>6</a:t>
            </a:r>
            <a:r>
              <a:rPr lang="zh-CN" altLang="en-US" sz="2000" dirty="0">
                <a:solidFill>
                  <a:srgbClr val="00B050"/>
                </a:solidFill>
              </a:rPr>
              <a:t>个</a:t>
            </a:r>
            <a:endParaRPr lang="zh-CN" altLang="en-US" sz="2000" dirty="0">
              <a:solidFill>
                <a:srgbClr val="00B050"/>
              </a:solidFill>
            </a:endParaRPr>
          </a:p>
          <a:p>
            <a:pPr lvl="2"/>
            <a:r>
              <a:rPr lang="zh-CN" altLang="en-US" sz="2000" dirty="0">
                <a:solidFill>
                  <a:srgbClr val="00B050"/>
                </a:solidFill>
              </a:rPr>
              <a:t>局部变量过多，寄存器放不下时</a:t>
            </a:r>
            <a:endParaRPr lang="en-US" altLang="zh-CN" sz="2000" dirty="0">
              <a:solidFill>
                <a:srgbClr val="00B050"/>
              </a:solidFill>
            </a:endParaRPr>
          </a:p>
          <a:p>
            <a:pPr lvl="1"/>
            <a:r>
              <a:rPr lang="zh-CN" altLang="en-US" dirty="0">
                <a:solidFill>
                  <a:srgbClr val="00B050"/>
                </a:solidFill>
              </a:rPr>
              <a:t>额外的数据需求</a:t>
            </a:r>
            <a:endParaRPr lang="zh-CN" altLang="en-US" dirty="0">
              <a:solidFill>
                <a:srgbClr val="00B050"/>
              </a:solidFill>
            </a:endParaRPr>
          </a:p>
          <a:p>
            <a:pPr lvl="2"/>
            <a:r>
              <a:rPr lang="en-US" altLang="zh-CN" dirty="0">
                <a:solidFill>
                  <a:srgbClr val="00B050"/>
                </a:solidFill>
              </a:rPr>
              <a:t>&amp;x, </a:t>
            </a:r>
            <a:r>
              <a:rPr lang="zh-CN" altLang="en-US" dirty="0">
                <a:solidFill>
                  <a:srgbClr val="00B050"/>
                </a:solidFill>
              </a:rPr>
              <a:t>局部变量参与取地址运算——寄存器无地址</a:t>
            </a:r>
            <a:endParaRPr lang="en-US" altLang="zh-CN" dirty="0">
              <a:solidFill>
                <a:srgbClr val="00B050"/>
              </a:solidFill>
            </a:endParaRPr>
          </a:p>
          <a:p>
            <a:pPr lvl="2"/>
            <a:r>
              <a:rPr lang="zh-CN" altLang="en-US" dirty="0">
                <a:solidFill>
                  <a:srgbClr val="00B050"/>
                </a:solidFill>
              </a:rPr>
              <a:t>数组或结构类型变量——超过</a:t>
            </a:r>
            <a:r>
              <a:rPr lang="zh-CN" altLang="en-US" dirty="0">
                <a:solidFill>
                  <a:srgbClr val="00B050"/>
                </a:solidFill>
              </a:rPr>
              <a:t>了寄存器宽度</a:t>
            </a:r>
            <a:endParaRPr lang="zh-CN" altLang="en-US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B050"/>
                </a:solidFill>
              </a:rPr>
              <a:t>练习</a:t>
            </a:r>
            <a:r>
              <a:rPr lang="en-US" altLang="zh-CN" dirty="0">
                <a:solidFill>
                  <a:srgbClr val="00B050"/>
                </a:solidFill>
              </a:rPr>
              <a:t>:</a:t>
            </a:r>
            <a:endParaRPr lang="zh-CN" altLang="en-US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B050"/>
                </a:solidFill>
              </a:rPr>
              <a:t>假设一个</a:t>
            </a:r>
            <a:r>
              <a:rPr lang="en-US" altLang="zh-CN" dirty="0">
                <a:solidFill>
                  <a:srgbClr val="00B050"/>
                </a:solidFill>
              </a:rPr>
              <a:t>C</a:t>
            </a:r>
            <a:r>
              <a:rPr lang="zh-CN" altLang="en-US" dirty="0">
                <a:solidFill>
                  <a:srgbClr val="00B050"/>
                </a:solidFill>
              </a:rPr>
              <a:t>语言函数</a:t>
            </a:r>
            <a:r>
              <a:rPr lang="en-US" altLang="zh-CN" dirty="0">
                <a:solidFill>
                  <a:srgbClr val="00B050"/>
                </a:solidFill>
              </a:rPr>
              <a:t> P </a:t>
            </a:r>
            <a:r>
              <a:rPr lang="zh-CN" altLang="en-US" dirty="0">
                <a:solidFill>
                  <a:srgbClr val="00B050"/>
                </a:solidFill>
              </a:rPr>
              <a:t>有</a:t>
            </a:r>
            <a:r>
              <a:rPr lang="en-US" altLang="zh-CN" dirty="0">
                <a:solidFill>
                  <a:srgbClr val="00B050"/>
                </a:solidFill>
              </a:rPr>
              <a:t>8 </a:t>
            </a:r>
            <a:r>
              <a:rPr lang="zh-CN" altLang="en-US" dirty="0">
                <a:solidFill>
                  <a:srgbClr val="00B050"/>
                </a:solidFill>
              </a:rPr>
              <a:t>个局部变量</a:t>
            </a:r>
            <a:r>
              <a:rPr lang="en-US" altLang="zh-CN" dirty="0">
                <a:solidFill>
                  <a:srgbClr val="00B050"/>
                </a:solidFill>
              </a:rPr>
              <a:t>: a0 ~ a7</a:t>
            </a:r>
            <a:endParaRPr lang="en-US" altLang="zh-CN" dirty="0">
              <a:solidFill>
                <a:srgbClr val="00B050"/>
              </a:solidFill>
            </a:endParaRPr>
          </a:p>
          <a:p>
            <a:r>
              <a:rPr lang="zh-CN" altLang="en-US" dirty="0">
                <a:solidFill>
                  <a:srgbClr val="00B050"/>
                </a:solidFill>
              </a:rPr>
              <a:t>解释这几个变量的存储方式</a:t>
            </a:r>
            <a:r>
              <a:rPr lang="en-US" altLang="zh-CN" dirty="0">
                <a:solidFill>
                  <a:srgbClr val="00B050"/>
                </a:solidFill>
              </a:rPr>
              <a:t>: </a:t>
            </a:r>
            <a:r>
              <a:rPr lang="zh-CN" altLang="en-US" dirty="0">
                <a:solidFill>
                  <a:srgbClr val="00B050"/>
                </a:solidFill>
              </a:rPr>
              <a:t>寄存器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en-US" dirty="0">
                <a:solidFill>
                  <a:srgbClr val="00B050"/>
                </a:solidFill>
              </a:rPr>
              <a:t>还是</a:t>
            </a:r>
            <a:r>
              <a:rPr lang="en-US" altLang="zh-CN" dirty="0">
                <a:solidFill>
                  <a:srgbClr val="00B050"/>
                </a:solidFill>
              </a:rPr>
              <a:t> </a:t>
            </a:r>
            <a:r>
              <a:rPr lang="zh-CN" altLang="en-US" dirty="0">
                <a:solidFill>
                  <a:srgbClr val="00B050"/>
                </a:solidFill>
              </a:rPr>
              <a:t>栈帧</a:t>
            </a:r>
            <a:r>
              <a:rPr lang="en-US" altLang="zh-CN" dirty="0">
                <a:solidFill>
                  <a:srgbClr val="00B050"/>
                </a:solidFill>
              </a:rPr>
              <a:t>?</a:t>
            </a:r>
            <a:endParaRPr lang="en-US" altLang="zh-CN" dirty="0">
              <a:solidFill>
                <a:srgbClr val="00B050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  <a:p>
            <a:endParaRPr lang="en-US" altLang="zh-CN" dirty="0">
              <a:solidFill>
                <a:srgbClr val="00B05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83985" y="2312035"/>
            <a:ext cx="3307715" cy="4520565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能否支持递归</a:t>
            </a:r>
            <a:r>
              <a:rPr lang="zh-CN" altLang="en-US"/>
              <a:t>调用？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每个函数调用</a:t>
            </a:r>
            <a:endParaRPr lang="zh-CN" altLang="en-US"/>
          </a:p>
          <a:p>
            <a:pPr lvl="1"/>
            <a:r>
              <a:rPr lang="zh-CN" altLang="en-US"/>
              <a:t>独立使用</a:t>
            </a:r>
            <a:r>
              <a:rPr lang="zh-CN" altLang="en-US"/>
              <a:t>栈帧</a:t>
            </a:r>
            <a:endParaRPr lang="zh-CN" altLang="en-US"/>
          </a:p>
          <a:p>
            <a:pPr lvl="1"/>
            <a:r>
              <a:rPr lang="zh-CN" altLang="en-US"/>
              <a:t>共享使用寄存器，但是有完善的寄存器保护</a:t>
            </a:r>
            <a:r>
              <a:rPr lang="zh-CN" altLang="en-US"/>
              <a:t>策略</a:t>
            </a:r>
            <a:endParaRPr lang="zh-CN" altLang="en-US"/>
          </a:p>
        </p:txBody>
      </p:sp>
    </p:spTree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dirty="0"/>
              <a:t>Today</a:t>
            </a:r>
            <a:endParaRPr lang="en-US" dirty="0"/>
          </a:p>
        </p:txBody>
      </p:sp>
      <p:sp>
        <p:nvSpPr>
          <p:cNvPr id="12292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ea typeface="Kaiti SC Bold" panose="02010600040101010101" charset="-122"/>
                <a:sym typeface="+mn-ea"/>
              </a:rPr>
              <a:t>Procedures </a:t>
            </a:r>
            <a:r>
              <a:rPr lang="zh-CN" altLang="en-US" sz="2400" dirty="0">
                <a:ea typeface="Kaiti SC Bold" panose="02010600040101010101" charset="-122"/>
                <a:sym typeface="+mn-ea"/>
              </a:rPr>
              <a:t>过程调用</a:t>
            </a:r>
            <a:endParaRPr lang="en-US" sz="2400" dirty="0"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1"/>
            <a:r>
              <a:rPr lang="en-US" sz="2400" dirty="0">
                <a:ea typeface="Kaiti SC Bold" panose="02010600040101010101" charset="-122"/>
                <a:sym typeface="+mn-ea"/>
              </a:rPr>
              <a:t>Stack Structure </a:t>
            </a:r>
            <a:r>
              <a:rPr lang="zh-CN" altLang="en-US" sz="2400" dirty="0">
                <a:ea typeface="Kaiti SC Bold" panose="02010600040101010101" charset="-122"/>
                <a:sym typeface="+mn-ea"/>
              </a:rPr>
              <a:t>栈结构</a:t>
            </a:r>
            <a:endParaRPr lang="en-US" sz="2400" dirty="0"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1"/>
            <a:r>
              <a:rPr lang="en-US" sz="2400" dirty="0">
                <a:ea typeface="Kaiti SC Bold" panose="02010600040101010101" charset="-122"/>
                <a:sym typeface="+mn-ea"/>
              </a:rPr>
              <a:t>Calling Conventions </a:t>
            </a:r>
            <a:r>
              <a:rPr lang="zh-CN" altLang="en-US" sz="2400" dirty="0">
                <a:ea typeface="Kaiti SC Bold" panose="02010600040101010101" charset="-122"/>
                <a:sym typeface="+mn-ea"/>
              </a:rPr>
              <a:t>调用约定</a:t>
            </a:r>
            <a:endParaRPr lang="en-US" sz="2400" dirty="0">
              <a:solidFill>
                <a:schemeClr val="tx1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2"/>
            <a:r>
              <a:rPr lang="en-US" sz="2400" dirty="0">
                <a:ea typeface="Kaiti SC Bold" panose="02010600040101010101" charset="-122"/>
                <a:sym typeface="+mn-ea"/>
              </a:rPr>
              <a:t>Passing control </a:t>
            </a:r>
            <a:r>
              <a:rPr lang="zh-CN" altLang="en-US" sz="2400" dirty="0">
                <a:ea typeface="Kaiti SC Bold" panose="02010600040101010101" charset="-122"/>
                <a:sym typeface="+mn-ea"/>
              </a:rPr>
              <a:t>传递控制</a:t>
            </a:r>
            <a:endParaRPr lang="en-US" sz="2400" dirty="0">
              <a:solidFill>
                <a:schemeClr val="tx1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2"/>
            <a:r>
              <a:rPr lang="en-US" sz="2400" dirty="0">
                <a:ea typeface="Kaiti SC Bold" panose="02010600040101010101" charset="-122"/>
                <a:sym typeface="+mn-ea"/>
              </a:rPr>
              <a:t>Passing data </a:t>
            </a:r>
            <a:r>
              <a:rPr lang="zh-CN" altLang="en-US" sz="2400" dirty="0">
                <a:ea typeface="Kaiti SC Bold" panose="02010600040101010101" charset="-122"/>
                <a:sym typeface="+mn-ea"/>
              </a:rPr>
              <a:t>传递数据</a:t>
            </a:r>
            <a:endParaRPr lang="en-US" sz="2400" dirty="0">
              <a:solidFill>
                <a:schemeClr val="tx1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2"/>
            <a:r>
              <a:rPr lang="en-US" sz="2400" dirty="0">
                <a:ea typeface="Kaiti SC Bold" panose="02010600040101010101" charset="-122"/>
                <a:sym typeface="+mn-ea"/>
              </a:rPr>
              <a:t>Managing local data </a:t>
            </a:r>
            <a:r>
              <a:rPr lang="zh-CN" altLang="en-US" sz="2400" dirty="0">
                <a:ea typeface="Kaiti SC Bold" panose="02010600040101010101" charset="-122"/>
                <a:sym typeface="+mn-ea"/>
              </a:rPr>
              <a:t>管理局部数据（内存管理）</a:t>
            </a:r>
            <a:endParaRPr lang="en-US" sz="2400" dirty="0">
              <a:solidFill>
                <a:schemeClr val="tx1"/>
              </a:solidFill>
              <a:latin typeface="Times New Roman Regular" panose="02020603050405020304" charset="0"/>
              <a:ea typeface="Kaiti SC Bold" panose="02010600040101010101" charset="-122"/>
              <a:cs typeface="Times New Roman Regular" panose="02020603050405020304" charset="0"/>
            </a:endParaRPr>
          </a:p>
          <a:p>
            <a:pPr lvl="1"/>
            <a:r>
              <a:rPr lang="en-US" sz="2400" b="1" dirty="0">
                <a:solidFill>
                  <a:schemeClr val="tx1"/>
                </a:solidFill>
                <a:ea typeface="Kaiti SC Bold" panose="02010600040101010101" charset="-122"/>
                <a:sym typeface="+mn-ea"/>
              </a:rPr>
              <a:t>Illustration of Recursion </a:t>
            </a:r>
            <a:r>
              <a:rPr lang="zh-CN" altLang="en-US" sz="2400" b="1" dirty="0">
                <a:solidFill>
                  <a:schemeClr val="tx1"/>
                </a:solidFill>
                <a:ea typeface="Kaiti SC Bold" panose="02010600040101010101" charset="-122"/>
                <a:sym typeface="+mn-ea"/>
              </a:rPr>
              <a:t>递归调用的说明</a:t>
            </a:r>
            <a:endParaRPr lang="zh-CN" altLang="en-US" sz="2400" b="1" dirty="0">
              <a:solidFill>
                <a:schemeClr val="tx1"/>
              </a:solidFill>
              <a:ea typeface="Kaiti SC Bold" panose="02010600040101010101" charset="-122"/>
              <a:sym typeface="+mn-ea"/>
            </a:endParaRP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7834" name="Rectangle 10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77835" name="Rectangle 11"/>
          <p:cNvSpPr/>
          <p:nvPr/>
        </p:nvSpPr>
        <p:spPr bwMode="auto">
          <a:xfrm>
            <a:off x="1752600" y="1295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*/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(unsigned long x) {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if (x == 0)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0;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else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(x &amp; 1) 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       +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(x &gt;&gt; 1);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 dirty="0"/>
              <a:t>递归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77838" name="Rectangle 14"/>
          <p:cNvSpPr/>
          <p:nvPr/>
        </p:nvSpPr>
        <p:spPr bwMode="auto">
          <a:xfrm>
            <a:off x="7010400" y="762000"/>
            <a:ext cx="4552315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:</a:t>
            </a:r>
            <a:endParaRPr lang="en-US" sz="1800" b="1" dirty="0">
              <a:solidFill>
                <a:schemeClr val="tx1"/>
              </a:solidFill>
              <a:latin typeface="Courier New Bold" panose="02070609020205020404" charset="0"/>
              <a:ea typeface="Microsoft YaHei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    $0, %</a:t>
            </a:r>
            <a:r>
              <a:rPr lang="en-US" sz="1800" b="1" dirty="0" err="1">
                <a:solidFill>
                  <a:srgbClr val="00B050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eax   #</a:t>
            </a:r>
            <a:r>
              <a:rPr lang="zh-CN" altLang="en-US" sz="1800" b="1" dirty="0" err="1">
                <a:solidFill>
                  <a:srgbClr val="00B050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写返回值</a:t>
            </a:r>
            <a:endParaRPr lang="en-US" sz="1800" b="1" dirty="0">
              <a:solidFill>
                <a:schemeClr val="tx1"/>
              </a:solidFill>
              <a:latin typeface="Courier New Bold" panose="02070609020205020404" charset="0"/>
              <a:ea typeface="Microsoft YaHei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 Bold" panose="02070609020205020404" charset="0"/>
              <a:ea typeface="Microsoft YaHei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  je      .L6</a:t>
            </a:r>
            <a:endParaRPr lang="en-US" sz="1800" b="1" dirty="0">
              <a:solidFill>
                <a:schemeClr val="tx1"/>
              </a:solidFill>
              <a:latin typeface="Courier New Bold" panose="02070609020205020404" charset="0"/>
              <a:ea typeface="Microsoft YaHei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rgbClr val="7030A0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pushq</a:t>
            </a:r>
            <a:r>
              <a:rPr lang="en-US" sz="1800" b="1" dirty="0">
                <a:solidFill>
                  <a:srgbClr val="7030A0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   %</a:t>
            </a:r>
            <a:r>
              <a:rPr lang="en-US" sz="1800" b="1" dirty="0" err="1">
                <a:solidFill>
                  <a:srgbClr val="7030A0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rbx       #</a:t>
            </a:r>
            <a:r>
              <a:rPr lang="zh-CN" altLang="en-US" sz="1800" b="1" dirty="0" err="1">
                <a:solidFill>
                  <a:srgbClr val="7030A0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保护寄存器</a:t>
            </a:r>
            <a:endParaRPr lang="en-US" sz="1800" b="1" dirty="0">
              <a:solidFill>
                <a:schemeClr val="tx1"/>
              </a:solidFill>
              <a:latin typeface="Courier New Bold" panose="02070609020205020404" charset="0"/>
              <a:ea typeface="Microsoft YaHei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 Bold" panose="02070609020205020404" charset="0"/>
              <a:ea typeface="Microsoft YaHei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andl</a:t>
            </a:r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    $1, %</a:t>
            </a:r>
            <a:r>
              <a:rPr lang="en-US" sz="1800" b="1" dirty="0" err="1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ebx</a:t>
            </a:r>
            <a:endParaRPr lang="en-US" sz="1800" b="1" dirty="0">
              <a:solidFill>
                <a:schemeClr val="tx1"/>
              </a:solidFill>
              <a:latin typeface="Courier New Bold" panose="02070609020205020404" charset="0"/>
              <a:ea typeface="Microsoft YaHei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shrq</a:t>
            </a:r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    </a:t>
            </a:r>
            <a:r>
              <a:rPr lang="en-US" sz="1800" b="1" dirty="0">
                <a:solidFill>
                  <a:srgbClr val="00B050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b="1" dirty="0" err="1">
                <a:solidFill>
                  <a:srgbClr val="00B050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rdi       #</a:t>
            </a:r>
            <a:r>
              <a:rPr lang="zh-CN" altLang="en-US" sz="1800" b="1" dirty="0" err="1">
                <a:solidFill>
                  <a:srgbClr val="00B050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读参数</a:t>
            </a:r>
            <a:endParaRPr lang="en-US" sz="1800" b="1" dirty="0">
              <a:solidFill>
                <a:schemeClr val="tx1"/>
              </a:solidFill>
              <a:latin typeface="Courier New Bold" panose="02070609020205020404" charset="0"/>
              <a:ea typeface="Microsoft YaHei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call    </a:t>
            </a:r>
            <a:r>
              <a:rPr lang="en-US" sz="1800" b="1" dirty="0" err="1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 Bold" panose="02070609020205020404" charset="0"/>
              <a:ea typeface="Microsoft YaHei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, </a:t>
            </a:r>
            <a:r>
              <a:rPr lang="en-US" sz="1800" b="1" dirty="0">
                <a:solidFill>
                  <a:srgbClr val="00B050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b="1" dirty="0" err="1">
                <a:solidFill>
                  <a:srgbClr val="00B050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rax </a:t>
            </a:r>
            <a:r>
              <a:rPr lang="en-US" sz="1800" b="1" dirty="0" err="1">
                <a:solidFill>
                  <a:srgbClr val="00B050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#</a:t>
            </a:r>
            <a:r>
              <a:rPr lang="zh-CN" altLang="en-US" sz="1800" b="1" dirty="0" err="1">
                <a:solidFill>
                  <a:srgbClr val="00B050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写返回值</a:t>
            </a:r>
            <a:endParaRPr lang="en-US" sz="1800" b="1" dirty="0">
              <a:solidFill>
                <a:schemeClr val="tx1"/>
              </a:solidFill>
              <a:latin typeface="Courier New Bold" panose="02070609020205020404" charset="0"/>
              <a:ea typeface="Microsoft YaHei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rgbClr val="7030A0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popq</a:t>
            </a:r>
            <a:r>
              <a:rPr lang="en-US" sz="1800" b="1" dirty="0">
                <a:solidFill>
                  <a:srgbClr val="7030A0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rgbClr val="7030A0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rbx       </a:t>
            </a:r>
            <a:r>
              <a:rPr lang="en-US" sz="1800" b="1" dirty="0" err="1">
                <a:solidFill>
                  <a:srgbClr val="7030A0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#</a:t>
            </a:r>
            <a:r>
              <a:rPr lang="zh-CN" altLang="en-US" sz="1800" b="1" dirty="0" err="1">
                <a:solidFill>
                  <a:srgbClr val="7030A0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恢复寄存器</a:t>
            </a:r>
            <a:endParaRPr lang="en-US" sz="1800" b="1" dirty="0">
              <a:solidFill>
                <a:schemeClr val="tx1"/>
              </a:solidFill>
              <a:latin typeface="Courier New Bold" panose="02070609020205020404" charset="0"/>
              <a:ea typeface="Microsoft YaHei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.L6:</a:t>
            </a:r>
            <a:endParaRPr lang="en-US" sz="1800" b="1" dirty="0">
              <a:solidFill>
                <a:schemeClr val="tx1"/>
              </a:solidFill>
              <a:latin typeface="Courier New Bold" panose="02070609020205020404" charset="0"/>
              <a:ea typeface="Microsoft YaHei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urier New Bold" panose="02070609020205020404" charset="0"/>
                <a:ea typeface="Microsoft YaHei" charset="0"/>
                <a:cs typeface="Courier New Bold" panose="02070609020205020404" charset="0"/>
                <a:sym typeface="Courier New Bold" panose="02070609020205020404" charset="0"/>
              </a:rPr>
              <a:t>rep; ret</a:t>
            </a:r>
            <a:endParaRPr lang="en-US" sz="1800" b="1" dirty="0">
              <a:solidFill>
                <a:srgbClr val="FF0000"/>
              </a:solidFill>
              <a:latin typeface="Courier New Bold" panose="02070609020205020404" charset="0"/>
              <a:ea typeface="Microsoft YaHei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905000" y="4933315"/>
            <a:ext cx="753173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red: 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控制的传递</a:t>
            </a:r>
            <a:endParaRPr lang="zh-CN" altLang="en-US" sz="2400">
              <a:solidFill>
                <a:srgbClr val="FF0000"/>
              </a:solidFill>
              <a:sym typeface="+mn-ea"/>
            </a:endParaRPr>
          </a:p>
          <a:p>
            <a:pPr algn="l"/>
            <a:r>
              <a:rPr lang="en-US" sz="2400">
                <a:solidFill>
                  <a:srgbClr val="00B050"/>
                </a:solidFill>
                <a:sym typeface="+mn-ea"/>
              </a:rPr>
              <a:t>green: </a:t>
            </a:r>
            <a:r>
              <a:rPr lang="zh-CN" altLang="en-US" sz="2400">
                <a:solidFill>
                  <a:srgbClr val="00B050"/>
                </a:solidFill>
                <a:sym typeface="+mn-ea"/>
              </a:rPr>
              <a:t>数据的传递</a:t>
            </a:r>
            <a:endParaRPr lang="en-US" sz="2400">
              <a:solidFill>
                <a:srgbClr val="00B050"/>
              </a:solidFill>
            </a:endParaRPr>
          </a:p>
          <a:p>
            <a:pPr algn="l"/>
            <a:r>
              <a:rPr lang="en-US" sz="2400">
                <a:solidFill>
                  <a:srgbClr val="7030A0"/>
                </a:solidFill>
                <a:sym typeface="+mn-ea"/>
              </a:rPr>
              <a:t>purple: </a:t>
            </a:r>
            <a:r>
              <a:rPr lang="zh-CN" altLang="en-US" sz="2400">
                <a:solidFill>
                  <a:srgbClr val="7030A0"/>
                </a:solidFill>
                <a:sym typeface="+mn-ea"/>
              </a:rPr>
              <a:t>数据的存储</a:t>
            </a:r>
            <a:endParaRPr lang="zh-CN" altLang="en-US" sz="2400">
              <a:solidFill>
                <a:srgbClr val="7030A0"/>
              </a:solidFill>
              <a:sym typeface="+mn-ea"/>
            </a:endParaRPr>
          </a:p>
          <a:p>
            <a:pPr algn="l"/>
            <a:endParaRPr lang="en-US" sz="2400">
              <a:solidFill>
                <a:srgbClr val="00B050"/>
              </a:solidFill>
            </a:endParaRPr>
          </a:p>
          <a:p>
            <a:pPr algn="l"/>
            <a:r>
              <a:rPr lang="zh-CN" altLang="en-US" sz="2400">
                <a:solidFill>
                  <a:srgbClr val="00B050"/>
                </a:solidFill>
              </a:rPr>
              <a:t>如何更友好地</a:t>
            </a:r>
            <a:r>
              <a:rPr lang="zh-CN" altLang="en-US" sz="2400">
                <a:solidFill>
                  <a:srgbClr val="00B050"/>
                </a:solidFill>
              </a:rPr>
              <a:t>分析递归函数：保持</a:t>
            </a:r>
            <a:r>
              <a:rPr lang="en-US" altLang="zh-CN" sz="2400">
                <a:solidFill>
                  <a:srgbClr val="00B050"/>
                </a:solidFill>
              </a:rPr>
              <a:t>2</a:t>
            </a:r>
            <a:r>
              <a:rPr lang="zh-CN" altLang="en-US" sz="2400">
                <a:solidFill>
                  <a:srgbClr val="00B050"/>
                </a:solidFill>
              </a:rPr>
              <a:t>个备份来</a:t>
            </a:r>
            <a:r>
              <a:rPr lang="zh-CN" altLang="en-US" sz="2400">
                <a:solidFill>
                  <a:srgbClr val="00B050"/>
                </a:solidFill>
              </a:rPr>
              <a:t>分析</a:t>
            </a:r>
            <a:endParaRPr lang="zh-CN" altLang="en-US" sz="240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7834" name="Rectangle 10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77835" name="Rectangle 11"/>
          <p:cNvSpPr/>
          <p:nvPr/>
        </p:nvSpPr>
        <p:spPr bwMode="auto">
          <a:xfrm>
            <a:off x="1752600" y="1295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/* Recursive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*/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(unsigned long x) {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if (x == 0)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0;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else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(x &amp; 1) 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       +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(x &gt;&gt; 1);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 dirty="0"/>
              <a:t>递归函数——递归出口的</a:t>
            </a:r>
            <a:r>
              <a:rPr lang="zh-CN" altLang="en-US" dirty="0"/>
              <a:t>例子</a:t>
            </a:r>
            <a:endParaRPr lang="zh-CN" altLang="en-US" dirty="0"/>
          </a:p>
        </p:txBody>
      </p:sp>
      <p:sp>
        <p:nvSpPr>
          <p:cNvPr id="77838" name="Rectangle 14"/>
          <p:cNvSpPr/>
          <p:nvPr/>
        </p:nvSpPr>
        <p:spPr bwMode="auto">
          <a:xfrm>
            <a:off x="7010400" y="12954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movl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$0, %</a:t>
            </a:r>
            <a:r>
              <a:rPr lang="en-US" sz="1800" b="1" dirty="0" err="1">
                <a:solidFill>
                  <a:srgbClr val="00B05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eax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testq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je      .L6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pushq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rgbClr val="00B05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andl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ebx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shrq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rgbClr val="00B05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.L6: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rep; ret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52600" y="4724400"/>
          <a:ext cx="518160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255"/>
                <a:gridCol w="2015490"/>
                <a:gridCol w="2014855"/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Microsoft YaHei" charset="0"/>
                          <a:ea typeface="Microsoft YaHei" charset="0"/>
                          <a:cs typeface="Calibri"/>
                        </a:rPr>
                        <a:t>Register</a:t>
                      </a:r>
                      <a:endParaRPr lang="en-US" dirty="0">
                        <a:latin typeface="Microsoft YaHei" charset="0"/>
                        <a:ea typeface="Microsoft YaHei" charset="0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Microsoft YaHei" charset="0"/>
                          <a:ea typeface="Microsoft YaHei" charset="0"/>
                          <a:cs typeface="Calibri"/>
                        </a:rPr>
                        <a:t>Use(s)</a:t>
                      </a:r>
                      <a:endParaRPr lang="en-US" dirty="0">
                        <a:latin typeface="Microsoft YaHei" charset="0"/>
                        <a:ea typeface="Microsoft YaHei" charset="0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Microsoft YaHei" charset="0"/>
                          <a:ea typeface="Microsoft YaHei" charset="0"/>
                          <a:cs typeface="Calibri"/>
                        </a:rPr>
                        <a:t>Type</a:t>
                      </a:r>
                      <a:endParaRPr lang="en-US" dirty="0">
                        <a:latin typeface="Microsoft YaHei" charset="0"/>
                        <a:ea typeface="Microsoft YaHei" charset="0"/>
                        <a:cs typeface="Calibri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Microsoft YaHei" charset="0"/>
                          <a:ea typeface="Microsoft YaHei" charset="0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Microsoft YaHei" charset="0"/>
                          <a:ea typeface="Microsoft YaHei" charset="0"/>
                          <a:cs typeface="Courier New" panose="02070609020205020404"/>
                        </a:rPr>
                        <a:t>rdi</a:t>
                      </a:r>
                      <a:endParaRPr lang="en-US" b="1" i="0" dirty="0">
                        <a:latin typeface="Microsoft YaHei" charset="0"/>
                        <a:ea typeface="Microsoft YaHei" charset="0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Microsoft YaHei" charset="0"/>
                          <a:ea typeface="Microsoft YaHei" charset="0"/>
                          <a:cs typeface="Courier New" panose="02070609020205020404"/>
                        </a:rPr>
                        <a:t>x</a:t>
                      </a:r>
                      <a:endParaRPr lang="en-US" b="1" i="0" dirty="0">
                        <a:latin typeface="Microsoft YaHei" charset="0"/>
                        <a:ea typeface="Microsoft YaHei" charset="0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0" i="0" dirty="0">
                          <a:latin typeface="Microsoft YaHei" charset="0"/>
                          <a:ea typeface="Microsoft YaHei" charset="0"/>
                          <a:cs typeface="Courier New" panose="02070609020205020404"/>
                        </a:rPr>
                        <a:t>参数</a:t>
                      </a:r>
                      <a:endParaRPr lang="zh-CN" altLang="en-US" b="0" i="0" dirty="0">
                        <a:latin typeface="Microsoft YaHei" charset="0"/>
                        <a:ea typeface="Microsoft YaHei" charset="0"/>
                        <a:cs typeface="Courier New" panose="02070609020205020404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i="0" dirty="0">
                          <a:latin typeface="Microsoft YaHei" charset="0"/>
                          <a:ea typeface="Microsoft YaHei" charset="0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Microsoft YaHei" charset="0"/>
                          <a:ea typeface="Microsoft YaHei" charset="0"/>
                          <a:cs typeface="Courier New" panose="02070609020205020404"/>
                        </a:rPr>
                        <a:t>rax</a:t>
                      </a:r>
                      <a:endParaRPr lang="en-US" b="1" i="0" dirty="0">
                        <a:latin typeface="Microsoft YaHei" charset="0"/>
                        <a:ea typeface="Microsoft YaHei" charset="0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0" i="0" dirty="0">
                          <a:latin typeface="Microsoft YaHei" charset="0"/>
                          <a:ea typeface="Microsoft YaHei" charset="0"/>
                          <a:cs typeface="Courier New" panose="02070609020205020404"/>
                        </a:rPr>
                        <a:t>返回值</a:t>
                      </a:r>
                      <a:endParaRPr lang="zh-CN" altLang="en-US" b="0" i="0" dirty="0">
                        <a:latin typeface="Microsoft YaHei" charset="0"/>
                        <a:ea typeface="Microsoft YaHei" charset="0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b="0" i="0" dirty="0">
                          <a:latin typeface="Microsoft YaHei" charset="0"/>
                          <a:ea typeface="Microsoft YaHei" charset="0"/>
                          <a:cs typeface="Courier New" panose="02070609020205020404"/>
                        </a:rPr>
                        <a:t>返回值</a:t>
                      </a:r>
                      <a:endParaRPr lang="zh-CN" altLang="en-US" b="0" i="0" dirty="0">
                        <a:latin typeface="Microsoft YaHei" charset="0"/>
                        <a:ea typeface="Microsoft YaHei" charset="0"/>
                        <a:cs typeface="Courier New" panose="020706090202050204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Text Box 1"/>
          <p:cNvSpPr txBox="1"/>
          <p:nvPr/>
        </p:nvSpPr>
        <p:spPr>
          <a:xfrm>
            <a:off x="7467600" y="5257800"/>
            <a:ext cx="27571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2400">
                <a:solidFill>
                  <a:srgbClr val="FF0000"/>
                </a:solidFill>
                <a:sym typeface="+mn-ea"/>
              </a:rPr>
              <a:t>red: </a:t>
            </a:r>
            <a:r>
              <a:rPr lang="zh-CN" altLang="en-US" sz="2400">
                <a:solidFill>
                  <a:srgbClr val="FF0000"/>
                </a:solidFill>
                <a:sym typeface="+mn-ea"/>
              </a:rPr>
              <a:t>控制的传递</a:t>
            </a:r>
            <a:endParaRPr lang="zh-CN" altLang="en-US" sz="2400">
              <a:solidFill>
                <a:srgbClr val="FF0000"/>
              </a:solidFill>
              <a:sym typeface="+mn-ea"/>
            </a:endParaRPr>
          </a:p>
          <a:p>
            <a:pPr algn="l"/>
            <a:r>
              <a:rPr lang="en-US" sz="2400">
                <a:solidFill>
                  <a:srgbClr val="00B050"/>
                </a:solidFill>
                <a:sym typeface="+mn-ea"/>
              </a:rPr>
              <a:t>green: </a:t>
            </a:r>
            <a:r>
              <a:rPr lang="zh-CN" altLang="en-US" sz="2400">
                <a:solidFill>
                  <a:srgbClr val="00B050"/>
                </a:solidFill>
                <a:sym typeface="+mn-ea"/>
              </a:rPr>
              <a:t>数据的传递</a:t>
            </a:r>
            <a:endParaRPr lang="en-US" sz="2400">
              <a:solidFill>
                <a:srgbClr val="00B050"/>
              </a:solidFill>
            </a:endParaRPr>
          </a:p>
          <a:p>
            <a:pPr algn="l"/>
            <a:r>
              <a:rPr lang="en-US" sz="2400">
                <a:solidFill>
                  <a:srgbClr val="7030A0"/>
                </a:solidFill>
                <a:sym typeface="+mn-ea"/>
              </a:rPr>
              <a:t>purple: </a:t>
            </a:r>
            <a:r>
              <a:rPr lang="zh-CN" altLang="en-US" sz="2400">
                <a:solidFill>
                  <a:srgbClr val="7030A0"/>
                </a:solidFill>
                <a:sym typeface="+mn-ea"/>
              </a:rPr>
              <a:t>数据的存储</a:t>
            </a:r>
            <a:endParaRPr lang="zh-CN" altLang="en-US" sz="240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7834" name="Rectangle 10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77835" name="Rectangle 11"/>
          <p:cNvSpPr/>
          <p:nvPr/>
        </p:nvSpPr>
        <p:spPr bwMode="auto">
          <a:xfrm>
            <a:off x="1752600" y="1295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/* </a:t>
            </a:r>
            <a:r>
              <a:rPr lang="zh-CN" altLang="en-US" sz="1800" b="1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递归函数</a:t>
            </a:r>
            <a:r>
              <a:rPr lang="en-US" altLang="zh-CN" sz="1800" b="1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*/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(unsigned long x) {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if (x == 0)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0;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else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(x &amp; 1) 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       +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(x &gt;&gt; 1);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 dirty="0"/>
              <a:t>递归函数——寄存器</a:t>
            </a:r>
            <a:r>
              <a:rPr lang="zh-CN" altLang="en-US" dirty="0"/>
              <a:t>保护</a:t>
            </a:r>
            <a:endParaRPr lang="zh-CN" altLang="en-US" dirty="0"/>
          </a:p>
        </p:txBody>
      </p:sp>
      <p:sp>
        <p:nvSpPr>
          <p:cNvPr id="77838" name="Rectangle 14"/>
          <p:cNvSpPr/>
          <p:nvPr/>
        </p:nvSpPr>
        <p:spPr bwMode="auto">
          <a:xfrm>
            <a:off x="7010400" y="9906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je      .L6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pushq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andl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ebx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shrq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.L6: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rep; ret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52600" y="4724400"/>
          <a:ext cx="5181600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255"/>
                <a:gridCol w="2015490"/>
                <a:gridCol w="2014855"/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rdi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x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b="0" i="0" dirty="0">
                          <a:latin typeface="+mn-lt"/>
                          <a:cs typeface="Courier New" panose="02070609020205020404"/>
                        </a:rPr>
                        <a:t>参数</a:t>
                      </a:r>
                      <a:endParaRPr lang="zh-CN" altLang="en-US" b="0" i="0" dirty="0">
                        <a:latin typeface="+mn-lt"/>
                        <a:cs typeface="Courier New" panose="020706090202050204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Line 10"/>
          <p:cNvSpPr>
            <a:spLocks noChangeShapeType="1"/>
          </p:cNvSpPr>
          <p:nvPr/>
        </p:nvSpPr>
        <p:spPr bwMode="auto">
          <a:xfrm flipH="1">
            <a:off x="8610600" y="65532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Rectangle 11"/>
          <p:cNvSpPr/>
          <p:nvPr/>
        </p:nvSpPr>
        <p:spPr bwMode="auto">
          <a:xfrm>
            <a:off x="9117013" y="6324600"/>
            <a:ext cx="62484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12" name="Rectangle 13"/>
          <p:cNvSpPr/>
          <p:nvPr/>
        </p:nvSpPr>
        <p:spPr bwMode="auto">
          <a:xfrm>
            <a:off x="7315200" y="50292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13" name="Rectangle 9"/>
          <p:cNvSpPr/>
          <p:nvPr/>
        </p:nvSpPr>
        <p:spPr bwMode="auto">
          <a:xfrm>
            <a:off x="7315200" y="59436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600" dirty="0" err="1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Rtn</a:t>
            </a:r>
            <a:r>
              <a:rPr lang="en-US" sz="16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address</a:t>
            </a:r>
            <a:endParaRPr lang="en-US" sz="16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16" name="Rectangle 9"/>
          <p:cNvSpPr/>
          <p:nvPr/>
        </p:nvSpPr>
        <p:spPr bwMode="auto">
          <a:xfrm>
            <a:off x="7315200" y="6324600"/>
            <a:ext cx="1295400" cy="3810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6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 </a:t>
            </a:r>
            <a:r>
              <a:rPr lang="en-US" sz="1600" b="1" dirty="0">
                <a:solidFill>
                  <a:schemeClr val="tx1"/>
                </a:solidFill>
                <a:latin typeface="Courier New" panose="02070609020205020404"/>
                <a:ea typeface="Calibri Bold" charset="0"/>
                <a:cs typeface="Courier New" panose="02070609020205020404"/>
                <a:sym typeface="Calibri Bold" charset="0"/>
              </a:rPr>
              <a:t>%</a:t>
            </a:r>
            <a:r>
              <a:rPr lang="en-US" sz="1600" b="1" dirty="0" err="1">
                <a:solidFill>
                  <a:schemeClr val="tx1"/>
                </a:solidFill>
                <a:latin typeface="Courier New" panose="02070609020205020404"/>
                <a:ea typeface="Calibri Bold" charset="0"/>
                <a:cs typeface="Courier New" panose="02070609020205020404"/>
                <a:sym typeface="Calibri Bold" charset="0"/>
              </a:rPr>
              <a:t>rbx</a:t>
            </a:r>
            <a:endParaRPr lang="en-US" sz="1600" b="1" dirty="0">
              <a:solidFill>
                <a:schemeClr val="tx1"/>
              </a:solidFill>
              <a:latin typeface="Courier New" panose="02070609020205020404"/>
              <a:ea typeface="Calibri Bold" charset="0"/>
              <a:cs typeface="Courier New" panose="02070609020205020404"/>
              <a:sym typeface="Calibri Bold" charset="0"/>
            </a:endParaRP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7834" name="Rectangle 10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77835" name="Rectangle 11"/>
          <p:cNvSpPr/>
          <p:nvPr/>
        </p:nvSpPr>
        <p:spPr bwMode="auto">
          <a:xfrm>
            <a:off x="1752600" y="1295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/* </a:t>
            </a:r>
            <a:r>
              <a:rPr lang="zh-CN" altLang="en-US" sz="1800" b="1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递归函数</a:t>
            </a:r>
            <a:r>
              <a:rPr lang="en-US" altLang="zh-CN" sz="1800" b="1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*/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(unsigned long x) {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if (x == 0)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0;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else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(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x &amp; 1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 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       +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x &gt;&gt; 1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 dirty="0"/>
              <a:t>递归函数——递归调用的参数</a:t>
            </a:r>
            <a:r>
              <a:rPr lang="zh-CN" altLang="en-US" dirty="0"/>
              <a:t>准备</a:t>
            </a:r>
            <a:endParaRPr lang="zh-CN" altLang="en-US" dirty="0"/>
          </a:p>
        </p:txBody>
      </p:sp>
      <p:sp>
        <p:nvSpPr>
          <p:cNvPr id="77838" name="Rectangle 14"/>
          <p:cNvSpPr/>
          <p:nvPr/>
        </p:nvSpPr>
        <p:spPr bwMode="auto">
          <a:xfrm>
            <a:off x="7010400" y="12954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je      .L6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pushq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movq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 err="1">
                <a:solidFill>
                  <a:srgbClr val="00B0F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andl</a:t>
            </a:r>
            <a:r>
              <a:rPr lang="en-US" sz="1800" b="1" dirty="0">
                <a:solidFill>
                  <a:srgbClr val="00B0F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$1, %</a:t>
            </a:r>
            <a:r>
              <a:rPr lang="en-US" sz="1800" b="1" dirty="0" err="1">
                <a:solidFill>
                  <a:srgbClr val="00B0F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ebx</a:t>
            </a:r>
            <a:endParaRPr lang="en-US" sz="1800" b="1" dirty="0">
              <a:solidFill>
                <a:srgbClr val="00B0F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shrq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.L6: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rep; ret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52600" y="4724400"/>
          <a:ext cx="518160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255"/>
                <a:gridCol w="2015490"/>
                <a:gridCol w="2014855"/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rdi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x &gt;&gt; 1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+mn-lt"/>
                          <a:cs typeface="Courier New" panose="02070609020205020404"/>
                        </a:rPr>
                        <a:t>Rec. argument</a:t>
                      </a:r>
                      <a:endParaRPr lang="en-US" b="0" i="0" dirty="0">
                        <a:latin typeface="+mn-lt"/>
                        <a:cs typeface="Courier New" panose="02070609020205020404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rbx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x &amp; 1</a:t>
                      </a:r>
                      <a:endParaRPr lang="en-US" b="0" i="0" dirty="0">
                        <a:latin typeface="+mn-lt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0" i="0" dirty="0" err="1">
                          <a:latin typeface="+mn-lt"/>
                          <a:cs typeface="Courier New" panose="02070609020205020404"/>
                        </a:rPr>
                        <a:t>Callee</a:t>
                      </a:r>
                      <a:r>
                        <a:rPr lang="en-US" b="0" i="0" dirty="0">
                          <a:latin typeface="+mn-lt"/>
                          <a:cs typeface="Courier New" panose="02070609020205020404"/>
                        </a:rPr>
                        <a:t>-saved</a:t>
                      </a:r>
                      <a:endParaRPr lang="en-US" b="0" i="0" dirty="0">
                        <a:latin typeface="+mn-lt"/>
                        <a:cs typeface="Courier New" panose="02070609020205020404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7834" name="Rectangle 10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77835" name="Rectangle 11"/>
          <p:cNvSpPr/>
          <p:nvPr/>
        </p:nvSpPr>
        <p:spPr bwMode="auto">
          <a:xfrm>
            <a:off x="1752600" y="1295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/* </a:t>
            </a:r>
            <a:r>
              <a:rPr lang="zh-CN" altLang="en-US" sz="1800" b="1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递归函数</a:t>
            </a:r>
            <a:r>
              <a:rPr lang="en-US" altLang="zh-CN" sz="1800" b="1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*/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(unsigned long x) {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if (x == 0)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0;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else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(x &amp; 1) 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       +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x &gt;&gt; 1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)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 dirty="0"/>
              <a:t>递归函数</a:t>
            </a:r>
            <a:r>
              <a:rPr lang="zh-CN" altLang="en-US" dirty="0"/>
              <a:t>调用</a:t>
            </a:r>
            <a:endParaRPr lang="zh-CN" altLang="en-US" dirty="0"/>
          </a:p>
        </p:txBody>
      </p:sp>
      <p:sp>
        <p:nvSpPr>
          <p:cNvPr id="77838" name="Rectangle 14"/>
          <p:cNvSpPr/>
          <p:nvPr/>
        </p:nvSpPr>
        <p:spPr bwMode="auto">
          <a:xfrm>
            <a:off x="7010400" y="12954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je      .L6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pushq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movq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andl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$1, 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ebx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shrq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call   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.L6: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rep; ret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52600" y="4724400"/>
          <a:ext cx="5181600" cy="1386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255"/>
                <a:gridCol w="2015490"/>
                <a:gridCol w="2014855"/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rbx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x &amp; 1</a:t>
                      </a:r>
                      <a:endParaRPr lang="en-US" b="0" i="0" dirty="0">
                        <a:latin typeface="+mn-lt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0" i="0" dirty="0" err="1">
                          <a:latin typeface="+mn-lt"/>
                          <a:cs typeface="Courier New" panose="02070609020205020404"/>
                        </a:rPr>
                        <a:t>Callee</a:t>
                      </a:r>
                      <a:r>
                        <a:rPr lang="en-US" b="0" i="0" dirty="0">
                          <a:latin typeface="+mn-lt"/>
                          <a:cs typeface="Courier New" panose="02070609020205020404"/>
                        </a:rPr>
                        <a:t>-saved</a:t>
                      </a:r>
                      <a:endParaRPr lang="en-US" b="0" i="0" dirty="0">
                        <a:latin typeface="+mn-lt"/>
                        <a:cs typeface="Courier New" panose="02070609020205020404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rax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0" i="0" dirty="0">
                          <a:latin typeface="+mn-lt"/>
                          <a:cs typeface="Courier New" panose="02070609020205020404"/>
                        </a:rPr>
                        <a:t>Recursive</a:t>
                      </a:r>
                      <a:r>
                        <a:rPr lang="en-US" b="0" i="0" baseline="0" dirty="0">
                          <a:latin typeface="+mn-lt"/>
                          <a:cs typeface="Courier New" panose="02070609020205020404"/>
                        </a:rPr>
                        <a:t> call return value</a:t>
                      </a:r>
                      <a:endParaRPr lang="en-US" b="0" i="0" dirty="0">
                        <a:latin typeface="+mn-lt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0" i="0" dirty="0">
                        <a:latin typeface="+mn-lt"/>
                        <a:cs typeface="Courier New" panose="02070609020205020404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7834" name="Rectangle 10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77835" name="Rectangle 11"/>
          <p:cNvSpPr/>
          <p:nvPr/>
        </p:nvSpPr>
        <p:spPr bwMode="auto">
          <a:xfrm>
            <a:off x="1752600" y="1295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/* </a:t>
            </a:r>
            <a:r>
              <a:rPr lang="zh-CN" altLang="en-US" sz="1800" b="1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递归函数</a:t>
            </a:r>
            <a:r>
              <a:rPr lang="en-US" altLang="zh-CN" sz="1800" b="1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*/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(unsigned long x) {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if (x == 0)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0;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else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(x &amp; 1) 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      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+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(x &gt;&gt; 1);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 dirty="0"/>
              <a:t>递归调用的</a:t>
            </a:r>
            <a:r>
              <a:rPr lang="zh-CN" altLang="en-US" dirty="0"/>
              <a:t>返回值</a:t>
            </a:r>
            <a:endParaRPr lang="zh-CN" altLang="en-US" dirty="0"/>
          </a:p>
        </p:txBody>
      </p:sp>
      <p:sp>
        <p:nvSpPr>
          <p:cNvPr id="77838" name="Rectangle 14"/>
          <p:cNvSpPr/>
          <p:nvPr/>
        </p:nvSpPr>
        <p:spPr bwMode="auto">
          <a:xfrm>
            <a:off x="7010400" y="12954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je      .L6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pushq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movq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andl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$1, 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ebx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shrq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rax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popq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.L6: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rep; ret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52600" y="4724400"/>
          <a:ext cx="5181600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255"/>
                <a:gridCol w="2015490"/>
                <a:gridCol w="2014855"/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rbx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x &amp; 1</a:t>
                      </a:r>
                      <a:endParaRPr lang="en-US" b="0" i="0" dirty="0">
                        <a:latin typeface="+mn-lt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0" i="0" dirty="0" err="1">
                          <a:latin typeface="+mn-lt"/>
                          <a:cs typeface="Courier New" panose="02070609020205020404"/>
                        </a:rPr>
                        <a:t>Callee</a:t>
                      </a:r>
                      <a:r>
                        <a:rPr lang="en-US" b="0" i="0" dirty="0">
                          <a:latin typeface="+mn-lt"/>
                          <a:cs typeface="Courier New" panose="02070609020205020404"/>
                        </a:rPr>
                        <a:t>-saved</a:t>
                      </a:r>
                      <a:endParaRPr lang="en-US" b="0" i="0" dirty="0">
                        <a:latin typeface="+mn-lt"/>
                        <a:cs typeface="Courier New" panose="02070609020205020404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rax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0" i="0" dirty="0">
                          <a:latin typeface="+mn-lt"/>
                          <a:cs typeface="Courier New" panose="02070609020205020404"/>
                        </a:rPr>
                        <a:t>R</a:t>
                      </a:r>
                      <a:r>
                        <a:rPr lang="en-US" b="0" i="0" baseline="0" dirty="0">
                          <a:latin typeface="+mn-lt"/>
                          <a:cs typeface="Courier New" panose="02070609020205020404"/>
                        </a:rPr>
                        <a:t>eturn value</a:t>
                      </a:r>
                      <a:endParaRPr lang="en-US" b="0" i="0" dirty="0">
                        <a:latin typeface="+mn-lt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b="0" i="0" dirty="0">
                        <a:latin typeface="+mn-lt"/>
                        <a:cs typeface="Courier New" panose="02070609020205020404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7834" name="Rectangle 10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77835" name="Rectangle 11"/>
          <p:cNvSpPr/>
          <p:nvPr/>
        </p:nvSpPr>
        <p:spPr bwMode="auto">
          <a:xfrm>
            <a:off x="1752600" y="1295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/* </a:t>
            </a:r>
            <a:r>
              <a:rPr lang="zh-CN" altLang="en-US" sz="1800" b="1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递归函数</a:t>
            </a:r>
            <a:r>
              <a:rPr lang="en-US" altLang="zh-CN" sz="1800" b="1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*/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(unsigned long x) {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if (x == 0)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0;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else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(x &amp; 1) 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       +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(x &gt;&gt; 1);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 dirty="0"/>
              <a:t>递归函数的</a:t>
            </a:r>
            <a:r>
              <a:rPr lang="zh-CN" altLang="en-US" dirty="0"/>
              <a:t>完成</a:t>
            </a:r>
            <a:endParaRPr lang="zh-CN" altLang="en-US" dirty="0"/>
          </a:p>
        </p:txBody>
      </p:sp>
      <p:sp>
        <p:nvSpPr>
          <p:cNvPr id="77838" name="Rectangle 14"/>
          <p:cNvSpPr/>
          <p:nvPr/>
        </p:nvSpPr>
        <p:spPr bwMode="auto">
          <a:xfrm>
            <a:off x="7010400" y="9906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je      .L6</a:t>
            </a:r>
            <a:endParaRPr lang="en-US" sz="1800" b="1" dirty="0"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pushq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andl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ebx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shrq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call  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popq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.L6: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rep; ret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52600" y="4724400"/>
          <a:ext cx="5181600" cy="74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1255"/>
                <a:gridCol w="2015490"/>
                <a:gridCol w="2014855"/>
              </a:tblGrid>
              <a:tr h="304800"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Register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Use(s)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alibri"/>
                          <a:cs typeface="Calibri"/>
                        </a:rPr>
                        <a:t>Type</a:t>
                      </a:r>
                      <a:endParaRPr lang="en-US" dirty="0">
                        <a:latin typeface="Calibri"/>
                        <a:cs typeface="Calibri"/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US" b="1" i="0" dirty="0">
                          <a:latin typeface="Courier New" panose="02070609020205020404"/>
                          <a:cs typeface="Courier New" panose="02070609020205020404"/>
                        </a:rPr>
                        <a:t>%</a:t>
                      </a:r>
                      <a:r>
                        <a:rPr lang="en-US" b="1" i="0" dirty="0" err="1">
                          <a:latin typeface="Courier New" panose="02070609020205020404"/>
                          <a:cs typeface="Courier New" panose="02070609020205020404"/>
                        </a:rPr>
                        <a:t>rax</a:t>
                      </a:r>
                      <a:endParaRPr lang="en-US" b="1" i="0" dirty="0">
                        <a:latin typeface="Courier New" panose="02070609020205020404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b="0" i="0" dirty="0">
                          <a:latin typeface="+mn-lt"/>
                          <a:cs typeface="Courier New" panose="02070609020205020404"/>
                        </a:rPr>
                        <a:t>Return</a:t>
                      </a:r>
                      <a:r>
                        <a:rPr lang="en-US" b="0" i="0" baseline="0" dirty="0">
                          <a:latin typeface="+mn-lt"/>
                          <a:cs typeface="Courier New" panose="02070609020205020404"/>
                        </a:rPr>
                        <a:t> value</a:t>
                      </a:r>
                      <a:endParaRPr lang="en-US" b="0" i="0" dirty="0">
                        <a:latin typeface="+mn-lt"/>
                        <a:cs typeface="Courier New" panose="02070609020205020404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+mn-lt"/>
                          <a:cs typeface="Courier New" panose="02070609020205020404"/>
                        </a:rPr>
                        <a:t>Return</a:t>
                      </a:r>
                      <a:r>
                        <a:rPr lang="en-US" b="0" i="0" baseline="0" dirty="0">
                          <a:latin typeface="+mn-lt"/>
                          <a:cs typeface="Courier New" panose="02070609020205020404"/>
                        </a:rPr>
                        <a:t> value</a:t>
                      </a:r>
                      <a:endParaRPr lang="en-US" b="0" i="0" dirty="0">
                        <a:latin typeface="+mn-lt"/>
                        <a:cs typeface="Courier New" panose="020706090202050204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Line 10"/>
          <p:cNvSpPr>
            <a:spLocks noChangeShapeType="1"/>
          </p:cNvSpPr>
          <p:nvPr/>
        </p:nvSpPr>
        <p:spPr bwMode="auto">
          <a:xfrm flipH="1">
            <a:off x="8610600" y="5791200"/>
            <a:ext cx="457200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11" name="Rectangle 11"/>
          <p:cNvSpPr/>
          <p:nvPr/>
        </p:nvSpPr>
        <p:spPr bwMode="auto">
          <a:xfrm>
            <a:off x="9117013" y="5562600"/>
            <a:ext cx="624840" cy="35306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l"/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12" name="Rectangle 13"/>
          <p:cNvSpPr/>
          <p:nvPr/>
        </p:nvSpPr>
        <p:spPr bwMode="auto">
          <a:xfrm>
            <a:off x="7315200" y="5029200"/>
            <a:ext cx="1295400" cy="91440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38100" tIns="38100" rIns="38100" bIns="3810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. . .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77834" name="Rectangle 10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77835" name="Rectangle 11"/>
          <p:cNvSpPr/>
          <p:nvPr/>
        </p:nvSpPr>
        <p:spPr bwMode="auto">
          <a:xfrm>
            <a:off x="1752600" y="1295400"/>
            <a:ext cx="4953000" cy="2362200"/>
          </a:xfrm>
          <a:prstGeom prst="rect">
            <a:avLst/>
          </a:prstGeom>
          <a:solidFill>
            <a:srgbClr val="F6F5BD"/>
          </a:solidFill>
          <a:ln w="127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>
            <a:outerShdw dist="76199" dir="2700000" algn="ctr" rotWithShape="0">
              <a:schemeClr val="bg2">
                <a:alpha val="75000"/>
              </a:schemeClr>
            </a:outerShdw>
          </a:effectLst>
        </p:spPr>
        <p:txBody>
          <a:bodyPr lIns="38100" tIns="38100" rIns="38100" bIns="38100"/>
          <a:lstStyle/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/* </a:t>
            </a:r>
            <a:r>
              <a:rPr lang="zh-CN" altLang="en-US" sz="1800" b="1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递归函数</a:t>
            </a:r>
            <a:r>
              <a:rPr lang="en-US" altLang="zh-CN" sz="1800" b="1" dirty="0">
                <a:solidFill>
                  <a:schemeClr val="tx1"/>
                </a:solidFill>
                <a:latin typeface="Microsoft YaHei" charset="0"/>
                <a:ea typeface="Microsoft YaHei" charset="0"/>
                <a:cs typeface="Courier New" panose="02070609020205020404" pitchFamily="49" charset="0"/>
                <a:sym typeface="Courier New Bold" panose="02070609020205020404" charset="0"/>
              </a:rPr>
              <a:t>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popcount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*/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long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(unsigned long x) {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if (x == 0)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0;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else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return (x &amp; 1) 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       +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(x &gt;&gt; 1);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/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}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77836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 dirty="0"/>
              <a:t>递归</a:t>
            </a:r>
            <a:r>
              <a:rPr lang="zh-CN" altLang="en-US" dirty="0"/>
              <a:t>函数</a:t>
            </a:r>
            <a:endParaRPr lang="zh-CN" altLang="en-US" dirty="0"/>
          </a:p>
        </p:txBody>
      </p:sp>
      <p:sp>
        <p:nvSpPr>
          <p:cNvPr id="77838" name="Rectangle 14"/>
          <p:cNvSpPr/>
          <p:nvPr/>
        </p:nvSpPr>
        <p:spPr bwMode="auto">
          <a:xfrm>
            <a:off x="7010400" y="762000"/>
            <a:ext cx="3447406" cy="4038600"/>
          </a:xfrm>
          <a:prstGeom prst="rect">
            <a:avLst/>
          </a:prstGeom>
          <a:noFill/>
          <a:ln w="127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movl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$0,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eax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testq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je      .L6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rgbClr val="7030A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pushq</a:t>
            </a:r>
            <a:r>
              <a:rPr lang="en-US" sz="1800" b="1" dirty="0">
                <a:solidFill>
                  <a:srgbClr val="7030A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%</a:t>
            </a:r>
            <a:r>
              <a:rPr lang="en-US" sz="1800" b="1" dirty="0" err="1">
                <a:solidFill>
                  <a:srgbClr val="7030A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movq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andl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$1,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ebx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shrq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</a:t>
            </a:r>
            <a:r>
              <a:rPr lang="en-US" sz="1800" b="1" dirty="0">
                <a:solidFill>
                  <a:srgbClr val="00B05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%</a:t>
            </a:r>
            <a:r>
              <a:rPr lang="en-US" sz="1800" b="1" dirty="0" err="1">
                <a:solidFill>
                  <a:srgbClr val="00B05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rdi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call  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pcount_r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addq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, </a:t>
            </a:r>
            <a:r>
              <a:rPr lang="en-US" sz="1800" b="1" dirty="0">
                <a:solidFill>
                  <a:srgbClr val="00B05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%</a:t>
            </a:r>
            <a:r>
              <a:rPr lang="en-US" sz="1800" b="1" dirty="0" err="1">
                <a:solidFill>
                  <a:srgbClr val="00B05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rax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 err="1">
                <a:solidFill>
                  <a:srgbClr val="7030A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popq</a:t>
            </a:r>
            <a:r>
              <a:rPr lang="en-US" sz="1800" b="1" dirty="0">
                <a:solidFill>
                  <a:srgbClr val="7030A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  %</a:t>
            </a:r>
            <a:r>
              <a:rPr lang="en-US" sz="1800" b="1" dirty="0" err="1">
                <a:solidFill>
                  <a:srgbClr val="7030A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rbx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.L6:</a:t>
            </a:r>
            <a:endParaRPr lang="en-US" sz="1800" b="1" dirty="0">
              <a:solidFill>
                <a:schemeClr val="tx1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  <a:p>
            <a:pPr algn="l">
              <a:tabLst>
                <a:tab pos="520700" algn="l"/>
                <a:tab pos="5207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520700" algn="l"/>
                <a:tab pos="1079500" algn="l"/>
                <a:tab pos="1371600" algn="l"/>
              </a:tabLst>
            </a:pPr>
            <a:r>
              <a:rPr lang="en-US" sz="1800" b="1" dirty="0">
                <a:solidFill>
                  <a:schemeClr val="tx1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  </a:t>
            </a:r>
            <a:r>
              <a:rPr lang="en-US" sz="1800" b="1" dirty="0">
                <a:solidFill>
                  <a:srgbClr val="FF0000"/>
                </a:solidFill>
                <a:latin typeface="Courier New" panose="02070609020205020404" pitchFamily="49" charset="0"/>
                <a:cs typeface="Courier New" panose="02070609020205020404" pitchFamily="49" charset="0"/>
                <a:sym typeface="Courier New Bold" panose="02070609020205020404" charset="0"/>
              </a:rPr>
              <a:t>rep; ret</a:t>
            </a:r>
            <a:endParaRPr lang="en-US" sz="1800" b="1" dirty="0">
              <a:solidFill>
                <a:srgbClr val="FF0000"/>
              </a:solidFill>
              <a:latin typeface="Courier New" panose="02070609020205020404" pitchFamily="49" charset="0"/>
              <a:cs typeface="Courier New" panose="02070609020205020404" pitchFamily="49" charset="0"/>
              <a:sym typeface="Courier New Bold" panose="02070609020205020404" charset="0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905000" y="4933315"/>
            <a:ext cx="75317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400">
                <a:solidFill>
                  <a:srgbClr val="00B050"/>
                </a:solidFill>
                <a:sym typeface="+mn-ea"/>
              </a:rPr>
              <a:t>red: </a:t>
            </a:r>
            <a:r>
              <a:rPr lang="zh-CN" altLang="en-US" sz="2400">
                <a:solidFill>
                  <a:srgbClr val="00B050"/>
                </a:solidFill>
                <a:sym typeface="+mn-ea"/>
              </a:rPr>
              <a:t>控制的传递</a:t>
            </a:r>
            <a:endParaRPr lang="zh-CN" altLang="en-US" sz="2400">
              <a:solidFill>
                <a:srgbClr val="00B050"/>
              </a:solidFill>
              <a:sym typeface="+mn-ea"/>
            </a:endParaRPr>
          </a:p>
          <a:p>
            <a:pPr algn="l"/>
            <a:r>
              <a:rPr lang="en-US" sz="2400">
                <a:solidFill>
                  <a:srgbClr val="00B050"/>
                </a:solidFill>
                <a:sym typeface="+mn-ea"/>
              </a:rPr>
              <a:t>green: </a:t>
            </a:r>
            <a:r>
              <a:rPr lang="zh-CN" altLang="en-US" sz="2400">
                <a:solidFill>
                  <a:srgbClr val="00B050"/>
                </a:solidFill>
                <a:sym typeface="+mn-ea"/>
              </a:rPr>
              <a:t>数据的传递</a:t>
            </a:r>
            <a:endParaRPr lang="en-US" sz="2400">
              <a:solidFill>
                <a:srgbClr val="00B050"/>
              </a:solidFill>
            </a:endParaRPr>
          </a:p>
          <a:p>
            <a:pPr algn="l"/>
            <a:r>
              <a:rPr lang="en-US" sz="2400">
                <a:solidFill>
                  <a:srgbClr val="00B050"/>
                </a:solidFill>
                <a:sym typeface="+mn-ea"/>
              </a:rPr>
              <a:t>purple: </a:t>
            </a:r>
            <a:r>
              <a:rPr lang="zh-CN" altLang="en-US" sz="2400">
                <a:solidFill>
                  <a:srgbClr val="00B050"/>
                </a:solidFill>
                <a:sym typeface="+mn-ea"/>
              </a:rPr>
              <a:t>数据的存储</a:t>
            </a:r>
            <a:endParaRPr lang="en-US" sz="2400">
              <a:solidFill>
                <a:srgbClr val="00B050"/>
              </a:solidFill>
            </a:endParaRP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zh-CN" altLang="en-US" dirty="0"/>
              <a:t>关于</a:t>
            </a:r>
            <a:r>
              <a:rPr lang="zh-CN" altLang="en-US" dirty="0"/>
              <a:t>递归</a:t>
            </a:r>
            <a:endParaRPr lang="zh-CN" altLang="en-US" dirty="0"/>
          </a:p>
        </p:txBody>
      </p:sp>
      <p:sp>
        <p:nvSpPr>
          <p:cNvPr id="48132" name="Rectangle 4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无需特殊处理</a:t>
            </a:r>
            <a:endParaRPr lang="en-US" dirty="0"/>
          </a:p>
          <a:p>
            <a:pPr lvl="1"/>
            <a:r>
              <a:rPr lang="zh-CN" altLang="en-US" dirty="0"/>
              <a:t>每个函数调用实例都有一个私有的存储内存块——栈帧</a:t>
            </a:r>
            <a:endParaRPr lang="en-US" dirty="0"/>
          </a:p>
          <a:p>
            <a:pPr lvl="2"/>
            <a:r>
              <a:rPr lang="zh-CN" altLang="en-US" dirty="0"/>
              <a:t>保存寄存器、局部变量、返回地址</a:t>
            </a:r>
            <a:endParaRPr lang="zh-CN" altLang="en-US" dirty="0"/>
          </a:p>
          <a:p>
            <a:pPr lvl="1"/>
            <a:r>
              <a:rPr lang="zh-CN" altLang="en-US" dirty="0"/>
              <a:t>寄存器能保护的约定，可以避免多个函数调用之间的数据覆盖</a:t>
            </a:r>
            <a:endParaRPr lang="en-US" dirty="0"/>
          </a:p>
          <a:p>
            <a:pPr lvl="2"/>
            <a:r>
              <a:rPr lang="zh-CN" altLang="en-US" dirty="0"/>
              <a:t>除非</a:t>
            </a:r>
            <a:r>
              <a:rPr lang="zh-CN" altLang="en-US" dirty="0"/>
              <a:t>利用代码中的指针</a:t>
            </a:r>
            <a:r>
              <a:rPr lang="zh-CN" altLang="en-US" dirty="0"/>
              <a:t>运算这么做</a:t>
            </a:r>
            <a:r>
              <a:rPr lang="en-US" dirty="0"/>
              <a:t> (</a:t>
            </a:r>
            <a:r>
              <a:rPr lang="zh-CN" altLang="en-US" dirty="0"/>
              <a:t>比如，后面的“缓冲区溢出”</a:t>
            </a:r>
            <a:r>
              <a:rPr lang="en-US" dirty="0"/>
              <a:t>)</a:t>
            </a:r>
            <a:endParaRPr lang="en-US" dirty="0"/>
          </a:p>
          <a:p>
            <a:pPr lvl="1"/>
            <a:r>
              <a:rPr lang="zh-CN" altLang="en-US" dirty="0"/>
              <a:t>过程的调用返回模式，</a:t>
            </a:r>
            <a:r>
              <a:rPr lang="zh-CN" altLang="en-US" dirty="0"/>
              <a:t>匹配栈的操作方式</a:t>
            </a:r>
            <a:endParaRPr lang="en-US" dirty="0"/>
          </a:p>
          <a:p>
            <a:pPr lvl="2"/>
            <a:r>
              <a:rPr lang="en-US" dirty="0"/>
              <a:t>If P calls Q, then Q returns before P</a:t>
            </a:r>
            <a:endParaRPr lang="en-US" dirty="0"/>
          </a:p>
          <a:p>
            <a:pPr lvl="2"/>
            <a:r>
              <a:rPr lang="en-US" dirty="0"/>
              <a:t>Last-In, First-Out</a:t>
            </a:r>
            <a:endParaRPr lang="en-US" dirty="0"/>
          </a:p>
          <a:p>
            <a:pPr lvl="1"/>
            <a:r>
              <a:rPr lang="zh-CN" altLang="en-US" dirty="0"/>
              <a:t>事</a:t>
            </a:r>
            <a:r>
              <a:rPr lang="zh-CN" altLang="en-US" dirty="0">
                <a:latin typeface="楷体_GB2312" charset="0"/>
                <a:ea typeface="楷体_GB2312" charset="0"/>
                <a:cs typeface="楷体_GB2312" charset="0"/>
              </a:rPr>
              <a:t>实上，</a:t>
            </a:r>
            <a:r>
              <a:rPr lang="zh-CN" altLang="en-US" dirty="0">
                <a:ea typeface="楷体_GB2312" charset="0"/>
              </a:rPr>
              <a:t>栈帧</a:t>
            </a:r>
            <a:r>
              <a:rPr lang="zh-CN" altLang="en-US" dirty="0">
                <a:latin typeface="楷体_GB2312" charset="0"/>
                <a:ea typeface="楷体_GB2312" charset="0"/>
                <a:cs typeface="楷体_GB2312" charset="0"/>
              </a:rPr>
              <a:t>就是为递归调用和可重入调用专</a:t>
            </a:r>
            <a:r>
              <a:rPr lang="zh-CN" altLang="en-US" dirty="0">
                <a:latin typeface="楷体_GB2312" charset="0"/>
                <a:ea typeface="楷体_GB2312" charset="0"/>
                <a:cs typeface="楷体_GB2312" charset="0"/>
              </a:rPr>
              <a:t>门设计的</a:t>
            </a:r>
            <a:endParaRPr lang="zh-CN" altLang="en-US" dirty="0">
              <a:latin typeface="楷体_GB2312" charset="0"/>
              <a:ea typeface="楷体_GB2312" charset="0"/>
              <a:cs typeface="楷体_GB2312" charset="0"/>
            </a:endParaRPr>
          </a:p>
          <a:p>
            <a:pPr lvl="0"/>
            <a:r>
              <a:rPr lang="zh-CN" altLang="en-US" dirty="0"/>
              <a:t>可以</a:t>
            </a:r>
            <a:r>
              <a:rPr lang="zh-CN" altLang="en-US" dirty="0"/>
              <a:t>支持互递归</a:t>
            </a:r>
            <a:endParaRPr lang="en-US" dirty="0"/>
          </a:p>
          <a:p>
            <a:pPr lvl="1"/>
            <a:r>
              <a:rPr lang="en-US" dirty="0"/>
              <a:t>P </a:t>
            </a:r>
            <a:r>
              <a:rPr lang="zh-CN" altLang="en-US" dirty="0"/>
              <a:t>调用</a:t>
            </a:r>
            <a:r>
              <a:rPr lang="en-US" altLang="zh-CN" dirty="0"/>
              <a:t> </a:t>
            </a:r>
            <a:r>
              <a:rPr lang="en-US" dirty="0"/>
              <a:t>Q; Q </a:t>
            </a:r>
            <a:r>
              <a:rPr lang="zh-CN" altLang="en-US" dirty="0"/>
              <a:t>调用</a:t>
            </a:r>
            <a:r>
              <a:rPr lang="en-US" altLang="zh-CN" dirty="0"/>
              <a:t> </a:t>
            </a:r>
            <a:r>
              <a:rPr lang="en-US" dirty="0"/>
              <a:t>P</a:t>
            </a:r>
            <a:endParaRPr lang="en-US" dirty="0"/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1"/>
          <p:cNvSpPr/>
          <p:nvPr/>
        </p:nvSpPr>
        <p:spPr bwMode="auto">
          <a:xfrm>
            <a:off x="1524000" y="0"/>
            <a:ext cx="9156700" cy="228600"/>
          </a:xfrm>
          <a:prstGeom prst="rect">
            <a:avLst/>
          </a:prstGeom>
          <a:solidFill>
            <a:schemeClr val="accent1"/>
          </a:solidFill>
          <a:ln w="9525" cap="flat">
            <a:noFill/>
            <a:miter lim="800000"/>
            <a:headEnd type="none" w="med" len="med"/>
            <a:tailEnd type="none" w="med" len="med"/>
          </a:ln>
        </p:spPr>
        <p:txBody>
          <a:bodyPr wrap="none" lIns="0" tIns="0" rIns="0" bIns="0"/>
          <a:lstStyle/>
          <a:p>
            <a:endParaRPr lang="en-US"/>
          </a:p>
        </p:txBody>
      </p:sp>
      <p:sp>
        <p:nvSpPr>
          <p:cNvPr id="81922" name="Rectangle 2"/>
          <p:cNvSpPr/>
          <p:nvPr/>
        </p:nvSpPr>
        <p:spPr bwMode="auto">
          <a:xfrm>
            <a:off x="9586913" y="22225"/>
            <a:ext cx="1320800" cy="1778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pPr algn="l"/>
            <a:r>
              <a:rPr lang="en-US" sz="1200">
                <a:solidFill>
                  <a:srgbClr val="FFFFFF"/>
                </a:solidFill>
                <a:ea typeface="Gill Sans" panose="020B0502020104020203" charset="0"/>
                <a:cs typeface="Gill Sans" panose="020B0502020104020203" charset="0"/>
              </a:rPr>
              <a:t>Carnegie Mellon</a:t>
            </a:r>
            <a:endParaRPr lang="en-US" sz="1200">
              <a:solidFill>
                <a:srgbClr val="FFFFFF"/>
              </a:solidFill>
              <a:ea typeface="Gill Sans" panose="020B0502020104020203" charset="0"/>
              <a:cs typeface="Gill Sans" panose="020B0502020104020203" charset="0"/>
            </a:endParaRPr>
          </a:p>
        </p:txBody>
      </p:sp>
      <p:sp>
        <p:nvSpPr>
          <p:cNvPr id="81923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marL="119380" indent="-119380"/>
            <a:r>
              <a:rPr lang="en-US" dirty="0"/>
              <a:t>x86-64 </a:t>
            </a:r>
            <a:r>
              <a:rPr lang="zh-CN" altLang="en-US" dirty="0"/>
              <a:t>过程调用总结</a:t>
            </a:r>
            <a:endParaRPr lang="en-US" dirty="0"/>
          </a:p>
        </p:txBody>
      </p:sp>
      <p:sp>
        <p:nvSpPr>
          <p:cNvPr id="17" name="Content Placeholder 1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要点</a:t>
            </a:r>
            <a:r>
              <a:rPr lang="en-US" altLang="zh-CN" dirty="0"/>
              <a:t>		</a:t>
            </a:r>
            <a:endParaRPr lang="en-US" altLang="zh-CN" dirty="0"/>
          </a:p>
          <a:p>
            <a:pPr lvl="1"/>
            <a:r>
              <a:rPr lang="zh-CN" altLang="en-US" dirty="0"/>
              <a:t>使用“栈”来支持过程调用、过程返回</a:t>
            </a:r>
            <a:endParaRPr lang="en-US" dirty="0"/>
          </a:p>
          <a:p>
            <a:pPr lvl="2"/>
            <a:r>
              <a:rPr lang="en-US" dirty="0"/>
              <a:t>If P calls Q, then Q returns before P</a:t>
            </a:r>
            <a:endParaRPr lang="en-US" dirty="0"/>
          </a:p>
          <a:p>
            <a:r>
              <a:rPr lang="zh-CN" altLang="en-US" dirty="0"/>
              <a:t>正常的调用约定能处理递归、互递归等复杂调用</a:t>
            </a:r>
            <a:endParaRPr lang="en-US" dirty="0"/>
          </a:p>
          <a:p>
            <a:pPr lvl="1"/>
            <a:r>
              <a:rPr lang="zh-CN" altLang="en-US" dirty="0"/>
              <a:t>将局部数据存储到</a:t>
            </a:r>
            <a:r>
              <a:rPr lang="zh-CN" altLang="en-US" b="1" dirty="0">
                <a:latin typeface="Kaiti SC Bold" panose="02010600040101010101" charset="-122"/>
                <a:ea typeface="Kaiti SC Bold" panose="02010600040101010101" charset="-122"/>
              </a:rPr>
              <a:t>栈帧</a:t>
            </a:r>
            <a:r>
              <a:rPr lang="zh-CN" altLang="en-US" dirty="0"/>
              <a:t>、以及</a:t>
            </a:r>
            <a:r>
              <a:rPr lang="en-US" altLang="zh-CN" dirty="0"/>
              <a:t>callee</a:t>
            </a:r>
            <a:r>
              <a:rPr lang="zh-CN" altLang="en-US" dirty="0"/>
              <a:t>保护的</a:t>
            </a:r>
            <a:r>
              <a:rPr lang="zh-CN" altLang="en-US" b="1" dirty="0">
                <a:latin typeface="Kaiti SC Bold" panose="02010600040101010101" charset="-122"/>
                <a:ea typeface="Kaiti SC Bold" panose="02010600040101010101" charset="-122"/>
              </a:rPr>
              <a:t>寄存器</a:t>
            </a:r>
            <a:endParaRPr lang="en-US" dirty="0"/>
          </a:p>
          <a:p>
            <a:pPr lvl="1"/>
            <a:r>
              <a:rPr lang="zh-CN" altLang="en-US" dirty="0"/>
              <a:t>传递给</a:t>
            </a:r>
            <a:r>
              <a:rPr lang="en-US" altLang="zh-CN" dirty="0"/>
              <a:t>calee</a:t>
            </a:r>
            <a:r>
              <a:rPr lang="zh-CN" altLang="en-US" dirty="0"/>
              <a:t>的实际参数值，可以放在栈顶</a:t>
            </a:r>
            <a:endParaRPr lang="en-US" dirty="0"/>
          </a:p>
          <a:p>
            <a:pPr lvl="1"/>
            <a:r>
              <a:rPr lang="zh-CN" altLang="en-US" dirty="0"/>
              <a:t>返回值放在</a:t>
            </a:r>
            <a:r>
              <a:rPr lang="en-US" dirty="0"/>
              <a:t> </a:t>
            </a:r>
            <a:r>
              <a:rPr lang="en-US" dirty="0">
                <a:latin typeface="Courier New Bold" panose="02070609020205020404"/>
              </a:rPr>
              <a:t>%</a:t>
            </a:r>
            <a:r>
              <a:rPr lang="en-US" dirty="0" err="1">
                <a:latin typeface="Courier New Bold" panose="02070609020205020404"/>
              </a:rPr>
              <a:t>rax</a:t>
            </a:r>
            <a:endParaRPr lang="en-US" dirty="0">
              <a:latin typeface="Courier New Bold" panose="02070609020205020404"/>
            </a:endParaRPr>
          </a:p>
          <a:p>
            <a:r>
              <a:rPr lang="zh-CN" altLang="en-US" b="0" dirty="0"/>
              <a:t>指针是内存的地址，包括</a:t>
            </a:r>
            <a:endParaRPr lang="en-US" b="0" dirty="0"/>
          </a:p>
          <a:p>
            <a:pPr lvl="1"/>
            <a:r>
              <a:rPr lang="zh-CN" altLang="en-US" dirty="0">
                <a:latin typeface="+mn-lt"/>
              </a:rPr>
              <a:t>局部</a:t>
            </a:r>
            <a:r>
              <a:rPr lang="zh-CN" altLang="en-US" dirty="0">
                <a:latin typeface="+mn-lt"/>
              </a:rPr>
              <a:t>变量的地址（栈内存</a:t>
            </a:r>
            <a:r>
              <a:rPr lang="zh-CN" altLang="en-US" dirty="0">
                <a:latin typeface="+mn-lt"/>
              </a:rPr>
              <a:t>段）</a:t>
            </a:r>
            <a:endParaRPr lang="zh-CN" altLang="en-US" dirty="0">
              <a:latin typeface="+mn-lt"/>
            </a:endParaRPr>
          </a:p>
          <a:p>
            <a:pPr lvl="1"/>
            <a:r>
              <a:rPr lang="zh-CN" altLang="en-US" dirty="0">
                <a:latin typeface="+mn-lt"/>
              </a:rPr>
              <a:t>全局变量的地址（全局内存</a:t>
            </a:r>
            <a:r>
              <a:rPr lang="zh-CN" altLang="en-US" dirty="0">
                <a:latin typeface="+mn-lt"/>
              </a:rPr>
              <a:t>段）</a:t>
            </a:r>
            <a:endParaRPr lang="zh-CN" altLang="en-US" dirty="0">
              <a:latin typeface="+mn-lt"/>
            </a:endParaRPr>
          </a:p>
        </p:txBody>
      </p:sp>
      <p:sp>
        <p:nvSpPr>
          <p:cNvPr id="81924" name="Rectangle 4"/>
          <p:cNvSpPr/>
          <p:nvPr/>
        </p:nvSpPr>
        <p:spPr bwMode="auto">
          <a:xfrm>
            <a:off x="9144000" y="3273425"/>
            <a:ext cx="1407160" cy="28956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Return Addr</a:t>
            </a:r>
            <a:endParaRPr lang="en-US" sz="18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81925" name="Rectangle 5"/>
          <p:cNvSpPr/>
          <p:nvPr/>
        </p:nvSpPr>
        <p:spPr bwMode="auto">
          <a:xfrm>
            <a:off x="9144000" y="3883025"/>
            <a:ext cx="1407160" cy="1725295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Saved</a:t>
            </a:r>
            <a:endParaRPr lang="en-US" sz="2400">
              <a:solidFill>
                <a:schemeClr val="tx1"/>
              </a:solidFill>
              <a:latin typeface="Arial Narrow Bold" panose="020B0706020202030204" charset="0"/>
              <a:ea typeface="Lucida Grande" panose="020B0600040502020204" charset="0"/>
              <a:cs typeface="Lucida Grande" panose="020B0600040502020204" charset="0"/>
              <a:sym typeface="Arial Narrow Bold" panose="020B0706020202030204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Registers</a:t>
            </a:r>
            <a:endParaRPr lang="en-US" sz="2400">
              <a:solidFill>
                <a:schemeClr val="tx1"/>
              </a:solidFill>
              <a:latin typeface="Arial Narrow Bold" panose="020B0706020202030204" charset="0"/>
              <a:ea typeface="Lucida Grande" panose="020B0600040502020204" charset="0"/>
              <a:cs typeface="Lucida Grande" panose="020B0600040502020204" charset="0"/>
              <a:sym typeface="Arial Narrow Bold" panose="020B0706020202030204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+</a:t>
            </a:r>
            <a:endParaRPr lang="en-US" sz="2400">
              <a:solidFill>
                <a:schemeClr val="tx1"/>
              </a:solidFill>
              <a:latin typeface="Arial Narrow Bold" panose="020B0706020202030204" charset="0"/>
              <a:ea typeface="Lucida Grande" panose="020B0600040502020204" charset="0"/>
              <a:cs typeface="Lucida Grande" panose="020B0600040502020204" charset="0"/>
              <a:sym typeface="Arial Narrow Bold" panose="020B0706020202030204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Local</a:t>
            </a:r>
            <a:endParaRPr lang="en-US" sz="2400">
              <a:solidFill>
                <a:schemeClr val="tx1"/>
              </a:solidFill>
              <a:latin typeface="Arial Narrow Bold" panose="020B0706020202030204" charset="0"/>
              <a:ea typeface="Lucida Grande" panose="020B0600040502020204" charset="0"/>
              <a:cs typeface="Lucida Grande" panose="020B0600040502020204" charset="0"/>
              <a:sym typeface="Arial Narrow Bold" panose="020B0706020202030204" charset="0"/>
            </a:endParaRPr>
          </a:p>
          <a:p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Variables</a:t>
            </a:r>
            <a:endParaRPr lang="en-US" sz="18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81926" name="Rectangle 6"/>
          <p:cNvSpPr/>
          <p:nvPr/>
        </p:nvSpPr>
        <p:spPr bwMode="auto">
          <a:xfrm>
            <a:off x="9144000" y="5622925"/>
            <a:ext cx="1407160" cy="699770"/>
          </a:xfrm>
          <a:prstGeom prst="rect">
            <a:avLst/>
          </a:prstGeom>
          <a:solidFill>
            <a:srgbClr val="D6D6F4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Arguments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7+</a:t>
            </a:r>
            <a:endParaRPr lang="en-US" sz="18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81927" name="Rectangle 7"/>
          <p:cNvSpPr/>
          <p:nvPr/>
        </p:nvSpPr>
        <p:spPr bwMode="auto">
          <a:xfrm>
            <a:off x="9144000" y="1292225"/>
            <a:ext cx="1407160" cy="130302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1928" name="Rectangle 8"/>
          <p:cNvSpPr/>
          <p:nvPr/>
        </p:nvSpPr>
        <p:spPr bwMode="auto">
          <a:xfrm>
            <a:off x="9144000" y="3578225"/>
            <a:ext cx="1407160" cy="289560"/>
          </a:xfrm>
          <a:prstGeom prst="rect">
            <a:avLst/>
          </a:prstGeom>
          <a:solidFill>
            <a:srgbClr val="D9D9D9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 dirty="0">
                <a:solidFill>
                  <a:srgbClr val="7F7F7F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Old %</a:t>
            </a:r>
            <a:r>
              <a:rPr lang="en-US" sz="1800" dirty="0" err="1">
                <a:solidFill>
                  <a:srgbClr val="7F7F7F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rbp</a:t>
            </a:r>
            <a:endParaRPr lang="en-US" sz="1800" dirty="0">
              <a:solidFill>
                <a:srgbClr val="7F7F7F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81929" name="Rectangle 9"/>
          <p:cNvSpPr/>
          <p:nvPr/>
        </p:nvSpPr>
        <p:spPr bwMode="auto">
          <a:xfrm>
            <a:off x="9144000" y="2663825"/>
            <a:ext cx="1407160" cy="579120"/>
          </a:xfrm>
          <a:prstGeom prst="rect">
            <a:avLst/>
          </a:prstGeom>
          <a:solidFill>
            <a:srgbClr val="F2F2F2"/>
          </a:solidFill>
          <a:ln w="25400" cap="flat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/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Arguments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7+</a:t>
            </a:r>
            <a:endParaRPr lang="en-US" sz="1800" dirty="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81930" name="Rectangle 10"/>
          <p:cNvSpPr/>
          <p:nvPr/>
        </p:nvSpPr>
        <p:spPr bwMode="auto">
          <a:xfrm>
            <a:off x="8002270" y="2125663"/>
            <a:ext cx="741680" cy="62992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wrap="none" lIns="38100" tIns="38100" rIns="38100" bIns="38100">
            <a:spAutoFit/>
          </a:bodyPr>
          <a:lstStyle/>
          <a:p>
            <a:pPr algn="r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Caller</a:t>
            </a:r>
            <a:endParaRPr lang="en-US">
              <a:solidFill>
                <a:schemeClr val="tx1"/>
              </a:solidFill>
              <a:latin typeface="Arial Narrow Bold" panose="020B0706020202030204" charset="0"/>
              <a:ea typeface="Lucida Grande" panose="020B0600040502020204" charset="0"/>
              <a:cs typeface="Lucida Grande" panose="020B0600040502020204" charset="0"/>
              <a:sym typeface="Arial Narrow Bold" panose="020B0706020202030204" charset="0"/>
            </a:endParaRPr>
          </a:p>
          <a:p>
            <a:pPr algn="r"/>
            <a:r>
              <a:rPr lang="en-US" sz="1800">
                <a:solidFill>
                  <a:schemeClr val="tx1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Frame</a:t>
            </a:r>
            <a:endParaRPr lang="en-US" sz="1800">
              <a:solidFill>
                <a:schemeClr val="tx1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</p:txBody>
      </p:sp>
      <p:sp>
        <p:nvSpPr>
          <p:cNvPr id="81931" name="AutoShape 11"/>
          <p:cNvSpPr/>
          <p:nvPr/>
        </p:nvSpPr>
        <p:spPr bwMode="auto">
          <a:xfrm>
            <a:off x="8807450" y="1295400"/>
            <a:ext cx="228600" cy="2286000"/>
          </a:xfrm>
          <a:custGeom>
            <a:avLst/>
            <a:gdLst>
              <a:gd name="T0" fmla="*/ 10800 w 21600"/>
              <a:gd name="T1" fmla="*/ 10800 h 21600"/>
            </a:gdLst>
            <a:ahLst/>
            <a:cxnLst>
              <a:cxn ang="0">
                <a:pos x="T0" y="T1"/>
              </a:cxn>
            </a:cxnLst>
            <a:rect l="0" t="0" r="r" b="b"/>
            <a:pathLst>
              <a:path w="21600" h="21600">
                <a:moveTo>
                  <a:pt x="21600" y="21600"/>
                </a:moveTo>
                <a:cubicBezTo>
                  <a:pt x="15635" y="21600"/>
                  <a:pt x="10800" y="20875"/>
                  <a:pt x="10800" y="19980"/>
                </a:cubicBezTo>
                <a:lnTo>
                  <a:pt x="10800" y="12420"/>
                </a:lnTo>
                <a:cubicBezTo>
                  <a:pt x="10800" y="11525"/>
                  <a:pt x="5965" y="10800"/>
                  <a:pt x="0" y="10800"/>
                </a:cubicBezTo>
                <a:cubicBezTo>
                  <a:pt x="5965" y="10800"/>
                  <a:pt x="10800" y="10075"/>
                  <a:pt x="10800" y="9180"/>
                </a:cubicBezTo>
                <a:lnTo>
                  <a:pt x="10800" y="1620"/>
                </a:lnTo>
                <a:cubicBezTo>
                  <a:pt x="10800" y="725"/>
                  <a:pt x="15635" y="0"/>
                  <a:pt x="21600" y="0"/>
                </a:cubicBezTo>
              </a:path>
            </a:pathLst>
          </a:cu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1932" name="Line 12"/>
          <p:cNvSpPr>
            <a:spLocks noChangeShapeType="1"/>
          </p:cNvSpPr>
          <p:nvPr/>
        </p:nvSpPr>
        <p:spPr bwMode="auto">
          <a:xfrm>
            <a:off x="8731250" y="3732213"/>
            <a:ext cx="280988" cy="0"/>
          </a:xfrm>
          <a:prstGeom prst="line">
            <a:avLst/>
          </a:prstGeom>
          <a:noFill/>
          <a:ln w="25400" cap="flat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1933" name="Rectangle 13"/>
          <p:cNvSpPr/>
          <p:nvPr/>
        </p:nvSpPr>
        <p:spPr bwMode="auto">
          <a:xfrm>
            <a:off x="7170738" y="3552825"/>
            <a:ext cx="15621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rbp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  <a:p>
            <a:pPr algn="r"/>
            <a:r>
              <a:rPr lang="en-US" sz="1800" dirty="0">
                <a:solidFill>
                  <a:schemeClr val="tx1"/>
                </a:solidFill>
                <a:latin typeface="+mn-lt"/>
                <a:cs typeface="Courier New Bold" panose="02070609020205020404" charset="0"/>
                <a:sym typeface="Courier New Bold" panose="02070609020205020404" charset="0"/>
              </a:rPr>
              <a:t>(Optional)</a:t>
            </a:r>
            <a:endParaRPr lang="en-US" sz="1800" dirty="0">
              <a:solidFill>
                <a:schemeClr val="tx1"/>
              </a:solidFill>
              <a:latin typeface="+mn-lt"/>
              <a:cs typeface="Courier New Bold" panose="02070609020205020404" charset="0"/>
              <a:sym typeface="Courier New Bold" panose="02070609020205020404" charset="0"/>
            </a:endParaRPr>
          </a:p>
        </p:txBody>
      </p:sp>
      <p:sp>
        <p:nvSpPr>
          <p:cNvPr id="81934" name="Line 14"/>
          <p:cNvSpPr>
            <a:spLocks noChangeShapeType="1"/>
          </p:cNvSpPr>
          <p:nvPr/>
        </p:nvSpPr>
        <p:spPr bwMode="auto">
          <a:xfrm>
            <a:off x="8731250" y="6365875"/>
            <a:ext cx="290513" cy="0"/>
          </a:xfrm>
          <a:prstGeom prst="line">
            <a:avLst/>
          </a:prstGeom>
          <a:noFill/>
          <a:ln w="25400" cap="flat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81935" name="Rectangle 15"/>
          <p:cNvSpPr/>
          <p:nvPr/>
        </p:nvSpPr>
        <p:spPr bwMode="auto">
          <a:xfrm>
            <a:off x="7289800" y="6184900"/>
            <a:ext cx="1485900" cy="330200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38100" tIns="38100" rIns="38100" bIns="38100"/>
          <a:lstStyle/>
          <a:p>
            <a:pPr algn="r"/>
            <a:r>
              <a:rPr lang="en-US" sz="1800" dirty="0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%</a:t>
            </a:r>
            <a:r>
              <a:rPr lang="en-US" sz="1800" dirty="0" err="1">
                <a:solidFill>
                  <a:schemeClr val="tx1"/>
                </a:solidFill>
                <a:latin typeface="Courier New Bold" panose="02070609020205020404" charset="0"/>
                <a:cs typeface="Courier New Bold" panose="02070609020205020404" charset="0"/>
                <a:sym typeface="Courier New Bold" panose="02070609020205020404" charset="0"/>
              </a:rPr>
              <a:t>rsp</a:t>
            </a:r>
            <a:endParaRPr lang="en-US" sz="1800" dirty="0">
              <a:solidFill>
                <a:schemeClr val="tx1"/>
              </a:solidFill>
              <a:latin typeface="Courier New Bold" panose="02070609020205020404" charset="0"/>
              <a:cs typeface="Courier New Bold" panose="02070609020205020404" charset="0"/>
              <a:sym typeface="Courier New Bold" panose="02070609020205020404" charset="0"/>
            </a:endParaRP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>
                <a:ea typeface="SimSun" pitchFamily="2" charset="-122"/>
                <a:sym typeface="+mn-ea"/>
              </a:rPr>
              <a:t>回顾：</a:t>
            </a:r>
            <a:r>
              <a:rPr lang="en-US" altLang="zh-CN">
                <a:ea typeface="SimSun" pitchFamily="2" charset="-122"/>
                <a:sym typeface="+mn-ea"/>
              </a:rPr>
              <a:t>Language of C </a:t>
            </a:r>
            <a:r>
              <a:rPr lang="zh-CN" altLang="en-US">
                <a:ea typeface="SimSun" pitchFamily="2" charset="-122"/>
                <a:sym typeface="+mn-ea"/>
              </a:rPr>
              <a:t>（</a:t>
            </a:r>
            <a:r>
              <a:rPr lang="en-US" altLang="zh-CN">
                <a:ea typeface="SimSun" pitchFamily="2" charset="-122"/>
                <a:sym typeface="+mn-ea"/>
              </a:rPr>
              <a:t>C</a:t>
            </a:r>
            <a:r>
              <a:rPr lang="zh-CN" altLang="en-US">
                <a:ea typeface="SimSun" pitchFamily="2" charset="-122"/>
                <a:sym typeface="+mn-ea"/>
              </a:rPr>
              <a:t>语言的运算）</a:t>
            </a:r>
            <a:endParaRPr lang="en-US" altLang="zh-CN">
              <a:ea typeface="SimSun" pitchFamily="2" charset="-122"/>
              <a:sym typeface="+mn-ea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zh-CN" altLang="en-US" sz="2880">
                <a:ea typeface="SimSun" pitchFamily="2" charset="-122"/>
                <a:sym typeface="+mn-ea"/>
              </a:rPr>
              <a:t>高级语言——机器语言的高级</a:t>
            </a:r>
            <a:r>
              <a:rPr lang="zh-CN" altLang="en-US" sz="2880">
                <a:ea typeface="SimSun" pitchFamily="2" charset="-122"/>
                <a:sym typeface="+mn-ea"/>
              </a:rPr>
              <a:t>抽象</a:t>
            </a:r>
            <a:endParaRPr lang="zh-CN" altLang="en-US" sz="2880">
              <a:ea typeface="SimSun" pitchFamily="2" charset="-122"/>
              <a:sym typeface="+mn-ea"/>
            </a:endParaRPr>
          </a:p>
          <a:p>
            <a:pPr lvl="1"/>
            <a:r>
              <a:rPr lang="zh-CN" altLang="en-US" sz="2400">
                <a:sym typeface="+mn-ea"/>
              </a:rPr>
              <a:t>算术逻辑指令 </a:t>
            </a:r>
            <a:r>
              <a:rPr lang="en-US" altLang="zh-CN" sz="2400">
                <a:sym typeface="+mn-ea"/>
              </a:rPr>
              <a:t>-&gt; </a:t>
            </a:r>
            <a:r>
              <a:rPr lang="zh-CN" altLang="en-US" sz="2400">
                <a:sym typeface="+mn-ea"/>
              </a:rPr>
              <a:t>运算符</a:t>
            </a:r>
            <a:endParaRPr lang="zh-CN" altLang="en-US" sz="2400"/>
          </a:p>
          <a:p>
            <a:pPr lvl="2"/>
            <a:r>
              <a:rPr lang="zh-CN" altLang="en-US" sz="2400">
                <a:sym typeface="+mn-ea"/>
              </a:rPr>
              <a:t>算术：</a:t>
            </a:r>
            <a:r>
              <a:rPr lang="en-US" altLang="zh-CN" sz="2400">
                <a:sym typeface="+mn-ea"/>
              </a:rPr>
              <a:t>+</a:t>
            </a:r>
            <a:r>
              <a:rPr lang="zh-CN" altLang="en-US" sz="2400">
                <a:sym typeface="+mn-ea"/>
              </a:rPr>
              <a:t>，</a:t>
            </a:r>
            <a:r>
              <a:rPr lang="en-US" altLang="zh-CN" sz="2400">
                <a:sym typeface="+mn-ea"/>
              </a:rPr>
              <a:t>-, *, /</a:t>
            </a:r>
            <a:endParaRPr lang="en-US" altLang="zh-CN" sz="2400"/>
          </a:p>
          <a:p>
            <a:pPr lvl="2"/>
            <a:r>
              <a:rPr lang="zh-CN" altLang="en-US" sz="2400">
                <a:sym typeface="+mn-ea"/>
              </a:rPr>
              <a:t>逻辑：</a:t>
            </a:r>
            <a:r>
              <a:rPr lang="en-US" altLang="zh-CN" sz="2400">
                <a:sym typeface="+mn-ea"/>
              </a:rPr>
              <a:t>&amp;&amp;, ||, !</a:t>
            </a:r>
            <a:endParaRPr lang="en-US" altLang="zh-CN" sz="2400"/>
          </a:p>
          <a:p>
            <a:pPr lvl="2"/>
            <a:r>
              <a:rPr lang="zh-CN" altLang="en-US" sz="2400">
                <a:sym typeface="+mn-ea"/>
              </a:rPr>
              <a:t>关系：</a:t>
            </a:r>
            <a:r>
              <a:rPr lang="en-US" altLang="zh-CN" sz="2400">
                <a:sym typeface="+mn-ea"/>
              </a:rPr>
              <a:t>&gt;, &lt;, ==, &gt;=, &lt;=, !=</a:t>
            </a:r>
            <a:endParaRPr lang="en-US" altLang="zh-CN" sz="2400"/>
          </a:p>
          <a:p>
            <a:pPr lvl="1"/>
            <a:r>
              <a:rPr lang="zh-CN" altLang="en-US" sz="2400">
                <a:sym typeface="+mn-ea"/>
              </a:rPr>
              <a:t>数据存取指令</a:t>
            </a:r>
            <a:endParaRPr lang="zh-CN" altLang="en-US" sz="2400">
              <a:sym typeface="+mn-ea"/>
            </a:endParaRPr>
          </a:p>
          <a:p>
            <a:pPr lvl="2"/>
            <a:r>
              <a:rPr lang="en-US" altLang="zh-CN" sz="2400">
                <a:sym typeface="+mn-ea"/>
              </a:rPr>
              <a:t>x = a</a:t>
            </a:r>
            <a:endParaRPr lang="en-US" sz="2400"/>
          </a:p>
          <a:p>
            <a:pPr lvl="1"/>
            <a:r>
              <a:rPr lang="zh-CN" altLang="en-US" sz="2400">
                <a:sym typeface="+mn-ea"/>
              </a:rPr>
              <a:t>跳转指令 </a:t>
            </a:r>
            <a:r>
              <a:rPr lang="en-US" altLang="zh-CN" sz="2400">
                <a:sym typeface="+mn-ea"/>
              </a:rPr>
              <a:t>-&gt; </a:t>
            </a:r>
            <a:r>
              <a:rPr lang="zh-CN" altLang="en-US" sz="2400">
                <a:sym typeface="+mn-ea"/>
              </a:rPr>
              <a:t>控制语句</a:t>
            </a:r>
            <a:endParaRPr lang="en-US" altLang="zh-CN" sz="2400"/>
          </a:p>
          <a:p>
            <a:pPr lvl="2"/>
            <a:r>
              <a:rPr lang="zh-CN" altLang="en-US" sz="2400">
                <a:sym typeface="+mn-ea"/>
              </a:rPr>
              <a:t>控制语句：</a:t>
            </a:r>
            <a:r>
              <a:rPr lang="en-US" altLang="zh-CN" sz="2400">
                <a:sym typeface="+mn-ea"/>
              </a:rPr>
              <a:t>if-else, for, while-do, do-while</a:t>
            </a:r>
            <a:endParaRPr lang="en-US" altLang="zh-CN" sz="2400"/>
          </a:p>
          <a:p>
            <a:pPr lvl="2"/>
            <a:r>
              <a:rPr lang="zh-CN" altLang="en-US" sz="2400">
                <a:sym typeface="+mn-ea"/>
              </a:rPr>
              <a:t>过程调用语句：</a:t>
            </a:r>
            <a:r>
              <a:rPr lang="en-US" altLang="zh-CN" sz="2400">
                <a:sym typeface="+mn-ea"/>
              </a:rPr>
              <a:t>f()</a:t>
            </a:r>
            <a:endParaRPr lang="en-US" altLang="zh-CN" sz="2400">
              <a:sym typeface="+mn-ea"/>
            </a:endParaRPr>
          </a:p>
          <a:p>
            <a:pPr lvl="1"/>
            <a:r>
              <a:rPr lang="zh-CN" altLang="en-US" sz="2400">
                <a:sym typeface="+mn-ea"/>
              </a:rPr>
              <a:t>基本数据类型：</a:t>
            </a:r>
            <a:r>
              <a:rPr lang="en-US" altLang="zh-CN" sz="2400">
                <a:sym typeface="+mn-ea"/>
              </a:rPr>
              <a:t>char, short, int, long, float, double</a:t>
            </a:r>
            <a:endParaRPr lang="zh-CN" altLang="en-US" sz="2400">
              <a:sym typeface="+mn-ea"/>
            </a:endParaRPr>
          </a:p>
          <a:p>
            <a:pPr lvl="1"/>
            <a:r>
              <a:rPr lang="zh-CN" altLang="en-US" sz="2400">
                <a:solidFill>
                  <a:schemeClr val="bg1">
                    <a:lumMod val="50000"/>
                  </a:schemeClr>
                </a:solidFill>
                <a:sym typeface="+mn-ea"/>
              </a:rPr>
              <a:t>复合数据类型：数组、结构</a:t>
            </a:r>
            <a:endParaRPr lang="en-US" altLang="zh-CN" sz="2400">
              <a:solidFill>
                <a:schemeClr val="bg1">
                  <a:lumMod val="50000"/>
                </a:schemeClr>
              </a:solidFill>
              <a:sym typeface="+mn-ea"/>
            </a:endParaRPr>
          </a:p>
          <a:p>
            <a:pPr lvl="1"/>
            <a:endParaRPr lang="en-US" altLang="zh-CN" sz="2400">
              <a:solidFill>
                <a:schemeClr val="bg1">
                  <a:lumMod val="50000"/>
                </a:schemeClr>
              </a:solidFill>
              <a:sym typeface="+mn-ea"/>
            </a:endParaRPr>
          </a:p>
        </p:txBody>
      </p:sp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机器语言的组成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汇编语言——机器语言的符号化</a:t>
            </a:r>
            <a:endParaRPr lang="zh-CN" altLang="en-US"/>
          </a:p>
          <a:p>
            <a:pPr lvl="1"/>
            <a:r>
              <a:rPr lang="zh-CN" altLang="en-US"/>
              <a:t>算术逻辑指令</a:t>
            </a:r>
            <a:endParaRPr lang="zh-CN" altLang="en-US"/>
          </a:p>
          <a:p>
            <a:pPr lvl="2"/>
            <a:r>
              <a:rPr lang="en-US" altLang="zh-CN"/>
              <a:t>arithmetic</a:t>
            </a:r>
            <a:r>
              <a:rPr lang="zh-CN" altLang="en-US"/>
              <a:t>：</a:t>
            </a:r>
            <a:r>
              <a:rPr lang="en-US" altLang="zh-CN"/>
              <a:t> add, sub, mul, div, ...</a:t>
            </a:r>
            <a:endParaRPr lang="en-US" altLang="zh-CN"/>
          </a:p>
          <a:p>
            <a:pPr lvl="2"/>
            <a:r>
              <a:rPr lang="en-US" altLang="zh-CN"/>
              <a:t>logic: and, or, not, ...</a:t>
            </a:r>
            <a:endParaRPr lang="en-US" altLang="zh-CN"/>
          </a:p>
          <a:p>
            <a:pPr lvl="2"/>
            <a:r>
              <a:rPr lang="en-US" altLang="zh-CN"/>
              <a:t>shift:  sal, sar, ...</a:t>
            </a:r>
            <a:endParaRPr lang="en-US" altLang="zh-CN"/>
          </a:p>
          <a:p>
            <a:pPr lvl="1"/>
            <a:r>
              <a:rPr lang="zh-CN" altLang="en-US"/>
              <a:t>内存访问指令</a:t>
            </a:r>
            <a:endParaRPr lang="zh-CN" altLang="en-US"/>
          </a:p>
          <a:p>
            <a:pPr lvl="2"/>
            <a:r>
              <a:rPr lang="en-US" altLang="zh-CN"/>
              <a:t>data transfer: mov, ...</a:t>
            </a:r>
            <a:endParaRPr lang="en-US" altLang="zh-CN"/>
          </a:p>
          <a:p>
            <a:pPr lvl="1"/>
            <a:r>
              <a:rPr lang="zh-CN" altLang="en-US"/>
              <a:t>控制指令</a:t>
            </a:r>
            <a:endParaRPr lang="zh-CN" altLang="en-US"/>
          </a:p>
          <a:p>
            <a:pPr lvl="2"/>
            <a:r>
              <a:rPr lang="en-US" altLang="zh-CN"/>
              <a:t>conditional branch</a:t>
            </a:r>
            <a:r>
              <a:rPr lang="zh-CN" altLang="en-US"/>
              <a:t>：</a:t>
            </a:r>
            <a:r>
              <a:rPr lang="en-US" altLang="zh-CN"/>
              <a:t>je, jne, ...</a:t>
            </a:r>
            <a:endParaRPr lang="en-US" altLang="zh-CN"/>
          </a:p>
          <a:p>
            <a:pPr lvl="2"/>
            <a:r>
              <a:rPr lang="en-US" altLang="zh-CN"/>
              <a:t>unconditional ...  jmp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TABLE_ENDDRAG_ORIGIN_RECT" val="655*489"/>
  <p:tag name="TABLE_ENDDRAG_RECT" val="35*47*655*489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Title and Content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990000"/>
      </a:accent1>
      <a:accent2>
        <a:srgbClr val="333399"/>
      </a:accent2>
      <a:accent3>
        <a:srgbClr val="FFFFFF"/>
      </a:accent3>
      <a:accent4>
        <a:srgbClr val="000000"/>
      </a:accent4>
      <a:accent5>
        <a:srgbClr val="CAAAAA"/>
      </a:accent5>
      <a:accent6>
        <a:srgbClr val="2D2D8A"/>
      </a:accent6>
      <a:hlink>
        <a:srgbClr val="009999"/>
      </a:hlink>
      <a:folHlink>
        <a:srgbClr val="99CC00"/>
      </a:folHlink>
    </a:clrScheme>
    <a:fontScheme name="Title and Content">
      <a:majorFont>
        <a:latin typeface="Calibri Bold"/>
        <a:ea typeface="ヒラギノ角ゴ ProN W6"/>
        <a:cs typeface="ヒラギノ角ゴ ProN W6"/>
      </a:majorFont>
      <a:minorFont>
        <a:latin typeface="Calibri Bold"/>
        <a:ea typeface="ヒラギノ角ゴ ProN W6"/>
        <a:cs typeface="ヒラギノ角ゴ ProN W6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charset="0"/>
            <a:ea typeface="ヒラギノ角ゴ ProN W3" panose="020B0300000000000000" charset="-128"/>
            <a:cs typeface="ヒラギノ角ゴ ProN W3" panose="020B0300000000000000" charset="-128"/>
            <a:sym typeface="Gill Sans" panose="020B0502020104020203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200" b="0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Gill Sans" panose="020B0502020104020203" charset="0"/>
            <a:ea typeface="ヒラギノ角ゴ ProN W3" panose="020B0300000000000000" charset="-128"/>
            <a:cs typeface="ヒラギノ角ゴ ProN W3" panose="020B0300000000000000" charset="-128"/>
            <a:sym typeface="Gill Sans" panose="020B0502020104020203" charset="0"/>
          </a:defRPr>
        </a:defPPr>
      </a:lstStyle>
    </a:lnDef>
  </a:objectDefaults>
  <a:extraClrSchemeLst>
    <a:extraClrScheme>
      <a:clrScheme name="Title and Conten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15906</Words>
  <Application>WPS Presentation</Application>
  <PresentationFormat>On-screen Show (4:3)</PresentationFormat>
  <Paragraphs>2205</Paragraphs>
  <Slides>63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35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99" baseType="lpstr">
      <vt:lpstr>Arial</vt:lpstr>
      <vt:lpstr>SimSun</vt:lpstr>
      <vt:lpstr>Wingdings</vt:lpstr>
      <vt:lpstr>Gill Sans</vt:lpstr>
      <vt:lpstr>ヒラギノ角ゴ ProN W3</vt:lpstr>
      <vt:lpstr>Times New Roman Regular</vt:lpstr>
      <vt:lpstr>Kaiti SC Regular</vt:lpstr>
      <vt:lpstr>Calibri Bold</vt:lpstr>
      <vt:lpstr>苹方-简</vt:lpstr>
      <vt:lpstr>ヒラギノ角ゴ ProN W6</vt:lpstr>
      <vt:lpstr>Wingdings 2</vt:lpstr>
      <vt:lpstr>Calibri</vt:lpstr>
      <vt:lpstr>Helvetica Neue</vt:lpstr>
      <vt:lpstr>Microsoft YaHei</vt:lpstr>
      <vt:lpstr>汉仪旗黑</vt:lpstr>
      <vt:lpstr>Times New Roman</vt:lpstr>
      <vt:lpstr>Courier New Bold</vt:lpstr>
      <vt:lpstr>Kaiti SC Bold</vt:lpstr>
      <vt:lpstr>Calibri Italic</vt:lpstr>
      <vt:lpstr>Calibri Bold Italic</vt:lpstr>
      <vt:lpstr>Courier New</vt:lpstr>
      <vt:lpstr>Microsoft YaHei</vt:lpstr>
      <vt:lpstr>Arial Unicode MS</vt:lpstr>
      <vt:lpstr>Monaco</vt:lpstr>
      <vt:lpstr>Courier New</vt:lpstr>
      <vt:lpstr>Arial Narrow Bold</vt:lpstr>
      <vt:lpstr>Lucida Grande</vt:lpstr>
      <vt:lpstr>Calibri</vt:lpstr>
      <vt:lpstr>楷体_GB2312</vt:lpstr>
      <vt:lpstr>SimSun</vt:lpstr>
      <vt:lpstr>汉仪书宋二KW</vt:lpstr>
      <vt:lpstr>汉仪楷体简</vt:lpstr>
      <vt:lpstr>Courier New Bold</vt:lpstr>
      <vt:lpstr>SimSun</vt:lpstr>
      <vt:lpstr>Wingdings 2</vt:lpstr>
      <vt:lpstr>Title and Content</vt:lpstr>
      <vt:lpstr>Machine-Level Programming III: 过程调用  本课件基于 csapp.cs.cmu.edu上的课件进行修改</vt:lpstr>
      <vt:lpstr>过程调用的机理</vt:lpstr>
      <vt:lpstr>Today</vt:lpstr>
      <vt:lpstr>x86-64 栈内存</vt:lpstr>
      <vt:lpstr>x86-64 栈内存: Push 入栈</vt:lpstr>
      <vt:lpstr>x86-64 Stack: Pop 出栈</vt:lpstr>
      <vt:lpstr>Today</vt:lpstr>
      <vt:lpstr>例子</vt:lpstr>
      <vt:lpstr>Procedure Control Flow 过程的控制流</vt:lpstr>
      <vt:lpstr>控制流的例子 #1 ——before call</vt:lpstr>
      <vt:lpstr>控制流的例子 #2 ——calling</vt:lpstr>
      <vt:lpstr>控制流的例子 #3 ——before ret</vt:lpstr>
      <vt:lpstr>控制流的例子 #4 ——after ret</vt:lpstr>
      <vt:lpstr>Today</vt:lpstr>
      <vt:lpstr>Procedure Data Flow 过程的数据流</vt:lpstr>
      <vt:lpstr>数据流的例子</vt:lpstr>
      <vt:lpstr>PowerPoint 演示文稿</vt:lpstr>
      <vt:lpstr>练习:</vt:lpstr>
      <vt:lpstr>Today</vt:lpstr>
      <vt:lpstr>基于栈的编程语言</vt:lpstr>
      <vt:lpstr>PowerPoint 演示文稿</vt:lpstr>
      <vt:lpstr>例子</vt:lpstr>
      <vt:lpstr>例子</vt:lpstr>
      <vt:lpstr>例子</vt:lpstr>
      <vt:lpstr>例子</vt:lpstr>
      <vt:lpstr>例子</vt:lpstr>
      <vt:lpstr>例子</vt:lpstr>
      <vt:lpstr>例子</vt:lpstr>
      <vt:lpstr>例子</vt:lpstr>
      <vt:lpstr>例子</vt:lpstr>
      <vt:lpstr>例子</vt:lpstr>
      <vt:lpstr>例子</vt:lpstr>
      <vt:lpstr>Stack Frames栈帧</vt:lpstr>
      <vt:lpstr>x86-64/Linux 栈帧</vt:lpstr>
      <vt:lpstr>例子: incr</vt:lpstr>
      <vt:lpstr>例子: 调用incr #1</vt:lpstr>
      <vt:lpstr>例子: 调用incr #2</vt:lpstr>
      <vt:lpstr>Example: 调用incr #3</vt:lpstr>
      <vt:lpstr>Example: 调用incr #4</vt:lpstr>
      <vt:lpstr>Example: 调用incr #5</vt:lpstr>
      <vt:lpstr>寄存器保护的约定</vt:lpstr>
      <vt:lpstr>寄存器保护的策略</vt:lpstr>
      <vt:lpstr>x86-64 Linux #1——caller保护寄存器的例子</vt:lpstr>
      <vt:lpstr>PowerPoint 演示文稿</vt:lpstr>
      <vt:lpstr>x86-64 Linux #2——callee保护寄存器的例子</vt:lpstr>
      <vt:lpstr>x86-64 Linux #2——callee保护寄存器的例子</vt:lpstr>
      <vt:lpstr>Caller-Callee的分工</vt:lpstr>
      <vt:lpstr>局部变量放寄存器还是栈?</vt:lpstr>
      <vt:lpstr>练习:</vt:lpstr>
      <vt:lpstr>能否支持递归调用？</vt:lpstr>
      <vt:lpstr>Today</vt:lpstr>
      <vt:lpstr>递归函数</vt:lpstr>
      <vt:lpstr>递归函数——递归出口的例子</vt:lpstr>
      <vt:lpstr>递归函数——寄存器保护</vt:lpstr>
      <vt:lpstr>递归函数——递归调用的参数准备</vt:lpstr>
      <vt:lpstr>递归函数调用</vt:lpstr>
      <vt:lpstr>递归调用的返回值</vt:lpstr>
      <vt:lpstr>递归函数的完成</vt:lpstr>
      <vt:lpstr>递归函数</vt:lpstr>
      <vt:lpstr>关于递归</vt:lpstr>
      <vt:lpstr>x86-64 过程调用总结</vt:lpstr>
      <vt:lpstr>回顾：Language of C （C语言的运算）</vt:lpstr>
      <vt:lpstr>机器语言的组成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Computer Systems 15-213/18-243, spring 2009</dc:title>
  <dc:creator>Markus Pueschel</dc:creator>
  <dc:description>Redesign of slides created by Randal E. Bryant and David R. O'Hallaron</dc:description>
  <cp:lastModifiedBy>00030832</cp:lastModifiedBy>
  <cp:revision>878</cp:revision>
  <dcterms:created xsi:type="dcterms:W3CDTF">2026-03-27T07:40:41Z</dcterms:created>
  <dcterms:modified xsi:type="dcterms:W3CDTF">2026-03-27T07:40:41Z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1033-12.1.24031.24031</vt:lpwstr>
  </property>
  <property fmtid="{D5CDD505-2E9C-101B-9397-08002B2CF9AE}" pid="3" name="ICV">
    <vt:lpwstr>4F0F4CFE3BF768C17FD737659180555C_42</vt:lpwstr>
  </property>
</Properties>
</file>