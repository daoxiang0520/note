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sldIdLst>
    <p:sldId id="257" r:id="rId2"/>
    <p:sldId id="279" r:id="rId3"/>
    <p:sldId id="280" r:id="rId4"/>
    <p:sldId id="281" r:id="rId5"/>
    <p:sldId id="265" r:id="rId6"/>
    <p:sldId id="447" r:id="rId7"/>
    <p:sldId id="448" r:id="rId8"/>
    <p:sldId id="449" r:id="rId9"/>
    <p:sldId id="450" r:id="rId10"/>
    <p:sldId id="452" r:id="rId11"/>
    <p:sldId id="455" r:id="rId12"/>
    <p:sldId id="454" r:id="rId13"/>
    <p:sldId id="453" r:id="rId14"/>
    <p:sldId id="456" r:id="rId15"/>
    <p:sldId id="457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5063" autoAdjust="0"/>
  </p:normalViewPr>
  <p:slideViewPr>
    <p:cSldViewPr>
      <p:cViewPr varScale="1">
        <p:scale>
          <a:sx n="79" d="100"/>
          <a:sy n="79" d="100"/>
        </p:scale>
        <p:origin x="-132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36B3E-9FC4-40AB-84FB-D4563EE89D78}" type="datetimeFigureOut">
              <a:rPr lang="zh-CN" altLang="en-US" smtClean="0"/>
              <a:pPr/>
              <a:t>2024/6/7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EF06B-2189-4DDD-8505-F47217BF466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837069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>
            <a:extLst>
              <a:ext uri="{FF2B5EF4-FFF2-40B4-BE49-F238E27FC236}">
                <a16:creationId xmlns="" xmlns:a16="http://schemas.microsoft.com/office/drawing/2014/main" id="{05AD9A16-782F-4C83-9FA3-32EF44BFC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Oval 8">
            <a:extLst>
              <a:ext uri="{FF2B5EF4-FFF2-40B4-BE49-F238E27FC236}">
                <a16:creationId xmlns="" xmlns:a16="http://schemas.microsoft.com/office/drawing/2014/main" id="{CD0BD6CE-4015-4288-B93F-35EA53F4D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="" xmlns:a16="http://schemas.microsoft.com/office/drawing/2014/main" id="{3FB4E222-9956-4082-8670-84806C548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7" name="Oval 10">
            <a:extLst>
              <a:ext uri="{FF2B5EF4-FFF2-40B4-BE49-F238E27FC236}">
                <a16:creationId xmlns="" xmlns:a16="http://schemas.microsoft.com/office/drawing/2014/main" id="{FBF704A2-A075-4624-9D7B-47291E808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="" xmlns:a16="http://schemas.microsoft.com/office/drawing/2014/main" id="{F7BB846D-2058-4F28-ACF5-10608960D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0CE47EC2-DFA7-409E-94A8-1C4D716C2C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97C0C9D8-6483-4338-8A08-1FD09BA2EB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>
            <a:extLst>
              <a:ext uri="{FF2B5EF4-FFF2-40B4-BE49-F238E27FC236}">
                <a16:creationId xmlns="" xmlns:a16="http://schemas.microsoft.com/office/drawing/2014/main" id="{28DEB25D-48C7-4A10-AFEA-3E0C0D5CFF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>
            <a:extLst>
              <a:ext uri="{FF2B5EF4-FFF2-40B4-BE49-F238E27FC236}">
                <a16:creationId xmlns="" xmlns:a16="http://schemas.microsoft.com/office/drawing/2014/main" id="{B97BAFFC-FE6B-4E82-AD42-C965E337A4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098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EBDB4-1295-41A9-8B0D-9780D9F626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4787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6DCFADA-E679-4253-AA05-F1F74534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7B70618-7B1D-4EB7-B559-423196501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9AFBA18C-AF2C-4E73-B2A4-44A9F64B1C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5574A7B9-DAA4-476C-9BED-85CCAE1ED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6CF8C1D7-5464-47B7-80A4-3609DF6DC1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0E9BF-5D04-4280-AD18-03CFB2FEF2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61183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7615472-284A-41E6-874A-CF5EDA7C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6D15EC6-D02A-4681-97DB-8F9897EC3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03BC2D60-8BA4-43DF-9F26-542EB8784B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34FBD79-B78D-41BB-BB5B-3D89AE730C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DEB7E2BD-0A8F-47F5-9AF6-0EA9F4A875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F2264-A221-4737-983D-C4FBAD3B77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62556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13D27EA-21E4-4C19-8C1B-4650DA71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561CF5A-117A-4199-AFBD-8EACBA170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C8CB9B0B-C1FE-42F8-9620-64A335EBF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511A872-CC84-42DB-A8B6-F493FD0A64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772D2B9-8E46-468F-B484-B048EDE3C8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F3AC490-15B6-45AD-BE36-454656A737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20565-DC53-4745-A1F6-0B845C5B82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6848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BFC8239-65B0-49E8-824B-ECAF5F242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478A407-3C37-486B-8EF9-75F9DEFB7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76BADFA8-2C84-45F4-9184-FA71A5D8C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F7AF22AE-F9D4-4CD7-BE8F-0BCAC96C5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4A238392-0BD2-478B-A1CE-0605139C3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0F652A1D-B494-4410-BF61-F4C485993F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2667B8E3-31B7-4AA3-A4FC-F012B272A0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="" xmlns:a16="http://schemas.microsoft.com/office/drawing/2014/main" id="{F912F9EA-38C1-410B-8D96-475656A8D7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C57BF-FF7B-46B4-8015-2AED1A59FB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37627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83357B5-911B-4E11-9272-065A770DB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="" xmlns:a16="http://schemas.microsoft.com/office/drawing/2014/main" id="{3D58EFF7-070A-42AD-90A4-EC93B9B87C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361D44C9-2CB3-4A38-9046-4248A5C903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5DD2F60D-C6A9-461D-AD32-D797D5582F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B1609-AF04-4A9E-B2E9-30A9FDC4AA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95706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="" xmlns:a16="http://schemas.microsoft.com/office/drawing/2014/main" id="{9E72ADED-C623-4720-94B4-AA33A11206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1B1616D0-182D-4695-A961-CBF8B6ED4A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A83AC39D-7C99-42CE-886B-A9008FD392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D6E8F-79BA-4996-A2FD-3A5C9521CA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515870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D1589A4-EE27-43DB-9E38-5D10BCE3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A90474C-2E9F-4C64-A18A-2DBE8C58E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1F214164-AB5D-47D7-A170-5CA07E23F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8A007D5-2ED9-496F-861F-847B17869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AD180B0-336A-4177-AF03-3266F8A098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98D693D-8AB8-4561-BA09-C86755F14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16015-5031-41C4-995B-055294C7D3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853328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D3E02D2-4E1D-4E27-9C6D-0CB687E2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B41BC0E7-2AA0-405F-913F-5EB2EA0F0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292E546A-0656-495A-BF3F-0E15545EE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B752DE0-42EE-4938-A30A-8BBFC7C000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32E3E8B-D841-4206-A0F3-E0BEACB2BB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51CD42F-4945-48ED-A432-9151AC6A22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933146-69E4-4E92-9F1E-496FCC0D91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95183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1928EF3-32D0-427F-A346-BCE7590B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5F3D05A4-E192-483F-93D6-FA322CD04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FB507503-6546-4434-88BE-66BEFC8873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A674313-52AA-447C-8ED2-5AB64E555C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7EC4176E-EC67-40E3-A9C6-82DEC4E6EE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24124-B3D2-422B-A983-4CE16B79BB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59591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C3409912-DF14-4BBF-A147-E712D2D64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D2F50F8B-0C7F-4BA2-B681-A013B7A49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7215C15F-C546-4A97-9CFA-2F72C2B97E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D30C604B-45D2-45A8-8283-FF2295C5B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9A32E693-C183-4702-9959-F13F0D572D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64A5E-DA4A-40E4-A28F-8DE443D362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90141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99D8F49C-0DED-4B6E-8525-9F6AB372E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D1A76712-F27A-49DE-9EC8-2C8CA38E1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="" xmlns:a16="http://schemas.microsoft.com/office/drawing/2014/main" id="{789724DD-9949-47AD-985F-9210EBAF7D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>
            <a:extLst>
              <a:ext uri="{FF2B5EF4-FFF2-40B4-BE49-F238E27FC236}">
                <a16:creationId xmlns="" xmlns:a16="http://schemas.microsoft.com/office/drawing/2014/main" id="{96EFE6ED-2FDD-40EC-97B0-C0AF48B7F5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2" name="Rectangle 6">
            <a:extLst>
              <a:ext uri="{FF2B5EF4-FFF2-40B4-BE49-F238E27FC236}">
                <a16:creationId xmlns="" xmlns:a16="http://schemas.microsoft.com/office/drawing/2014/main" id="{020FE334-E878-45FE-9F8F-C4740328CE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84DB528E-047F-4BF0-9CB6-D9A62B1C61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="" xmlns:a16="http://schemas.microsoft.com/office/drawing/2014/main" id="{B46BB45E-3A38-4975-82D6-C709D80C08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Oval 8">
            <a:extLst>
              <a:ext uri="{FF2B5EF4-FFF2-40B4-BE49-F238E27FC236}">
                <a16:creationId xmlns="" xmlns:a16="http://schemas.microsoft.com/office/drawing/2014/main" id="{726F1ADE-4969-448B-8A94-FF2D93FD0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033" name="Oval 9">
            <a:extLst>
              <a:ext uri="{FF2B5EF4-FFF2-40B4-BE49-F238E27FC236}">
                <a16:creationId xmlns="" xmlns:a16="http://schemas.microsoft.com/office/drawing/2014/main" id="{916EC665-5F91-4D66-96E5-EDD5C4B4F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034" name="Oval 10">
            <a:extLst>
              <a:ext uri="{FF2B5EF4-FFF2-40B4-BE49-F238E27FC236}">
                <a16:creationId xmlns="" xmlns:a16="http://schemas.microsoft.com/office/drawing/2014/main" id="{830D3655-FC82-446E-9EE0-A982ECFBA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="" xmlns:a16="http://schemas.microsoft.com/office/drawing/2014/main" id="{17C0882F-C98B-48BF-A8A3-A5F0E445B6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endParaRPr lang="zh-CN" altLang="en-US" sz="7200" b="1" dirty="0"/>
          </a:p>
        </p:txBody>
      </p:sp>
      <p:sp>
        <p:nvSpPr>
          <p:cNvPr id="3075" name="Rectangle 3">
            <a:extLst>
              <a:ext uri="{FF2B5EF4-FFF2-40B4-BE49-F238E27FC236}">
                <a16:creationId xmlns="" xmlns:a16="http://schemas.microsoft.com/office/drawing/2014/main" id="{09213AE3-F617-4200-9810-A80AEC3E148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33500" y="3167150"/>
            <a:ext cx="6477000" cy="3286186"/>
          </a:xfrm>
        </p:spPr>
        <p:txBody>
          <a:bodyPr/>
          <a:lstStyle/>
          <a:p>
            <a:pPr eaLnBrk="1" hangingPunct="1"/>
            <a:r>
              <a:rPr lang="zh-CN" altLang="en-US" sz="4000" b="1" dirty="0" smtClean="0"/>
              <a:t>数字逻辑与</a:t>
            </a:r>
            <a:r>
              <a:rPr lang="en-US" altLang="zh-CN" sz="4000" b="1" dirty="0" smtClean="0"/>
              <a:t>EDA</a:t>
            </a:r>
            <a:r>
              <a:rPr lang="zh-CN" altLang="en-US" sz="4000" b="1" dirty="0" smtClean="0"/>
              <a:t>复习</a:t>
            </a:r>
            <a:endParaRPr lang="en-US" altLang="zh-CN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="" xmlns:a16="http://schemas.microsoft.com/office/drawing/2014/main" id="{8239BC1B-AEE7-42F8-8B04-20069F3CA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基本知识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9A32F72-5C6C-4A89-92C0-78253A7A0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628800"/>
            <a:ext cx="7010400" cy="5112568"/>
          </a:xfrm>
        </p:spPr>
        <p:txBody>
          <a:bodyPr/>
          <a:lstStyle/>
          <a:p>
            <a:pPr marL="342900" lvl="1" indent="-342900">
              <a:buNone/>
              <a:defRPr/>
            </a:pPr>
            <a:r>
              <a:rPr lang="zh-CN" altLang="en-US" b="1" dirty="0" smtClean="0">
                <a:latin typeface="+mn-ea"/>
              </a:rPr>
              <a:t>计算机的历史</a:t>
            </a:r>
            <a:endParaRPr lang="en-US" altLang="zh-CN" b="1" dirty="0" smtClean="0">
              <a:latin typeface="+mn-ea"/>
            </a:endParaRPr>
          </a:p>
          <a:p>
            <a:pPr marL="342900" lvl="1" indent="-342900">
              <a:buNone/>
              <a:defRPr/>
            </a:pPr>
            <a:r>
              <a:rPr lang="zh-CN" altLang="en-US" b="1" dirty="0" smtClean="0">
                <a:latin typeface="+mn-ea"/>
              </a:rPr>
              <a:t>数字系统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zh-CN" altLang="en-US" sz="2000" dirty="0" smtClean="0">
                <a:latin typeface="+mn-ea"/>
              </a:rPr>
              <a:t>模拟</a:t>
            </a:r>
            <a:r>
              <a:rPr lang="en-US" altLang="zh-CN" sz="2000" dirty="0" smtClean="0">
                <a:latin typeface="+mn-ea"/>
              </a:rPr>
              <a:t>/</a:t>
            </a:r>
            <a:r>
              <a:rPr lang="zh-CN" altLang="en-US" sz="2000" dirty="0" smtClean="0">
                <a:latin typeface="+mn-ea"/>
              </a:rPr>
              <a:t>数字信号，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组合逻辑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时序逻辑电路</a:t>
            </a:r>
            <a:r>
              <a:rPr lang="en-US" altLang="zh-CN" sz="2000" dirty="0" smtClean="0">
                <a:latin typeface="+mn-ea"/>
              </a:rPr>
              <a:t>)</a:t>
            </a:r>
          </a:p>
          <a:p>
            <a:pPr>
              <a:buNone/>
              <a:defRPr/>
            </a:pPr>
            <a:r>
              <a:rPr lang="en-US" altLang="zh-CN" sz="28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数字逻辑电路的类型和研究方法（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分析、设计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pPr eaLnBrk="1" hangingPunct="1">
              <a:buClr>
                <a:schemeClr val="folHlink"/>
              </a:buClr>
              <a:buSzPct val="60000"/>
              <a:buFontTx/>
              <a:buNone/>
              <a:defRPr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数字逻辑电路的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设计层次</a:t>
            </a:r>
            <a:r>
              <a:rPr lang="zh-CN" altLang="en-US" sz="2000" dirty="0" smtClean="0">
                <a:latin typeface="+mn-ea"/>
              </a:rPr>
              <a:t>（系统级</a:t>
            </a:r>
            <a:r>
              <a:rPr lang="en-US" altLang="zh-CN" sz="2000" dirty="0" smtClean="0">
                <a:latin typeface="+mn-ea"/>
              </a:rPr>
              <a:t>/</a:t>
            </a:r>
            <a:r>
              <a:rPr lang="zh-CN" altLang="en-US" sz="2000" dirty="0" smtClean="0">
                <a:latin typeface="+mn-ea"/>
              </a:rPr>
              <a:t>寄存器级</a:t>
            </a:r>
            <a:r>
              <a:rPr lang="en-US" altLang="zh-CN" sz="2000" dirty="0" smtClean="0">
                <a:latin typeface="+mn-ea"/>
              </a:rPr>
              <a:t>/</a:t>
            </a:r>
            <a:r>
              <a:rPr lang="zh-CN" altLang="en-US" sz="2000" dirty="0" smtClean="0">
                <a:latin typeface="+mn-ea"/>
              </a:rPr>
              <a:t>门级</a:t>
            </a:r>
            <a:r>
              <a:rPr lang="en-US" altLang="zh-CN" sz="2000" dirty="0" smtClean="0">
                <a:latin typeface="+mn-ea"/>
              </a:rPr>
              <a:t>/</a:t>
            </a:r>
            <a:r>
              <a:rPr lang="zh-CN" altLang="en-US" sz="2000" dirty="0" smtClean="0">
                <a:latin typeface="+mn-ea"/>
              </a:rPr>
              <a:t>开关级和物理级）</a:t>
            </a:r>
          </a:p>
          <a:p>
            <a:pPr>
              <a:buNone/>
              <a:defRPr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设计趋势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zh-CN" altLang="en-US" sz="2000" dirty="0" smtClean="0">
                <a:latin typeface="+mn-ea"/>
              </a:rPr>
              <a:t>大、快、低、工具、层次、复用、</a:t>
            </a:r>
            <a:r>
              <a:rPr lang="en-US" altLang="zh-CN" sz="2000" dirty="0" smtClean="0">
                <a:latin typeface="+mn-ea"/>
              </a:rPr>
              <a:t>IP</a:t>
            </a:r>
            <a:r>
              <a:rPr lang="zh-CN" altLang="en-US" sz="2000" dirty="0" smtClean="0">
                <a:latin typeface="+mn-ea"/>
              </a:rPr>
              <a:t>、验证</a:t>
            </a:r>
            <a:r>
              <a:rPr lang="en-US" altLang="zh-CN" sz="2000" dirty="0" smtClean="0">
                <a:latin typeface="+mn-ea"/>
              </a:rPr>
              <a:t>)</a:t>
            </a:r>
          </a:p>
          <a:p>
            <a:pPr>
              <a:buNone/>
              <a:defRPr/>
            </a:pPr>
            <a:r>
              <a:rPr lang="zh-CN" altLang="en-US" sz="2800" b="1" dirty="0" smtClean="0">
                <a:latin typeface="+mn-ea"/>
              </a:rPr>
              <a:t>数制及其转换</a:t>
            </a:r>
            <a:endParaRPr lang="en-US" altLang="zh-CN" sz="2800" b="1" dirty="0" smtClean="0">
              <a:latin typeface="+mn-ea"/>
            </a:endParaRPr>
          </a:p>
          <a:p>
            <a:pPr lvl="1">
              <a:buNone/>
              <a:defRPr/>
            </a:pPr>
            <a:r>
              <a:rPr lang="zh-CN" altLang="en-US" sz="2000" dirty="0" smtClean="0">
                <a:latin typeface="+mn-ea"/>
              </a:rPr>
              <a:t>进位计数制（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基数、位权、并列表示法、多项式表示法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pPr lvl="1">
              <a:buNone/>
              <a:defRPr/>
            </a:pPr>
            <a:r>
              <a:rPr lang="zh-CN" altLang="en-US" sz="2000" dirty="0" smtClean="0">
                <a:latin typeface="+mn-ea"/>
              </a:rPr>
              <a:t>数制转换（</a:t>
            </a:r>
            <a:r>
              <a:rPr lang="en-US" altLang="en-US" sz="2000" dirty="0" smtClean="0">
                <a:latin typeface="+mn-ea"/>
              </a:rPr>
              <a:t> </a:t>
            </a:r>
            <a:r>
              <a:rPr lang="en-US" altLang="en-US" sz="2000" dirty="0" err="1" smtClean="0">
                <a:solidFill>
                  <a:srgbClr val="FF0000"/>
                </a:solidFill>
                <a:latin typeface="+mn-ea"/>
              </a:rPr>
              <a:t>多项式替代法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en-US" sz="2000" dirty="0" err="1" smtClean="0">
                <a:solidFill>
                  <a:srgbClr val="FF0000"/>
                </a:solidFill>
                <a:latin typeface="+mn-ea"/>
              </a:rPr>
              <a:t>基数乘除法</a:t>
            </a:r>
            <a:r>
              <a:rPr lang="zh-CN" altLang="en-US" sz="2000" dirty="0" smtClean="0">
                <a:latin typeface="+mn-ea"/>
              </a:rPr>
              <a:t>）</a:t>
            </a:r>
            <a:r>
              <a:rPr lang="en-US" altLang="zh-CN" sz="2000" dirty="0" smtClean="0">
                <a:latin typeface="+mn-ea"/>
              </a:rPr>
              <a:t>		</a:t>
            </a:r>
          </a:p>
          <a:p>
            <a:pPr>
              <a:buNone/>
              <a:defRPr/>
            </a:pPr>
            <a:r>
              <a:rPr lang="zh-CN" altLang="en-US" sz="2800" b="1" dirty="0" smtClean="0">
                <a:latin typeface="+mn-ea"/>
              </a:rPr>
              <a:t>带符号二进制数的代码表示</a:t>
            </a:r>
            <a:r>
              <a:rPr lang="zh-CN" altLang="en-US" sz="2000" dirty="0" smtClean="0">
                <a:latin typeface="+mn-ea"/>
              </a:rPr>
              <a:t>（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原码、反码和补码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pPr>
              <a:defRPr/>
            </a:pPr>
            <a:endParaRPr lang="zh-CN" altLang="en-US" dirty="0" smtClean="0">
              <a:latin typeface="+mn-ea"/>
            </a:endParaRPr>
          </a:p>
          <a:p>
            <a:pPr marL="342900" lvl="1" indent="-342900" eaLnBrk="1" hangingPunct="1">
              <a:buClr>
                <a:schemeClr val="tx1"/>
              </a:buClr>
              <a:buSzPct val="70000"/>
              <a:buNone/>
              <a:defRPr/>
            </a:pPr>
            <a:endParaRPr lang="en-US" altLang="zh-CN" sz="3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="" xmlns:a16="http://schemas.microsoft.com/office/drawing/2014/main" id="{CA679FD6-8B37-4380-BDB0-0CD85ED99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90501"/>
            <a:ext cx="7010400" cy="1294284"/>
          </a:xfrm>
        </p:spPr>
        <p:txBody>
          <a:bodyPr/>
          <a:lstStyle/>
          <a:p>
            <a:pPr lvl="2" eaLnBrk="1" hangingPunct="1"/>
            <a:r>
              <a:rPr lang="zh-CN" altLang="en-US" sz="4000" dirty="0" smtClean="0">
                <a:solidFill>
                  <a:schemeClr val="tx1"/>
                </a:solidFill>
                <a:latin typeface="宋体" pitchFamily="2" charset="-122"/>
              </a:rPr>
              <a:t>逻辑代数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="" xmlns:a16="http://schemas.microsoft.com/office/drawing/2014/main" id="{317C7364-748C-42FE-9E99-EAEB3F88E1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1556792"/>
            <a:ext cx="8856984" cy="5301208"/>
          </a:xfrm>
        </p:spPr>
        <p:txBody>
          <a:bodyPr/>
          <a:lstStyle/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zh-CN" altLang="en-US" sz="2000" b="1" dirty="0" smtClean="0">
                <a:solidFill>
                  <a:srgbClr val="A60000"/>
                </a:solidFill>
                <a:latin typeface="宋体" pitchFamily="2" charset="-122"/>
              </a:rPr>
              <a:t>计算机编码</a:t>
            </a:r>
            <a:endParaRPr lang="en-US" altLang="zh-CN" sz="2000" b="1" dirty="0" smtClean="0">
              <a:solidFill>
                <a:srgbClr val="A60000"/>
              </a:solidFill>
              <a:latin typeface="宋体" pitchFamily="2" charset="-122"/>
            </a:endParaRPr>
          </a:p>
          <a:p>
            <a:pPr lvl="1" eaLnBrk="1" hangingPunct="1">
              <a:buClr>
                <a:schemeClr val="hlink"/>
              </a:buClr>
              <a:buSzPct val="55000"/>
              <a:buFontTx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			BCD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码</a:t>
            </a:r>
            <a:r>
              <a:rPr lang="zh-CN" altLang="en-US" sz="2000" dirty="0" smtClean="0">
                <a:latin typeface="+mn-ea"/>
              </a:rPr>
              <a:t>：</a:t>
            </a:r>
            <a:r>
              <a:rPr lang="en-US" altLang="zh-CN" sz="2000" dirty="0" smtClean="0">
                <a:latin typeface="+mn-ea"/>
              </a:rPr>
              <a:t>8421</a:t>
            </a:r>
            <a:r>
              <a:rPr lang="zh-CN" altLang="en-US" sz="2000" dirty="0" smtClean="0">
                <a:latin typeface="+mn-ea"/>
              </a:rPr>
              <a:t>码、</a:t>
            </a:r>
            <a:r>
              <a:rPr lang="en-US" altLang="zh-CN" sz="2000" dirty="0" smtClean="0">
                <a:latin typeface="+mn-ea"/>
              </a:rPr>
              <a:t>2421</a:t>
            </a:r>
            <a:r>
              <a:rPr lang="zh-CN" altLang="en-US" sz="2000" dirty="0" smtClean="0">
                <a:latin typeface="+mn-ea"/>
              </a:rPr>
              <a:t>码、余</a:t>
            </a:r>
            <a:r>
              <a:rPr lang="en-US" altLang="zh-CN" sz="2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码；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有权码、自补码</a:t>
            </a:r>
            <a:endParaRPr lang="zh-CN" altLang="en-US" sz="2000" dirty="0" smtClean="0"/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		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可靠性编码</a:t>
            </a:r>
            <a:r>
              <a:rPr lang="zh-CN" altLang="en-US" sz="2000" dirty="0" smtClean="0">
                <a:latin typeface="+mn-ea"/>
              </a:rPr>
              <a:t>：格雷码、</a:t>
            </a:r>
            <a:r>
              <a:rPr lang="zh-CN" altLang="en-US" sz="2000" dirty="0" smtClean="0"/>
              <a:t>奇偶校验码 </a:t>
            </a:r>
            <a:r>
              <a:rPr lang="zh-CN" altLang="en-US" sz="2000" dirty="0" smtClean="0">
                <a:solidFill>
                  <a:srgbClr val="FF0000"/>
                </a:solidFill>
              </a:rPr>
              <a:t>字符编码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ASCII</a:t>
            </a:r>
            <a:r>
              <a:rPr lang="zh-CN" altLang="en-US" sz="2000" dirty="0" smtClean="0"/>
              <a:t>、汉字</a:t>
            </a:r>
            <a:endParaRPr lang="en-US" altLang="zh-CN" sz="2000" dirty="0" smtClean="0"/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zh-CN" altLang="en-US" sz="2000" b="1" dirty="0" smtClean="0">
                <a:solidFill>
                  <a:srgbClr val="A60000"/>
                </a:solidFill>
                <a:latin typeface="宋体" pitchFamily="2" charset="-122"/>
              </a:rPr>
              <a:t>逻辑代数</a:t>
            </a:r>
            <a:endParaRPr lang="en-US" altLang="zh-CN" sz="2000" b="1" dirty="0" smtClean="0">
              <a:solidFill>
                <a:srgbClr val="A60000"/>
              </a:solidFill>
              <a:latin typeface="宋体" pitchFamily="2" charset="-122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latin typeface="宋体" pitchFamily="2" charset="-122"/>
              </a:rPr>
              <a:t>	</a:t>
            </a:r>
            <a:r>
              <a:rPr lang="zh-CN" altLang="en-US" sz="2000" dirty="0" smtClean="0">
                <a:latin typeface="宋体" pitchFamily="2" charset="-122"/>
              </a:rPr>
              <a:t>概念、</a:t>
            </a:r>
            <a:r>
              <a:rPr lang="en-US" altLang="zh-CN" sz="2000" dirty="0" smtClean="0">
                <a:latin typeface="宋体" pitchFamily="2" charset="-122"/>
              </a:rPr>
              <a:t>5</a:t>
            </a:r>
            <a:r>
              <a:rPr lang="zh-CN" altLang="en-US" sz="2000" dirty="0" smtClean="0">
                <a:latin typeface="宋体" pitchFamily="2" charset="-122"/>
              </a:rPr>
              <a:t>个公理、基本逻辑运算（或、与 、非）</a:t>
            </a:r>
            <a:endParaRPr lang="en-US" altLang="zh-CN" sz="2000" dirty="0" smtClean="0">
              <a:latin typeface="宋体" pitchFamily="2" charset="-122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	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逻辑函数及逻辑函数间的相等</a:t>
            </a:r>
            <a:endParaRPr lang="en-US" altLang="zh-CN" sz="2000" dirty="0" smtClean="0">
              <a:latin typeface="宋体" pitchFamily="2" charset="-122"/>
              <a:cs typeface="Times New Roman" pitchFamily="18" charset="0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	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逻辑函数的表示法（</a:t>
            </a:r>
            <a:r>
              <a:rPr lang="zh-CN" altLang="en-US" sz="2000" dirty="0" smtClean="0"/>
              <a:t>逻辑表达式、真值表、卡诺图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）</a:t>
            </a:r>
            <a:endParaRPr lang="en-US" altLang="zh-CN" sz="2000" dirty="0" smtClean="0">
              <a:latin typeface="宋体" pitchFamily="2" charset="-122"/>
              <a:cs typeface="Times New Roman" pitchFamily="18" charset="0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/>
              <a:t>	</a:t>
            </a:r>
            <a:r>
              <a:rPr lang="zh-CN" altLang="en-US" sz="2000" dirty="0" smtClean="0">
                <a:solidFill>
                  <a:srgbClr val="FF0000"/>
                </a:solidFill>
              </a:rPr>
              <a:t>运算优先法则</a:t>
            </a:r>
            <a:r>
              <a:rPr lang="zh-CN" altLang="en-US" sz="2000" dirty="0" smtClean="0"/>
              <a:t>（括号、非、与、异或、或）</a:t>
            </a:r>
            <a:endParaRPr lang="en-US" altLang="zh-CN" sz="2000" dirty="0" smtClean="0"/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	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逻辑代数的</a:t>
            </a: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8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个基本定理</a:t>
            </a:r>
            <a:endParaRPr lang="en-US" altLang="zh-CN" sz="2000" dirty="0" smtClean="0">
              <a:latin typeface="宋体" pitchFamily="2" charset="-122"/>
              <a:cs typeface="Times New Roman" pitchFamily="18" charset="0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逻辑代数</a:t>
            </a: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3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条重要规则（代入、反演、对偶）</a:t>
            </a:r>
            <a:endParaRPr lang="en-US" altLang="zh-CN" sz="2000" dirty="0" smtClean="0">
              <a:latin typeface="宋体" pitchFamily="2" charset="-122"/>
              <a:cs typeface="Times New Roman" pitchFamily="18" charset="0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	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复合逻辑（与非、或非、异或、同或）</a:t>
            </a:r>
            <a:endParaRPr lang="en-US" altLang="zh-CN" sz="2000" dirty="0" smtClean="0">
              <a:latin typeface="宋体" pitchFamily="2" charset="-122"/>
              <a:cs typeface="Times New Roman" pitchFamily="18" charset="0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	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逻辑函数表达式的形式与变换（</a:t>
            </a:r>
            <a:r>
              <a:rPr lang="zh-CN" altLang="en-US" sz="2000" dirty="0" smtClean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与</a:t>
            </a:r>
            <a:r>
              <a:rPr lang="en-US" altLang="zh-CN" sz="2000" dirty="0" smtClean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-</a:t>
            </a:r>
            <a:r>
              <a:rPr lang="zh-CN" altLang="en-US" sz="2000" dirty="0" smtClean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或、或</a:t>
            </a:r>
            <a:r>
              <a:rPr lang="en-US" altLang="zh-CN" sz="2000" dirty="0" smtClean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-</a:t>
            </a:r>
            <a:r>
              <a:rPr lang="zh-CN" altLang="en-US" sz="2000" dirty="0" smtClean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与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）</a:t>
            </a:r>
            <a:endParaRPr lang="en-US" altLang="zh-CN" sz="2000" dirty="0" smtClean="0">
              <a:latin typeface="宋体" pitchFamily="2" charset="-122"/>
              <a:cs typeface="Times New Roman" pitchFamily="18" charset="0"/>
            </a:endParaRPr>
          </a:p>
          <a:p>
            <a:pPr lvl="2" eaLnBrk="1" hangingPunct="1">
              <a:buClr>
                <a:schemeClr val="folHlink"/>
              </a:buClr>
              <a:buSzPct val="50000"/>
              <a:buFontTx/>
              <a:buNone/>
              <a:defRPr/>
            </a:pPr>
            <a:r>
              <a:rPr lang="en-US" altLang="zh-CN" sz="2000" dirty="0" smtClean="0">
                <a:latin typeface="宋体" pitchFamily="2" charset="-122"/>
                <a:cs typeface="Times New Roman" pitchFamily="18" charset="0"/>
              </a:rPr>
              <a:t>	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逻辑函数表达式的</a:t>
            </a:r>
            <a:r>
              <a:rPr lang="zh-CN" altLang="en-US" sz="2000" dirty="0" smtClean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标准形式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（</a:t>
            </a:r>
            <a:r>
              <a:rPr lang="zh-CN" altLang="en-US" sz="2000" dirty="0" smtClean="0">
                <a:solidFill>
                  <a:srgbClr val="FF0000"/>
                </a:solidFill>
              </a:rPr>
              <a:t>最小项、最大项</a:t>
            </a:r>
            <a:r>
              <a:rPr lang="zh-CN" altLang="en-US" sz="2000" dirty="0" smtClean="0"/>
              <a:t>、</a:t>
            </a:r>
            <a:r>
              <a:rPr lang="zh-CN" altLang="en-US" sz="2000" dirty="0" smtClean="0">
                <a:latin typeface="宋体" pitchFamily="2" charset="-122"/>
                <a:cs typeface="Times New Roman" pitchFamily="18" charset="0"/>
              </a:rPr>
              <a:t>逻辑函数表达式的转换 （代数法、真值表法））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="" xmlns:a16="http://schemas.microsoft.com/office/drawing/2014/main" id="{FD152F84-8DD7-4508-96BD-C6D77542E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集成门电路与触发器</a:t>
            </a:r>
            <a:endParaRPr lang="zh-CN" altLang="en-US" dirty="0"/>
          </a:p>
        </p:txBody>
      </p:sp>
      <p:sp>
        <p:nvSpPr>
          <p:cNvPr id="13315" name="内容占位符 2">
            <a:extLst>
              <a:ext uri="{FF2B5EF4-FFF2-40B4-BE49-F238E27FC236}">
                <a16:creationId xmlns="" xmlns:a16="http://schemas.microsoft.com/office/drawing/2014/main" id="{B251CDBA-6170-41B1-875F-0C4C51B5E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1628800"/>
            <a:ext cx="8856984" cy="5112567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数字集成电路的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分类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（器件分类、电路规模）</a:t>
            </a:r>
            <a:endParaRPr kumimoji="1" lang="en-US" altLang="zh-CN" sz="2800" dirty="0" smtClean="0">
              <a:latin typeface="宋体" pitchFamily="2" charset="-122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半导体器件的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开关特性</a:t>
            </a:r>
            <a:endParaRPr kumimoji="1" lang="en-US" altLang="zh-CN" sz="2800" dirty="0" smtClean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二极管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（静态特性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正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反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、动态特性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反向恢复时间、开通时间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))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三极管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（截止、放大、饱和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,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开通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关闭时间 ）；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逻辑门电路的功能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TTL\CMOS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与或非门结构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、外部特性（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输出逻辑电平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开门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关门电平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扇入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扇出系数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平均传输时延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空载功耗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）及使用方法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(74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系列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；</a:t>
            </a:r>
            <a:endParaRPr kumimoji="1" lang="en-US" altLang="zh-CN" sz="2800" dirty="0" smtClean="0">
              <a:latin typeface="宋体" pitchFamily="2" charset="-122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两种特殊门电路</a:t>
            </a:r>
            <a:r>
              <a:rPr kumimoji="1" lang="en-US" altLang="zh-CN" sz="2800" dirty="0" smtClean="0">
                <a:latin typeface="宋体" pitchFamily="2" charset="-122"/>
                <a:ea typeface="宋体" pitchFamily="2" charset="-122"/>
              </a:rPr>
              <a:t>: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集电极开路门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(OC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门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2800" dirty="0" smtClean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三态门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(TS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门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="" xmlns:a16="http://schemas.microsoft.com/office/drawing/2014/main" id="{9C7D4DC5-4432-4FC0-B7D0-D8501DAE29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集成门电路与触发器</a:t>
            </a:r>
            <a:endParaRPr lang="zh-CN" altLang="en-US" dirty="0"/>
          </a:p>
        </p:txBody>
      </p:sp>
      <p:sp>
        <p:nvSpPr>
          <p:cNvPr id="22531" name="Text Box 3">
            <a:extLst>
              <a:ext uri="{FF2B5EF4-FFF2-40B4-BE49-F238E27FC236}">
                <a16:creationId xmlns="" xmlns:a16="http://schemas.microsoft.com/office/drawing/2014/main" id="{5DE71170-0E58-4CD9-A4DC-95346CA5B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844675"/>
            <a:ext cx="8640960" cy="496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defRPr/>
            </a:pP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触发器</a:t>
            </a:r>
            <a:r>
              <a:rPr kumimoji="1" lang="en-US" altLang="zh-CN" sz="2400" dirty="0" smtClean="0">
                <a:latin typeface="+mn-ea"/>
              </a:rPr>
              <a:t>(</a:t>
            </a:r>
            <a:r>
              <a:rPr kumimoji="1" lang="zh-CN" altLang="en-US" sz="2400" dirty="0" smtClean="0">
                <a:latin typeface="+mn-ea"/>
              </a:rPr>
              <a:t>“</a:t>
            </a:r>
            <a:r>
              <a:rPr kumimoji="1" lang="en-US" altLang="zh-CN" sz="2400" dirty="0" smtClean="0">
                <a:latin typeface="+mn-ea"/>
              </a:rPr>
              <a:t>0”</a:t>
            </a:r>
            <a:r>
              <a:rPr kumimoji="1" lang="zh-CN" altLang="en-US" sz="2400" dirty="0" smtClean="0">
                <a:latin typeface="+mn-ea"/>
              </a:rPr>
              <a:t>状态、“</a:t>
            </a:r>
            <a:r>
              <a:rPr kumimoji="1" lang="en-US" altLang="zh-CN" sz="2400" dirty="0" smtClean="0">
                <a:latin typeface="+mn-ea"/>
              </a:rPr>
              <a:t>1”</a:t>
            </a:r>
            <a:r>
              <a:rPr kumimoji="1" lang="zh-CN" altLang="en-US" sz="2400" dirty="0" smtClean="0">
                <a:latin typeface="+mn-ea"/>
              </a:rPr>
              <a:t>状态、现态、次态</a:t>
            </a:r>
            <a:r>
              <a:rPr kumimoji="1" lang="en-US" altLang="zh-CN" sz="2400" dirty="0" smtClean="0">
                <a:latin typeface="+mn-ea"/>
              </a:rPr>
              <a:t>)</a:t>
            </a:r>
          </a:p>
          <a:p>
            <a:pPr algn="just" eaLnBrk="1" hangingPunct="1">
              <a:defRPr/>
            </a:pP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</a:rPr>
              <a:t>R-S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触发器</a:t>
            </a:r>
            <a:r>
              <a:rPr kumimoji="1" lang="en-US" altLang="zh-CN" sz="2400" dirty="0" smtClean="0">
                <a:latin typeface="+mn-ea"/>
              </a:rPr>
              <a:t>(R</a:t>
            </a:r>
            <a:r>
              <a:rPr kumimoji="1" lang="zh-CN" altLang="en-US" sz="2400" dirty="0" smtClean="0">
                <a:latin typeface="+mn-ea"/>
              </a:rPr>
              <a:t>称为置</a:t>
            </a:r>
            <a:r>
              <a:rPr kumimoji="1" lang="en-US" altLang="zh-CN" sz="2400" dirty="0" smtClean="0">
                <a:latin typeface="+mn-ea"/>
              </a:rPr>
              <a:t>0</a:t>
            </a:r>
            <a:r>
              <a:rPr kumimoji="1" lang="zh-CN" altLang="en-US" sz="2400" dirty="0" smtClean="0">
                <a:latin typeface="+mn-ea"/>
              </a:rPr>
              <a:t>端或复位端，</a:t>
            </a:r>
            <a:r>
              <a:rPr kumimoji="1" lang="en-US" altLang="zh-CN" sz="2400" dirty="0" smtClean="0">
                <a:latin typeface="+mn-ea"/>
              </a:rPr>
              <a:t>S</a:t>
            </a:r>
            <a:r>
              <a:rPr kumimoji="1" lang="zh-CN" altLang="en-US" sz="2400" dirty="0" smtClean="0">
                <a:latin typeface="+mn-ea"/>
              </a:rPr>
              <a:t>称为置</a:t>
            </a:r>
            <a:r>
              <a:rPr kumimoji="1" lang="en-US" altLang="zh-CN" sz="2400" dirty="0" smtClean="0">
                <a:latin typeface="+mn-ea"/>
              </a:rPr>
              <a:t>1</a:t>
            </a:r>
            <a:r>
              <a:rPr kumimoji="1" lang="zh-CN" altLang="en-US" sz="2400" dirty="0" smtClean="0">
                <a:latin typeface="+mn-ea"/>
              </a:rPr>
              <a:t>端或置位端、约束条件</a:t>
            </a:r>
            <a:r>
              <a:rPr kumimoji="1" lang="en-US" altLang="zh-CN" sz="2400" dirty="0" smtClean="0">
                <a:latin typeface="+mn-ea"/>
              </a:rPr>
              <a:t>)</a:t>
            </a:r>
            <a:r>
              <a:rPr kumimoji="1" lang="zh-CN" altLang="en-US" sz="2400" dirty="0" smtClean="0">
                <a:latin typeface="+mn-ea"/>
              </a:rPr>
              <a:t>、次态真值表、次态方程、激励表、利用</a:t>
            </a:r>
            <a:r>
              <a:rPr kumimoji="1" lang="en-US" altLang="zh-CN" sz="2400" dirty="0" smtClean="0">
                <a:latin typeface="+mn-ea"/>
              </a:rPr>
              <a:t>RS</a:t>
            </a:r>
            <a:r>
              <a:rPr kumimoji="1" lang="zh-CN" altLang="en-US" sz="2400" dirty="0" smtClean="0">
                <a:latin typeface="+mn-ea"/>
              </a:rPr>
              <a:t>触发器消除机械开关抖动</a:t>
            </a:r>
            <a:endParaRPr kumimoji="1" lang="en-US" altLang="zh-CN" sz="2400" dirty="0" smtClean="0">
              <a:latin typeface="+mn-ea"/>
            </a:endParaRPr>
          </a:p>
          <a:p>
            <a:pPr algn="just" eaLnBrk="1" hangingPunct="1">
              <a:defRPr/>
            </a:pP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时钟控制触发器</a:t>
            </a:r>
            <a:r>
              <a:rPr kumimoji="1" lang="zh-CN" altLang="en-US" sz="2400" dirty="0" smtClean="0">
                <a:latin typeface="+mn-ea"/>
              </a:rPr>
              <a:t>（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钟控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</a:rPr>
              <a:t>R-S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触</a:t>
            </a:r>
            <a:r>
              <a:rPr kumimoji="1" lang="zh-CN" altLang="en-US" sz="2400" dirty="0" smtClean="0">
                <a:latin typeface="+mn-ea"/>
              </a:rPr>
              <a:t>发器、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钟控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</a:rPr>
              <a:t>D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触发器</a:t>
            </a:r>
            <a:r>
              <a:rPr kumimoji="1" lang="zh-CN" altLang="en-US" sz="2400" dirty="0" smtClean="0">
                <a:latin typeface="+mn-ea"/>
              </a:rPr>
              <a:t>（输入信号</a:t>
            </a:r>
            <a:r>
              <a:rPr kumimoji="1" lang="en-US" altLang="zh-CN" sz="2400" dirty="0" smtClean="0">
                <a:latin typeface="+mn-ea"/>
              </a:rPr>
              <a:t>D</a:t>
            </a:r>
            <a:r>
              <a:rPr kumimoji="1" lang="zh-CN" altLang="en-US" sz="2400" dirty="0" smtClean="0">
                <a:latin typeface="+mn-ea"/>
              </a:rPr>
              <a:t>转换成一对互补信号）、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钟控 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</a:rPr>
              <a:t>J-K 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触发器</a:t>
            </a:r>
            <a:r>
              <a:rPr kumimoji="1" lang="zh-CN" altLang="en-US" sz="2400" dirty="0" smtClean="0">
                <a:latin typeface="+mn-ea"/>
              </a:rPr>
              <a:t>（两条反馈线）、</a:t>
            </a:r>
            <a:r>
              <a:rPr kumimoji="1" lang="en-US" altLang="zh-CN" sz="2400" dirty="0" smtClean="0">
                <a:latin typeface="+mn-ea"/>
              </a:rPr>
              <a:t> 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触发器</a:t>
            </a:r>
            <a:r>
              <a:rPr kumimoji="1" lang="zh-CN" altLang="en-US" sz="2400" dirty="0" smtClean="0">
                <a:latin typeface="+mn-ea"/>
              </a:rPr>
              <a:t>（又称计数触发器，把</a:t>
            </a:r>
            <a:r>
              <a:rPr kumimoji="1" lang="en-US" altLang="zh-CN" sz="2400" dirty="0" smtClean="0">
                <a:latin typeface="+mn-ea"/>
              </a:rPr>
              <a:t>J-K</a:t>
            </a:r>
            <a:r>
              <a:rPr kumimoji="1" lang="zh-CN" altLang="en-US" sz="2400" dirty="0" smtClean="0">
                <a:latin typeface="+mn-ea"/>
              </a:rPr>
              <a:t>触发器</a:t>
            </a:r>
            <a:r>
              <a:rPr kumimoji="1" lang="en-US" altLang="zh-CN" sz="2400" dirty="0" smtClean="0">
                <a:latin typeface="+mn-ea"/>
              </a:rPr>
              <a:t>J</a:t>
            </a:r>
            <a:r>
              <a:rPr kumimoji="1" lang="zh-CN" altLang="en-US" sz="2400" dirty="0" smtClean="0">
                <a:latin typeface="+mn-ea"/>
              </a:rPr>
              <a:t>和</a:t>
            </a:r>
            <a:r>
              <a:rPr kumimoji="1" lang="en-US" altLang="zh-CN" sz="2400" dirty="0" smtClean="0">
                <a:latin typeface="+mn-ea"/>
              </a:rPr>
              <a:t>K</a:t>
            </a:r>
            <a:r>
              <a:rPr kumimoji="1" lang="zh-CN" altLang="en-US" sz="2400" dirty="0" smtClean="0">
                <a:latin typeface="+mn-ea"/>
              </a:rPr>
              <a:t>连接起来））</a:t>
            </a:r>
            <a:endParaRPr kumimoji="1" lang="en-US" altLang="zh-CN" sz="2400" dirty="0" smtClean="0">
              <a:latin typeface="+mn-ea"/>
            </a:endParaRPr>
          </a:p>
          <a:p>
            <a:pPr algn="just" eaLnBrk="1" hangingPunct="1">
              <a:defRPr/>
            </a:pPr>
            <a:r>
              <a:rPr lang="zh-CN" altLang="en-US" sz="2400" dirty="0" smtClean="0">
                <a:latin typeface="+mn-ea"/>
              </a:rPr>
              <a:t>“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空翻</a:t>
            </a:r>
            <a:r>
              <a:rPr lang="zh-CN" altLang="en-US" sz="2400" dirty="0" smtClean="0">
                <a:latin typeface="+mn-ea"/>
              </a:rPr>
              <a:t>”现象（</a:t>
            </a:r>
            <a:r>
              <a:rPr kumimoji="1" lang="zh-CN" altLang="en-US" sz="2400" dirty="0" smtClean="0">
                <a:latin typeface="+mn-ea"/>
              </a:rPr>
              <a:t>在同一个时钟脉冲作用期间触发器发生两次或以上变化</a:t>
            </a:r>
            <a:r>
              <a:rPr lang="zh-CN" altLang="en-US" sz="2400" dirty="0" smtClean="0">
                <a:latin typeface="+mn-ea"/>
              </a:rPr>
              <a:t>）</a:t>
            </a:r>
            <a:endParaRPr lang="en-US" altLang="zh-CN" sz="2400" dirty="0" smtClean="0">
              <a:latin typeface="+mn-ea"/>
            </a:endParaRPr>
          </a:p>
          <a:p>
            <a:pPr algn="just" eaLnBrk="1" hangingPunct="1">
              <a:defRPr/>
            </a:pP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主从时钟控制触发器</a:t>
            </a:r>
            <a:r>
              <a:rPr kumimoji="1" lang="zh-CN" altLang="en-US" sz="2400" dirty="0" smtClean="0">
                <a:latin typeface="+mn-ea"/>
              </a:rPr>
              <a:t>：</a:t>
            </a:r>
            <a:r>
              <a:rPr lang="zh-CN" altLang="en-US" sz="2400" b="1" dirty="0" smtClean="0">
                <a:latin typeface="+mn-ea"/>
              </a:rPr>
              <a:t>前沿采样，后沿定局</a:t>
            </a:r>
            <a:endParaRPr kumimoji="1" lang="en-US" altLang="zh-CN" sz="2400" b="1" dirty="0" smtClean="0">
              <a:latin typeface="+mn-ea"/>
            </a:endParaRPr>
          </a:p>
          <a:p>
            <a:pPr>
              <a:defRPr/>
            </a:pP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维持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阻塞钟控制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D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触发器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r>
              <a:rPr lang="zh-CN" altLang="en-US" sz="2400" dirty="0" smtClean="0">
                <a:latin typeface="+mn-ea"/>
              </a:rPr>
              <a:t>不同类型时钟控制触发器的相互转换</a:t>
            </a:r>
            <a:endParaRPr kumimoji="1" lang="zh-CN" altLang="en-US" sz="2400" dirty="0" smtClean="0"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组合逻辑电路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9512" y="1843951"/>
            <a:ext cx="87849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 smtClean="0">
                <a:latin typeface="+mn-ea"/>
              </a:rPr>
              <a:t>组合逻辑电路的结构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 smtClean="0">
                <a:latin typeface="+mn-ea"/>
              </a:rPr>
              <a:t>组合电路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分析步骤 </a:t>
            </a:r>
            <a:r>
              <a:rPr lang="zh-CN" altLang="en-US" sz="2400" dirty="0" smtClean="0">
                <a:latin typeface="+mn-ea"/>
              </a:rPr>
              <a:t>： 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 1.</a:t>
            </a:r>
            <a:r>
              <a:rPr lang="zh-CN" altLang="en-US" sz="2400" dirty="0" smtClean="0">
                <a:latin typeface="+mn-ea"/>
              </a:rPr>
              <a:t>根据逻辑电路图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写出输出函数表达式</a:t>
            </a:r>
            <a:r>
              <a:rPr lang="zh-CN" altLang="en-US" sz="2400" dirty="0" smtClean="0">
                <a:latin typeface="+mn-ea"/>
              </a:rPr>
              <a:t>  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 smtClean="0">
                <a:latin typeface="+mn-ea"/>
              </a:rPr>
              <a:t>  </a:t>
            </a:r>
            <a:r>
              <a:rPr lang="en-US" altLang="zh-CN" sz="2400" dirty="0" smtClean="0">
                <a:latin typeface="+mn-ea"/>
              </a:rPr>
              <a:t>2.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化简</a:t>
            </a:r>
            <a:r>
              <a:rPr lang="zh-CN" altLang="en-US" sz="2400" dirty="0" smtClean="0">
                <a:latin typeface="+mn-ea"/>
              </a:rPr>
              <a:t>输出函数表达式  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 3.</a:t>
            </a:r>
            <a:r>
              <a:rPr lang="zh-CN" altLang="en-US" sz="2400" dirty="0" smtClean="0">
                <a:latin typeface="+mn-ea"/>
              </a:rPr>
              <a:t>列出输出函数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真值表</a:t>
            </a:r>
            <a:r>
              <a:rPr lang="zh-CN" altLang="en-US" sz="2400" dirty="0" smtClean="0">
                <a:latin typeface="+mn-ea"/>
              </a:rPr>
              <a:t>   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 4.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功能评述</a:t>
            </a:r>
            <a:r>
              <a:rPr lang="zh-CN" altLang="en-US" sz="2400" dirty="0" smtClean="0">
                <a:latin typeface="+mn-ea"/>
              </a:rPr>
              <a:t> （概括出电路逻辑功能的文字描述，对原设计进行评定，必要时提出改进方案。） 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 smtClean="0">
                <a:latin typeface="+mn-ea"/>
              </a:rPr>
              <a:t>组合逻辑电路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设计步骤</a:t>
            </a:r>
            <a:r>
              <a:rPr lang="zh-CN" altLang="en-US" sz="2400" dirty="0" smtClean="0">
                <a:latin typeface="+mn-ea"/>
              </a:rPr>
              <a:t>：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 1.</a:t>
            </a:r>
            <a:r>
              <a:rPr lang="zh-CN" altLang="en-US" sz="2400" dirty="0" smtClean="0">
                <a:latin typeface="+mn-ea"/>
              </a:rPr>
              <a:t>建立给定问题的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逻辑描述</a:t>
            </a:r>
            <a:r>
              <a:rPr lang="zh-CN" altLang="en-US" sz="2400" dirty="0" smtClean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 2.</a:t>
            </a:r>
            <a:r>
              <a:rPr lang="zh-CN" altLang="en-US" sz="2400" dirty="0" smtClean="0">
                <a:latin typeface="+mn-ea"/>
              </a:rPr>
              <a:t>求出逻辑函数的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最简表达式 </a:t>
            </a:r>
            <a:r>
              <a:rPr lang="zh-CN" altLang="en-US" sz="2400" dirty="0" smtClean="0">
                <a:latin typeface="+mn-ea"/>
              </a:rPr>
              <a:t>  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 3.</a:t>
            </a:r>
            <a:r>
              <a:rPr lang="zh-CN" altLang="en-US" sz="2400" dirty="0" smtClean="0">
                <a:latin typeface="+mn-ea"/>
              </a:rPr>
              <a:t>选择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逻辑门类型</a:t>
            </a:r>
            <a:r>
              <a:rPr lang="zh-CN" altLang="en-US" sz="2400" dirty="0" smtClean="0">
                <a:latin typeface="+mn-ea"/>
              </a:rPr>
              <a:t>并将逻辑函数变换成相应形式  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 smtClean="0">
                <a:latin typeface="+mn-ea"/>
              </a:rPr>
              <a:t>  4.</a:t>
            </a:r>
            <a:r>
              <a:rPr lang="zh-CN" altLang="en-US" sz="2400" dirty="0" smtClean="0">
                <a:latin typeface="+mn-ea"/>
              </a:rPr>
              <a:t>画出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逻辑电路图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 smtClean="0">
                <a:latin typeface="+mn-ea"/>
              </a:rPr>
              <a:t>设计中几个实际问题的处理：包含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无关条件</a:t>
            </a:r>
            <a:r>
              <a:rPr lang="zh-CN" altLang="en-US" sz="2400" dirty="0" smtClean="0">
                <a:latin typeface="+mn-ea"/>
              </a:rPr>
              <a:t>的组合逻辑电路设计、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多输出函数</a:t>
            </a:r>
            <a:r>
              <a:rPr lang="zh-CN" altLang="en-US" sz="2400" dirty="0" smtClean="0">
                <a:latin typeface="+mn-ea"/>
              </a:rPr>
              <a:t>的组合逻辑电路设计</a:t>
            </a:r>
            <a:r>
              <a:rPr lang="zh-CN" altLang="en-US" sz="2400" dirty="0" smtClean="0">
                <a:latin typeface="Times New Roman" pitchFamily="18" charset="0"/>
              </a:rPr>
              <a:t/>
            </a:r>
            <a:br>
              <a:rPr lang="zh-CN" altLang="en-US" sz="2400" dirty="0" smtClean="0">
                <a:latin typeface="Times New Roman" pitchFamily="18" charset="0"/>
              </a:rPr>
            </a:br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组合逻辑电路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9512" y="1556792"/>
            <a:ext cx="8712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sz="2400" b="1" dirty="0" smtClean="0">
                <a:latin typeface="+mn-ea"/>
              </a:rPr>
              <a:t>组合逻辑电路中的竞争与险象</a:t>
            </a:r>
            <a:endParaRPr kumimoji="1" lang="zh-CN" altLang="en-US" sz="2400" b="1" dirty="0" smtClean="0"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竞争：</a:t>
            </a:r>
            <a:r>
              <a:rPr lang="zh-CN" altLang="en-US" sz="2400" dirty="0" smtClean="0">
                <a:latin typeface="+mn-ea"/>
              </a:rPr>
              <a:t>门的级数、逻辑门的时延、导线的长短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险象：</a:t>
            </a:r>
            <a:r>
              <a:rPr lang="zh-CN" altLang="en-US" sz="2400" dirty="0" smtClean="0">
                <a:latin typeface="+mn-ea"/>
              </a:rPr>
              <a:t>由竞争导至的错误输出信号，是瞬态现象；静态险象</a:t>
            </a:r>
            <a:r>
              <a:rPr lang="en-US" altLang="zh-CN" sz="2400" dirty="0" smtClean="0">
                <a:latin typeface="+mn-ea"/>
              </a:rPr>
              <a:t>/</a:t>
            </a:r>
            <a:r>
              <a:rPr lang="zh-CN" altLang="en-US" sz="2400" dirty="0" smtClean="0">
                <a:latin typeface="+mn-ea"/>
              </a:rPr>
              <a:t>动态险象， “</a:t>
            </a:r>
            <a:r>
              <a:rPr lang="en-US" altLang="zh-CN" sz="2400" dirty="0" smtClean="0">
                <a:latin typeface="+mn-ea"/>
              </a:rPr>
              <a:t>0”</a:t>
            </a:r>
            <a:r>
              <a:rPr lang="zh-CN" altLang="en-US" sz="2400" dirty="0" smtClean="0">
                <a:latin typeface="+mn-ea"/>
              </a:rPr>
              <a:t>型险象</a:t>
            </a:r>
            <a:r>
              <a:rPr lang="en-US" altLang="zh-CN" sz="2400" dirty="0" smtClean="0">
                <a:latin typeface="+mn-ea"/>
              </a:rPr>
              <a:t>/</a:t>
            </a:r>
            <a:r>
              <a:rPr lang="zh-CN" altLang="en-US" sz="2400" dirty="0" smtClean="0">
                <a:latin typeface="+mn-ea"/>
              </a:rPr>
              <a:t>“</a:t>
            </a:r>
            <a:r>
              <a:rPr lang="en-US" altLang="zh-CN" sz="2400" dirty="0" smtClean="0">
                <a:latin typeface="+mn-ea"/>
              </a:rPr>
              <a:t>1”</a:t>
            </a:r>
            <a:r>
              <a:rPr lang="zh-CN" altLang="en-US" sz="2400" dirty="0" smtClean="0">
                <a:latin typeface="+mn-ea"/>
              </a:rPr>
              <a:t>型险象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dirty="0" smtClean="0">
                <a:latin typeface="+mn-ea"/>
              </a:rPr>
              <a:t>	</a:t>
            </a:r>
            <a:r>
              <a:rPr lang="zh-CN" altLang="en-US" sz="2400" dirty="0" smtClean="0">
                <a:latin typeface="+mn-ea"/>
              </a:rPr>
              <a:t>非临界竞争、临界竞争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险象的判断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zh-CN" altLang="en-US" sz="2400" dirty="0" smtClean="0">
                <a:latin typeface="+mn-ea"/>
              </a:rPr>
              <a:t>代数法</a:t>
            </a:r>
            <a:r>
              <a:rPr lang="en-US" altLang="zh-CN" sz="2400" dirty="0" smtClean="0">
                <a:latin typeface="+mn-ea"/>
              </a:rPr>
              <a:t>(X+X </a:t>
            </a:r>
            <a:r>
              <a:rPr lang="zh-CN" altLang="en-US" sz="2400" dirty="0" smtClean="0">
                <a:latin typeface="+mn-ea"/>
              </a:rPr>
              <a:t>或</a:t>
            </a:r>
            <a:r>
              <a:rPr lang="en-US" altLang="zh-CN" sz="2400" dirty="0" smtClean="0">
                <a:latin typeface="+mn-ea"/>
              </a:rPr>
              <a:t>X·X )</a:t>
            </a:r>
            <a:r>
              <a:rPr lang="zh-CN" altLang="en-US" sz="2400" dirty="0" smtClean="0">
                <a:latin typeface="+mn-ea"/>
              </a:rPr>
              <a:t>和卡诺图法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zh-CN" altLang="en-US" sz="2400" dirty="0" smtClean="0">
                <a:latin typeface="+mn-ea"/>
              </a:rPr>
              <a:t>相切</a:t>
            </a:r>
            <a:r>
              <a:rPr lang="en-US" altLang="zh-CN" sz="2400" dirty="0" smtClean="0">
                <a:latin typeface="+mn-ea"/>
              </a:rPr>
              <a:t>))</a:t>
            </a:r>
          </a:p>
          <a:p>
            <a:pPr eaLnBrk="1" hangingPunct="1"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险象的消除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zh-CN" altLang="en-US" sz="2400" dirty="0" smtClean="0">
                <a:latin typeface="+mn-ea"/>
              </a:rPr>
              <a:t>增加冗余项、增加惯性延时、选通法 </a:t>
            </a:r>
            <a:r>
              <a:rPr lang="en-US" altLang="zh-CN" sz="2400" dirty="0" smtClean="0">
                <a:latin typeface="+mn-ea"/>
              </a:rPr>
              <a:t>)</a:t>
            </a:r>
          </a:p>
          <a:p>
            <a:pPr eaLnBrk="1" hangingPunct="1">
              <a:defRPr/>
            </a:pPr>
            <a:r>
              <a:rPr lang="zh-CN" altLang="en-US" sz="2400" b="1" dirty="0" smtClean="0">
                <a:latin typeface="+mn-ea"/>
              </a:rPr>
              <a:t>中规模通用集成电路及其</a:t>
            </a:r>
            <a:r>
              <a:rPr lang="zh-CN" altLang="en-US" sz="2400" b="1" dirty="0" smtClean="0">
                <a:latin typeface="+mn-ea"/>
              </a:rPr>
              <a:t>应用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（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级联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sz="2400" b="1" dirty="0" smtClean="0">
              <a:solidFill>
                <a:srgbClr val="FF0000"/>
              </a:solidFill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b="1" dirty="0" smtClean="0">
                <a:latin typeface="+mn-ea"/>
              </a:rPr>
              <a:t>	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加法器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zh-CN" altLang="en-US" sz="2400" dirty="0" smtClean="0">
                <a:latin typeface="+mn-ea"/>
              </a:rPr>
              <a:t>超前进位</a:t>
            </a:r>
            <a:r>
              <a:rPr lang="en-US" altLang="zh-CN" sz="2400" dirty="0" smtClean="0">
                <a:latin typeface="+mn-ea"/>
              </a:rPr>
              <a:t>)</a:t>
            </a:r>
            <a:r>
              <a:rPr lang="zh-CN" altLang="en-US" sz="2400" dirty="0" smtClean="0">
                <a:latin typeface="+mn-ea"/>
              </a:rPr>
              <a:t>、乘法器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dirty="0" smtClean="0">
                <a:latin typeface="+mn-ea"/>
              </a:rPr>
              <a:t>	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译码器</a:t>
            </a:r>
            <a:r>
              <a:rPr lang="zh-CN" altLang="en-US" sz="2400" dirty="0" smtClean="0">
                <a:latin typeface="+mn-ea"/>
              </a:rPr>
              <a:t>（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级联</a:t>
            </a:r>
            <a:r>
              <a:rPr lang="zh-CN" altLang="en-US" sz="2400" dirty="0" smtClean="0">
                <a:latin typeface="+mn-ea"/>
              </a:rPr>
              <a:t>）：二进制译码器、二</a:t>
            </a:r>
            <a:r>
              <a:rPr lang="en-US" altLang="zh-CN" sz="2400" dirty="0" smtClean="0">
                <a:latin typeface="+mn-ea"/>
              </a:rPr>
              <a:t>-</a:t>
            </a:r>
            <a:r>
              <a:rPr lang="zh-CN" altLang="en-US" sz="2400" dirty="0" smtClean="0">
                <a:latin typeface="+mn-ea"/>
              </a:rPr>
              <a:t>十进制译码器、</a:t>
            </a:r>
            <a:r>
              <a:rPr lang="en-US" altLang="zh-CN" sz="2400" dirty="0" smtClean="0">
                <a:latin typeface="+mn-ea"/>
              </a:rPr>
              <a:t>			</a:t>
            </a:r>
            <a:r>
              <a:rPr lang="zh-CN" altLang="en-US" sz="2400" dirty="0" smtClean="0">
                <a:latin typeface="+mn-ea"/>
              </a:rPr>
              <a:t>数显译码器（测试、灭</a:t>
            </a:r>
            <a:r>
              <a:rPr lang="en-US" altLang="zh-CN" sz="2400" dirty="0" smtClean="0">
                <a:latin typeface="+mn-ea"/>
              </a:rPr>
              <a:t>0</a:t>
            </a:r>
            <a:r>
              <a:rPr lang="zh-CN" altLang="en-US" sz="2400" dirty="0" smtClean="0">
                <a:latin typeface="+mn-ea"/>
              </a:rPr>
              <a:t>）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dirty="0" smtClean="0">
                <a:latin typeface="+mn-ea"/>
              </a:rPr>
              <a:t>	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编码器</a:t>
            </a:r>
            <a:r>
              <a:rPr lang="zh-CN" altLang="en-US" sz="2400" dirty="0" smtClean="0">
                <a:latin typeface="+mn-ea"/>
              </a:rPr>
              <a:t>（优先级、级联）、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多路选择器</a:t>
            </a:r>
            <a:r>
              <a:rPr lang="zh-CN" altLang="en-US" sz="2400" dirty="0" smtClean="0">
                <a:latin typeface="+mn-ea"/>
              </a:rPr>
              <a:t>（级联）、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多路分配器</a:t>
            </a:r>
            <a:r>
              <a:rPr lang="zh-CN" altLang="en-US" sz="2400" dirty="0" smtClean="0">
                <a:latin typeface="+mn-ea"/>
              </a:rPr>
              <a:t>（级联</a:t>
            </a:r>
            <a:r>
              <a:rPr lang="zh-CN" altLang="en-US" sz="2400" dirty="0" smtClean="0">
                <a:latin typeface="+mn-ea"/>
              </a:rPr>
              <a:t>）</a:t>
            </a:r>
            <a:endParaRPr lang="en-US" altLang="zh-CN" sz="2400" dirty="0" smtClean="0">
              <a:latin typeface="+mn-ea"/>
            </a:endParaRPr>
          </a:p>
          <a:p>
            <a:pPr eaLnBrk="1" hangingPunct="1">
              <a:defRPr/>
            </a:pPr>
            <a:r>
              <a:rPr lang="en-US" altLang="zh-CN" sz="2400" dirty="0" smtClean="0">
                <a:latin typeface="+mn-ea"/>
              </a:rPr>
              <a:t>	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555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及应用</a:t>
            </a:r>
            <a:r>
              <a:rPr lang="zh-CN" altLang="en-US" sz="2400" dirty="0" smtClean="0">
                <a:latin typeface="+mn-ea"/>
              </a:rPr>
              <a:t>（结构、振荡器、触发器（施密特、单稳</a:t>
            </a:r>
            <a:r>
              <a:rPr lang="zh-CN" altLang="en-US" sz="2400" dirty="0" smtClean="0">
                <a:latin typeface="+mn-ea"/>
              </a:rPr>
              <a:t>））</a:t>
            </a:r>
            <a:endParaRPr lang="zh-CN" altLang="en-US" sz="24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>
                <a:latin typeface="+mn-ea"/>
              </a:rPr>
              <a:t>同步时序电路分析</a:t>
            </a:r>
            <a:endParaRPr lang="zh-CN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179512" y="1844824"/>
            <a:ext cx="8784976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sz="2400" b="1" dirty="0" smtClean="0">
                <a:latin typeface="+mn-ea"/>
              </a:rPr>
              <a:t>时序逻辑电路的一般结构</a:t>
            </a:r>
            <a:r>
              <a:rPr lang="zh-CN" altLang="en-US" sz="2400" dirty="0" smtClean="0">
                <a:latin typeface="+mn-ea"/>
              </a:rPr>
              <a:t>：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组合</a:t>
            </a:r>
            <a:r>
              <a:rPr lang="en-US" altLang="zh-CN" sz="2400" dirty="0" smtClean="0">
                <a:latin typeface="+mn-ea"/>
              </a:rPr>
              <a:t>+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存储</a:t>
            </a:r>
            <a:r>
              <a:rPr lang="en-US" altLang="zh-CN" sz="2400" dirty="0" smtClean="0">
                <a:latin typeface="+mn-ea"/>
              </a:rPr>
              <a:t>+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反馈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>
                <a:latin typeface="+mn-ea"/>
              </a:rPr>
              <a:t>	Xi:</a:t>
            </a:r>
            <a:r>
              <a:rPr lang="zh-CN" altLang="en-US" sz="2400" dirty="0" smtClean="0">
                <a:latin typeface="+mn-ea"/>
              </a:rPr>
              <a:t>输入 </a:t>
            </a:r>
            <a:r>
              <a:rPr lang="en-US" altLang="zh-CN" sz="2400" dirty="0" err="1" smtClean="0">
                <a:latin typeface="+mn-ea"/>
              </a:rPr>
              <a:t>Zj</a:t>
            </a:r>
            <a:r>
              <a:rPr lang="en-US" altLang="zh-CN" sz="2400" dirty="0" smtClean="0">
                <a:latin typeface="+mn-ea"/>
              </a:rPr>
              <a:t>:</a:t>
            </a:r>
            <a:r>
              <a:rPr lang="zh-CN" altLang="en-US" sz="2400" dirty="0" smtClean="0">
                <a:latin typeface="+mn-ea"/>
              </a:rPr>
              <a:t>输出函数 </a:t>
            </a:r>
            <a:r>
              <a:rPr lang="en-US" altLang="zh-CN" sz="2400" dirty="0" err="1" smtClean="0">
                <a:latin typeface="+mn-ea"/>
              </a:rPr>
              <a:t>Yk</a:t>
            </a:r>
            <a:r>
              <a:rPr lang="en-US" altLang="zh-CN" sz="2400" dirty="0" smtClean="0">
                <a:latin typeface="+mn-ea"/>
              </a:rPr>
              <a:t>:</a:t>
            </a:r>
            <a:r>
              <a:rPr lang="zh-CN" altLang="en-US" sz="2400" dirty="0" smtClean="0">
                <a:latin typeface="+mn-ea"/>
              </a:rPr>
              <a:t>状态 </a:t>
            </a:r>
            <a:r>
              <a:rPr lang="en-US" altLang="zh-CN" sz="2400" dirty="0" err="1" smtClean="0">
                <a:latin typeface="+mn-ea"/>
              </a:rPr>
              <a:t>yl</a:t>
            </a:r>
            <a:r>
              <a:rPr lang="en-US" altLang="zh-CN" sz="2400" dirty="0" smtClean="0">
                <a:latin typeface="+mn-ea"/>
              </a:rPr>
              <a:t>:</a:t>
            </a:r>
            <a:r>
              <a:rPr lang="zh-CN" altLang="en-US" sz="2400" dirty="0" smtClean="0">
                <a:latin typeface="+mn-ea"/>
              </a:rPr>
              <a:t>激励函数 </a:t>
            </a:r>
            <a:r>
              <a:rPr lang="en-US" altLang="zh-CN" sz="2400" dirty="0" smtClean="0">
                <a:latin typeface="+mn-ea"/>
              </a:rPr>
              <a:t>CP:</a:t>
            </a:r>
            <a:r>
              <a:rPr lang="zh-CN" altLang="en-US" sz="2400" dirty="0" smtClean="0">
                <a:latin typeface="+mn-ea"/>
              </a:rPr>
              <a:t>时钟</a:t>
            </a:r>
            <a:endParaRPr lang="en-US" altLang="zh-CN" sz="2400" dirty="0" smtClean="0">
              <a:latin typeface="+mn-ea"/>
            </a:endParaRPr>
          </a:p>
          <a:p>
            <a:pPr marL="233363" indent="-233363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zh-CN" altLang="en-US" sz="2400" b="1" dirty="0" smtClean="0">
                <a:latin typeface="+mn-ea"/>
              </a:rPr>
              <a:t>时序逻辑电路分类</a:t>
            </a:r>
            <a:r>
              <a:rPr lang="en-US" altLang="zh-CN" sz="2400" dirty="0" smtClean="0">
                <a:latin typeface="+mn-ea"/>
              </a:rPr>
              <a:t>:</a:t>
            </a:r>
            <a:r>
              <a:rPr lang="zh-CN" altLang="en-US" sz="2400" dirty="0" smtClean="0">
                <a:latin typeface="+mn-ea"/>
              </a:rPr>
              <a:t>状态改变方式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同步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异步</a:t>
            </a:r>
            <a:r>
              <a:rPr lang="en-US" altLang="zh-CN" sz="2400" dirty="0" smtClean="0">
                <a:latin typeface="+mn-ea"/>
              </a:rPr>
              <a:t>)</a:t>
            </a:r>
            <a:r>
              <a:rPr lang="zh-CN" altLang="en-US" sz="2400" dirty="0" smtClean="0">
                <a:latin typeface="+mn-ea"/>
              </a:rPr>
              <a:t>、是否与输入相关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Mealy/Moore</a:t>
            </a:r>
            <a:r>
              <a:rPr lang="en-US" altLang="zh-CN" sz="2400" dirty="0" smtClean="0">
                <a:latin typeface="+mn-ea"/>
              </a:rPr>
              <a:t>)</a:t>
            </a:r>
            <a:r>
              <a:rPr lang="zh-CN" altLang="en-US" sz="2400" dirty="0" smtClean="0">
                <a:latin typeface="+mn-ea"/>
              </a:rPr>
              <a:t>、输入信号形式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脉冲型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电平型</a:t>
            </a:r>
            <a:r>
              <a:rPr lang="en-US" altLang="zh-CN" sz="2400" dirty="0" smtClean="0">
                <a:latin typeface="+mn-ea"/>
              </a:rPr>
              <a:t>)</a:t>
            </a:r>
          </a:p>
          <a:p>
            <a:pPr marL="233363" indent="-233363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zh-CN" altLang="en-US" sz="2400" b="1" dirty="0" smtClean="0">
                <a:latin typeface="+mn-ea"/>
              </a:rPr>
              <a:t>同步时序电路描述方法：</a:t>
            </a:r>
            <a:r>
              <a:rPr lang="zh-CN" altLang="en-US" sz="2400" dirty="0" smtClean="0">
                <a:latin typeface="+mn-ea"/>
              </a:rPr>
              <a:t>（逻辑函数表达式（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输出、激励、次态函数</a:t>
            </a:r>
            <a:r>
              <a:rPr lang="zh-CN" altLang="en-US" sz="2400" dirty="0" smtClean="0">
                <a:latin typeface="+mn-ea"/>
              </a:rPr>
              <a:t>表达式 ）、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状态表、状态图</a:t>
            </a:r>
            <a:r>
              <a:rPr lang="zh-CN" altLang="en-US" sz="2400" dirty="0" smtClean="0">
                <a:latin typeface="+mn-ea"/>
              </a:rPr>
              <a:t>）</a:t>
            </a:r>
            <a:endParaRPr lang="en-US" altLang="zh-CN" sz="2400" dirty="0" smtClean="0">
              <a:latin typeface="+mn-ea"/>
            </a:endParaRPr>
          </a:p>
          <a:p>
            <a:pPr marL="233363" indent="-233363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zh-CN" altLang="en-US" sz="2400" b="1" dirty="0" smtClean="0">
                <a:latin typeface="+mn-ea"/>
              </a:rPr>
              <a:t>同步时序电路分析方法</a:t>
            </a:r>
            <a:r>
              <a:rPr lang="zh-CN" altLang="en-US" sz="2400" dirty="0" smtClean="0">
                <a:latin typeface="+mn-ea"/>
              </a:rPr>
              <a:t>：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表格法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代数法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+mn-ea"/>
              </a:rPr>
              <a:t>电路→输出</a:t>
            </a:r>
            <a:r>
              <a:rPr lang="en-US" altLang="zh-CN" sz="2400" dirty="0" smtClean="0">
                <a:latin typeface="+mn-ea"/>
              </a:rPr>
              <a:t>/</a:t>
            </a:r>
            <a:r>
              <a:rPr lang="zh-CN" altLang="en-US" sz="2400" dirty="0" smtClean="0">
                <a:latin typeface="+mn-ea"/>
              </a:rPr>
              <a:t>激励函数→电路次态真值表（方程组）→状态表和状态图→典型输入序列时间图，描述逻辑功能。</a:t>
            </a:r>
          </a:p>
          <a:p>
            <a:pPr marL="233363" indent="-233363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zh-CN" altLang="en-US" sz="2400" b="1" dirty="0" smtClean="0">
                <a:latin typeface="+mn-ea"/>
              </a:rPr>
              <a:t>分析举例：</a:t>
            </a:r>
            <a:r>
              <a:rPr lang="en-US" altLang="zh-CN" sz="2400" b="1" dirty="0" smtClean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位二进制可逆计数器、</a:t>
            </a:r>
            <a:r>
              <a:rPr lang="zh-CN" altLang="en-US" sz="2400" dirty="0" smtClean="0">
                <a:latin typeface="+mn-ea"/>
                <a:sym typeface="Wingdings" pitchFamily="2" charset="2"/>
              </a:rPr>
              <a:t> “</a:t>
            </a:r>
            <a:r>
              <a:rPr lang="en-US" altLang="zh-CN" sz="2400" dirty="0" smtClean="0">
                <a:latin typeface="+mn-ea"/>
                <a:sym typeface="Wingdings" pitchFamily="2" charset="2"/>
              </a:rPr>
              <a:t>101”</a:t>
            </a:r>
            <a:r>
              <a:rPr lang="zh-CN" altLang="en-US" sz="2400" dirty="0" smtClean="0">
                <a:latin typeface="+mn-ea"/>
                <a:sym typeface="Wingdings" pitchFamily="2" charset="2"/>
              </a:rPr>
              <a:t>序列检测器、串行加法器、</a:t>
            </a:r>
            <a:r>
              <a:rPr lang="en-US" altLang="zh-CN" sz="2400" dirty="0" smtClean="0">
                <a:latin typeface="+mn-ea"/>
              </a:rPr>
              <a:t> 3</a:t>
            </a:r>
            <a:r>
              <a:rPr lang="zh-CN" altLang="en-US" sz="2400" dirty="0" smtClean="0">
                <a:latin typeface="+mn-ea"/>
              </a:rPr>
              <a:t>位移位寄存器偶校验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3600" dirty="0" smtClean="0">
                <a:solidFill>
                  <a:schemeClr val="tx1"/>
                </a:solidFill>
                <a:latin typeface="+mn-ea"/>
              </a:rPr>
              <a:t>完全确定同步时序逻辑电路设计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7504" y="1628800"/>
            <a:ext cx="892899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000" dirty="0" smtClean="0">
                <a:solidFill>
                  <a:srgbClr val="FF0000"/>
                </a:solidFill>
                <a:latin typeface="+mn-ea"/>
              </a:rPr>
              <a:t>完全确定同步时序逻辑电路设计</a:t>
            </a:r>
            <a:r>
              <a:rPr lang="zh-CN" altLang="zh-CN" sz="2000" dirty="0" smtClean="0">
                <a:latin typeface="+mn-ea"/>
              </a:rPr>
              <a:t>（对于所设立的每一个状态，在不同输入取值下都有确定的次态和输出）</a:t>
            </a:r>
          </a:p>
          <a:p>
            <a:pPr>
              <a:defRPr/>
            </a:pPr>
            <a:r>
              <a:rPr lang="zh-CN" altLang="zh-CN" sz="2000" dirty="0" smtClean="0">
                <a:solidFill>
                  <a:srgbClr val="FF0000"/>
                </a:solidFill>
                <a:latin typeface="+mn-ea"/>
              </a:rPr>
              <a:t>状态化简</a:t>
            </a:r>
            <a:r>
              <a:rPr lang="zh-CN" altLang="zh-CN" sz="2000" dirty="0" smtClean="0">
                <a:latin typeface="+mn-ea"/>
              </a:rPr>
              <a:t>，就是寻找最大等效类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n-ea"/>
              </a:rPr>
              <a:t>(1)</a:t>
            </a:r>
            <a:r>
              <a:rPr lang="zh-CN" altLang="zh-CN" sz="2000" dirty="0" smtClean="0">
                <a:latin typeface="+mn-ea"/>
              </a:rPr>
              <a:t>等效状态和等效类（等效状态具有传递性</a:t>
            </a:r>
            <a:r>
              <a:rPr lang="zh-CN" altLang="en-US" sz="2000" dirty="0" smtClean="0">
                <a:latin typeface="+mn-ea"/>
              </a:rPr>
              <a:t>，</a:t>
            </a:r>
            <a:r>
              <a:rPr lang="zh-CN" altLang="zh-CN" sz="2000" dirty="0" smtClean="0">
                <a:latin typeface="+mn-ea"/>
              </a:rPr>
              <a:t>最大等效类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n-ea"/>
              </a:rPr>
              <a:t>1.</a:t>
            </a:r>
            <a:r>
              <a:rPr lang="zh-CN" altLang="zh-CN" sz="2000" dirty="0" smtClean="0">
                <a:solidFill>
                  <a:srgbClr val="FF0000"/>
                </a:solidFill>
                <a:latin typeface="+mn-ea"/>
              </a:rPr>
              <a:t>它们的输出相同</a:t>
            </a:r>
            <a:r>
              <a:rPr lang="zh-CN" altLang="en-US" sz="2000" dirty="0" smtClean="0">
                <a:latin typeface="+mn-ea"/>
              </a:rPr>
              <a:t>；</a:t>
            </a:r>
            <a:endParaRPr lang="zh-CN" altLang="zh-CN" sz="2000" dirty="0" smtClean="0">
              <a:latin typeface="+mn-ea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n-ea"/>
              </a:rPr>
              <a:t>2.</a:t>
            </a:r>
            <a:r>
              <a:rPr lang="zh-CN" altLang="zh-CN" sz="2000" dirty="0" smtClean="0">
                <a:latin typeface="+mn-ea"/>
              </a:rPr>
              <a:t>它们的次态属于下列情况之一：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n-ea"/>
              </a:rPr>
              <a:t>a.</a:t>
            </a:r>
            <a:r>
              <a:rPr lang="zh-CN" altLang="zh-CN" sz="2000" dirty="0" smtClean="0">
                <a:latin typeface="+mn-ea"/>
              </a:rPr>
              <a:t>次态相同</a:t>
            </a:r>
            <a:r>
              <a:rPr lang="en-US" altLang="zh-CN" sz="2000" dirty="0" smtClean="0">
                <a:latin typeface="+mn-ea"/>
              </a:rPr>
              <a:t> b.</a:t>
            </a:r>
            <a:r>
              <a:rPr lang="zh-CN" altLang="zh-CN" sz="2000" dirty="0" smtClean="0">
                <a:latin typeface="+mn-ea"/>
              </a:rPr>
              <a:t>次态交错或为各自的现态；</a:t>
            </a:r>
            <a:r>
              <a:rPr lang="en-US" altLang="zh-CN" sz="2000" dirty="0" smtClean="0">
                <a:latin typeface="+mn-ea"/>
              </a:rPr>
              <a:t>c.</a:t>
            </a:r>
            <a:r>
              <a:rPr lang="zh-CN" altLang="zh-CN" sz="2000" dirty="0" smtClean="0">
                <a:latin typeface="+mn-ea"/>
              </a:rPr>
              <a:t>次态循环或为等效对。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zh-CN" sz="2000" dirty="0" smtClean="0">
                <a:solidFill>
                  <a:srgbClr val="FF0000"/>
                </a:solidFill>
                <a:latin typeface="+mn-ea"/>
              </a:rPr>
              <a:t>寻找等效对</a:t>
            </a:r>
            <a:r>
              <a:rPr lang="zh-CN" altLang="en-US" sz="2000" dirty="0" smtClean="0">
                <a:latin typeface="+mn-ea"/>
                <a:sym typeface="Wingdings" pitchFamily="2" charset="2"/>
              </a:rPr>
              <a:t>：</a:t>
            </a:r>
            <a:r>
              <a:rPr lang="en-US" altLang="zh-CN" sz="2000" dirty="0" smtClean="0">
                <a:latin typeface="+mn-ea"/>
                <a:sym typeface="Wingdings" pitchFamily="2" charset="2"/>
              </a:rPr>
              <a:t>(</a:t>
            </a:r>
            <a:r>
              <a:rPr lang="zh-CN" altLang="zh-CN" sz="2000" dirty="0" smtClean="0">
                <a:latin typeface="+mn-ea"/>
              </a:rPr>
              <a:t>隐含表</a:t>
            </a:r>
            <a:r>
              <a:rPr lang="zh-CN" altLang="en-US" sz="2000" dirty="0" smtClean="0">
                <a:latin typeface="+mn-ea"/>
              </a:rPr>
              <a:t>、</a:t>
            </a:r>
            <a:r>
              <a:rPr lang="zh-CN" altLang="zh-CN" sz="2000" dirty="0" smtClean="0">
                <a:latin typeface="+mn-ea"/>
              </a:rPr>
              <a:t>顺序比较</a:t>
            </a:r>
            <a:r>
              <a:rPr lang="zh-CN" altLang="en-US" sz="2000" dirty="0" smtClean="0">
                <a:latin typeface="+mn-ea"/>
              </a:rPr>
              <a:t>、</a:t>
            </a:r>
            <a:r>
              <a:rPr lang="zh-CN" altLang="zh-CN" sz="2000" dirty="0" smtClean="0">
                <a:latin typeface="+mn-ea"/>
              </a:rPr>
              <a:t>关联比较</a:t>
            </a:r>
            <a:r>
              <a:rPr lang="zh-CN" altLang="en-US" sz="2000" dirty="0" smtClean="0">
                <a:latin typeface="+mn-ea"/>
              </a:rPr>
              <a:t>）</a:t>
            </a:r>
            <a:endParaRPr lang="zh-CN" altLang="zh-CN" sz="2000" dirty="0" smtClean="0">
              <a:latin typeface="+mn-ea"/>
            </a:endParaRPr>
          </a:p>
          <a:p>
            <a:pPr>
              <a:defRPr/>
            </a:pPr>
            <a:r>
              <a:rPr lang="zh-CN" altLang="zh-CN" sz="2000" dirty="0" smtClean="0">
                <a:solidFill>
                  <a:srgbClr val="FF0000"/>
                </a:solidFill>
                <a:latin typeface="+mn-ea"/>
              </a:rPr>
              <a:t>状态编码</a:t>
            </a:r>
            <a:r>
              <a:rPr lang="zh-CN" altLang="en-US" sz="2000" dirty="0" smtClean="0">
                <a:latin typeface="+mn-ea"/>
              </a:rPr>
              <a:t>：简化</a:t>
            </a:r>
            <a:r>
              <a:rPr lang="zh-CN" altLang="zh-CN" sz="2000" dirty="0" smtClean="0">
                <a:latin typeface="+mn-ea"/>
              </a:rPr>
              <a:t>输出函数和激励函数的表达式</a:t>
            </a:r>
            <a:r>
              <a:rPr lang="zh-CN" altLang="en-US" sz="2000" dirty="0" smtClean="0">
                <a:latin typeface="+mn-ea"/>
              </a:rPr>
              <a:t>，</a:t>
            </a:r>
            <a:r>
              <a:rPr lang="zh-CN" altLang="zh-CN" sz="2000" dirty="0" smtClean="0">
                <a:latin typeface="+mn-ea"/>
              </a:rPr>
              <a:t>与触发器类型相关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zh-CN" sz="2000" dirty="0" smtClean="0">
                <a:latin typeface="+mn-ea"/>
              </a:rPr>
              <a:t>相邻法：编码时，尽可能使激励和输出函数在卡诺图上的“</a:t>
            </a:r>
            <a:r>
              <a:rPr lang="en-US" altLang="zh-CN" sz="2000" dirty="0" smtClean="0">
                <a:latin typeface="+mn-ea"/>
              </a:rPr>
              <a:t>1</a:t>
            </a:r>
            <a:r>
              <a:rPr lang="zh-CN" altLang="zh-CN" sz="2000" dirty="0" smtClean="0">
                <a:latin typeface="+mn-ea"/>
              </a:rPr>
              <a:t>”方格处在相邻位置，从而有利于激励函数和输出函数的化简</a:t>
            </a:r>
          </a:p>
          <a:p>
            <a:pPr>
              <a:defRPr/>
            </a:pPr>
            <a:r>
              <a:rPr lang="zh-CN" altLang="zh-CN" sz="2000" dirty="0" smtClean="0">
                <a:latin typeface="+mn-ea"/>
              </a:rPr>
              <a:t>相邻法的状态编码原则如下：</a:t>
            </a:r>
          </a:p>
          <a:p>
            <a:pPr>
              <a:defRPr/>
            </a:pPr>
            <a:r>
              <a:rPr lang="en-US" altLang="zh-CN" sz="2000" dirty="0" smtClean="0">
                <a:latin typeface="+mn-ea"/>
              </a:rPr>
              <a:t>    ①</a:t>
            </a:r>
            <a:r>
              <a:rPr lang="zh-CN" altLang="zh-CN" sz="2000" dirty="0" smtClean="0">
                <a:latin typeface="+mn-ea"/>
              </a:rPr>
              <a:t>同输入，有同次态的现态尽可能分配相邻的二进制代码；</a:t>
            </a:r>
          </a:p>
          <a:p>
            <a:pPr>
              <a:defRPr/>
            </a:pPr>
            <a:r>
              <a:rPr lang="en-US" altLang="zh-CN" sz="2000" dirty="0" smtClean="0">
                <a:latin typeface="+mn-ea"/>
              </a:rPr>
              <a:t>    ②</a:t>
            </a:r>
            <a:r>
              <a:rPr lang="zh-CN" altLang="zh-CN" sz="2000" dirty="0" smtClean="0">
                <a:latin typeface="+mn-ea"/>
              </a:rPr>
              <a:t>相邻输入，同一现态的次态尽可能分配相邻的二进制代码；</a:t>
            </a:r>
          </a:p>
          <a:p>
            <a:pPr>
              <a:defRPr/>
            </a:pPr>
            <a:r>
              <a:rPr lang="en-US" altLang="zh-CN" sz="2000" dirty="0" smtClean="0">
                <a:latin typeface="+mn-ea"/>
              </a:rPr>
              <a:t>    ③</a:t>
            </a:r>
            <a:r>
              <a:rPr lang="zh-CN" altLang="zh-CN" sz="2000" dirty="0" smtClean="0">
                <a:latin typeface="+mn-ea"/>
              </a:rPr>
              <a:t>输出完全相同的现态尽可能分配相邻的二进制代码。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 smtClean="0">
                <a:solidFill>
                  <a:schemeClr val="tx1"/>
                </a:solidFill>
                <a:latin typeface="+mn-ea"/>
              </a:rPr>
              <a:t>同步时序逻辑电路设计举例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7504" y="1628800"/>
            <a:ext cx="869471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latin typeface="+mn-ea"/>
              </a:rPr>
              <a:t>1</a:t>
            </a:r>
            <a:r>
              <a:rPr lang="zh-CN" altLang="en-US" sz="2000" dirty="0" smtClean="0">
                <a:latin typeface="+mn-ea"/>
              </a:rPr>
              <a:t>、用</a:t>
            </a:r>
            <a:r>
              <a:rPr lang="en-US" altLang="zh-CN" sz="2000" dirty="0" smtClean="0">
                <a:latin typeface="+mn-ea"/>
              </a:rPr>
              <a:t>T</a:t>
            </a:r>
            <a:r>
              <a:rPr lang="zh-CN" altLang="en-US" sz="2000" dirty="0" smtClean="0">
                <a:latin typeface="+mn-ea"/>
              </a:rPr>
              <a:t>触发器作为存储元件，设计一个</a:t>
            </a:r>
            <a:r>
              <a:rPr lang="en-US" altLang="zh-CN" sz="2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位二进制减</a:t>
            </a:r>
            <a:r>
              <a:rPr lang="en-US" altLang="zh-CN" sz="2000" dirty="0" smtClean="0">
                <a:latin typeface="+mn-ea"/>
              </a:rPr>
              <a:t>1</a:t>
            </a:r>
            <a:r>
              <a:rPr lang="zh-CN" altLang="en-US" sz="2000" dirty="0" smtClean="0">
                <a:latin typeface="+mn-ea"/>
              </a:rPr>
              <a:t>计数器；</a:t>
            </a:r>
            <a:endParaRPr lang="en-US" altLang="zh-CN" sz="2000" dirty="0" smtClean="0">
              <a:latin typeface="+mn-ea"/>
            </a:endParaRPr>
          </a:p>
          <a:p>
            <a:r>
              <a:rPr lang="en-US" altLang="zh-CN" sz="2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、两位串行输入、并行输出双向移位寄存器；</a:t>
            </a:r>
            <a:endParaRPr lang="en-US" altLang="zh-CN" sz="2000" dirty="0" smtClean="0">
              <a:latin typeface="+mn-ea"/>
            </a:endParaRPr>
          </a:p>
          <a:p>
            <a:r>
              <a:rPr lang="en-US" altLang="zh-CN" sz="2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、用</a:t>
            </a:r>
            <a:r>
              <a:rPr lang="en-US" altLang="zh-CN" sz="2000" dirty="0" smtClean="0">
                <a:latin typeface="+mn-ea"/>
              </a:rPr>
              <a:t>J—K</a:t>
            </a:r>
            <a:r>
              <a:rPr lang="zh-CN" altLang="en-US" sz="2000" dirty="0" smtClean="0">
                <a:latin typeface="+mn-ea"/>
              </a:rPr>
              <a:t>触发器设计一个“</a:t>
            </a:r>
            <a:r>
              <a:rPr lang="en-US" altLang="zh-CN" sz="2000" dirty="0" smtClean="0">
                <a:latin typeface="+mn-ea"/>
              </a:rPr>
              <a:t>101”</a:t>
            </a:r>
            <a:r>
              <a:rPr lang="zh-CN" altLang="en-US" sz="2000" dirty="0" smtClean="0">
                <a:latin typeface="+mn-ea"/>
              </a:rPr>
              <a:t>序列检测器；</a:t>
            </a:r>
            <a:endParaRPr lang="en-US" altLang="zh-CN" sz="2000" dirty="0" smtClean="0">
              <a:latin typeface="+mn-ea"/>
            </a:endParaRPr>
          </a:p>
          <a:p>
            <a:pPr marL="95250" indent="-95250" eaLnBrk="1" hangingPunct="1">
              <a:lnSpc>
                <a:spcPct val="90000"/>
              </a:lnSpc>
            </a:pPr>
            <a:r>
              <a:rPr lang="en-US" altLang="zh-CN" sz="2000" dirty="0" smtClean="0">
                <a:latin typeface="+mn-ea"/>
              </a:rPr>
              <a:t>4</a:t>
            </a:r>
            <a:r>
              <a:rPr lang="zh-CN" altLang="en-US" sz="2000" dirty="0" smtClean="0">
                <a:latin typeface="+mn-ea"/>
              </a:rPr>
              <a:t>、设计一个</a:t>
            </a:r>
            <a:r>
              <a:rPr lang="en-US" altLang="zh-CN" sz="2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位二进制码的串行奇偶检测器。</a:t>
            </a:r>
            <a:endParaRPr lang="en-US" altLang="zh-CN" sz="2000" dirty="0" smtClean="0">
              <a:latin typeface="+mn-ea"/>
            </a:endParaRPr>
          </a:p>
          <a:p>
            <a:pPr marL="95250" indent="-95250" eaLnBrk="1" hangingPunct="1">
              <a:lnSpc>
                <a:spcPct val="90000"/>
              </a:lnSpc>
            </a:pPr>
            <a:endParaRPr lang="en-US" altLang="zh-CN" sz="2000" dirty="0" smtClean="0">
              <a:latin typeface="+mn-ea"/>
            </a:endParaRPr>
          </a:p>
          <a:p>
            <a:pPr marL="95250" indent="-95250" eaLnBrk="1" hangingPunct="1">
              <a:lnSpc>
                <a:spcPct val="90000"/>
              </a:lnSpc>
            </a:pPr>
            <a:r>
              <a:rPr lang="zh-CN" altLang="en-US" sz="2000" dirty="0" smtClean="0">
                <a:latin typeface="+mn-ea"/>
              </a:rPr>
              <a:t>当所设计的电路中触发器所能表示的状态数大于有效状态数时，需要对所设计的电路进行实际工作状态讨论。主要讨论两个问题。</a:t>
            </a:r>
          </a:p>
          <a:p>
            <a:pPr marL="95250" indent="-9525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 smtClean="0">
                <a:latin typeface="+mn-ea"/>
              </a:rPr>
              <a:t>    第一，电路万一偶然进入无效状态，能否在输入信号和时钟脉冲作用下自动进入有效状态，如果能自动进入有效状态，则称为具有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自恢复功能</a:t>
            </a:r>
            <a:r>
              <a:rPr lang="zh-CN" altLang="en-US" sz="2000" dirty="0" smtClean="0">
                <a:latin typeface="+mn-ea"/>
              </a:rPr>
              <a:t>；否则，称为“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挂起</a:t>
            </a:r>
            <a:r>
              <a:rPr lang="zh-CN" altLang="en-US" sz="2000" dirty="0" smtClean="0">
                <a:latin typeface="+mn-ea"/>
              </a:rPr>
              <a:t>”。</a:t>
            </a:r>
          </a:p>
          <a:p>
            <a:pPr marL="95250" indent="-9525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 smtClean="0">
                <a:latin typeface="+mn-ea"/>
              </a:rPr>
              <a:t>  第二，电路万一处在无效状态，是否会产生错误输出信号。一旦发现存在“挂起”现象或错误输出现象，就必须对设计的方案进行修改，否则，将影响电路工作的可靠性，甚至破坏正常工作。</a:t>
            </a:r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可编程逻辑器件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1520" y="1484785"/>
            <a:ext cx="8568952" cy="6069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000" dirty="0" smtClean="0">
                <a:latin typeface="+mn-ea"/>
              </a:rPr>
              <a:t>数字系统中常用的大规模集成电路可分为：</a:t>
            </a:r>
            <a:endParaRPr lang="en-US" altLang="zh-CN" sz="20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非用户定制电路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(Non-custom design IC)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全用户定制电路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(Full-custom design IC)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半用户定制电路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(Semi-custom design IC)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。</a:t>
            </a:r>
            <a:endParaRPr lang="en-US" altLang="zh-CN" sz="2000" dirty="0" smtClean="0">
              <a:solidFill>
                <a:srgbClr val="FF0000"/>
              </a:solidFill>
              <a:latin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 smtClean="0">
                <a:latin typeface="+mn-ea"/>
              </a:rPr>
              <a:t>现在半导体厂的产品可分为三大类：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CPU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，存储器和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PLD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。</a:t>
            </a:r>
            <a:endParaRPr lang="en-US" altLang="zh-CN" sz="2000" dirty="0" smtClean="0">
              <a:solidFill>
                <a:srgbClr val="FF0000"/>
              </a:solidFill>
              <a:latin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 smtClean="0">
                <a:latin typeface="+mn-ea"/>
              </a:rPr>
              <a:t>70</a:t>
            </a:r>
            <a:r>
              <a:rPr lang="zh-CN" altLang="en-US" sz="2000" dirty="0" smtClean="0">
                <a:latin typeface="+mn-ea"/>
              </a:rPr>
              <a:t>年代初期推出可编程只读存储器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(PROM</a:t>
            </a:r>
            <a:r>
              <a:rPr lang="en-US" altLang="zh-CN" sz="2000" dirty="0" smtClean="0">
                <a:latin typeface="+mn-ea"/>
              </a:rPr>
              <a:t>)</a:t>
            </a:r>
            <a:r>
              <a:rPr lang="zh-CN" altLang="en-US" sz="2000" dirty="0" smtClean="0">
                <a:latin typeface="+mn-ea"/>
              </a:rPr>
              <a:t>。</a:t>
            </a:r>
            <a:r>
              <a:rPr lang="en-US" altLang="zh-CN" sz="2000" dirty="0" smtClean="0">
                <a:latin typeface="+mn-ea"/>
              </a:rPr>
              <a:t>PROM</a:t>
            </a:r>
            <a:r>
              <a:rPr lang="zh-CN" altLang="en-US" sz="2000" dirty="0" smtClean="0">
                <a:latin typeface="+mn-ea"/>
              </a:rPr>
              <a:t>由一个“与”阵列和一个“或”阵列组成，“与”阵列是固定的，“或”阵列是可编程的。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 smtClean="0">
                <a:latin typeface="+mn-ea"/>
              </a:rPr>
              <a:t>70</a:t>
            </a:r>
            <a:r>
              <a:rPr lang="zh-CN" altLang="en-US" sz="2000" dirty="0" smtClean="0">
                <a:latin typeface="+mn-ea"/>
              </a:rPr>
              <a:t>年代中期可编程逻辑阵列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PLA</a:t>
            </a:r>
            <a:r>
              <a:rPr lang="en-US" altLang="zh-CN" sz="2000" dirty="0" smtClean="0">
                <a:latin typeface="+mn-ea"/>
              </a:rPr>
              <a:t>)</a:t>
            </a:r>
            <a:r>
              <a:rPr lang="zh-CN" altLang="en-US" sz="2000" dirty="0" smtClean="0">
                <a:latin typeface="+mn-ea"/>
              </a:rPr>
              <a:t>，</a:t>
            </a:r>
            <a:r>
              <a:rPr lang="en-US" altLang="zh-CN" sz="2000" dirty="0" smtClean="0">
                <a:latin typeface="+mn-ea"/>
              </a:rPr>
              <a:t>PLA</a:t>
            </a:r>
            <a:r>
              <a:rPr lang="zh-CN" altLang="en-US" sz="2000" dirty="0" smtClean="0">
                <a:latin typeface="+mn-ea"/>
              </a:rPr>
              <a:t>同样由一个“与”阵列和一个“或”阵列组成，但其“与”阵列和“或”阵列都是可编程的。</a:t>
            </a:r>
            <a:r>
              <a:rPr lang="en-US" altLang="zh-CN" sz="2000" dirty="0" smtClean="0">
                <a:latin typeface="+mn-ea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 smtClean="0">
                <a:latin typeface="+mn-ea"/>
              </a:rPr>
              <a:t>70</a:t>
            </a:r>
            <a:r>
              <a:rPr lang="zh-CN" altLang="en-US" sz="2000" dirty="0" smtClean="0">
                <a:latin typeface="+mn-ea"/>
              </a:rPr>
              <a:t>年代末期可编程阵列逻辑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PAL</a:t>
            </a:r>
            <a:r>
              <a:rPr lang="en-US" altLang="zh-CN" sz="2000" dirty="0" smtClean="0">
                <a:latin typeface="+mn-ea"/>
              </a:rPr>
              <a:t>)</a:t>
            </a:r>
            <a:r>
              <a:rPr lang="zh-CN" altLang="en-US" sz="2000" dirty="0" smtClean="0">
                <a:latin typeface="+mn-ea"/>
              </a:rPr>
              <a:t>。</a:t>
            </a:r>
            <a:r>
              <a:rPr lang="en-US" altLang="zh-CN" sz="2000" dirty="0" smtClean="0">
                <a:latin typeface="+mn-ea"/>
              </a:rPr>
              <a:t>PAL</a:t>
            </a:r>
            <a:r>
              <a:rPr lang="zh-CN" altLang="en-US" sz="2000" dirty="0" smtClean="0">
                <a:latin typeface="+mn-ea"/>
              </a:rPr>
              <a:t>器件的“与”阵列是可编程的，而“或”阵列是固定的，它有多种输出和反馈结构，</a:t>
            </a:r>
            <a:r>
              <a:rPr lang="en-US" altLang="zh-CN" sz="2000" dirty="0" smtClean="0">
                <a:latin typeface="+mn-ea"/>
              </a:rPr>
              <a:t>PAL</a:t>
            </a:r>
            <a:r>
              <a:rPr lang="zh-CN" altLang="en-US" sz="2000" dirty="0" smtClean="0">
                <a:latin typeface="+mn-ea"/>
              </a:rPr>
              <a:t>器件一般采用熔丝工艺，编程后不能改写。此外，型号太多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zh-CN" altLang="en-US" sz="2000" dirty="0" smtClean="0">
                <a:latin typeface="+mn-ea"/>
              </a:rPr>
              <a:t>一种输出结构就是一种型号</a:t>
            </a:r>
            <a:r>
              <a:rPr lang="en-US" altLang="zh-CN" sz="2000" dirty="0" smtClean="0">
                <a:latin typeface="+mn-ea"/>
              </a:rPr>
              <a:t>)</a:t>
            </a:r>
            <a:r>
              <a:rPr lang="zh-CN" altLang="en-US" sz="2000" dirty="0" smtClean="0">
                <a:latin typeface="+mn-ea"/>
              </a:rPr>
              <a:t>，设计者要根据需要选择不同输出结构的器件，这些无疑给用户带来了不便。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 smtClean="0">
                <a:latin typeface="+mn-ea"/>
              </a:rPr>
              <a:t>80</a:t>
            </a:r>
            <a:r>
              <a:rPr lang="zh-CN" altLang="en-US" sz="2000" dirty="0" smtClean="0">
                <a:latin typeface="+mn-ea"/>
              </a:rPr>
              <a:t>年代中期，通用阵列逻辑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GAL</a:t>
            </a:r>
            <a:r>
              <a:rPr lang="en-US" altLang="zh-CN" sz="2000" dirty="0" smtClean="0">
                <a:latin typeface="+mn-ea"/>
              </a:rPr>
              <a:t>)</a:t>
            </a:r>
            <a:r>
              <a:rPr lang="zh-CN" altLang="en-US" sz="2000" dirty="0" smtClean="0">
                <a:latin typeface="+mn-ea"/>
              </a:rPr>
              <a:t>器件问世。</a:t>
            </a:r>
            <a:r>
              <a:rPr lang="en-US" altLang="zh-CN" sz="2000" dirty="0" smtClean="0">
                <a:latin typeface="+mn-ea"/>
              </a:rPr>
              <a:t>GAL</a:t>
            </a:r>
            <a:r>
              <a:rPr lang="zh-CN" altLang="en-US" sz="2000" dirty="0" smtClean="0">
                <a:latin typeface="+mn-ea"/>
              </a:rPr>
              <a:t>器件是在</a:t>
            </a:r>
            <a:r>
              <a:rPr lang="en-US" altLang="zh-CN" sz="2000" dirty="0" smtClean="0">
                <a:latin typeface="+mn-ea"/>
              </a:rPr>
              <a:t>PAL</a:t>
            </a:r>
            <a:r>
              <a:rPr lang="zh-CN" altLang="en-US" sz="2000" dirty="0" smtClean="0">
                <a:latin typeface="+mn-ea"/>
              </a:rPr>
              <a:t>器件基础上发展起来的新一代器件。它采用了高速电可擦</a:t>
            </a:r>
            <a:r>
              <a:rPr lang="en-US" altLang="zh-CN" sz="2000" dirty="0" smtClean="0">
                <a:latin typeface="+mn-ea"/>
              </a:rPr>
              <a:t>CMOS</a:t>
            </a:r>
            <a:r>
              <a:rPr lang="zh-CN" altLang="en-US" sz="2000" dirty="0" smtClean="0">
                <a:latin typeface="+mn-ea"/>
              </a:rPr>
              <a:t>工艺，可以反复擦除和改写。特别是在结构上采用了“输出逻辑宏单元”</a:t>
            </a:r>
            <a:r>
              <a:rPr lang="en-US" altLang="zh-CN" sz="2000" dirty="0" smtClean="0">
                <a:latin typeface="+mn-ea"/>
              </a:rPr>
              <a:t>(OLMC)</a:t>
            </a:r>
            <a:r>
              <a:rPr lang="zh-CN" altLang="en-US" sz="2000" dirty="0" smtClean="0">
                <a:latin typeface="+mn-ea"/>
              </a:rPr>
              <a:t>电路，使一种型号的</a:t>
            </a:r>
            <a:r>
              <a:rPr lang="en-US" altLang="zh-CN" sz="2000" dirty="0" smtClean="0">
                <a:latin typeface="+mn-ea"/>
              </a:rPr>
              <a:t>GAL</a:t>
            </a:r>
            <a:r>
              <a:rPr lang="zh-CN" altLang="en-US" sz="2000" dirty="0" smtClean="0">
                <a:latin typeface="+mn-ea"/>
              </a:rPr>
              <a:t>器件可以对几十种</a:t>
            </a:r>
            <a:r>
              <a:rPr lang="en-US" altLang="zh-CN" sz="2000" dirty="0" smtClean="0">
                <a:latin typeface="+mn-ea"/>
              </a:rPr>
              <a:t>PAL</a:t>
            </a:r>
            <a:r>
              <a:rPr lang="zh-CN" altLang="en-US" sz="2000" dirty="0" smtClean="0">
                <a:latin typeface="+mn-ea"/>
              </a:rPr>
              <a:t>器件做到全兼容。</a:t>
            </a:r>
            <a:r>
              <a:rPr lang="en-US" altLang="zh-CN" sz="2000" dirty="0" smtClean="0">
                <a:latin typeface="+mn-ea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 smtClean="0">
                <a:latin typeface="+mn-ea"/>
              </a:rPr>
              <a:t>90</a:t>
            </a:r>
            <a:r>
              <a:rPr lang="zh-CN" altLang="en-US" sz="2000" dirty="0" smtClean="0">
                <a:latin typeface="+mn-ea"/>
              </a:rPr>
              <a:t>年代，又产生了在系统编程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ISP</a:t>
            </a:r>
            <a:r>
              <a:rPr lang="en-US" altLang="zh-CN" sz="2000" dirty="0" smtClean="0">
                <a:latin typeface="+mn-ea"/>
              </a:rPr>
              <a:t>)</a:t>
            </a:r>
            <a:r>
              <a:rPr lang="zh-CN" altLang="en-US" sz="2000" dirty="0" smtClean="0">
                <a:latin typeface="+mn-ea"/>
              </a:rPr>
              <a:t>器件。</a:t>
            </a:r>
            <a:endParaRPr lang="en-US" altLang="zh-CN" sz="20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 smtClean="0">
                <a:latin typeface="+mn-ea"/>
              </a:rPr>
              <a:t>片上系统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FPGA</a:t>
            </a:r>
          </a:p>
          <a:p>
            <a:pPr eaLnBrk="1" hangingPunct="1">
              <a:lnSpc>
                <a:spcPct val="80000"/>
              </a:lnSpc>
            </a:pPr>
            <a:endParaRPr lang="en-US" altLang="zh-CN" sz="20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 smtClean="0">
                <a:latin typeface="+mn-ea"/>
              </a:rPr>
              <a:t>了解相关结构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000" dirty="0" smtClean="0">
              <a:latin typeface="+mn-ea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 smtClean="0"/>
              <a:t>EDA</a:t>
            </a:r>
            <a:r>
              <a:rPr lang="zh-CN" altLang="en-US" sz="4400" dirty="0" smtClean="0"/>
              <a:t>技术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1520" y="1700808"/>
            <a:ext cx="87849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 smtClean="0"/>
              <a:t>       </a:t>
            </a:r>
            <a:r>
              <a:rPr lang="en-US" altLang="zh-CN" b="1" dirty="0" smtClean="0"/>
              <a:t>EDA</a:t>
            </a:r>
            <a:r>
              <a:rPr lang="zh-CN" altLang="en-US" b="1" dirty="0" smtClean="0"/>
              <a:t>软件平台</a:t>
            </a:r>
            <a:endParaRPr lang="en-US" altLang="zh-CN" b="1" dirty="0" smtClean="0"/>
          </a:p>
          <a:p>
            <a:pPr lvl="1" eaLnBrk="1" hangingPunct="1">
              <a:defRPr/>
            </a:pPr>
            <a:r>
              <a:rPr lang="en-US" altLang="zh-CN" dirty="0" smtClean="0"/>
              <a:t>HDL</a:t>
            </a:r>
            <a:r>
              <a:rPr lang="zh-CN" altLang="en-US" dirty="0" smtClean="0"/>
              <a:t>设计文件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逻辑化简、逻辑分割、逻辑综合、结构综合、逻辑优化、仿真测试</a:t>
            </a:r>
            <a:endParaRPr lang="en-US" altLang="zh-CN" dirty="0" smtClean="0"/>
          </a:p>
          <a:p>
            <a:pPr lvl="1" eaLnBrk="1" hangingPunct="1">
              <a:defRPr/>
            </a:pP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HDL</a:t>
            </a:r>
            <a:r>
              <a:rPr lang="zh-CN" altLang="en-US" dirty="0" smtClean="0"/>
              <a:t>综合（自然语言综合到</a:t>
            </a:r>
            <a:r>
              <a:rPr lang="en-US" altLang="zh-CN" dirty="0" smtClean="0"/>
              <a:t>HDL</a:t>
            </a:r>
            <a:r>
              <a:rPr lang="zh-CN" altLang="en-US" dirty="0" smtClean="0"/>
              <a:t>、行为综合到寄存器、逻辑综合到门、版图综合或结构综合到网表）</a:t>
            </a:r>
            <a:r>
              <a:rPr lang="en-US" altLang="zh-CN" b="1" dirty="0" smtClean="0"/>
              <a:t> </a:t>
            </a:r>
          </a:p>
          <a:p>
            <a:pPr lvl="1" eaLnBrk="1" hangingPunct="1">
              <a:defRPr/>
            </a:pPr>
            <a:endParaRPr lang="en-US" altLang="zh-CN" b="1" dirty="0" smtClean="0"/>
          </a:p>
          <a:p>
            <a:pPr lvl="1" eaLnBrk="1" hangingPunct="1">
              <a:defRPr/>
            </a:pPr>
            <a:r>
              <a:rPr lang="en-US" altLang="zh-CN" b="1" dirty="0" smtClean="0"/>
              <a:t>EDA</a:t>
            </a:r>
            <a:r>
              <a:rPr lang="zh-CN" altLang="en-US" b="1" dirty="0" smtClean="0"/>
              <a:t>设计流程</a:t>
            </a:r>
            <a:endParaRPr lang="en-US" altLang="zh-CN" b="1" dirty="0" smtClean="0"/>
          </a:p>
          <a:p>
            <a:pPr lvl="1" eaLnBrk="1" hangingPunct="1"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、设计输入（图形（原理图、状态图、时序图）、文本</a:t>
            </a:r>
            <a:r>
              <a:rPr lang="en-US" altLang="zh-CN" dirty="0" smtClean="0"/>
              <a:t>HDL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、综合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、适配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4</a:t>
            </a:r>
            <a:r>
              <a:rPr lang="zh-CN" altLang="en-US" dirty="0" smtClean="0"/>
              <a:t>、仿真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5</a:t>
            </a:r>
            <a:r>
              <a:rPr lang="zh-CN" altLang="en-US" dirty="0" smtClean="0"/>
              <a:t>、编程下载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6</a:t>
            </a:r>
            <a:r>
              <a:rPr lang="zh-CN" altLang="en-US" dirty="0" smtClean="0"/>
              <a:t>、硬件测试</a:t>
            </a:r>
            <a:endParaRPr lang="en-US" altLang="zh-CN" dirty="0" smtClean="0"/>
          </a:p>
          <a:p>
            <a:pPr lvl="1" eaLnBrk="1" hangingPunct="1">
              <a:defRPr/>
            </a:pPr>
            <a:endParaRPr lang="en-US" altLang="zh-CN" b="1" dirty="0" smtClean="0"/>
          </a:p>
          <a:p>
            <a:pPr lvl="1" eaLnBrk="1" hangingPunct="1">
              <a:defRPr/>
            </a:pPr>
            <a:r>
              <a:rPr lang="en-US" altLang="zh-CN" b="1" dirty="0" smtClean="0"/>
              <a:t>IP</a:t>
            </a:r>
            <a:r>
              <a:rPr lang="zh-CN" altLang="en-US" b="1" dirty="0" smtClean="0"/>
              <a:t>核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PPA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zh-CN" altLang="en-US" dirty="0" smtClean="0">
                <a:solidFill>
                  <a:srgbClr val="FF0000"/>
                </a:solidFill>
              </a:rPr>
              <a:t>性能、功耗、</a:t>
            </a:r>
            <a:r>
              <a:rPr lang="zh-CN" altLang="en-US" dirty="0" smtClean="0">
                <a:solidFill>
                  <a:srgbClr val="FF0000"/>
                </a:solidFill>
              </a:rPr>
              <a:t>面积 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en-US" dirty="0" smtClean="0"/>
              <a:t>、</a:t>
            </a:r>
            <a:r>
              <a:rPr lang="zh-CN" altLang="en-US" dirty="0" smtClean="0"/>
              <a:t>工艺容差） 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b="1" dirty="0" smtClean="0"/>
              <a:t>	</a:t>
            </a:r>
            <a:endParaRPr lang="en-US" altLang="zh-CN" dirty="0" smtClean="0"/>
          </a:p>
          <a:p>
            <a:pPr lvl="1"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 smtClean="0"/>
              <a:t>组合电路的</a:t>
            </a:r>
            <a:r>
              <a:rPr lang="en-US" altLang="zh-CN" sz="4400" dirty="0" smtClean="0"/>
              <a:t>Verilog</a:t>
            </a:r>
            <a:r>
              <a:rPr lang="zh-CN" altLang="en-US" sz="4400" dirty="0" smtClean="0"/>
              <a:t>设计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9512" y="1772816"/>
            <a:ext cx="8712968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FF0000"/>
                </a:solidFill>
              </a:rPr>
              <a:t>模块语句</a:t>
            </a:r>
            <a:r>
              <a:rPr lang="zh-CN" altLang="en-US" dirty="0" smtClean="0"/>
              <a:t>及其表达方式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端口语句、端口信号名和端口模式（</a:t>
            </a:r>
            <a:r>
              <a:rPr lang="zh-CN" altLang="en-US" dirty="0" smtClean="0">
                <a:solidFill>
                  <a:srgbClr val="FF0000"/>
                </a:solidFill>
              </a:rPr>
              <a:t>双端口设计、三态设计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逻辑操作符及优先级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连续赋值语句 </a:t>
            </a:r>
            <a:r>
              <a:rPr lang="en-US" altLang="zh-CN" dirty="0" smtClean="0"/>
              <a:t>assign</a:t>
            </a:r>
            <a:r>
              <a:rPr lang="zh-CN" altLang="en-US" dirty="0" smtClean="0"/>
              <a:t>（</a:t>
            </a:r>
            <a:r>
              <a:rPr lang="en-US" altLang="zh-CN" dirty="0" smtClean="0"/>
              <a:t>=</a:t>
            </a:r>
            <a:r>
              <a:rPr lang="zh-CN" altLang="en-US" dirty="0" smtClean="0"/>
              <a:t>、</a:t>
            </a:r>
            <a:r>
              <a:rPr lang="en-US" altLang="zh-CN" dirty="0" smtClean="0"/>
              <a:t>&lt;=</a:t>
            </a:r>
            <a:r>
              <a:rPr lang="zh-CN" altLang="en-US" dirty="0" smtClean="0"/>
              <a:t>、阻塞、非阻塞）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en-US" altLang="zh-CN" dirty="0" smtClean="0"/>
              <a:t>Always </a:t>
            </a:r>
            <a:r>
              <a:rPr lang="zh-CN" altLang="en-US" dirty="0" smtClean="0"/>
              <a:t>敏感信息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en-US" altLang="zh-CN" dirty="0" smtClean="0"/>
              <a:t>Case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casex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casez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en-US" altLang="zh-CN" dirty="0" smtClean="0"/>
              <a:t>For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 repeat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 while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en-US" altLang="zh-CN" dirty="0" smtClean="0"/>
              <a:t>parameter</a:t>
            </a:r>
            <a:r>
              <a:rPr lang="zh-CN" altLang="en-US" dirty="0" smtClean="0"/>
              <a:t>的参数传递功能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条件比较：</a:t>
            </a:r>
            <a:r>
              <a:rPr lang="en-US" altLang="zh-CN" dirty="0" smtClean="0"/>
              <a:t>==</a:t>
            </a:r>
            <a:r>
              <a:rPr lang="zh-CN" altLang="en-US" dirty="0" smtClean="0"/>
              <a:t>、</a:t>
            </a:r>
            <a:r>
              <a:rPr lang="en-US" altLang="zh-CN" dirty="0" smtClean="0"/>
              <a:t>===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 smtClean="0"/>
              <a:t>4</a:t>
            </a:r>
            <a:r>
              <a:rPr lang="zh-CN" altLang="en-US" dirty="0" smtClean="0"/>
              <a:t>种逻辑状态（</a:t>
            </a:r>
            <a:r>
              <a:rPr lang="en-US" altLang="zh-CN" dirty="0" smtClean="0"/>
              <a:t>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X</a:t>
            </a:r>
            <a:r>
              <a:rPr lang="zh-CN" altLang="en-US" dirty="0" smtClean="0"/>
              <a:t>、</a:t>
            </a:r>
            <a:r>
              <a:rPr lang="en-US" altLang="zh-CN" dirty="0" smtClean="0"/>
              <a:t>Z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 smtClean="0"/>
              <a:t>wire</a:t>
            </a:r>
            <a:r>
              <a:rPr lang="zh-CN" altLang="en-US" dirty="0" smtClean="0"/>
              <a:t>型和</a:t>
            </a:r>
            <a:r>
              <a:rPr lang="en-US" altLang="zh-CN" dirty="0" err="1" smtClean="0"/>
              <a:t>reg</a:t>
            </a:r>
            <a:r>
              <a:rPr lang="zh-CN" altLang="en-US" dirty="0" smtClean="0"/>
              <a:t>型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举例：选择器、加法器、乘法器、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b="1" dirty="0" smtClean="0"/>
              <a:t> 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 smtClean="0"/>
              <a:t>时序电路的</a:t>
            </a:r>
            <a:r>
              <a:rPr lang="en-US" altLang="zh-CN" sz="4400" dirty="0" smtClean="0"/>
              <a:t>Verilog</a:t>
            </a:r>
            <a:r>
              <a:rPr lang="zh-CN" altLang="en-US" sz="4400" dirty="0" smtClean="0"/>
              <a:t>设计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9512" y="1700808"/>
            <a:ext cx="864096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基本</a:t>
            </a:r>
            <a:r>
              <a:rPr lang="en-US" altLang="zh-CN" dirty="0" smtClean="0"/>
              <a:t>D</a:t>
            </a:r>
            <a:r>
              <a:rPr lang="zh-CN" altLang="en-US" dirty="0" smtClean="0"/>
              <a:t>触发器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含</a:t>
            </a:r>
            <a:r>
              <a:rPr lang="zh-CN" altLang="en-US" dirty="0" smtClean="0">
                <a:solidFill>
                  <a:srgbClr val="FF0000"/>
                </a:solidFill>
              </a:rPr>
              <a:t>异步</a:t>
            </a:r>
            <a:r>
              <a:rPr lang="zh-CN" altLang="en-US" dirty="0" smtClean="0"/>
              <a:t>复位和时钟使能的</a:t>
            </a:r>
            <a:r>
              <a:rPr lang="en-US" altLang="zh-CN" dirty="0" smtClean="0"/>
              <a:t>D</a:t>
            </a:r>
            <a:r>
              <a:rPr lang="zh-CN" altLang="en-US" dirty="0" smtClean="0"/>
              <a:t>触发器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含</a:t>
            </a:r>
            <a:r>
              <a:rPr lang="zh-CN" altLang="en-US" dirty="0" smtClean="0">
                <a:solidFill>
                  <a:srgbClr val="FF0000"/>
                </a:solidFill>
              </a:rPr>
              <a:t>同步</a:t>
            </a:r>
            <a:r>
              <a:rPr lang="zh-CN" altLang="en-US" dirty="0" smtClean="0"/>
              <a:t>复位控制的</a:t>
            </a:r>
            <a:r>
              <a:rPr lang="en-US" altLang="zh-CN" dirty="0" smtClean="0"/>
              <a:t>D</a:t>
            </a:r>
            <a:r>
              <a:rPr lang="zh-CN" altLang="en-US" dirty="0" smtClean="0"/>
              <a:t>触发器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含同步复位控制的</a:t>
            </a:r>
            <a:r>
              <a:rPr lang="en-US" altLang="zh-CN" dirty="0" smtClean="0"/>
              <a:t>D</a:t>
            </a:r>
            <a:r>
              <a:rPr lang="zh-CN" altLang="en-US" dirty="0" smtClean="0"/>
              <a:t>触发器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基本锁存器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表述（</a:t>
            </a:r>
            <a:r>
              <a:rPr lang="zh-CN" altLang="en-US" dirty="0" smtClean="0">
                <a:solidFill>
                  <a:srgbClr val="FF0000"/>
                </a:solidFill>
              </a:rPr>
              <a:t>锁存器是电平、触发器是边沿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含清</a:t>
            </a:r>
            <a:r>
              <a:rPr lang="en-US" altLang="zh-CN" dirty="0" smtClean="0"/>
              <a:t>0</a:t>
            </a:r>
            <a:r>
              <a:rPr lang="zh-CN" altLang="en-US" dirty="0" smtClean="0"/>
              <a:t>控制的锁存器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加法</a:t>
            </a:r>
            <a:r>
              <a:rPr lang="zh-CN" altLang="en-US" dirty="0" smtClean="0"/>
              <a:t>计数器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移位寄存器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en-US" altLang="zh-CN" dirty="0" smtClean="0"/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/>
              <a:t>可预置型计数器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表述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 err="1" smtClean="0"/>
              <a:t>Verilog</a:t>
            </a:r>
            <a:r>
              <a:rPr lang="zh-CN" altLang="en-US" sz="4400" dirty="0" smtClean="0"/>
              <a:t>状态机</a:t>
            </a:r>
            <a:r>
              <a:rPr lang="zh-CN" altLang="en-US" sz="4400" dirty="0" smtClean="0"/>
              <a:t>设计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95536" y="1700808"/>
            <a:ext cx="84249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 smtClean="0">
                <a:solidFill>
                  <a:srgbClr val="FF0000"/>
                </a:solidFill>
              </a:rPr>
              <a:t>Verilog</a:t>
            </a:r>
            <a:r>
              <a:rPr lang="zh-CN" altLang="en-US" b="1" dirty="0" smtClean="0">
                <a:solidFill>
                  <a:srgbClr val="FF0000"/>
                </a:solidFill>
              </a:rPr>
              <a:t>状态机设计</a:t>
            </a:r>
            <a:r>
              <a:rPr lang="zh-CN" altLang="en-US" dirty="0" smtClean="0"/>
              <a:t>（状态机的一般结构 、</a:t>
            </a:r>
            <a:r>
              <a:rPr lang="en-US" altLang="zh-CN" dirty="0" smtClean="0"/>
              <a:t> Moore</a:t>
            </a:r>
            <a:r>
              <a:rPr lang="zh-CN" altLang="en-US" dirty="0" smtClean="0"/>
              <a:t>型状态机、</a:t>
            </a:r>
            <a:r>
              <a:rPr lang="en-US" altLang="zh-CN" dirty="0" smtClean="0"/>
              <a:t> Mealy</a:t>
            </a:r>
            <a:r>
              <a:rPr lang="zh-CN" altLang="en-US" dirty="0" smtClean="0"/>
              <a:t>型状态机）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ho">
  <a:themeElements>
    <a:clrScheme name="Echo 8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FF9900"/>
      </a:accent1>
      <a:accent2>
        <a:srgbClr val="FF00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0000"/>
      </a:accent6>
      <a:hlink>
        <a:srgbClr val="336699"/>
      </a:hlink>
      <a:folHlink>
        <a:srgbClr val="808080"/>
      </a:folHlink>
    </a:clrScheme>
    <a:fontScheme name="Echo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Echo</Template>
  <TotalTime>1526</TotalTime>
  <Words>925</Words>
  <Application>Microsoft Office PowerPoint</Application>
  <PresentationFormat>全屏显示(4:3)</PresentationFormat>
  <Paragraphs>161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Echo</vt:lpstr>
      <vt:lpstr>幻灯片 1</vt:lpstr>
      <vt:lpstr>基本知识</vt:lpstr>
      <vt:lpstr>逻辑代数</vt:lpstr>
      <vt:lpstr>集成门电路与触发器</vt:lpstr>
      <vt:lpstr>集成门电路与触发器</vt:lpstr>
      <vt:lpstr>组合逻辑电路</vt:lpstr>
      <vt:lpstr>组合逻辑电路</vt:lpstr>
      <vt:lpstr>同步时序电路分析</vt:lpstr>
      <vt:lpstr>完全确定同步时序逻辑电路设计</vt:lpstr>
      <vt:lpstr>同步时序逻辑电路设计举例</vt:lpstr>
      <vt:lpstr>可编程逻辑器件</vt:lpstr>
      <vt:lpstr>EDA技术</vt:lpstr>
      <vt:lpstr>组合电路的Verilog设计</vt:lpstr>
      <vt:lpstr>时序电路的Verilog设计</vt:lpstr>
      <vt:lpstr>Verilog状态机设计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</dc:title>
  <dc:creator>owner</dc:creator>
  <cp:lastModifiedBy>think</cp:lastModifiedBy>
  <cp:revision>60</cp:revision>
  <dcterms:created xsi:type="dcterms:W3CDTF">2013-05-09T03:11:05Z</dcterms:created>
  <dcterms:modified xsi:type="dcterms:W3CDTF">2024-06-07T08:48:58Z</dcterms:modified>
</cp:coreProperties>
</file>